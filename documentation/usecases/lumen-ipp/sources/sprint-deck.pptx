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8"/>
    <p:sldId id="288" r:id="rId39"/>
    <p:sldId id="289" r:id="rId40"/>
    <p:sldId id="290" r:id="rId41"/>
    <p:sldId id="291" r:id="rId42"/>
    <p:sldId id="292" r:id="rId43"/>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führung" id="{4f1b0c37-4302-45a1-3cbd-d24ada395611}">
          <p14:sldIdLst>
            <p14:sldId id="256"/>
            <p14:sldId id="257"/>
            <p14:sldId id="258"/>
          </p14:sldIdLst>
        </p14:section>
        <p14:section name="Phase 1 · Stakeholder-Briefing" id="{648ce74c-5c12-2c7c-c531-874dd7f10bb4}">
          <p14:sldIdLst>
            <p14:sldId id="259"/>
            <p14:sldId id="260"/>
            <p14:sldId id="261"/>
            <p14:sldId id="262"/>
            <p14:sldId id="263"/>
            <p14:sldId id="264"/>
          </p14:sldIdLst>
        </p14:section>
        <p14:section name="Phase 2 · Understand &amp; Frame" id="{13c64f98-765a-c153-cee7-c3b00603825f}">
          <p14:sldIdLst>
            <p14:sldId id="265"/>
            <p14:sldId id="266"/>
            <p14:sldId id="267"/>
            <p14:sldId id="268"/>
            <p14:sldId id="269"/>
            <p14:sldId id="270"/>
            <p14:sldId id="271"/>
            <p14:sldId id="272"/>
            <p14:sldId id="273"/>
          </p14:sldIdLst>
        </p14:section>
        <p14:section name="Phase 3 · Ideate &amp; Explore" id="{037ee184-84eb-513c-be3b-3a2b285244c1}">
          <p14:sldIdLst>
            <p14:sldId id="274"/>
            <p14:sldId id="275"/>
            <p14:sldId id="276"/>
            <p14:sldId id="277"/>
            <p14:sldId id="278"/>
            <p14:sldId id="279"/>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3.xml"/><Relationship Id="rId21" Type="http://schemas.openxmlformats.org/officeDocument/2006/relationships/slide" Target="slides/slide20.xml"/><Relationship Id="rId34" Type="http://schemas.openxmlformats.org/officeDocument/2006/relationships/presProps" Target="presProps.xml"/><Relationship Id="rId42" Type="http://schemas.openxmlformats.org/officeDocument/2006/relationships/slide" Target="slides/slide36.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openxmlformats.org/officeDocument/2006/relationships/slide" Target="slides/slide34.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43" Type="http://schemas.openxmlformats.org/officeDocument/2006/relationships/slide" Target="slides/slide37.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slide" Target="slides/slide32.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3B45"/>
                </a:solidFill>
                <a:latin typeface="+mn-lt"/>
              </a:defRPr>
            </a:pPr>
            <a:r>
              <a:rPr sz="1400" b="0" i="0" u="none" strike="noStrike">
                <a:solidFill>
                  <a:srgbClr val="0F3B45"/>
                </a:solidFill>
                <a:latin typeface="+mn-lt"/>
              </a:rPr>
              <a:t>Notes per theme (n = 48, all three interviews)</a:t>
            </a:r>
          </a:p>
        </c:rich>
      </c:tx>
      <c:layout/>
      <c:overlay val="0"/>
    </c:title>
    <c:autoTitleDeleted val="0"/>
    <c:plotArea>
      <c:layout/>
      <c:barChart>
        <c:barDir val="bar"/>
        <c:grouping val="clustered"/>
        <c:varyColors val="0"/>
        <c:ser>
          <c:idx val="0"/>
          <c:order val="0"/>
          <c:tx>
            <c:strRef>
              <c:f>Sheet1!$B$1</c:f>
              <c:strCache>
                <c:ptCount val="1"/>
                <c:pt idx="0">
                  <c:v>Notizen</c:v>
                </c:pt>
              </c:strCache>
            </c:strRef>
          </c:tx>
          <c:spPr>
            <a:solidFill>
              <a:srgbClr val="1F7A8C"/>
            </a:solidFill>
            <a:effectLst/>
          </c:spPr>
          <c:invertIfNegative val="0"/>
          <c:dLbls>
            <c:numFmt formatCode="#,##0" sourceLinked="0"/>
            <c:txPr>
              <a:bodyPr/>
              <a:lstStyle/>
              <a:p>
                <a:pPr>
                  <a:defRPr b="1" i="0" strike="noStrike" sz="1300" u="none">
                    <a:solidFill>
                      <a:srgbClr val="0F3B45"/>
                    </a:solidFill>
                    <a:latin typeface="+mn-lt"/>
                  </a:defRPr>
                </a:pPr>
              </a:p>
            </c:txPr>
            <c:showLegendKey val="0"/>
            <c:showVal val="1"/>
            <c:showCatName val="0"/>
            <c:showSerName val="0"/>
            <c:showPercent val="0"/>
            <c:showBubbleSize val="0"/>
            <c:showLeaderLines val="0"/>
          </c:dLbls>
          <c:cat>
            <c:strRef>
              <c:f>Sheet1!$A$2:$A$7</c:f>
              <c:strCache>
                <c:ptCount val="6"/>
                <c:pt idx="0">
                  <c:v>Benchmark &amp; comparability</c:v>
                </c:pt>
                <c:pt idx="1">
                  <c:v>Making own researchers visible</c:v>
                </c:pt>
                <c:pt idx="2">
                  <c:v>Compliance: OA strategy &amp; funders</c:v>
                </c:pt>
                <c:pt idx="3">
                  <c:v>Credibility &amp; method</c:v>
                </c:pt>
                <c:pt idx="4">
                  <c:v>Cost per article &amp; savings</c:v>
                </c:pt>
                <c:pt idx="5">
                  <c:v>Forwardable, no login</c:v>
                </c:pt>
              </c:strCache>
            </c:strRef>
          </c:cat>
          <c:val>
            <c:numRef>
              <c:f>Sheet1!$B$2:$B$7</c:f>
              <c:numCache>
                <c:formatCode>General</c:formatCode>
                <c:ptCount val="6"/>
                <c:pt idx="0">
                  <c:v>5.0</c:v>
                </c:pt>
                <c:pt idx="1">
                  <c:v>7.0</c:v>
                </c:pt>
                <c:pt idx="2">
                  <c:v>7.0</c:v>
                </c:pt>
                <c:pt idx="3">
                  <c:v>8.0</c:v>
                </c:pt>
                <c:pt idx="4">
                  <c:v>9.0</c:v>
                </c:pt>
                <c:pt idx="5">
                  <c:v>12.0</c:v>
                </c:pt>
              </c:numCache>
            </c:numRef>
          </c:val>
        </c:ser>
        <c:dLbls>
          <c:numFmt formatCode="#,##0" sourceLinked="0"/>
          <c:txPr>
            <a:bodyPr/>
            <a:lstStyle/>
            <a:p>
              <a:pPr>
                <a:defRPr b="1" i="0" strike="noStrike" sz="1300" u="none">
                  <a:solidFill>
                    <a:srgbClr val="0F3B4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B1F2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people are fictional. Clara Imhof is the Decider. The three experts come from the Lumen personas: Miriam Kessler (P1, user) and Rainer Hollmann (P3, budget) from the University of Rheinfeld, and Ulrike Sandmann (P5, consortium) for market and policy. The other personas join in the test (phase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sketches are presented anonymously in Decide &amp; Align. Attributing them to people on the following slides only documents the simulation.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frames outlined in red became the basis for each person's solution sketch.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Sketch by Clara (presented anonymously in Decide &amp; Align).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Sketch by Tobias (presented anonymously in Decide &amp; Align).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Sketch by Nina (presented anonymously in Decide &amp; Align).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Sketch by Samuel (presented anonymously in Decide &amp; Align).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is an outlook: Decide &amp; Align is not simulated. For the test guide we provisionally take the renewal kit, because the coverage matrix shows it answers the most sprint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observation question is tied to a sprint question. Log per session: observed yes / no / unclear, plus a quote.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structure for twin sessions and real interviews. With twins, keep the 50 minutes so results can be compared with real interviews later.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persona does every task: see the task tags on the persona slide. Decision makers (Rainer, Sabine) start directly with Task 3 after a short context block; Miriam and Jonas do Tasks 1 and 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personas are fictional hypotheses; each has a synthetic source pack (LinkedIn profile, emails, documents) as input for the Twin Factory. Miriam, Rainer and Ulrike were experts on day 1; in the test they react to the prototype. Real counterparts to validate with afterwards: Open Science team at ZHB Luzern (P1, P2, P3), UB Basel Digital Services (P3). Build a twin from a real interview only with explicit consent.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follows the decision chain: P1 receives the kit, P3 takes it to the board, P4 signs; then the researcher view (P6) and the two contrast personas (P2, P5). The opener is identical for every session; only the name changes.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949440" cy="182880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731520" y="3749040"/>
            <a:ext cx="694944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6858000" cy="457200"/>
          </a:xfrm>
          <a:prstGeom prst="rect">
            <a:avLst/>
          </a:prstGeom>
          <a:noFill/>
          <a:ln/>
        </p:spPr>
        <p:txBody>
          <a:bodyPr wrap="square" rtlCol="0"/>
          <a:lstStyle>
            <a:lvl1pPr indent="0" marL="0">
              <a:buNone/>
              <a:defRPr lang="en-US" sz="1600" b="1" dirty="0">
                <a:solidFill>
                  <a:schemeClr val="accent2"/>
                </a:solidFill>
              </a:defRPr>
            </a:lvl1pPr>
          </a:lstStyle>
          <a:p>
            <a:pPr indent="0" marL="0">
              <a:buNone/>
            </a:pPr>
            <a:endParaRPr lang="en-US" sz="1600" dirty="0"/>
          </a:p>
        </p:txBody>
      </p:sp>
      <p:sp>
        <p:nvSpPr>
          <p:cNvPr id="3" name="Text 0"/>
          <p:cNvSpPr/>
          <p:nvPr>
            <p:ph idx="101" type="title" hasCustomPrompt="1"/>
          </p:nvPr>
        </p:nvSpPr>
        <p:spPr>
          <a:xfrm>
            <a:off x="731520" y="1874520"/>
            <a:ext cx="6858000" cy="109728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4" name="Text 0"/>
          <p:cNvSpPr/>
          <p:nvPr>
            <p:ph idx="102" type="body" hasCustomPrompt="1"/>
          </p:nvPr>
        </p:nvSpPr>
        <p:spPr>
          <a:xfrm>
            <a:off x="731520" y="3200400"/>
            <a:ext cx="6858000" cy="2926080"/>
          </a:xfrm>
          <a:prstGeom prst="rect">
            <a:avLst/>
          </a:prstGeom>
          <a:noFill/>
          <a:ln/>
        </p:spPr>
        <p:txBody>
          <a:bodyPr wrap="square" rtlCol="0"/>
          <a:lstStyle>
            <a:lvl1pPr indent="0" marL="0">
              <a:spcAft>
                <a:spcPts val="600"/>
              </a:spcAft>
              <a:buNone/>
              <a:defRPr lang="en-US" sz="1800" dirty="0">
                <a:solidFill>
                  <a:schemeClr val="bg2"/>
                </a:solidFill>
              </a:defRPr>
            </a:lvl1pPr>
          </a:lstStyle>
          <a:p>
            <a:pPr indent="0" marL="0">
              <a:spcAft>
                <a:spcPts val="600"/>
              </a:spcAft>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200" b="1" dirty="0">
                <a:solidFill>
                  <a:schemeClr val="tx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4"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Lumen IPP Value Sprint · Simulation with fictional personas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949440" cy="1828800"/>
          </a:xfrm>
          <a:prstGeom prst="rect">
            <a:avLst/>
          </a:prstGeom>
          <a:noFill/>
          <a:ln/>
        </p:spPr>
        <p:txBody>
          <a:bodyPr wrap="square" lIns="0" tIns="0" rIns="0" bIns="0" rtlCol="0" anchor="b"/>
          <a:lstStyle/>
          <a:p>
            <a:pPr algn="l" indent="0" marL="0">
              <a:buNone/>
            </a:pPr>
            <a:r>
              <a:rPr lang="en-US" sz="4400" b="1" dirty="0">
                <a:solidFill>
                  <a:schemeClr val="bg1"/>
                </a:solidFill>
                <a:latin typeface="Arial" pitchFamily="34" charset="0"/>
                <a:ea typeface="Arial" pitchFamily="34" charset="-122"/>
                <a:cs typeface="Arial" pitchFamily="34" charset="-120"/>
              </a:rPr>
              <a:t>Lumen IPP Value Sprint</a:t>
            </a:r>
            <a:endParaRPr lang="en-US" sz="4400" dirty="0"/>
          </a:p>
        </p:txBody>
      </p:sp>
      <p:sp>
        <p:nvSpPr>
          <p:cNvPr id="3" name="Text 0"/>
          <p:cNvSpPr/>
          <p:nvPr>
            <p:ph idx="101" type="body" hasCustomPrompt="1"/>
          </p:nvPr>
        </p:nvSpPr>
        <p:spPr>
          <a:xfrm>
            <a:off x="731520" y="3749040"/>
            <a:ext cx="6949440" cy="1280160"/>
          </a:xfrm>
          <a:prstGeom prst="rect">
            <a:avLst/>
          </a:prstGeom>
          <a:noFill/>
          <a:ln/>
        </p:spPr>
        <p:txBody>
          <a:bodyPr wrap="square" lIns="0" tIns="0" rIns="0" bIns="0" rtlCol="0" anchor="t"/>
          <a:lstStyle/>
          <a:p>
            <a:pPr indent="0" marL="0">
              <a:buNone/>
            </a:pPr>
            <a:r>
              <a:rPr lang="en-US" sz="2000" dirty="0">
                <a:solidFill>
                  <a:schemeClr val="bg2"/>
                </a:solidFill>
              </a:rPr>
              <a:t>Simulated design sprint up to 4-part sketching – plus test guide</a:t>
            </a:r>
            <a:endParaRPr lang="en-US" sz="2000" dirty="0"/>
          </a:p>
          <a:p>
            <a:pPr indent="0" marL="0">
              <a:buNone/>
            </a:pPr>
            <a:r>
              <a:rPr lang="en-US" sz="2000" dirty="0">
                <a:solidFill>
                  <a:schemeClr val="bg2"/>
                </a:solidFill>
              </a:rPr>
              <a:t>4 sprint members · 3 experts · 6 personas · October 2026</a:t>
            </a:r>
            <a:endParaRPr lang="en-US" sz="2000" dirty="0"/>
          </a:p>
        </p:txBody>
      </p:sp>
      <p:sp>
        <p:nvSpPr>
          <p:cNvPr id="4" name="Text-1"/>
          <p:cNvSpPr txBox="1"/>
          <p:nvPr/>
        </p:nvSpPr>
        <p:spPr>
          <a:xfrm>
            <a:off x="731520" y="5806440"/>
            <a:ext cx="6949440" cy="411480"/>
          </a:xfrm>
          <a:prstGeom prst="rect">
            <a:avLst/>
          </a:prstGeom>
          <a:noFill/>
          <a:ln/>
        </p:spPr>
        <p:txBody>
          <a:bodyPr wrap="square" lIns="0" tIns="0" rIns="0" bIns="0" rtlCol="0" anchor="t"/>
          <a:lstStyle/>
          <a:p>
            <a:pPr indent="0" marL="0">
              <a:buNone/>
            </a:pPr>
            <a:r>
              <a:rPr lang="en-US" sz="1200" dirty="0">
                <a:solidFill>
                  <a:schemeClr val="accent2"/>
                </a:solidFill>
              </a:rPr>
              <a:t>All people, institutions, quotes and figures are fictional – created for a sprint simulation with sprintbox.ai.</a:t>
            </a:r>
            <a:endParaRPr lang="en-US" sz="1200" dirty="0"/>
          </a:p>
        </p:txBody>
      </p:sp>
      <p:sp>
        <p:nvSpPr>
          <p:cNvPr id="5" name="DecorSticky-Wie könnten wir …?"/>
          <p:cNvSpPr/>
          <p:nvPr/>
        </p:nvSpPr>
        <p:spPr>
          <a:xfrm rot="-300000">
            <a:off x="8321040" y="1005840"/>
            <a:ext cx="1600200" cy="1417320"/>
          </a:xfrm>
          <a:prstGeom prst="rect">
            <a:avLst/>
          </a:prstGeom>
          <a:solidFill>
            <a:schemeClr val="accent2"/>
          </a:solidFill>
          <a:ln/>
          <a:effectLst>
            <a:outerShdw sx="100000" sy="100000" kx="0" ky="0" algn="bl" rotWithShape="0" blurRad="101600" dist="38100" dir="5400000">
              <a:srgbClr val="000000">
                <a:alpha val="30000"/>
              </a:srgbClr>
            </a:outerShdw>
          </a:effectLst>
        </p:spPr>
        <p:txBody>
          <a:bodyPr/>
          <a:p/>
        </p:txBody>
      </p:sp>
      <p:sp>
        <p:nvSpPr>
          <p:cNvPr id="6" name="DecorText-Wie könnten wir …?"/>
          <p:cNvSpPr txBox="1"/>
          <p:nvPr/>
        </p:nvSpPr>
        <p:spPr>
          <a:xfrm rot="-300000">
            <a:off x="8412480" y="1097280"/>
            <a:ext cx="1417320" cy="1234440"/>
          </a:xfrm>
          <a:prstGeom prst="rect">
            <a:avLst/>
          </a:prstGeom>
          <a:noFill/>
          <a:ln/>
        </p:spPr>
        <p:txBody>
          <a:bodyPr wrap="square" lIns="0" tIns="0" rIns="0" bIns="0" rtlCol="0" anchor="ctr"/>
          <a:lstStyle/>
          <a:p>
            <a:pPr algn="ctr" indent="0" marL="0">
              <a:buNone/>
            </a:pPr>
            <a:r>
              <a:rPr lang="en-US" sz="1600" b="1" dirty="0">
                <a:solidFill>
                  <a:schemeClr val="tx2"/>
                </a:solidFill>
              </a:rPr>
              <a:t>How might we …?</a:t>
            </a:r>
            <a:endParaRPr lang="en-US" sz="1600" dirty="0"/>
          </a:p>
        </p:txBody>
      </p:sp>
      <p:sp>
        <p:nvSpPr>
          <p:cNvPr id="7" name="DecorSticky-Long Term Goal"/>
          <p:cNvSpPr/>
          <p:nvPr/>
        </p:nvSpPr>
        <p:spPr>
          <a:xfrm rot="240000">
            <a:off x="10012680" y="1417320"/>
            <a:ext cx="1600200" cy="1417320"/>
          </a:xfrm>
          <a:prstGeom prst="rect">
            <a:avLst/>
          </a:prstGeom>
          <a:solidFill>
            <a:schemeClr val="bg1"/>
          </a:solidFill>
          <a:ln/>
          <a:effectLst>
            <a:outerShdw sx="100000" sy="100000" kx="0" ky="0" algn="bl" rotWithShape="0" blurRad="101600" dist="38100" dir="5400000">
              <a:srgbClr val="000000">
                <a:alpha val="30000"/>
              </a:srgbClr>
            </a:outerShdw>
          </a:effectLst>
        </p:spPr>
        <p:txBody>
          <a:bodyPr/>
          <a:p/>
        </p:txBody>
      </p:sp>
      <p:sp>
        <p:nvSpPr>
          <p:cNvPr id="8" name="DecorText-Long Term Goal"/>
          <p:cNvSpPr txBox="1"/>
          <p:nvPr/>
        </p:nvSpPr>
        <p:spPr>
          <a:xfrm rot="240000">
            <a:off x="10104120" y="1508760"/>
            <a:ext cx="1417320" cy="1234440"/>
          </a:xfrm>
          <a:prstGeom prst="rect">
            <a:avLst/>
          </a:prstGeom>
          <a:noFill/>
          <a:ln/>
        </p:spPr>
        <p:txBody>
          <a:bodyPr wrap="square" lIns="0" tIns="0" rIns="0" bIns="0" rtlCol="0" anchor="ctr"/>
          <a:lstStyle/>
          <a:p>
            <a:pPr algn="ctr" indent="0" marL="0">
              <a:buNone/>
            </a:pPr>
            <a:r>
              <a:rPr lang="en-US" sz="1600" b="1" dirty="0">
                <a:solidFill>
                  <a:schemeClr val="tx2"/>
                </a:solidFill>
              </a:rPr>
              <a:t>Long Term Goal</a:t>
            </a:r>
            <a:endParaRPr lang="en-US" sz="1600" dirty="0"/>
          </a:p>
        </p:txBody>
      </p:sp>
      <p:sp>
        <p:nvSpPr>
          <p:cNvPr id="9" name="DecorSticky-Lightning Demos"/>
          <p:cNvSpPr/>
          <p:nvPr/>
        </p:nvSpPr>
        <p:spPr>
          <a:xfrm rot="180000">
            <a:off x="8549640" y="2788920"/>
            <a:ext cx="1600200" cy="1417320"/>
          </a:xfrm>
          <a:prstGeom prst="rect">
            <a:avLst/>
          </a:prstGeom>
          <a:solidFill>
            <a:schemeClr val="bg1"/>
          </a:solidFill>
          <a:ln/>
          <a:effectLst>
            <a:outerShdw sx="100000" sy="100000" kx="0" ky="0" algn="bl" rotWithShape="0" blurRad="101600" dist="38100" dir="5400000">
              <a:srgbClr val="000000">
                <a:alpha val="30000"/>
              </a:srgbClr>
            </a:outerShdw>
          </a:effectLst>
        </p:spPr>
        <p:txBody>
          <a:bodyPr/>
          <a:p/>
        </p:txBody>
      </p:sp>
      <p:sp>
        <p:nvSpPr>
          <p:cNvPr id="10" name="DecorText-Lightning Demos"/>
          <p:cNvSpPr txBox="1"/>
          <p:nvPr/>
        </p:nvSpPr>
        <p:spPr>
          <a:xfrm rot="180000">
            <a:off x="8641080" y="2880360"/>
            <a:ext cx="1417320" cy="1234440"/>
          </a:xfrm>
          <a:prstGeom prst="rect">
            <a:avLst/>
          </a:prstGeom>
          <a:noFill/>
          <a:ln/>
        </p:spPr>
        <p:txBody>
          <a:bodyPr wrap="square" lIns="0" tIns="0" rIns="0" bIns="0" rtlCol="0" anchor="ctr"/>
          <a:lstStyle/>
          <a:p>
            <a:pPr algn="ctr" indent="0" marL="0">
              <a:buNone/>
            </a:pPr>
            <a:r>
              <a:rPr lang="en-US" sz="1600" b="1" dirty="0">
                <a:solidFill>
                  <a:schemeClr val="tx2"/>
                </a:solidFill>
              </a:rPr>
              <a:t>Lightning Demos</a:t>
            </a:r>
            <a:endParaRPr lang="en-US" sz="1600" dirty="0"/>
          </a:p>
        </p:txBody>
      </p:sp>
      <p:sp>
        <p:nvSpPr>
          <p:cNvPr id="11" name="DecorSticky-Crazy 8s"/>
          <p:cNvSpPr/>
          <p:nvPr/>
        </p:nvSpPr>
        <p:spPr>
          <a:xfrm rot="-240000">
            <a:off x="10149840" y="3154680"/>
            <a:ext cx="1600200" cy="1417320"/>
          </a:xfrm>
          <a:prstGeom prst="rect">
            <a:avLst/>
          </a:prstGeom>
          <a:solidFill>
            <a:schemeClr val="accent2"/>
          </a:solidFill>
          <a:ln/>
          <a:effectLst>
            <a:outerShdw sx="100000" sy="100000" kx="0" ky="0" algn="bl" rotWithShape="0" blurRad="101600" dist="38100" dir="5400000">
              <a:srgbClr val="000000">
                <a:alpha val="30000"/>
              </a:srgbClr>
            </a:outerShdw>
          </a:effectLst>
        </p:spPr>
        <p:txBody>
          <a:bodyPr/>
          <a:p/>
        </p:txBody>
      </p:sp>
      <p:sp>
        <p:nvSpPr>
          <p:cNvPr id="12" name="DecorText-Crazy 8s"/>
          <p:cNvSpPr txBox="1"/>
          <p:nvPr/>
        </p:nvSpPr>
        <p:spPr>
          <a:xfrm rot="-240000">
            <a:off x="10241280" y="3246120"/>
            <a:ext cx="1417320" cy="1234440"/>
          </a:xfrm>
          <a:prstGeom prst="rect">
            <a:avLst/>
          </a:prstGeom>
          <a:noFill/>
          <a:ln/>
        </p:spPr>
        <p:txBody>
          <a:bodyPr wrap="square" lIns="0" tIns="0" rIns="0" bIns="0" rtlCol="0" anchor="ctr"/>
          <a:lstStyle/>
          <a:p>
            <a:pPr algn="ctr" indent="0" marL="0">
              <a:buNone/>
            </a:pPr>
            <a:r>
              <a:rPr lang="en-US" sz="1600" b="1" dirty="0">
                <a:solidFill>
                  <a:schemeClr val="tx2"/>
                </a:solidFill>
              </a:rPr>
              <a:t>Crazy 8s</a:t>
            </a:r>
            <a:endParaRPr lang="en-US" sz="1600" dirty="0"/>
          </a:p>
        </p:txBody>
      </p:sp>
      <p:sp>
        <p:nvSpPr>
          <p:cNvPr id="13" name="DecorSticky-Solution Sketch"/>
          <p:cNvSpPr/>
          <p:nvPr/>
        </p:nvSpPr>
        <p:spPr>
          <a:xfrm rot="-120000">
            <a:off x="9052560" y="4526280"/>
            <a:ext cx="1600200" cy="1417320"/>
          </a:xfrm>
          <a:prstGeom prst="rect">
            <a:avLst/>
          </a:prstGeom>
          <a:solidFill>
            <a:schemeClr val="accent2"/>
          </a:solidFill>
          <a:ln/>
          <a:effectLst>
            <a:outerShdw sx="100000" sy="100000" kx="0" ky="0" algn="bl" rotWithShape="0" blurRad="101600" dist="38100" dir="5400000">
              <a:srgbClr val="000000">
                <a:alpha val="30000"/>
              </a:srgbClr>
            </a:outerShdw>
          </a:effectLst>
        </p:spPr>
        <p:txBody>
          <a:bodyPr/>
          <a:p/>
        </p:txBody>
      </p:sp>
      <p:sp>
        <p:nvSpPr>
          <p:cNvPr id="14" name="DecorText-Solution Sketch"/>
          <p:cNvSpPr txBox="1"/>
          <p:nvPr/>
        </p:nvSpPr>
        <p:spPr>
          <a:xfrm rot="-120000">
            <a:off x="9144000" y="4617720"/>
            <a:ext cx="1417320" cy="1234440"/>
          </a:xfrm>
          <a:prstGeom prst="rect">
            <a:avLst/>
          </a:prstGeom>
          <a:noFill/>
          <a:ln/>
        </p:spPr>
        <p:txBody>
          <a:bodyPr wrap="square" lIns="0" tIns="0" rIns="0" bIns="0" rtlCol="0" anchor="ctr"/>
          <a:lstStyle/>
          <a:p>
            <a:pPr algn="ctr" indent="0" marL="0">
              <a:buNone/>
            </a:pPr>
            <a:r>
              <a:rPr lang="en-US" sz="1600" b="1" dirty="0">
                <a:solidFill>
                  <a:schemeClr val="tx2"/>
                </a:solidFill>
              </a:rPr>
              <a:t>Solution Sketch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OVERVIEW</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The sprint at a glance</a:t>
            </a:r>
            <a:endParaRPr lang="en-US" sz="3200" dirty="0"/>
          </a:p>
        </p:txBody>
      </p:sp>
      <p:sp>
        <p:nvSpPr>
          <p:cNvPr id="4" name="ChallengeCard-2"/>
          <p:cNvSpPr/>
          <p:nvPr/>
        </p:nvSpPr>
        <p:spPr>
          <a:xfrm>
            <a:off x="548640" y="1508760"/>
            <a:ext cx="4114800" cy="4709160"/>
          </a:xfrm>
          <a:prstGeom prst="roundRect">
            <a:avLst>
              <a:gd name="adj" fmla="val 1778"/>
            </a:avLst>
          </a:prstGeom>
          <a:solidFill>
            <a:schemeClr val="tx2"/>
          </a:solidFill>
          <a:ln/>
        </p:spPr>
        <p:txBody>
          <a:bodyPr/>
          <a:p/>
        </p:txBody>
      </p:sp>
      <p:sp>
        <p:nvSpPr>
          <p:cNvPr id="5" name="Text-3"/>
          <p:cNvSpPr txBox="1"/>
          <p:nvPr/>
        </p:nvSpPr>
        <p:spPr>
          <a:xfrm>
            <a:off x="777240" y="1691640"/>
            <a:ext cx="3657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SPRINT CHALLENGE</a:t>
            </a:r>
            <a:endParaRPr lang="en-US" sz="1200" dirty="0"/>
          </a:p>
        </p:txBody>
      </p:sp>
      <p:sp>
        <p:nvSpPr>
          <p:cNvPr id="6" name="Text-4"/>
          <p:cNvSpPr txBox="1"/>
          <p:nvPr/>
        </p:nvSpPr>
        <p:spPr>
          <a:xfrm>
            <a:off x="777240" y="2057400"/>
            <a:ext cx="3657600" cy="2468880"/>
          </a:xfrm>
          <a:prstGeom prst="rect">
            <a:avLst/>
          </a:prstGeom>
          <a:noFill/>
          <a:ln/>
        </p:spPr>
        <p:txBody>
          <a:bodyPr wrap="square" lIns="0" tIns="0" rIns="0" bIns="0" rtlCol="0" anchor="t"/>
          <a:lstStyle/>
          <a:p>
            <a:pPr indent="0" marL="0">
              <a:buNone/>
            </a:pPr>
            <a:r>
              <a:rPr lang="en-US" sz="1700" i="1" dirty="0">
                <a:solidFill>
                  <a:schemeClr val="bg1"/>
                </a:solidFill>
              </a:rPr>
              <a:t>“How might we help librarians at our partner institutions recognize the value of their agreement with Lumen Scholarly Publishing and demonstrate it convincingly to the budget holders at their institution?”</a:t>
            </a:r>
            <a:endParaRPr lang="en-US" sz="1700" dirty="0"/>
          </a:p>
        </p:txBody>
      </p:sp>
      <p:sp>
        <p:nvSpPr>
          <p:cNvPr id="7" name="Text-5"/>
          <p:cNvSpPr txBox="1"/>
          <p:nvPr/>
        </p:nvSpPr>
        <p:spPr>
          <a:xfrm>
            <a:off x="777240" y="4617720"/>
            <a:ext cx="3657600" cy="274320"/>
          </a:xfrm>
          <a:prstGeom prst="rect">
            <a:avLst/>
          </a:prstGeom>
          <a:noFill/>
          <a:ln/>
        </p:spPr>
        <p:txBody>
          <a:bodyPr wrap="square" lIns="0" tIns="0" rIns="0" bIns="0" rtlCol="0" anchor="t"/>
          <a:lstStyle/>
          <a:p>
            <a:pPr indent="0" marL="0">
              <a:buNone/>
            </a:pPr>
            <a:r>
              <a:rPr lang="en-US" sz="1100" b="1" dirty="0">
                <a:solidFill>
                  <a:schemeClr val="accent2"/>
                </a:solidFill>
              </a:rPr>
              <a:t>LONG-TERM GOAL (2 YEARS)</a:t>
            </a:r>
            <a:endParaRPr lang="en-US" sz="1100" dirty="0"/>
          </a:p>
        </p:txBody>
      </p:sp>
      <p:sp>
        <p:nvSpPr>
          <p:cNvPr id="8" name="Text-6"/>
          <p:cNvSpPr txBox="1"/>
          <p:nvPr/>
        </p:nvSpPr>
        <p:spPr>
          <a:xfrm>
            <a:off x="777240" y="4892040"/>
            <a:ext cx="3657600" cy="1097280"/>
          </a:xfrm>
          <a:prstGeom prst="rect">
            <a:avLst/>
          </a:prstGeom>
          <a:noFill/>
          <a:ln/>
        </p:spPr>
        <p:txBody>
          <a:bodyPr wrap="square" lIns="0" tIns="0" rIns="0" bIns="0" rtlCol="0" anchor="t"/>
          <a:lstStyle/>
          <a:p>
            <a:pPr indent="0" marL="0">
              <a:buNone/>
            </a:pPr>
            <a:r>
              <a:rPr lang="en-US" sz="1400" dirty="0">
                <a:solidFill>
                  <a:schemeClr val="bg2"/>
                </a:solidFill>
              </a:rPr>
              <a:t>Renewal, because evidence of value reaches decision-makers without manual effort – and more partners expand.</a:t>
            </a:r>
            <a:endParaRPr lang="en-US" sz="1400" dirty="0"/>
          </a:p>
        </p:txBody>
      </p:sp>
      <p:sp>
        <p:nvSpPr>
          <p:cNvPr id="9" name="PhaseHead-7"/>
          <p:cNvSpPr/>
          <p:nvPr/>
        </p:nvSpPr>
        <p:spPr>
          <a:xfrm>
            <a:off x="4983480" y="1508760"/>
            <a:ext cx="2103120" cy="566928"/>
          </a:xfrm>
          <a:prstGeom prst="roundRect">
            <a:avLst>
              <a:gd name="adj" fmla="val 12903"/>
            </a:avLst>
          </a:prstGeom>
          <a:solidFill>
            <a:schemeClr val="accent1"/>
          </a:solidFill>
          <a:ln/>
        </p:spPr>
        <p:txBody>
          <a:bodyPr/>
          <a:p/>
        </p:txBody>
      </p:sp>
      <p:sp>
        <p:nvSpPr>
          <p:cNvPr id="10" name="Text-8"/>
          <p:cNvSpPr txBox="1"/>
          <p:nvPr/>
        </p:nvSpPr>
        <p:spPr>
          <a:xfrm>
            <a:off x="5093208" y="1536192"/>
            <a:ext cx="1920240" cy="530352"/>
          </a:xfrm>
          <a:prstGeom prst="rect">
            <a:avLst/>
          </a:prstGeom>
          <a:noFill/>
          <a:ln/>
        </p:spPr>
        <p:txBody>
          <a:bodyPr wrap="square" lIns="0" tIns="0" rIns="0" bIns="0" rtlCol="0" anchor="ctr"/>
          <a:lstStyle/>
          <a:p>
            <a:pPr indent="0" marL="0">
              <a:buNone/>
            </a:pPr>
            <a:r>
              <a:rPr lang="en-US" sz="1000" b="1" dirty="0">
                <a:solidFill>
                  <a:schemeClr val="accent2"/>
                </a:solidFill>
              </a:rPr>
              <a:t>PHASE 1</a:t>
            </a:r>
            <a:endParaRPr lang="en-US" sz="1400" dirty="0"/>
          </a:p>
          <a:p>
            <a:pPr indent="0" marL="0">
              <a:buNone/>
            </a:pPr>
            <a:r>
              <a:rPr lang="en-US" sz="1300" b="1" dirty="0">
                <a:solidFill>
                  <a:schemeClr val="bg1"/>
                </a:solidFill>
              </a:rPr>
              <a:t>Stakeholder Briefing</a:t>
            </a:r>
            <a:endParaRPr lang="en-US" sz="1400" dirty="0"/>
          </a:p>
        </p:txBody>
      </p:sp>
      <p:sp>
        <p:nvSpPr>
          <p:cNvPr id="11" name="StepRow-9"/>
          <p:cNvSpPr/>
          <p:nvPr/>
        </p:nvSpPr>
        <p:spPr>
          <a:xfrm>
            <a:off x="4983480" y="2167128"/>
            <a:ext cx="2103120" cy="457200"/>
          </a:xfrm>
          <a:prstGeom prst="roundRect">
            <a:avLst>
              <a:gd name="adj" fmla="val 16000"/>
            </a:avLst>
          </a:prstGeom>
          <a:solidFill>
            <a:schemeClr val="bg2"/>
          </a:solidFill>
          <a:ln/>
        </p:spPr>
        <p:txBody>
          <a:bodyPr/>
          <a:p/>
        </p:txBody>
      </p:sp>
      <p:sp>
        <p:nvSpPr>
          <p:cNvPr id="12" name="Text-10"/>
          <p:cNvSpPr txBox="1"/>
          <p:nvPr/>
        </p:nvSpPr>
        <p:spPr>
          <a:xfrm>
            <a:off x="5074920" y="2167128"/>
            <a:ext cx="1965960" cy="457200"/>
          </a:xfrm>
          <a:prstGeom prst="rect">
            <a:avLst/>
          </a:prstGeom>
          <a:noFill/>
          <a:ln/>
        </p:spPr>
        <p:txBody>
          <a:bodyPr wrap="square" lIns="0" tIns="0" rIns="0" bIns="0" rtlCol="0" anchor="ctr"/>
          <a:lstStyle/>
          <a:p>
            <a:pPr indent="0" marL="0">
              <a:buNone/>
            </a:pPr>
            <a:r>
              <a:rPr lang="en-US" sz="1200" dirty="0">
                <a:solidFill>
                  <a:schemeClr val="tx1"/>
                </a:solidFill>
              </a:rPr>
              <a:t>1.1  Context material</a:t>
            </a:r>
            <a:endParaRPr lang="en-US" sz="1200" dirty="0"/>
          </a:p>
        </p:txBody>
      </p:sp>
      <p:sp>
        <p:nvSpPr>
          <p:cNvPr id="13" name="StepRow-11"/>
          <p:cNvSpPr/>
          <p:nvPr/>
        </p:nvSpPr>
        <p:spPr>
          <a:xfrm>
            <a:off x="4983480" y="2679192"/>
            <a:ext cx="2103120" cy="457200"/>
          </a:xfrm>
          <a:prstGeom prst="roundRect">
            <a:avLst>
              <a:gd name="adj" fmla="val 16000"/>
            </a:avLst>
          </a:prstGeom>
          <a:solidFill>
            <a:schemeClr val="bg2"/>
          </a:solidFill>
          <a:ln/>
        </p:spPr>
        <p:txBody>
          <a:bodyPr/>
          <a:p/>
        </p:txBody>
      </p:sp>
      <p:sp>
        <p:nvSpPr>
          <p:cNvPr id="14" name="Text-12"/>
          <p:cNvSpPr txBox="1"/>
          <p:nvPr/>
        </p:nvSpPr>
        <p:spPr>
          <a:xfrm>
            <a:off x="5074920" y="2679192"/>
            <a:ext cx="1965960" cy="457200"/>
          </a:xfrm>
          <a:prstGeom prst="rect">
            <a:avLst/>
          </a:prstGeom>
          <a:noFill/>
          <a:ln/>
        </p:spPr>
        <p:txBody>
          <a:bodyPr wrap="square" lIns="0" tIns="0" rIns="0" bIns="0" rtlCol="0" anchor="ctr"/>
          <a:lstStyle/>
          <a:p>
            <a:pPr indent="0" marL="0">
              <a:buNone/>
            </a:pPr>
            <a:r>
              <a:rPr lang="en-US" sz="1200" dirty="0">
                <a:solidFill>
                  <a:schemeClr val="tx1"/>
                </a:solidFill>
              </a:rPr>
              <a:t>1.2  Interview guide</a:t>
            </a:r>
            <a:endParaRPr lang="en-US" sz="1200" dirty="0"/>
          </a:p>
        </p:txBody>
      </p:sp>
      <p:sp>
        <p:nvSpPr>
          <p:cNvPr id="15" name="StepRow-13"/>
          <p:cNvSpPr/>
          <p:nvPr/>
        </p:nvSpPr>
        <p:spPr>
          <a:xfrm>
            <a:off x="4983480" y="3191256"/>
            <a:ext cx="2103120" cy="457200"/>
          </a:xfrm>
          <a:prstGeom prst="roundRect">
            <a:avLst>
              <a:gd name="adj" fmla="val 16000"/>
            </a:avLst>
          </a:prstGeom>
          <a:solidFill>
            <a:schemeClr val="bg2"/>
          </a:solidFill>
          <a:ln/>
        </p:spPr>
        <p:txBody>
          <a:bodyPr/>
          <a:p/>
        </p:txBody>
      </p:sp>
      <p:sp>
        <p:nvSpPr>
          <p:cNvPr id="16" name="Text-14"/>
          <p:cNvSpPr txBox="1"/>
          <p:nvPr/>
        </p:nvSpPr>
        <p:spPr>
          <a:xfrm>
            <a:off x="5074920" y="3191256"/>
            <a:ext cx="1965960" cy="457200"/>
          </a:xfrm>
          <a:prstGeom prst="rect">
            <a:avLst/>
          </a:prstGeom>
          <a:noFill/>
          <a:ln/>
        </p:spPr>
        <p:txBody>
          <a:bodyPr wrap="square" lIns="0" tIns="0" rIns="0" bIns="0" rtlCol="0" anchor="ctr"/>
          <a:lstStyle/>
          <a:p>
            <a:pPr indent="0" marL="0">
              <a:buNone/>
            </a:pPr>
            <a:r>
              <a:rPr lang="en-US" sz="1200" dirty="0">
                <a:solidFill>
                  <a:schemeClr val="tx1"/>
                </a:solidFill>
              </a:rPr>
              <a:t>1.3  Stakeholder invitation</a:t>
            </a:r>
            <a:endParaRPr lang="en-US" sz="1200" dirty="0"/>
          </a:p>
        </p:txBody>
      </p:sp>
      <p:sp>
        <p:nvSpPr>
          <p:cNvPr id="17" name="StepRow-15"/>
          <p:cNvSpPr/>
          <p:nvPr/>
        </p:nvSpPr>
        <p:spPr>
          <a:xfrm>
            <a:off x="4983480" y="3703320"/>
            <a:ext cx="2103120" cy="457200"/>
          </a:xfrm>
          <a:prstGeom prst="roundRect">
            <a:avLst>
              <a:gd name="adj" fmla="val 16000"/>
            </a:avLst>
          </a:prstGeom>
          <a:solidFill>
            <a:schemeClr val="accent5">
              <a:alpha val="18000"/>
            </a:schemeClr>
          </a:solidFill>
          <a:ln/>
        </p:spPr>
        <p:txBody>
          <a:bodyPr/>
          <a:p/>
        </p:txBody>
      </p:sp>
      <p:sp>
        <p:nvSpPr>
          <p:cNvPr id="18" name="Text-16"/>
          <p:cNvSpPr txBox="1"/>
          <p:nvPr/>
        </p:nvSpPr>
        <p:spPr>
          <a:xfrm>
            <a:off x="5074920" y="3703320"/>
            <a:ext cx="1965960" cy="457200"/>
          </a:xfrm>
          <a:prstGeom prst="rect">
            <a:avLst/>
          </a:prstGeom>
          <a:noFill/>
          <a:ln/>
        </p:spPr>
        <p:txBody>
          <a:bodyPr wrap="square" lIns="0" tIns="0" rIns="0" bIns="0" rtlCol="0" anchor="ctr"/>
          <a:lstStyle/>
          <a:p>
            <a:pPr indent="0" marL="0">
              <a:buNone/>
            </a:pPr>
            <a:r>
              <a:rPr lang="en-US" sz="1200" dirty="0">
                <a:solidFill>
                  <a:schemeClr val="tx1"/>
                </a:solidFill>
              </a:rPr>
              <a:t>1.4  Briefing synthesis</a:t>
            </a:r>
            <a:endParaRPr lang="en-US" sz="1200" dirty="0"/>
          </a:p>
        </p:txBody>
      </p:sp>
      <p:sp>
        <p:nvSpPr>
          <p:cNvPr id="19" name="StepRow-17"/>
          <p:cNvSpPr/>
          <p:nvPr/>
        </p:nvSpPr>
        <p:spPr>
          <a:xfrm>
            <a:off x="4983480" y="4215384"/>
            <a:ext cx="2103120" cy="457200"/>
          </a:xfrm>
          <a:prstGeom prst="roundRect">
            <a:avLst>
              <a:gd name="adj" fmla="val 16000"/>
            </a:avLst>
          </a:prstGeom>
          <a:solidFill>
            <a:schemeClr val="bg2"/>
          </a:solidFill>
          <a:ln/>
        </p:spPr>
        <p:txBody>
          <a:bodyPr/>
          <a:p/>
        </p:txBody>
      </p:sp>
      <p:sp>
        <p:nvSpPr>
          <p:cNvPr id="20" name="Text-18"/>
          <p:cNvSpPr txBox="1"/>
          <p:nvPr/>
        </p:nvSpPr>
        <p:spPr>
          <a:xfrm>
            <a:off x="5074920" y="4215384"/>
            <a:ext cx="1965960" cy="457200"/>
          </a:xfrm>
          <a:prstGeom prst="rect">
            <a:avLst/>
          </a:prstGeom>
          <a:noFill/>
          <a:ln/>
        </p:spPr>
        <p:txBody>
          <a:bodyPr wrap="square" lIns="0" tIns="0" rIns="0" bIns="0" rtlCol="0" anchor="ctr"/>
          <a:lstStyle/>
          <a:p>
            <a:pPr indent="0" marL="0">
              <a:buNone/>
            </a:pPr>
            <a:r>
              <a:rPr lang="en-US" sz="1200" dirty="0">
                <a:solidFill>
                  <a:schemeClr val="tx1"/>
                </a:solidFill>
              </a:rPr>
              <a:t>1.5  Briefing sign-off</a:t>
            </a:r>
            <a:endParaRPr lang="en-US" sz="1200" dirty="0"/>
          </a:p>
        </p:txBody>
      </p:sp>
      <p:sp>
        <p:nvSpPr>
          <p:cNvPr id="21" name="PhaseHead-19"/>
          <p:cNvSpPr/>
          <p:nvPr/>
        </p:nvSpPr>
        <p:spPr>
          <a:xfrm>
            <a:off x="7196328" y="1508760"/>
            <a:ext cx="2103120" cy="566928"/>
          </a:xfrm>
          <a:prstGeom prst="roundRect">
            <a:avLst>
              <a:gd name="adj" fmla="val 12903"/>
            </a:avLst>
          </a:prstGeom>
          <a:solidFill>
            <a:schemeClr val="accent1"/>
          </a:solidFill>
          <a:ln/>
        </p:spPr>
        <p:txBody>
          <a:bodyPr/>
          <a:p/>
        </p:txBody>
      </p:sp>
      <p:sp>
        <p:nvSpPr>
          <p:cNvPr id="22" name="Text-20"/>
          <p:cNvSpPr txBox="1"/>
          <p:nvPr/>
        </p:nvSpPr>
        <p:spPr>
          <a:xfrm>
            <a:off x="7306056" y="1536192"/>
            <a:ext cx="1920240" cy="530352"/>
          </a:xfrm>
          <a:prstGeom prst="rect">
            <a:avLst/>
          </a:prstGeom>
          <a:noFill/>
          <a:ln/>
        </p:spPr>
        <p:txBody>
          <a:bodyPr wrap="square" lIns="0" tIns="0" rIns="0" bIns="0" rtlCol="0" anchor="ctr"/>
          <a:lstStyle/>
          <a:p>
            <a:pPr indent="0" marL="0">
              <a:buNone/>
            </a:pPr>
            <a:r>
              <a:rPr lang="en-US" sz="1000" b="1" dirty="0">
                <a:solidFill>
                  <a:schemeClr val="accent2"/>
                </a:solidFill>
              </a:rPr>
              <a:t>PHASE 2</a:t>
            </a:r>
            <a:endParaRPr lang="en-US" sz="1400" dirty="0"/>
          </a:p>
          <a:p>
            <a:pPr indent="0" marL="0">
              <a:buNone/>
            </a:pPr>
            <a:r>
              <a:rPr lang="en-US" sz="1300" b="1" dirty="0">
                <a:solidFill>
                  <a:schemeClr val="bg1"/>
                </a:solidFill>
              </a:rPr>
              <a:t>Understand &amp; Frame</a:t>
            </a:r>
            <a:endParaRPr lang="en-US" sz="1400" dirty="0"/>
          </a:p>
        </p:txBody>
      </p:sp>
      <p:sp>
        <p:nvSpPr>
          <p:cNvPr id="23" name="StepRow-21"/>
          <p:cNvSpPr/>
          <p:nvPr/>
        </p:nvSpPr>
        <p:spPr>
          <a:xfrm>
            <a:off x="7196328" y="2167128"/>
            <a:ext cx="2103120" cy="457200"/>
          </a:xfrm>
          <a:prstGeom prst="roundRect">
            <a:avLst>
              <a:gd name="adj" fmla="val 16000"/>
            </a:avLst>
          </a:prstGeom>
          <a:solidFill>
            <a:schemeClr val="bg2"/>
          </a:solidFill>
          <a:ln/>
        </p:spPr>
        <p:txBody>
          <a:bodyPr/>
          <a:p/>
        </p:txBody>
      </p:sp>
      <p:sp>
        <p:nvSpPr>
          <p:cNvPr id="24" name="Text-22"/>
          <p:cNvSpPr txBox="1"/>
          <p:nvPr/>
        </p:nvSpPr>
        <p:spPr>
          <a:xfrm>
            <a:off x="7287768" y="2167128"/>
            <a:ext cx="1965960" cy="457200"/>
          </a:xfrm>
          <a:prstGeom prst="rect">
            <a:avLst/>
          </a:prstGeom>
          <a:noFill/>
          <a:ln/>
        </p:spPr>
        <p:txBody>
          <a:bodyPr wrap="square" lIns="0" tIns="0" rIns="0" bIns="0" rtlCol="0" anchor="ctr"/>
          <a:lstStyle/>
          <a:p>
            <a:pPr indent="0" marL="0">
              <a:buNone/>
            </a:pPr>
            <a:r>
              <a:rPr lang="en-US" sz="1200" dirty="0">
                <a:solidFill>
                  <a:schemeClr val="tx1"/>
                </a:solidFill>
              </a:rPr>
              <a:t>2.1  Defining the challenge</a:t>
            </a:r>
            <a:endParaRPr lang="en-US" sz="1200" dirty="0"/>
          </a:p>
        </p:txBody>
      </p:sp>
      <p:sp>
        <p:nvSpPr>
          <p:cNvPr id="25" name="StepRow-23"/>
          <p:cNvSpPr/>
          <p:nvPr/>
        </p:nvSpPr>
        <p:spPr>
          <a:xfrm>
            <a:off x="7196328" y="2679192"/>
            <a:ext cx="2103120" cy="457200"/>
          </a:xfrm>
          <a:prstGeom prst="roundRect">
            <a:avLst>
              <a:gd name="adj" fmla="val 16000"/>
            </a:avLst>
          </a:prstGeom>
          <a:solidFill>
            <a:schemeClr val="bg2"/>
          </a:solidFill>
          <a:ln/>
        </p:spPr>
        <p:txBody>
          <a:bodyPr/>
          <a:p/>
        </p:txBody>
      </p:sp>
      <p:sp>
        <p:nvSpPr>
          <p:cNvPr id="26" name="Text-24"/>
          <p:cNvSpPr txBox="1"/>
          <p:nvPr/>
        </p:nvSpPr>
        <p:spPr>
          <a:xfrm>
            <a:off x="7287768" y="2679192"/>
            <a:ext cx="1965960" cy="457200"/>
          </a:xfrm>
          <a:prstGeom prst="rect">
            <a:avLst/>
          </a:prstGeom>
          <a:noFill/>
          <a:ln/>
        </p:spPr>
        <p:txBody>
          <a:bodyPr wrap="square" lIns="0" tIns="0" rIns="0" bIns="0" rtlCol="0" anchor="ctr"/>
          <a:lstStyle/>
          <a:p>
            <a:pPr indent="0" marL="0">
              <a:buNone/>
            </a:pPr>
            <a:r>
              <a:rPr lang="en-US" sz="1200" dirty="0">
                <a:solidFill>
                  <a:schemeClr val="tx1"/>
                </a:solidFill>
              </a:rPr>
              <a:t>2.2  Expert interviews (3×)</a:t>
            </a:r>
            <a:endParaRPr lang="en-US" sz="1200" dirty="0"/>
          </a:p>
        </p:txBody>
      </p:sp>
      <p:sp>
        <p:nvSpPr>
          <p:cNvPr id="27" name="StepRow-25"/>
          <p:cNvSpPr/>
          <p:nvPr/>
        </p:nvSpPr>
        <p:spPr>
          <a:xfrm>
            <a:off x="7196328" y="3191256"/>
            <a:ext cx="2103120" cy="457200"/>
          </a:xfrm>
          <a:prstGeom prst="roundRect">
            <a:avLst>
              <a:gd name="adj" fmla="val 16000"/>
            </a:avLst>
          </a:prstGeom>
          <a:solidFill>
            <a:schemeClr val="accent5">
              <a:alpha val="18000"/>
            </a:schemeClr>
          </a:solidFill>
          <a:ln/>
        </p:spPr>
        <p:txBody>
          <a:bodyPr/>
          <a:p/>
        </p:txBody>
      </p:sp>
      <p:sp>
        <p:nvSpPr>
          <p:cNvPr id="28" name="Text-26"/>
          <p:cNvSpPr txBox="1"/>
          <p:nvPr/>
        </p:nvSpPr>
        <p:spPr>
          <a:xfrm>
            <a:off x="7287768" y="3191256"/>
            <a:ext cx="1965960" cy="457200"/>
          </a:xfrm>
          <a:prstGeom prst="rect">
            <a:avLst/>
          </a:prstGeom>
          <a:noFill/>
          <a:ln/>
        </p:spPr>
        <p:txBody>
          <a:bodyPr wrap="square" lIns="0" tIns="0" rIns="0" bIns="0" rtlCol="0" anchor="ctr"/>
          <a:lstStyle/>
          <a:p>
            <a:pPr indent="0" marL="0">
              <a:buNone/>
            </a:pPr>
            <a:r>
              <a:rPr lang="en-US" sz="1200" dirty="0">
                <a:solidFill>
                  <a:schemeClr val="tx1"/>
                </a:solidFill>
              </a:rPr>
              <a:t>2.3  AI synthesis of the interviews</a:t>
            </a:r>
            <a:endParaRPr lang="en-US" sz="1200" dirty="0"/>
          </a:p>
        </p:txBody>
      </p:sp>
      <p:sp>
        <p:nvSpPr>
          <p:cNvPr id="29" name="StepRow-27"/>
          <p:cNvSpPr/>
          <p:nvPr/>
        </p:nvSpPr>
        <p:spPr>
          <a:xfrm>
            <a:off x="7196328" y="3703320"/>
            <a:ext cx="2103120" cy="457200"/>
          </a:xfrm>
          <a:prstGeom prst="roundRect">
            <a:avLst>
              <a:gd name="adj" fmla="val 16000"/>
            </a:avLst>
          </a:prstGeom>
          <a:solidFill>
            <a:schemeClr val="bg2"/>
          </a:solidFill>
          <a:ln/>
        </p:spPr>
        <p:txBody>
          <a:bodyPr/>
          <a:p/>
        </p:txBody>
      </p:sp>
      <p:sp>
        <p:nvSpPr>
          <p:cNvPr id="30" name="Text-28"/>
          <p:cNvSpPr txBox="1"/>
          <p:nvPr/>
        </p:nvSpPr>
        <p:spPr>
          <a:xfrm>
            <a:off x="7287768" y="3703320"/>
            <a:ext cx="1965960" cy="457200"/>
          </a:xfrm>
          <a:prstGeom prst="rect">
            <a:avLst/>
          </a:prstGeom>
          <a:noFill/>
          <a:ln/>
        </p:spPr>
        <p:txBody>
          <a:bodyPr wrap="square" lIns="0" tIns="0" rIns="0" bIns="0" rtlCol="0" anchor="ctr"/>
          <a:lstStyle/>
          <a:p>
            <a:pPr indent="0" marL="0">
              <a:buNone/>
            </a:pPr>
            <a:r>
              <a:rPr lang="en-US" sz="1200" dirty="0">
                <a:solidFill>
                  <a:schemeClr val="tx1"/>
                </a:solidFill>
              </a:rPr>
              <a:t>2.4  HMW session</a:t>
            </a:r>
            <a:endParaRPr lang="en-US" sz="1200" dirty="0"/>
          </a:p>
        </p:txBody>
      </p:sp>
      <p:sp>
        <p:nvSpPr>
          <p:cNvPr id="31" name="StepRow-29"/>
          <p:cNvSpPr/>
          <p:nvPr/>
        </p:nvSpPr>
        <p:spPr>
          <a:xfrm>
            <a:off x="7196328" y="4215384"/>
            <a:ext cx="2103120" cy="457200"/>
          </a:xfrm>
          <a:prstGeom prst="roundRect">
            <a:avLst>
              <a:gd name="adj" fmla="val 16000"/>
            </a:avLst>
          </a:prstGeom>
          <a:solidFill>
            <a:schemeClr val="bg2"/>
          </a:solidFill>
          <a:ln/>
        </p:spPr>
        <p:txBody>
          <a:bodyPr/>
          <a:p/>
        </p:txBody>
      </p:sp>
      <p:sp>
        <p:nvSpPr>
          <p:cNvPr id="32" name="Text-30"/>
          <p:cNvSpPr txBox="1"/>
          <p:nvPr/>
        </p:nvSpPr>
        <p:spPr>
          <a:xfrm>
            <a:off x="7287768" y="4215384"/>
            <a:ext cx="1965960" cy="457200"/>
          </a:xfrm>
          <a:prstGeom prst="rect">
            <a:avLst/>
          </a:prstGeom>
          <a:noFill/>
          <a:ln/>
        </p:spPr>
        <p:txBody>
          <a:bodyPr wrap="square" lIns="0" tIns="0" rIns="0" bIns="0" rtlCol="0" anchor="ctr"/>
          <a:lstStyle/>
          <a:p>
            <a:pPr indent="0" marL="0">
              <a:buNone/>
            </a:pPr>
            <a:r>
              <a:rPr lang="en-US" sz="1200" dirty="0">
                <a:solidFill>
                  <a:schemeClr val="tx1"/>
                </a:solidFill>
              </a:rPr>
              <a:t>2.5  Map &amp; Target Area</a:t>
            </a:r>
            <a:endParaRPr lang="en-US" sz="1200" dirty="0"/>
          </a:p>
        </p:txBody>
      </p:sp>
      <p:sp>
        <p:nvSpPr>
          <p:cNvPr id="33" name="StepRow-31"/>
          <p:cNvSpPr/>
          <p:nvPr/>
        </p:nvSpPr>
        <p:spPr>
          <a:xfrm>
            <a:off x="7196328" y="4727448"/>
            <a:ext cx="2103120" cy="457200"/>
          </a:xfrm>
          <a:prstGeom prst="roundRect">
            <a:avLst>
              <a:gd name="adj" fmla="val 16000"/>
            </a:avLst>
          </a:prstGeom>
          <a:solidFill>
            <a:schemeClr val="bg2"/>
          </a:solidFill>
          <a:ln/>
        </p:spPr>
        <p:txBody>
          <a:bodyPr/>
          <a:p/>
        </p:txBody>
      </p:sp>
      <p:sp>
        <p:nvSpPr>
          <p:cNvPr id="34" name="Text-32"/>
          <p:cNvSpPr txBox="1"/>
          <p:nvPr/>
        </p:nvSpPr>
        <p:spPr>
          <a:xfrm>
            <a:off x="7287768" y="4727448"/>
            <a:ext cx="1965960" cy="457200"/>
          </a:xfrm>
          <a:prstGeom prst="rect">
            <a:avLst/>
          </a:prstGeom>
          <a:noFill/>
          <a:ln/>
        </p:spPr>
        <p:txBody>
          <a:bodyPr wrap="square" lIns="0" tIns="0" rIns="0" bIns="0" rtlCol="0" anchor="ctr"/>
          <a:lstStyle/>
          <a:p>
            <a:pPr indent="0" marL="0">
              <a:buNone/>
            </a:pPr>
            <a:r>
              <a:rPr lang="en-US" sz="1200" dirty="0">
                <a:solidFill>
                  <a:schemeClr val="tx1"/>
                </a:solidFill>
              </a:rPr>
              <a:t>2.6  Long Term Goal &amp; Sprint Questions</a:t>
            </a:r>
            <a:endParaRPr lang="en-US" sz="1200" dirty="0"/>
          </a:p>
        </p:txBody>
      </p:sp>
      <p:sp>
        <p:nvSpPr>
          <p:cNvPr id="35" name="PhaseHead-33"/>
          <p:cNvSpPr/>
          <p:nvPr/>
        </p:nvSpPr>
        <p:spPr>
          <a:xfrm>
            <a:off x="9409176" y="1508760"/>
            <a:ext cx="2103120" cy="566928"/>
          </a:xfrm>
          <a:prstGeom prst="roundRect">
            <a:avLst>
              <a:gd name="adj" fmla="val 12903"/>
            </a:avLst>
          </a:prstGeom>
          <a:solidFill>
            <a:schemeClr val="accent1"/>
          </a:solidFill>
          <a:ln/>
        </p:spPr>
        <p:txBody>
          <a:bodyPr/>
          <a:p/>
        </p:txBody>
      </p:sp>
      <p:sp>
        <p:nvSpPr>
          <p:cNvPr id="36" name="Text-34"/>
          <p:cNvSpPr txBox="1"/>
          <p:nvPr/>
        </p:nvSpPr>
        <p:spPr>
          <a:xfrm>
            <a:off x="9518904" y="1536192"/>
            <a:ext cx="1920240" cy="530352"/>
          </a:xfrm>
          <a:prstGeom prst="rect">
            <a:avLst/>
          </a:prstGeom>
          <a:noFill/>
          <a:ln/>
        </p:spPr>
        <p:txBody>
          <a:bodyPr wrap="square" lIns="0" tIns="0" rIns="0" bIns="0" rtlCol="0" anchor="ctr"/>
          <a:lstStyle/>
          <a:p>
            <a:pPr indent="0" marL="0">
              <a:buNone/>
            </a:pPr>
            <a:r>
              <a:rPr lang="en-US" sz="1000" b="1" dirty="0">
                <a:solidFill>
                  <a:schemeClr val="accent2"/>
                </a:solidFill>
              </a:rPr>
              <a:t>PHASE 3</a:t>
            </a:r>
            <a:endParaRPr lang="en-US" sz="1400" dirty="0"/>
          </a:p>
          <a:p>
            <a:pPr indent="0" marL="0">
              <a:buNone/>
            </a:pPr>
            <a:r>
              <a:rPr lang="en-US" sz="1300" b="1" dirty="0">
                <a:solidFill>
                  <a:schemeClr val="bg1"/>
                </a:solidFill>
              </a:rPr>
              <a:t>Ideate &amp; Explore</a:t>
            </a:r>
            <a:endParaRPr lang="en-US" sz="1400" dirty="0"/>
          </a:p>
        </p:txBody>
      </p:sp>
      <p:sp>
        <p:nvSpPr>
          <p:cNvPr id="37" name="StepRow-35"/>
          <p:cNvSpPr/>
          <p:nvPr/>
        </p:nvSpPr>
        <p:spPr>
          <a:xfrm>
            <a:off x="9409176" y="2167128"/>
            <a:ext cx="2103120" cy="457200"/>
          </a:xfrm>
          <a:prstGeom prst="roundRect">
            <a:avLst>
              <a:gd name="adj" fmla="val 16000"/>
            </a:avLst>
          </a:prstGeom>
          <a:solidFill>
            <a:schemeClr val="accent5">
              <a:alpha val="18000"/>
            </a:schemeClr>
          </a:solidFill>
          <a:ln/>
        </p:spPr>
        <p:txBody>
          <a:bodyPr/>
          <a:p/>
        </p:txBody>
      </p:sp>
      <p:sp>
        <p:nvSpPr>
          <p:cNvPr id="38" name="Text-36"/>
          <p:cNvSpPr txBox="1"/>
          <p:nvPr/>
        </p:nvSpPr>
        <p:spPr>
          <a:xfrm>
            <a:off x="9500616" y="2167128"/>
            <a:ext cx="1965960" cy="457200"/>
          </a:xfrm>
          <a:prstGeom prst="rect">
            <a:avLst/>
          </a:prstGeom>
          <a:noFill/>
          <a:ln/>
        </p:spPr>
        <p:txBody>
          <a:bodyPr wrap="square" lIns="0" tIns="0" rIns="0" bIns="0" rtlCol="0" anchor="ctr"/>
          <a:lstStyle/>
          <a:p>
            <a:pPr indent="0" marL="0">
              <a:buNone/>
            </a:pPr>
            <a:r>
              <a:rPr lang="en-US" sz="1200" dirty="0">
                <a:solidFill>
                  <a:schemeClr val="tx1"/>
                </a:solidFill>
              </a:rPr>
              <a:t>3.1  Lightning demos (team + AI)</a:t>
            </a:r>
            <a:endParaRPr lang="en-US" sz="1200" dirty="0"/>
          </a:p>
        </p:txBody>
      </p:sp>
      <p:sp>
        <p:nvSpPr>
          <p:cNvPr id="39" name="StepRow-37"/>
          <p:cNvSpPr/>
          <p:nvPr/>
        </p:nvSpPr>
        <p:spPr>
          <a:xfrm>
            <a:off x="9409176" y="2679192"/>
            <a:ext cx="2103120" cy="457200"/>
          </a:xfrm>
          <a:prstGeom prst="roundRect">
            <a:avLst>
              <a:gd name="adj" fmla="val 16000"/>
            </a:avLst>
          </a:prstGeom>
          <a:solidFill>
            <a:schemeClr val="bg2"/>
          </a:solidFill>
          <a:ln/>
        </p:spPr>
        <p:txBody>
          <a:bodyPr/>
          <a:p/>
        </p:txBody>
      </p:sp>
      <p:sp>
        <p:nvSpPr>
          <p:cNvPr id="40" name="Text-38"/>
          <p:cNvSpPr txBox="1"/>
          <p:nvPr/>
        </p:nvSpPr>
        <p:spPr>
          <a:xfrm>
            <a:off x="9500616" y="2679192"/>
            <a:ext cx="1965960" cy="457200"/>
          </a:xfrm>
          <a:prstGeom prst="rect">
            <a:avLst/>
          </a:prstGeom>
          <a:noFill/>
          <a:ln/>
        </p:spPr>
        <p:txBody>
          <a:bodyPr wrap="square" lIns="0" tIns="0" rIns="0" bIns="0" rtlCol="0" anchor="ctr"/>
          <a:lstStyle/>
          <a:p>
            <a:pPr indent="0" marL="0">
              <a:buNone/>
            </a:pPr>
            <a:r>
              <a:rPr lang="en-US" sz="1200" dirty="0">
                <a:solidFill>
                  <a:schemeClr val="tx1"/>
                </a:solidFill>
              </a:rPr>
              <a:t>3.2  Notes</a:t>
            </a:r>
            <a:endParaRPr lang="en-US" sz="1200" dirty="0"/>
          </a:p>
        </p:txBody>
      </p:sp>
      <p:sp>
        <p:nvSpPr>
          <p:cNvPr id="41" name="StepRow-39"/>
          <p:cNvSpPr/>
          <p:nvPr/>
        </p:nvSpPr>
        <p:spPr>
          <a:xfrm>
            <a:off x="9409176" y="3191256"/>
            <a:ext cx="2103120" cy="457200"/>
          </a:xfrm>
          <a:prstGeom prst="roundRect">
            <a:avLst>
              <a:gd name="adj" fmla="val 16000"/>
            </a:avLst>
          </a:prstGeom>
          <a:solidFill>
            <a:schemeClr val="bg2"/>
          </a:solidFill>
          <a:ln/>
        </p:spPr>
        <p:txBody>
          <a:bodyPr/>
          <a:p/>
        </p:txBody>
      </p:sp>
      <p:sp>
        <p:nvSpPr>
          <p:cNvPr id="42" name="Text-40"/>
          <p:cNvSpPr txBox="1"/>
          <p:nvPr/>
        </p:nvSpPr>
        <p:spPr>
          <a:xfrm>
            <a:off x="9500616" y="3191256"/>
            <a:ext cx="1965960" cy="457200"/>
          </a:xfrm>
          <a:prstGeom prst="rect">
            <a:avLst/>
          </a:prstGeom>
          <a:noFill/>
          <a:ln/>
        </p:spPr>
        <p:txBody>
          <a:bodyPr wrap="square" lIns="0" tIns="0" rIns="0" bIns="0" rtlCol="0" anchor="ctr"/>
          <a:lstStyle/>
          <a:p>
            <a:pPr indent="0" marL="0">
              <a:buNone/>
            </a:pPr>
            <a:r>
              <a:rPr lang="en-US" sz="1200" dirty="0">
                <a:solidFill>
                  <a:schemeClr val="tx1"/>
                </a:solidFill>
              </a:rPr>
              <a:t>3.3  Doodles</a:t>
            </a:r>
            <a:endParaRPr lang="en-US" sz="1200" dirty="0"/>
          </a:p>
        </p:txBody>
      </p:sp>
      <p:sp>
        <p:nvSpPr>
          <p:cNvPr id="43" name="StepRow-41"/>
          <p:cNvSpPr/>
          <p:nvPr/>
        </p:nvSpPr>
        <p:spPr>
          <a:xfrm>
            <a:off x="9409176" y="3703320"/>
            <a:ext cx="2103120" cy="457200"/>
          </a:xfrm>
          <a:prstGeom prst="roundRect">
            <a:avLst>
              <a:gd name="adj" fmla="val 16000"/>
            </a:avLst>
          </a:prstGeom>
          <a:solidFill>
            <a:schemeClr val="bg2"/>
          </a:solidFill>
          <a:ln/>
        </p:spPr>
        <p:txBody>
          <a:bodyPr/>
          <a:p/>
        </p:txBody>
      </p:sp>
      <p:sp>
        <p:nvSpPr>
          <p:cNvPr id="44" name="Text-42"/>
          <p:cNvSpPr txBox="1"/>
          <p:nvPr/>
        </p:nvSpPr>
        <p:spPr>
          <a:xfrm>
            <a:off x="9500616" y="3703320"/>
            <a:ext cx="1965960" cy="457200"/>
          </a:xfrm>
          <a:prstGeom prst="rect">
            <a:avLst/>
          </a:prstGeom>
          <a:noFill/>
          <a:ln/>
        </p:spPr>
        <p:txBody>
          <a:bodyPr wrap="square" lIns="0" tIns="0" rIns="0" bIns="0" rtlCol="0" anchor="ctr"/>
          <a:lstStyle/>
          <a:p>
            <a:pPr indent="0" marL="0">
              <a:buNone/>
            </a:pPr>
            <a:r>
              <a:rPr lang="en-US" sz="1200" dirty="0">
                <a:solidFill>
                  <a:schemeClr val="tx1"/>
                </a:solidFill>
              </a:rPr>
              <a:t>3.4  Crazy 8s</a:t>
            </a:r>
            <a:endParaRPr lang="en-US" sz="1200" dirty="0"/>
          </a:p>
        </p:txBody>
      </p:sp>
      <p:sp>
        <p:nvSpPr>
          <p:cNvPr id="45" name="StepRow-43"/>
          <p:cNvSpPr/>
          <p:nvPr/>
        </p:nvSpPr>
        <p:spPr>
          <a:xfrm>
            <a:off x="9409176" y="4215384"/>
            <a:ext cx="2103120" cy="457200"/>
          </a:xfrm>
          <a:prstGeom prst="roundRect">
            <a:avLst>
              <a:gd name="adj" fmla="val 16000"/>
            </a:avLst>
          </a:prstGeom>
          <a:solidFill>
            <a:schemeClr val="bg2"/>
          </a:solidFill>
          <a:ln/>
        </p:spPr>
        <p:txBody>
          <a:bodyPr/>
          <a:p/>
        </p:txBody>
      </p:sp>
      <p:sp>
        <p:nvSpPr>
          <p:cNvPr id="46" name="Text-44"/>
          <p:cNvSpPr txBox="1"/>
          <p:nvPr/>
        </p:nvSpPr>
        <p:spPr>
          <a:xfrm>
            <a:off x="9500616" y="4215384"/>
            <a:ext cx="1965960" cy="457200"/>
          </a:xfrm>
          <a:prstGeom prst="rect">
            <a:avLst/>
          </a:prstGeom>
          <a:noFill/>
          <a:ln/>
        </p:spPr>
        <p:txBody>
          <a:bodyPr wrap="square" lIns="0" tIns="0" rIns="0" bIns="0" rtlCol="0" anchor="ctr"/>
          <a:lstStyle/>
          <a:p>
            <a:pPr indent="0" marL="0">
              <a:buNone/>
            </a:pPr>
            <a:r>
              <a:rPr lang="en-US" sz="1200" dirty="0">
                <a:solidFill>
                  <a:schemeClr val="tx1"/>
                </a:solidFill>
              </a:rPr>
              <a:t>3.5  Solution Sketch</a:t>
            </a:r>
            <a:endParaRPr lang="en-US" sz="1200" dirty="0"/>
          </a:p>
        </p:txBody>
      </p:sp>
      <p:sp>
        <p:nvSpPr>
          <p:cNvPr id="47" name="StepRow-45"/>
          <p:cNvSpPr/>
          <p:nvPr/>
        </p:nvSpPr>
        <p:spPr>
          <a:xfrm>
            <a:off x="9409176" y="4727448"/>
            <a:ext cx="2103120" cy="457200"/>
          </a:xfrm>
          <a:prstGeom prst="roundRect">
            <a:avLst>
              <a:gd name="adj" fmla="val 16000"/>
            </a:avLst>
          </a:prstGeom>
          <a:solidFill>
            <a:schemeClr val="accent5">
              <a:alpha val="18000"/>
            </a:schemeClr>
          </a:solidFill>
          <a:ln/>
        </p:spPr>
        <p:txBody>
          <a:bodyPr/>
          <a:p/>
        </p:txBody>
      </p:sp>
      <p:sp>
        <p:nvSpPr>
          <p:cNvPr id="48" name="Text-46"/>
          <p:cNvSpPr txBox="1"/>
          <p:nvPr/>
        </p:nvSpPr>
        <p:spPr>
          <a:xfrm>
            <a:off x="9500616" y="4727448"/>
            <a:ext cx="1965960" cy="457200"/>
          </a:xfrm>
          <a:prstGeom prst="rect">
            <a:avLst/>
          </a:prstGeom>
          <a:noFill/>
          <a:ln/>
        </p:spPr>
        <p:txBody>
          <a:bodyPr wrap="square" lIns="0" tIns="0" rIns="0" bIns="0" rtlCol="0" anchor="ctr"/>
          <a:lstStyle/>
          <a:p>
            <a:pPr indent="0" marL="0">
              <a:buNone/>
            </a:pPr>
            <a:r>
              <a:rPr lang="en-US" sz="1200" dirty="0">
                <a:solidFill>
                  <a:schemeClr val="tx1"/>
                </a:solidFill>
              </a:rPr>
              <a:t>3.6  Additional AI concepts</a:t>
            </a:r>
            <a:endParaRPr lang="en-US" sz="1200" dirty="0"/>
          </a:p>
        </p:txBody>
      </p:sp>
      <p:sp>
        <p:nvSpPr>
          <p:cNvPr id="49" name="NextBox-47"/>
          <p:cNvSpPr/>
          <p:nvPr/>
        </p:nvSpPr>
        <p:spPr>
          <a:xfrm>
            <a:off x="4983480" y="5440680"/>
            <a:ext cx="6528816" cy="457200"/>
          </a:xfrm>
          <a:prstGeom prst="roundRect">
            <a:avLst>
              <a:gd name="adj" fmla="val 16000"/>
            </a:avLst>
          </a:prstGeom>
          <a:solidFill>
            <a:schemeClr val="bg1"/>
          </a:solidFill>
          <a:ln w="12700">
            <a:solidFill>
              <a:srgbClr val="5C6B73"/>
            </a:solidFill>
            <a:prstDash val="dash"/>
          </a:ln>
        </p:spPr>
        <p:txBody>
          <a:bodyPr/>
          <a:p/>
        </p:txBody>
      </p:sp>
      <p:sp>
        <p:nvSpPr>
          <p:cNvPr id="50" name="Text-48"/>
          <p:cNvSpPr txBox="1"/>
          <p:nvPr/>
        </p:nvSpPr>
        <p:spPr>
          <a:xfrm>
            <a:off x="5120640" y="5440680"/>
            <a:ext cx="6254496" cy="457200"/>
          </a:xfrm>
          <a:prstGeom prst="rect">
            <a:avLst/>
          </a:prstGeom>
          <a:noFill/>
          <a:ln/>
        </p:spPr>
        <p:txBody>
          <a:bodyPr wrap="square" lIns="0" tIns="0" rIns="0" bIns="0" rtlCol="0" anchor="ctr"/>
          <a:lstStyle/>
          <a:p>
            <a:pPr indent="0" marL="0">
              <a:buNone/>
            </a:pPr>
            <a:r>
              <a:rPr lang="en-US" sz="1200" dirty="0">
                <a:solidFill>
                  <a:schemeClr val="accent6"/>
                </a:solidFill>
              </a:rPr>
              <a:t>→ Next: Decide &amp; Align (not simulated) · Outlook phase 4: test guide and start of the persona interviews</a:t>
            </a:r>
            <a:endParaRPr lang="en-US" sz="1200" dirty="0"/>
          </a:p>
        </p:txBody>
      </p:sp>
      <p:sp>
        <p:nvSpPr>
          <p:cNvPr id="51" name="Box-49"/>
          <p:cNvSpPr/>
          <p:nvPr/>
        </p:nvSpPr>
        <p:spPr>
          <a:xfrm>
            <a:off x="4983480" y="5989320"/>
            <a:ext cx="274320" cy="201168"/>
          </a:xfrm>
          <a:prstGeom prst="rect">
            <a:avLst/>
          </a:prstGeom>
          <a:solidFill>
            <a:schemeClr val="accent5">
              <a:alpha val="18000"/>
            </a:schemeClr>
          </a:solidFill>
          <a:ln/>
        </p:spPr>
        <p:txBody>
          <a:bodyPr/>
          <a:p/>
        </p:txBody>
      </p:sp>
      <p:sp>
        <p:nvSpPr>
          <p:cNvPr id="52" name="Text-50"/>
          <p:cNvSpPr txBox="1"/>
          <p:nvPr/>
        </p:nvSpPr>
        <p:spPr>
          <a:xfrm>
            <a:off x="5349240" y="5943600"/>
            <a:ext cx="6309360" cy="292608"/>
          </a:xfrm>
          <a:prstGeom prst="rect">
            <a:avLst/>
          </a:prstGeom>
          <a:noFill/>
          <a:ln/>
        </p:spPr>
        <p:txBody>
          <a:bodyPr wrap="square" lIns="0" tIns="0" rIns="0" bIns="0" rtlCol="0" anchor="ctr"/>
          <a:lstStyle/>
          <a:p>
            <a:pPr indent="0" marL="0">
              <a:buNone/>
            </a:pPr>
            <a:r>
              <a:rPr lang="en-US" sz="1000" dirty="0">
                <a:solidFill>
                  <a:schemeClr val="accent6"/>
                </a:solidFill>
              </a:rPr>
              <a:t>Step with AI contribution · Sequence per sprint variant matrix (classic design sprint, with AI)</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CAST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Sprint team and experts</a:t>
            </a:r>
            <a:endParaRPr lang="en-US" sz="3200" dirty="0"/>
          </a:p>
        </p:txBody>
      </p:sp>
      <p:sp>
        <p:nvSpPr>
          <p:cNvPr id="4" name="Text-51"/>
          <p:cNvSpPr txBox="1"/>
          <p:nvPr/>
        </p:nvSpPr>
        <p:spPr>
          <a:xfrm>
            <a:off x="548640" y="1417320"/>
            <a:ext cx="5486400" cy="256032"/>
          </a:xfrm>
          <a:prstGeom prst="rect">
            <a:avLst/>
          </a:prstGeom>
          <a:noFill/>
          <a:ln/>
        </p:spPr>
        <p:txBody>
          <a:bodyPr wrap="square" lIns="0" tIns="0" rIns="0" bIns="0" rtlCol="0" anchor="t"/>
          <a:lstStyle/>
          <a:p>
            <a:pPr indent="0" marL="0">
              <a:buNone/>
            </a:pPr>
            <a:r>
              <a:rPr lang="en-US" sz="1100" b="1" dirty="0">
                <a:solidFill>
                  <a:schemeClr val="accent6"/>
                </a:solidFill>
              </a:rPr>
              <a:t>SPRINT TEAM (LUMEN)</a:t>
            </a:r>
            <a:endParaRPr lang="en-US" sz="1100" dirty="0"/>
          </a:p>
        </p:txBody>
      </p:sp>
      <p:sp>
        <p:nvSpPr>
          <p:cNvPr id="5" name="Persona-52"/>
          <p:cNvSpPr/>
          <p:nvPr/>
        </p:nvSpPr>
        <p:spPr>
          <a:xfrm>
            <a:off x="548640" y="1719072"/>
            <a:ext cx="2651760" cy="1965960"/>
          </a:xfrm>
          <a:prstGeom prst="roundRect">
            <a:avLst>
              <a:gd name="adj" fmla="val 3721"/>
            </a:avLst>
          </a:prstGeom>
          <a:solidFill>
            <a:schemeClr val="bg2"/>
          </a:solidFill>
          <a:ln/>
        </p:spPr>
        <p:txBody>
          <a:bodyPr/>
          <a:p/>
        </p:txBody>
      </p:sp>
      <p:sp>
        <p:nvSpPr>
          <p:cNvPr id="6" name="Circle-53"/>
          <p:cNvSpPr/>
          <p:nvPr/>
        </p:nvSpPr>
        <p:spPr>
          <a:xfrm>
            <a:off x="713232" y="1883664"/>
            <a:ext cx="566928" cy="566928"/>
          </a:xfrm>
          <a:prstGeom prst="ellipse">
            <a:avLst/>
          </a:prstGeom>
          <a:solidFill>
            <a:schemeClr val="accent3"/>
          </a:solidFill>
          <a:ln/>
        </p:spPr>
        <p:txBody>
          <a:bodyPr/>
          <a:p/>
        </p:txBody>
      </p:sp>
      <p:sp>
        <p:nvSpPr>
          <p:cNvPr id="7" name="Text-54"/>
          <p:cNvSpPr txBox="1"/>
          <p:nvPr/>
        </p:nvSpPr>
        <p:spPr>
          <a:xfrm>
            <a:off x="713232" y="188366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CI</a:t>
            </a:r>
            <a:endParaRPr lang="en-US" sz="1500" dirty="0"/>
          </a:p>
        </p:txBody>
      </p:sp>
      <p:sp>
        <p:nvSpPr>
          <p:cNvPr id="8" name="Text-55"/>
          <p:cNvSpPr txBox="1"/>
          <p:nvPr/>
        </p:nvSpPr>
        <p:spPr>
          <a:xfrm>
            <a:off x="1371600" y="1865376"/>
            <a:ext cx="1737360" cy="292608"/>
          </a:xfrm>
          <a:prstGeom prst="rect">
            <a:avLst/>
          </a:prstGeom>
          <a:noFill/>
          <a:ln/>
        </p:spPr>
        <p:txBody>
          <a:bodyPr wrap="square" lIns="0" tIns="0" rIns="0" bIns="0" rtlCol="0" anchor="t"/>
          <a:lstStyle/>
          <a:p>
            <a:pPr indent="0" marL="0">
              <a:buNone/>
            </a:pPr>
            <a:r>
              <a:rPr lang="en-US" sz="1400" b="1" dirty="0">
                <a:solidFill>
                  <a:schemeClr val="tx2"/>
                </a:solidFill>
              </a:rPr>
              <a:t>Clara Imhof</a:t>
            </a:r>
            <a:endParaRPr lang="en-US" sz="1400" dirty="0"/>
          </a:p>
        </p:txBody>
      </p:sp>
      <p:sp>
        <p:nvSpPr>
          <p:cNvPr id="9" name="Text-56"/>
          <p:cNvSpPr txBox="1"/>
          <p:nvPr/>
        </p:nvSpPr>
        <p:spPr>
          <a:xfrm>
            <a:off x="1371600" y="2148840"/>
            <a:ext cx="1737360" cy="457200"/>
          </a:xfrm>
          <a:prstGeom prst="rect">
            <a:avLst/>
          </a:prstGeom>
          <a:noFill/>
          <a:ln/>
        </p:spPr>
        <p:txBody>
          <a:bodyPr wrap="square" lIns="0" tIns="0" rIns="0" bIns="0" rtlCol="0" anchor="t"/>
          <a:lstStyle/>
          <a:p>
            <a:pPr indent="0" marL="0">
              <a:buNone/>
            </a:pPr>
            <a:r>
              <a:rPr lang="en-US" sz="1100" dirty="0">
                <a:solidFill>
                  <a:schemeClr val="tx1"/>
                </a:solidFill>
              </a:rPr>
              <a:t>Head of Partnerships Europe, Lumen Basel</a:t>
            </a:r>
            <a:endParaRPr lang="en-US" sz="1100" dirty="0"/>
          </a:p>
        </p:txBody>
      </p:sp>
      <p:sp>
        <p:nvSpPr>
          <p:cNvPr id="10" name="Tag-57"/>
          <p:cNvSpPr/>
          <p:nvPr/>
        </p:nvSpPr>
        <p:spPr>
          <a:xfrm>
            <a:off x="713232" y="2615184"/>
            <a:ext cx="2322576" cy="274320"/>
          </a:xfrm>
          <a:prstGeom prst="roundRect">
            <a:avLst>
              <a:gd name="adj" fmla="val 40000"/>
            </a:avLst>
          </a:prstGeom>
          <a:solidFill>
            <a:schemeClr val="accent3">
              <a:alpha val="20000"/>
            </a:schemeClr>
          </a:solidFill>
          <a:ln/>
        </p:spPr>
        <p:txBody>
          <a:bodyPr/>
          <a:p/>
        </p:txBody>
      </p:sp>
      <p:sp>
        <p:nvSpPr>
          <p:cNvPr id="11" name="Text-58"/>
          <p:cNvSpPr txBox="1"/>
          <p:nvPr/>
        </p:nvSpPr>
        <p:spPr>
          <a:xfrm>
            <a:off x="713232" y="261518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Decider</a:t>
            </a:r>
            <a:endParaRPr lang="en-US" sz="1000" dirty="0"/>
          </a:p>
        </p:txBody>
      </p:sp>
      <p:sp>
        <p:nvSpPr>
          <p:cNvPr id="12" name="Text-59"/>
          <p:cNvSpPr txBox="1"/>
          <p:nvPr/>
        </p:nvSpPr>
        <p:spPr>
          <a:xfrm>
            <a:off x="713232" y="296265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“I want to know which evidence actually triggers a renewal.”</a:t>
            </a:r>
            <a:endParaRPr lang="en-US" sz="1100" dirty="0"/>
          </a:p>
        </p:txBody>
      </p:sp>
      <p:sp>
        <p:nvSpPr>
          <p:cNvPr id="13" name="Persona-60"/>
          <p:cNvSpPr/>
          <p:nvPr/>
        </p:nvSpPr>
        <p:spPr>
          <a:xfrm>
            <a:off x="3353105" y="1719072"/>
            <a:ext cx="2651760" cy="1965960"/>
          </a:xfrm>
          <a:prstGeom prst="roundRect">
            <a:avLst>
              <a:gd name="adj" fmla="val 3721"/>
            </a:avLst>
          </a:prstGeom>
          <a:solidFill>
            <a:schemeClr val="bg2"/>
          </a:solidFill>
          <a:ln/>
        </p:spPr>
        <p:txBody>
          <a:bodyPr/>
          <a:p/>
        </p:txBody>
      </p:sp>
      <p:sp>
        <p:nvSpPr>
          <p:cNvPr id="14" name="Circle-61"/>
          <p:cNvSpPr/>
          <p:nvPr/>
        </p:nvSpPr>
        <p:spPr>
          <a:xfrm>
            <a:off x="3517697" y="1883664"/>
            <a:ext cx="566928" cy="566928"/>
          </a:xfrm>
          <a:prstGeom prst="ellipse">
            <a:avLst/>
          </a:prstGeom>
          <a:solidFill>
            <a:schemeClr val="accent1"/>
          </a:solidFill>
          <a:ln/>
        </p:spPr>
        <p:txBody>
          <a:bodyPr/>
          <a:p/>
        </p:txBody>
      </p:sp>
      <p:sp>
        <p:nvSpPr>
          <p:cNvPr id="15" name="Text-62"/>
          <p:cNvSpPr txBox="1"/>
          <p:nvPr/>
        </p:nvSpPr>
        <p:spPr>
          <a:xfrm>
            <a:off x="3517697" y="188366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TF</a:t>
            </a:r>
            <a:endParaRPr lang="en-US" sz="1500" dirty="0"/>
          </a:p>
        </p:txBody>
      </p:sp>
      <p:sp>
        <p:nvSpPr>
          <p:cNvPr id="16" name="Text-63"/>
          <p:cNvSpPr txBox="1"/>
          <p:nvPr/>
        </p:nvSpPr>
        <p:spPr>
          <a:xfrm>
            <a:off x="4176065" y="1865376"/>
            <a:ext cx="1737360" cy="292608"/>
          </a:xfrm>
          <a:prstGeom prst="rect">
            <a:avLst/>
          </a:prstGeom>
          <a:noFill/>
          <a:ln/>
        </p:spPr>
        <p:txBody>
          <a:bodyPr wrap="square" lIns="0" tIns="0" rIns="0" bIns="0" rtlCol="0" anchor="t"/>
          <a:lstStyle/>
          <a:p>
            <a:pPr indent="0" marL="0">
              <a:buNone/>
            </a:pPr>
            <a:r>
              <a:rPr lang="en-US" sz="1400" b="1" dirty="0">
                <a:solidFill>
                  <a:schemeClr val="tx2"/>
                </a:solidFill>
              </a:rPr>
              <a:t>Tobias Frei</a:t>
            </a:r>
            <a:endParaRPr lang="en-US" sz="1400" dirty="0"/>
          </a:p>
        </p:txBody>
      </p:sp>
      <p:sp>
        <p:nvSpPr>
          <p:cNvPr id="17" name="Text-64"/>
          <p:cNvSpPr txBox="1"/>
          <p:nvPr/>
        </p:nvSpPr>
        <p:spPr>
          <a:xfrm>
            <a:off x="4176065" y="2148840"/>
            <a:ext cx="1737360" cy="457200"/>
          </a:xfrm>
          <a:prstGeom prst="rect">
            <a:avLst/>
          </a:prstGeom>
          <a:noFill/>
          <a:ln/>
        </p:spPr>
        <p:txBody>
          <a:bodyPr wrap="square" lIns="0" tIns="0" rIns="0" bIns="0" rtlCol="0" anchor="t"/>
          <a:lstStyle/>
          <a:p>
            <a:pPr indent="0" marL="0">
              <a:buNone/>
            </a:pPr>
            <a:r>
              <a:rPr lang="en-US" sz="1100" dirty="0">
                <a:solidFill>
                  <a:schemeClr val="tx1"/>
                </a:solidFill>
              </a:rPr>
              <a:t>Partnership Manager DACH, looks after 52 institutions</a:t>
            </a:r>
            <a:endParaRPr lang="en-US" sz="1100" dirty="0"/>
          </a:p>
        </p:txBody>
      </p:sp>
      <p:sp>
        <p:nvSpPr>
          <p:cNvPr id="18" name="Tag-65"/>
          <p:cNvSpPr/>
          <p:nvPr/>
        </p:nvSpPr>
        <p:spPr>
          <a:xfrm>
            <a:off x="3517697" y="2615184"/>
            <a:ext cx="2322576" cy="274320"/>
          </a:xfrm>
          <a:prstGeom prst="roundRect">
            <a:avLst>
              <a:gd name="adj" fmla="val 40000"/>
            </a:avLst>
          </a:prstGeom>
          <a:solidFill>
            <a:schemeClr val="accent1">
              <a:alpha val="20000"/>
            </a:schemeClr>
          </a:solidFill>
          <a:ln/>
        </p:spPr>
        <p:txBody>
          <a:bodyPr/>
          <a:p/>
        </p:txBody>
      </p:sp>
      <p:sp>
        <p:nvSpPr>
          <p:cNvPr id="19" name="Text-66"/>
          <p:cNvSpPr txBox="1"/>
          <p:nvPr/>
        </p:nvSpPr>
        <p:spPr>
          <a:xfrm>
            <a:off x="3517697" y="261518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Sprint member · Customer</a:t>
            </a:r>
            <a:endParaRPr lang="en-US" sz="1000" dirty="0"/>
          </a:p>
        </p:txBody>
      </p:sp>
      <p:sp>
        <p:nvSpPr>
          <p:cNvPr id="20" name="Text-67"/>
          <p:cNvSpPr txBox="1"/>
          <p:nvPr/>
        </p:nvSpPr>
        <p:spPr>
          <a:xfrm>
            <a:off x="3517697" y="296265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“Today I build renewal reports by hand – around 5 hours per institution.”</a:t>
            </a:r>
            <a:endParaRPr lang="en-US" sz="1100" dirty="0"/>
          </a:p>
        </p:txBody>
      </p:sp>
      <p:sp>
        <p:nvSpPr>
          <p:cNvPr id="21" name="Persona-68"/>
          <p:cNvSpPr/>
          <p:nvPr/>
        </p:nvSpPr>
        <p:spPr>
          <a:xfrm>
            <a:off x="6157570" y="1719072"/>
            <a:ext cx="2651760" cy="1965960"/>
          </a:xfrm>
          <a:prstGeom prst="roundRect">
            <a:avLst>
              <a:gd name="adj" fmla="val 3721"/>
            </a:avLst>
          </a:prstGeom>
          <a:solidFill>
            <a:schemeClr val="bg2"/>
          </a:solidFill>
          <a:ln/>
        </p:spPr>
        <p:txBody>
          <a:bodyPr/>
          <a:p/>
        </p:txBody>
      </p:sp>
      <p:sp>
        <p:nvSpPr>
          <p:cNvPr id="22" name="Circle-69"/>
          <p:cNvSpPr/>
          <p:nvPr/>
        </p:nvSpPr>
        <p:spPr>
          <a:xfrm>
            <a:off x="6322162" y="1883664"/>
            <a:ext cx="566928" cy="566928"/>
          </a:xfrm>
          <a:prstGeom prst="ellipse">
            <a:avLst/>
          </a:prstGeom>
          <a:solidFill>
            <a:schemeClr val="accent1"/>
          </a:solidFill>
          <a:ln/>
        </p:spPr>
        <p:txBody>
          <a:bodyPr/>
          <a:p/>
        </p:txBody>
      </p:sp>
      <p:sp>
        <p:nvSpPr>
          <p:cNvPr id="23" name="Text-70"/>
          <p:cNvSpPr txBox="1"/>
          <p:nvPr/>
        </p:nvSpPr>
        <p:spPr>
          <a:xfrm>
            <a:off x="6322162" y="188366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NK</a:t>
            </a:r>
            <a:endParaRPr lang="en-US" sz="1500" dirty="0"/>
          </a:p>
        </p:txBody>
      </p:sp>
      <p:sp>
        <p:nvSpPr>
          <p:cNvPr id="24" name="Text-71"/>
          <p:cNvSpPr txBox="1"/>
          <p:nvPr/>
        </p:nvSpPr>
        <p:spPr>
          <a:xfrm>
            <a:off x="6980530" y="1865376"/>
            <a:ext cx="1737360" cy="292608"/>
          </a:xfrm>
          <a:prstGeom prst="rect">
            <a:avLst/>
          </a:prstGeom>
          <a:noFill/>
          <a:ln/>
        </p:spPr>
        <p:txBody>
          <a:bodyPr wrap="square" lIns="0" tIns="0" rIns="0" bIns="0" rtlCol="0" anchor="t"/>
          <a:lstStyle/>
          <a:p>
            <a:pPr indent="0" marL="0">
              <a:buNone/>
            </a:pPr>
            <a:r>
              <a:rPr lang="en-US" sz="1400" b="1" dirty="0">
                <a:solidFill>
                  <a:schemeClr val="tx2"/>
                </a:solidFill>
              </a:rPr>
              <a:t>Nina Kovač</a:t>
            </a:r>
            <a:endParaRPr lang="en-US" sz="1400" dirty="0"/>
          </a:p>
        </p:txBody>
      </p:sp>
      <p:sp>
        <p:nvSpPr>
          <p:cNvPr id="25" name="Text-72"/>
          <p:cNvSpPr txBox="1"/>
          <p:nvPr/>
        </p:nvSpPr>
        <p:spPr>
          <a:xfrm>
            <a:off x="6980530" y="2148840"/>
            <a:ext cx="1737360" cy="457200"/>
          </a:xfrm>
          <a:prstGeom prst="rect">
            <a:avLst/>
          </a:prstGeom>
          <a:noFill/>
          <a:ln/>
        </p:spPr>
        <p:txBody>
          <a:bodyPr wrap="square" lIns="0" tIns="0" rIns="0" bIns="0" rtlCol="0" anchor="t"/>
          <a:lstStyle/>
          <a:p>
            <a:pPr indent="0" marL="0">
              <a:buNone/>
            </a:pPr>
            <a:r>
              <a:rPr lang="en-US" sz="1100" dirty="0">
                <a:solidFill>
                  <a:schemeClr val="tx1"/>
                </a:solidFill>
              </a:rPr>
              <a:t>Product Owner, Manuscripta partner dashboard</a:t>
            </a:r>
            <a:endParaRPr lang="en-US" sz="1100" dirty="0"/>
          </a:p>
        </p:txBody>
      </p:sp>
      <p:sp>
        <p:nvSpPr>
          <p:cNvPr id="26" name="Tag-73"/>
          <p:cNvSpPr/>
          <p:nvPr/>
        </p:nvSpPr>
        <p:spPr>
          <a:xfrm>
            <a:off x="6322162" y="2615184"/>
            <a:ext cx="2322576" cy="274320"/>
          </a:xfrm>
          <a:prstGeom prst="roundRect">
            <a:avLst>
              <a:gd name="adj" fmla="val 40000"/>
            </a:avLst>
          </a:prstGeom>
          <a:solidFill>
            <a:schemeClr val="accent1">
              <a:alpha val="20000"/>
            </a:schemeClr>
          </a:solidFill>
          <a:ln/>
        </p:spPr>
        <p:txBody>
          <a:bodyPr/>
          <a:p/>
        </p:txBody>
      </p:sp>
      <p:sp>
        <p:nvSpPr>
          <p:cNvPr id="27" name="Text-74"/>
          <p:cNvSpPr txBox="1"/>
          <p:nvPr/>
        </p:nvSpPr>
        <p:spPr>
          <a:xfrm>
            <a:off x="6322162" y="261518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Sprint member · Product</a:t>
            </a:r>
            <a:endParaRPr lang="en-US" sz="1000" dirty="0"/>
          </a:p>
        </p:txBody>
      </p:sp>
      <p:sp>
        <p:nvSpPr>
          <p:cNvPr id="28" name="Text-75"/>
          <p:cNvSpPr txBox="1"/>
          <p:nvPr/>
        </p:nvSpPr>
        <p:spPr>
          <a:xfrm>
            <a:off x="6322162" y="296265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“Only about one partner in eight logs in to Manuscripta each month.”</a:t>
            </a:r>
            <a:endParaRPr lang="en-US" sz="1100" dirty="0"/>
          </a:p>
        </p:txBody>
      </p:sp>
      <p:sp>
        <p:nvSpPr>
          <p:cNvPr id="29" name="Persona-76"/>
          <p:cNvSpPr/>
          <p:nvPr/>
        </p:nvSpPr>
        <p:spPr>
          <a:xfrm>
            <a:off x="8962034" y="1719072"/>
            <a:ext cx="2651760" cy="1965960"/>
          </a:xfrm>
          <a:prstGeom prst="roundRect">
            <a:avLst>
              <a:gd name="adj" fmla="val 3721"/>
            </a:avLst>
          </a:prstGeom>
          <a:solidFill>
            <a:schemeClr val="bg2"/>
          </a:solidFill>
          <a:ln/>
        </p:spPr>
        <p:txBody>
          <a:bodyPr/>
          <a:p/>
        </p:txBody>
      </p:sp>
      <p:sp>
        <p:nvSpPr>
          <p:cNvPr id="30" name="Circle-77"/>
          <p:cNvSpPr/>
          <p:nvPr/>
        </p:nvSpPr>
        <p:spPr>
          <a:xfrm>
            <a:off x="9126626" y="1883664"/>
            <a:ext cx="566928" cy="566928"/>
          </a:xfrm>
          <a:prstGeom prst="ellipse">
            <a:avLst/>
          </a:prstGeom>
          <a:solidFill>
            <a:schemeClr val="accent1"/>
          </a:solidFill>
          <a:ln/>
        </p:spPr>
        <p:txBody>
          <a:bodyPr/>
          <a:p/>
        </p:txBody>
      </p:sp>
      <p:sp>
        <p:nvSpPr>
          <p:cNvPr id="31" name="Text-78"/>
          <p:cNvSpPr txBox="1"/>
          <p:nvPr/>
        </p:nvSpPr>
        <p:spPr>
          <a:xfrm>
            <a:off x="9126626" y="188366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SO</a:t>
            </a:r>
            <a:endParaRPr lang="en-US" sz="1500" dirty="0"/>
          </a:p>
        </p:txBody>
      </p:sp>
      <p:sp>
        <p:nvSpPr>
          <p:cNvPr id="32" name="Text-79"/>
          <p:cNvSpPr txBox="1"/>
          <p:nvPr/>
        </p:nvSpPr>
        <p:spPr>
          <a:xfrm>
            <a:off x="9784994" y="1865376"/>
            <a:ext cx="1737360" cy="292608"/>
          </a:xfrm>
          <a:prstGeom prst="rect">
            <a:avLst/>
          </a:prstGeom>
          <a:noFill/>
          <a:ln/>
        </p:spPr>
        <p:txBody>
          <a:bodyPr wrap="square" lIns="0" tIns="0" rIns="0" bIns="0" rtlCol="0" anchor="t"/>
          <a:lstStyle/>
          <a:p>
            <a:pPr indent="0" marL="0">
              <a:buNone/>
            </a:pPr>
            <a:r>
              <a:rPr lang="en-US" sz="1400" b="1" dirty="0">
                <a:solidFill>
                  <a:schemeClr val="tx2"/>
                </a:solidFill>
              </a:rPr>
              <a:t>Samuel Ott</a:t>
            </a:r>
            <a:endParaRPr lang="en-US" sz="1400" dirty="0"/>
          </a:p>
        </p:txBody>
      </p:sp>
      <p:sp>
        <p:nvSpPr>
          <p:cNvPr id="33" name="Text-80"/>
          <p:cNvSpPr txBox="1"/>
          <p:nvPr/>
        </p:nvSpPr>
        <p:spPr>
          <a:xfrm>
            <a:off x="9784994" y="2148840"/>
            <a:ext cx="1737360" cy="457200"/>
          </a:xfrm>
          <a:prstGeom prst="rect">
            <a:avLst/>
          </a:prstGeom>
          <a:noFill/>
          <a:ln/>
        </p:spPr>
        <p:txBody>
          <a:bodyPr wrap="square" lIns="0" tIns="0" rIns="0" bIns="0" rtlCol="0" anchor="t"/>
          <a:lstStyle/>
          <a:p>
            <a:pPr indent="0" marL="0">
              <a:buNone/>
            </a:pPr>
            <a:r>
              <a:rPr lang="en-US" sz="1100" dirty="0">
                <a:solidFill>
                  <a:schemeClr val="tx1"/>
                </a:solidFill>
              </a:rPr>
              <a:t>Bibliometrics &amp; data analytics</a:t>
            </a:r>
            <a:endParaRPr lang="en-US" sz="1100" dirty="0"/>
          </a:p>
        </p:txBody>
      </p:sp>
      <p:sp>
        <p:nvSpPr>
          <p:cNvPr id="34" name="Tag-81"/>
          <p:cNvSpPr/>
          <p:nvPr/>
        </p:nvSpPr>
        <p:spPr>
          <a:xfrm>
            <a:off x="9126626" y="2615184"/>
            <a:ext cx="2322576" cy="274320"/>
          </a:xfrm>
          <a:prstGeom prst="roundRect">
            <a:avLst>
              <a:gd name="adj" fmla="val 40000"/>
            </a:avLst>
          </a:prstGeom>
          <a:solidFill>
            <a:schemeClr val="accent1">
              <a:alpha val="20000"/>
            </a:schemeClr>
          </a:solidFill>
          <a:ln/>
        </p:spPr>
        <p:txBody>
          <a:bodyPr/>
          <a:p/>
        </p:txBody>
      </p:sp>
      <p:sp>
        <p:nvSpPr>
          <p:cNvPr id="35" name="Text-82"/>
          <p:cNvSpPr txBox="1"/>
          <p:nvPr/>
        </p:nvSpPr>
        <p:spPr>
          <a:xfrm>
            <a:off x="9126626" y="261518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Sprint member · Data</a:t>
            </a:r>
            <a:endParaRPr lang="en-US" sz="1000" dirty="0"/>
          </a:p>
        </p:txBody>
      </p:sp>
      <p:sp>
        <p:nvSpPr>
          <p:cNvPr id="36" name="Text-83"/>
          <p:cNvSpPr txBox="1"/>
          <p:nvPr/>
        </p:nvSpPr>
        <p:spPr>
          <a:xfrm>
            <a:off x="9126626" y="296265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“Citations, Altmetric, policy mentions – we have the data, but not the story.”</a:t>
            </a:r>
            <a:endParaRPr lang="en-US" sz="1100" dirty="0"/>
          </a:p>
        </p:txBody>
      </p:sp>
      <p:sp>
        <p:nvSpPr>
          <p:cNvPr id="37" name="Text-84"/>
          <p:cNvSpPr txBox="1"/>
          <p:nvPr/>
        </p:nvSpPr>
        <p:spPr>
          <a:xfrm>
            <a:off x="548640" y="3886200"/>
            <a:ext cx="5486400" cy="256032"/>
          </a:xfrm>
          <a:prstGeom prst="rect">
            <a:avLst/>
          </a:prstGeom>
          <a:noFill/>
          <a:ln/>
        </p:spPr>
        <p:txBody>
          <a:bodyPr wrap="square" lIns="0" tIns="0" rIns="0" bIns="0" rtlCol="0" anchor="t"/>
          <a:lstStyle/>
          <a:p>
            <a:pPr indent="0" marL="0">
              <a:buNone/>
            </a:pPr>
            <a:r>
              <a:rPr lang="en-US" sz="1100" b="1" dirty="0">
                <a:solidFill>
                  <a:schemeClr val="accent6"/>
                </a:solidFill>
              </a:rPr>
              <a:t>EXTERNAL EXPERTS AND FACILITATION</a:t>
            </a:r>
            <a:endParaRPr lang="en-US" sz="1100" dirty="0"/>
          </a:p>
        </p:txBody>
      </p:sp>
      <p:sp>
        <p:nvSpPr>
          <p:cNvPr id="38" name="Persona-85"/>
          <p:cNvSpPr/>
          <p:nvPr/>
        </p:nvSpPr>
        <p:spPr>
          <a:xfrm>
            <a:off x="548640" y="4187952"/>
            <a:ext cx="2651760" cy="1965960"/>
          </a:xfrm>
          <a:prstGeom prst="roundRect">
            <a:avLst>
              <a:gd name="adj" fmla="val 3721"/>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39" name="Circle-86"/>
          <p:cNvSpPr/>
          <p:nvPr/>
        </p:nvSpPr>
        <p:spPr>
          <a:xfrm>
            <a:off x="713232" y="4352544"/>
            <a:ext cx="566928" cy="566928"/>
          </a:xfrm>
          <a:prstGeom prst="ellipse">
            <a:avLst/>
          </a:prstGeom>
          <a:solidFill>
            <a:schemeClr val="accent4"/>
          </a:solidFill>
          <a:ln/>
        </p:spPr>
        <p:txBody>
          <a:bodyPr/>
          <a:p/>
        </p:txBody>
      </p:sp>
      <p:sp>
        <p:nvSpPr>
          <p:cNvPr id="40" name="Text-87"/>
          <p:cNvSpPr txBox="1"/>
          <p:nvPr/>
        </p:nvSpPr>
        <p:spPr>
          <a:xfrm>
            <a:off x="713232" y="435254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MK</a:t>
            </a:r>
            <a:endParaRPr lang="en-US" sz="1500" dirty="0"/>
          </a:p>
        </p:txBody>
      </p:sp>
      <p:sp>
        <p:nvSpPr>
          <p:cNvPr id="41" name="Text-88"/>
          <p:cNvSpPr txBox="1"/>
          <p:nvPr/>
        </p:nvSpPr>
        <p:spPr>
          <a:xfrm>
            <a:off x="1371600" y="4334256"/>
            <a:ext cx="1737360" cy="292608"/>
          </a:xfrm>
          <a:prstGeom prst="rect">
            <a:avLst/>
          </a:prstGeom>
          <a:noFill/>
          <a:ln/>
        </p:spPr>
        <p:txBody>
          <a:bodyPr wrap="square" lIns="0" tIns="0" rIns="0" bIns="0" rtlCol="0" anchor="t"/>
          <a:lstStyle/>
          <a:p>
            <a:pPr indent="0" marL="0">
              <a:buNone/>
            </a:pPr>
            <a:r>
              <a:rPr lang="en-US" sz="1400" b="1" dirty="0">
                <a:solidFill>
                  <a:schemeClr val="tx2"/>
                </a:solidFill>
              </a:rPr>
              <a:t>Dr. Miriam Kessler</a:t>
            </a:r>
            <a:endParaRPr lang="en-US" sz="1400" dirty="0"/>
          </a:p>
        </p:txBody>
      </p:sp>
      <p:sp>
        <p:nvSpPr>
          <p:cNvPr id="42" name="Text-89"/>
          <p:cNvSpPr txBox="1"/>
          <p:nvPr/>
        </p:nvSpPr>
        <p:spPr>
          <a:xfrm>
            <a:off x="1371600" y="4617720"/>
            <a:ext cx="1737360" cy="457200"/>
          </a:xfrm>
          <a:prstGeom prst="rect">
            <a:avLst/>
          </a:prstGeom>
          <a:noFill/>
          <a:ln/>
        </p:spPr>
        <p:txBody>
          <a:bodyPr wrap="square" lIns="0" tIns="0" rIns="0" bIns="0" rtlCol="0" anchor="t"/>
          <a:lstStyle/>
          <a:p>
            <a:pPr indent="0" marL="0">
              <a:buNone/>
            </a:pPr>
            <a:r>
              <a:rPr lang="en-US" sz="1100" dirty="0">
                <a:solidFill>
                  <a:schemeClr val="tx1"/>
                </a:solidFill>
              </a:rPr>
              <a:t>OA Coordinator, University Library, Rheinfeld (DE)</a:t>
            </a:r>
            <a:endParaRPr lang="en-US" sz="1100" dirty="0"/>
          </a:p>
        </p:txBody>
      </p:sp>
      <p:sp>
        <p:nvSpPr>
          <p:cNvPr id="43" name="Tag-90"/>
          <p:cNvSpPr/>
          <p:nvPr/>
        </p:nvSpPr>
        <p:spPr>
          <a:xfrm>
            <a:off x="713232" y="5084064"/>
            <a:ext cx="2322576" cy="274320"/>
          </a:xfrm>
          <a:prstGeom prst="roundRect">
            <a:avLst>
              <a:gd name="adj" fmla="val 40000"/>
            </a:avLst>
          </a:prstGeom>
          <a:solidFill>
            <a:schemeClr val="accent4">
              <a:alpha val="20000"/>
            </a:schemeClr>
          </a:solidFill>
          <a:ln/>
        </p:spPr>
        <p:txBody>
          <a:bodyPr/>
          <a:p/>
        </p:txBody>
      </p:sp>
      <p:sp>
        <p:nvSpPr>
          <p:cNvPr id="44" name="Text-91"/>
          <p:cNvSpPr txBox="1"/>
          <p:nvPr/>
        </p:nvSpPr>
        <p:spPr>
          <a:xfrm>
            <a:off x="713232" y="508406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Expert · User</a:t>
            </a:r>
            <a:endParaRPr lang="en-US" sz="1000" dirty="0"/>
          </a:p>
        </p:txBody>
      </p:sp>
      <p:sp>
        <p:nvSpPr>
          <p:cNvPr id="45" name="Text-92"/>
          <p:cNvSpPr txBox="1"/>
          <p:nvPr/>
        </p:nvSpPr>
        <p:spPr>
          <a:xfrm>
            <a:off x="713232" y="543153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“I write the renewal proposal for our director.”</a:t>
            </a:r>
            <a:endParaRPr lang="en-US" sz="1100" dirty="0"/>
          </a:p>
        </p:txBody>
      </p:sp>
      <p:sp>
        <p:nvSpPr>
          <p:cNvPr id="46" name="Persona-93"/>
          <p:cNvSpPr/>
          <p:nvPr/>
        </p:nvSpPr>
        <p:spPr>
          <a:xfrm>
            <a:off x="3353105" y="4187952"/>
            <a:ext cx="2651760" cy="1965960"/>
          </a:xfrm>
          <a:prstGeom prst="roundRect">
            <a:avLst>
              <a:gd name="adj" fmla="val 3721"/>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47" name="Circle-94"/>
          <p:cNvSpPr/>
          <p:nvPr/>
        </p:nvSpPr>
        <p:spPr>
          <a:xfrm>
            <a:off x="3517697" y="4352544"/>
            <a:ext cx="566928" cy="566928"/>
          </a:xfrm>
          <a:prstGeom prst="ellipse">
            <a:avLst/>
          </a:prstGeom>
          <a:solidFill>
            <a:schemeClr val="accent3"/>
          </a:solidFill>
          <a:ln/>
        </p:spPr>
        <p:txBody>
          <a:bodyPr/>
          <a:p/>
        </p:txBody>
      </p:sp>
      <p:sp>
        <p:nvSpPr>
          <p:cNvPr id="48" name="Text-95"/>
          <p:cNvSpPr txBox="1"/>
          <p:nvPr/>
        </p:nvSpPr>
        <p:spPr>
          <a:xfrm>
            <a:off x="3517697" y="435254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RH</a:t>
            </a:r>
            <a:endParaRPr lang="en-US" sz="1500" dirty="0"/>
          </a:p>
        </p:txBody>
      </p:sp>
      <p:sp>
        <p:nvSpPr>
          <p:cNvPr id="49" name="Text-96"/>
          <p:cNvSpPr txBox="1"/>
          <p:nvPr/>
        </p:nvSpPr>
        <p:spPr>
          <a:xfrm>
            <a:off x="4176065" y="4334256"/>
            <a:ext cx="1737360" cy="292608"/>
          </a:xfrm>
          <a:prstGeom prst="rect">
            <a:avLst/>
          </a:prstGeom>
          <a:noFill/>
          <a:ln/>
        </p:spPr>
        <p:txBody>
          <a:bodyPr wrap="square" lIns="0" tIns="0" rIns="0" bIns="0" rtlCol="0" anchor="t"/>
          <a:lstStyle/>
          <a:p>
            <a:pPr indent="0" marL="0">
              <a:buNone/>
            </a:pPr>
            <a:r>
              <a:rPr lang="en-US" sz="1400" b="1" dirty="0">
                <a:solidFill>
                  <a:schemeClr val="tx2"/>
                </a:solidFill>
              </a:rPr>
              <a:t>Dr. Rainer Hollmann</a:t>
            </a:r>
            <a:endParaRPr lang="en-US" sz="1400" dirty="0"/>
          </a:p>
        </p:txBody>
      </p:sp>
      <p:sp>
        <p:nvSpPr>
          <p:cNvPr id="50" name="Text-97"/>
          <p:cNvSpPr txBox="1"/>
          <p:nvPr/>
        </p:nvSpPr>
        <p:spPr>
          <a:xfrm>
            <a:off x="4176065" y="4617720"/>
            <a:ext cx="1737360" cy="457200"/>
          </a:xfrm>
          <a:prstGeom prst="rect">
            <a:avLst/>
          </a:prstGeom>
          <a:noFill/>
          <a:ln/>
        </p:spPr>
        <p:txBody>
          <a:bodyPr wrap="square" lIns="0" tIns="0" rIns="0" bIns="0" rtlCol="0" anchor="t"/>
          <a:lstStyle/>
          <a:p>
            <a:pPr indent="0" marL="0">
              <a:buNone/>
            </a:pPr>
            <a:r>
              <a:rPr lang="en-US" sz="1100" dirty="0">
                <a:solidFill>
                  <a:schemeClr val="tx1"/>
                </a:solidFill>
              </a:rPr>
              <a:t>Director, University Library, Rheinfeld (DE)</a:t>
            </a:r>
            <a:endParaRPr lang="en-US" sz="1100" dirty="0"/>
          </a:p>
        </p:txBody>
      </p:sp>
      <p:sp>
        <p:nvSpPr>
          <p:cNvPr id="51" name="Tag-98"/>
          <p:cNvSpPr/>
          <p:nvPr/>
        </p:nvSpPr>
        <p:spPr>
          <a:xfrm>
            <a:off x="3517697" y="5084064"/>
            <a:ext cx="2322576" cy="274320"/>
          </a:xfrm>
          <a:prstGeom prst="roundRect">
            <a:avLst>
              <a:gd name="adj" fmla="val 40000"/>
            </a:avLst>
          </a:prstGeom>
          <a:solidFill>
            <a:schemeClr val="accent3">
              <a:alpha val="20000"/>
            </a:schemeClr>
          </a:solidFill>
          <a:ln/>
        </p:spPr>
        <p:txBody>
          <a:bodyPr/>
          <a:p/>
        </p:txBody>
      </p:sp>
      <p:sp>
        <p:nvSpPr>
          <p:cNvPr id="52" name="Text-99"/>
          <p:cNvSpPr txBox="1"/>
          <p:nvPr/>
        </p:nvSpPr>
        <p:spPr>
          <a:xfrm>
            <a:off x="3517697" y="508406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Expert · Budget</a:t>
            </a:r>
            <a:endParaRPr lang="en-US" sz="1000" dirty="0"/>
          </a:p>
        </p:txBody>
      </p:sp>
      <p:sp>
        <p:nvSpPr>
          <p:cNvPr id="53" name="Text-100"/>
          <p:cNvSpPr txBox="1"/>
          <p:nvPr/>
        </p:nvSpPr>
        <p:spPr>
          <a:xfrm>
            <a:off x="3517697" y="543153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“I own the acquisitions budget and take agreements to the Executive Board.”</a:t>
            </a:r>
            <a:endParaRPr lang="en-US" sz="1100" dirty="0"/>
          </a:p>
        </p:txBody>
      </p:sp>
      <p:sp>
        <p:nvSpPr>
          <p:cNvPr id="54" name="Persona-101"/>
          <p:cNvSpPr/>
          <p:nvPr/>
        </p:nvSpPr>
        <p:spPr>
          <a:xfrm>
            <a:off x="6157570" y="4187952"/>
            <a:ext cx="2651760" cy="1965960"/>
          </a:xfrm>
          <a:prstGeom prst="roundRect">
            <a:avLst>
              <a:gd name="adj" fmla="val 3721"/>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55" name="Circle-102"/>
          <p:cNvSpPr/>
          <p:nvPr/>
        </p:nvSpPr>
        <p:spPr>
          <a:xfrm>
            <a:off x="6322162" y="4352544"/>
            <a:ext cx="566928" cy="566928"/>
          </a:xfrm>
          <a:prstGeom prst="ellipse">
            <a:avLst/>
          </a:prstGeom>
          <a:solidFill>
            <a:schemeClr val="accent6"/>
          </a:solidFill>
          <a:ln/>
        </p:spPr>
        <p:txBody>
          <a:bodyPr/>
          <a:p/>
        </p:txBody>
      </p:sp>
      <p:sp>
        <p:nvSpPr>
          <p:cNvPr id="56" name="Text-103"/>
          <p:cNvSpPr txBox="1"/>
          <p:nvPr/>
        </p:nvSpPr>
        <p:spPr>
          <a:xfrm>
            <a:off x="6322162" y="435254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US</a:t>
            </a:r>
            <a:endParaRPr lang="en-US" sz="1500" dirty="0"/>
          </a:p>
        </p:txBody>
      </p:sp>
      <p:sp>
        <p:nvSpPr>
          <p:cNvPr id="57" name="Text-104"/>
          <p:cNvSpPr txBox="1"/>
          <p:nvPr/>
        </p:nvSpPr>
        <p:spPr>
          <a:xfrm>
            <a:off x="6980530" y="4334256"/>
            <a:ext cx="1737360" cy="292608"/>
          </a:xfrm>
          <a:prstGeom prst="rect">
            <a:avLst/>
          </a:prstGeom>
          <a:noFill/>
          <a:ln/>
        </p:spPr>
        <p:txBody>
          <a:bodyPr wrap="square" lIns="0" tIns="0" rIns="0" bIns="0" rtlCol="0" anchor="t"/>
          <a:lstStyle/>
          <a:p>
            <a:pPr indent="0" marL="0">
              <a:buNone/>
            </a:pPr>
            <a:r>
              <a:rPr lang="en-US" sz="1400" b="1" dirty="0">
                <a:solidFill>
                  <a:schemeClr val="tx2"/>
                </a:solidFill>
              </a:rPr>
              <a:t>Ulrike Sandmann</a:t>
            </a:r>
            <a:endParaRPr lang="en-US" sz="1400" dirty="0"/>
          </a:p>
        </p:txBody>
      </p:sp>
      <p:sp>
        <p:nvSpPr>
          <p:cNvPr id="58" name="Text-105"/>
          <p:cNvSpPr txBox="1"/>
          <p:nvPr/>
        </p:nvSpPr>
        <p:spPr>
          <a:xfrm>
            <a:off x="6980530" y="4617720"/>
            <a:ext cx="1737360" cy="457200"/>
          </a:xfrm>
          <a:prstGeom prst="rect">
            <a:avLst/>
          </a:prstGeom>
          <a:noFill/>
          <a:ln/>
        </p:spPr>
        <p:txBody>
          <a:bodyPr wrap="square" lIns="0" tIns="0" rIns="0" bIns="0" rtlCol="0" anchor="t"/>
          <a:lstStyle/>
          <a:p>
            <a:pPr indent="0" marL="0">
              <a:buNone/>
            </a:pPr>
            <a:r>
              <a:rPr lang="en-US" sz="1100" dirty="0">
                <a:solidFill>
                  <a:schemeClr val="tx1"/>
                </a:solidFill>
              </a:rPr>
              <a:t>Head of Licensing, Southern Library Consortium (14 inst.)</a:t>
            </a:r>
            <a:endParaRPr lang="en-US" sz="1100" dirty="0"/>
          </a:p>
        </p:txBody>
      </p:sp>
      <p:sp>
        <p:nvSpPr>
          <p:cNvPr id="59" name="Tag-106"/>
          <p:cNvSpPr/>
          <p:nvPr/>
        </p:nvSpPr>
        <p:spPr>
          <a:xfrm>
            <a:off x="6322162" y="5084064"/>
            <a:ext cx="2322576" cy="274320"/>
          </a:xfrm>
          <a:prstGeom prst="roundRect">
            <a:avLst>
              <a:gd name="adj" fmla="val 40000"/>
            </a:avLst>
          </a:prstGeom>
          <a:solidFill>
            <a:schemeClr val="accent6">
              <a:alpha val="20000"/>
            </a:schemeClr>
          </a:solidFill>
          <a:ln/>
        </p:spPr>
        <p:txBody>
          <a:bodyPr/>
          <a:p/>
        </p:txBody>
      </p:sp>
      <p:sp>
        <p:nvSpPr>
          <p:cNvPr id="60" name="Text-107"/>
          <p:cNvSpPr txBox="1"/>
          <p:nvPr/>
        </p:nvSpPr>
        <p:spPr>
          <a:xfrm>
            <a:off x="6322162" y="508406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Expert · Market &amp; policy</a:t>
            </a:r>
            <a:endParaRPr lang="en-US" sz="1000" dirty="0"/>
          </a:p>
        </p:txBody>
      </p:sp>
      <p:sp>
        <p:nvSpPr>
          <p:cNvPr id="61" name="Text-108"/>
          <p:cNvSpPr txBox="1"/>
          <p:nvPr/>
        </p:nvSpPr>
        <p:spPr>
          <a:xfrm>
            <a:off x="6322162" y="543153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“I negotiate framework terms for all 14 members.”</a:t>
            </a:r>
            <a:endParaRPr lang="en-US" sz="1100" dirty="0"/>
          </a:p>
        </p:txBody>
      </p:sp>
      <p:sp>
        <p:nvSpPr>
          <p:cNvPr id="62" name="FacilCard-109"/>
          <p:cNvSpPr/>
          <p:nvPr/>
        </p:nvSpPr>
        <p:spPr>
          <a:xfrm>
            <a:off x="8962034" y="4187952"/>
            <a:ext cx="2651760" cy="1965960"/>
          </a:xfrm>
          <a:prstGeom prst="roundRect">
            <a:avLst>
              <a:gd name="adj" fmla="val 3721"/>
            </a:avLst>
          </a:prstGeom>
          <a:solidFill>
            <a:schemeClr val="accent5">
              <a:alpha val="12000"/>
            </a:schemeClr>
          </a:solidFill>
          <a:ln/>
        </p:spPr>
        <p:txBody>
          <a:bodyPr/>
          <a:p/>
        </p:txBody>
      </p:sp>
      <p:sp>
        <p:nvSpPr>
          <p:cNvPr id="63" name="Circle-110"/>
          <p:cNvSpPr/>
          <p:nvPr/>
        </p:nvSpPr>
        <p:spPr>
          <a:xfrm>
            <a:off x="9126626" y="4352544"/>
            <a:ext cx="566928" cy="566928"/>
          </a:xfrm>
          <a:prstGeom prst="ellipse">
            <a:avLst/>
          </a:prstGeom>
          <a:solidFill>
            <a:schemeClr val="tx2"/>
          </a:solidFill>
          <a:ln/>
        </p:spPr>
        <p:txBody>
          <a:bodyPr/>
          <a:p/>
        </p:txBody>
      </p:sp>
      <p:sp>
        <p:nvSpPr>
          <p:cNvPr id="64" name="Text-111"/>
          <p:cNvSpPr txBox="1"/>
          <p:nvPr/>
        </p:nvSpPr>
        <p:spPr>
          <a:xfrm>
            <a:off x="9126626" y="435254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AB</a:t>
            </a:r>
            <a:endParaRPr lang="en-US" sz="1500" dirty="0"/>
          </a:p>
        </p:txBody>
      </p:sp>
      <p:sp>
        <p:nvSpPr>
          <p:cNvPr id="65" name="Text-112"/>
          <p:cNvSpPr txBox="1"/>
          <p:nvPr/>
        </p:nvSpPr>
        <p:spPr>
          <a:xfrm>
            <a:off x="9784994" y="4334256"/>
            <a:ext cx="1737360" cy="292608"/>
          </a:xfrm>
          <a:prstGeom prst="rect">
            <a:avLst/>
          </a:prstGeom>
          <a:noFill/>
          <a:ln/>
        </p:spPr>
        <p:txBody>
          <a:bodyPr wrap="square" lIns="0" tIns="0" rIns="0" bIns="0" rtlCol="0" anchor="t"/>
          <a:lstStyle/>
          <a:p>
            <a:pPr indent="0" marL="0">
              <a:buNone/>
            </a:pPr>
            <a:r>
              <a:rPr lang="en-US" sz="1400" b="1" dirty="0">
                <a:solidFill>
                  <a:schemeClr val="tx2"/>
                </a:solidFill>
              </a:rPr>
              <a:t>Alexander Boll</a:t>
            </a:r>
            <a:endParaRPr lang="en-US" sz="1400" dirty="0"/>
          </a:p>
        </p:txBody>
      </p:sp>
      <p:sp>
        <p:nvSpPr>
          <p:cNvPr id="66" name="Text-113"/>
          <p:cNvSpPr txBox="1"/>
          <p:nvPr/>
        </p:nvSpPr>
        <p:spPr>
          <a:xfrm>
            <a:off x="9784994" y="4617720"/>
            <a:ext cx="1737360" cy="457200"/>
          </a:xfrm>
          <a:prstGeom prst="rect">
            <a:avLst/>
          </a:prstGeom>
          <a:noFill/>
          <a:ln/>
        </p:spPr>
        <p:txBody>
          <a:bodyPr wrap="square" lIns="0" tIns="0" rIns="0" bIns="0" rtlCol="0" anchor="t"/>
          <a:lstStyle/>
          <a:p>
            <a:pPr indent="0" marL="0">
              <a:buNone/>
            </a:pPr>
            <a:r>
              <a:rPr lang="en-US" sz="1100" dirty="0">
                <a:solidFill>
                  <a:schemeClr val="tx1"/>
                </a:solidFill>
              </a:rPr>
              <a:t>Sprint coach, sprintbox.ai · Facilitator</a:t>
            </a:r>
            <a:endParaRPr lang="en-US" sz="1100" dirty="0"/>
          </a:p>
        </p:txBody>
      </p:sp>
      <p:sp>
        <p:nvSpPr>
          <p:cNvPr id="67" name="IconBg-114"/>
          <p:cNvSpPr/>
          <p:nvPr/>
        </p:nvSpPr>
        <p:spPr>
          <a:xfrm>
            <a:off x="9126626" y="5193792"/>
            <a:ext cx="566928" cy="566928"/>
          </a:xfrm>
          <a:prstGeom prst="ellipse">
            <a:avLst/>
          </a:prstGeom>
          <a:solidFill>
            <a:srgbClr val="6E5BB0"/>
          </a:solidFill>
          <a:ln/>
        </p:spPr>
        <p:txBody>
          <a:bodyPr/>
          <a:p/>
        </p:txBody>
      </p:sp>
      <p:pic>
        <p:nvPicPr>
          <p:cNvPr id="68" name="Icon-115" descr="preencoded.png">    </p:cNvPr>
          <p:cNvPicPr>
            <a:picLocks noChangeAspect="1"/>
          </p:cNvPicPr>
          <p:nvPr/>
        </p:nvPicPr>
        <p:blipFill>
          <a:blip r:embed="rId1"/>
          <a:stretch>
            <a:fillRect/>
          </a:stretch>
        </p:blipFill>
        <p:spPr>
          <a:xfrm>
            <a:off x="9268358" y="5335524"/>
            <a:ext cx="283464" cy="283464"/>
          </a:xfrm>
          <a:prstGeom prst="rect">
            <a:avLst/>
          </a:prstGeom>
        </p:spPr>
      </p:pic>
      <p:sp>
        <p:nvSpPr>
          <p:cNvPr id="69" name="Text-116"/>
          <p:cNvSpPr txBox="1"/>
          <p:nvPr/>
        </p:nvSpPr>
        <p:spPr>
          <a:xfrm>
            <a:off x="9784994" y="5175504"/>
            <a:ext cx="1737360" cy="292608"/>
          </a:xfrm>
          <a:prstGeom prst="rect">
            <a:avLst/>
          </a:prstGeom>
          <a:noFill/>
          <a:ln/>
        </p:spPr>
        <p:txBody>
          <a:bodyPr wrap="square" lIns="0" tIns="0" rIns="0" bIns="0" rtlCol="0" anchor="t"/>
          <a:lstStyle/>
          <a:p>
            <a:pPr indent="0" marL="0">
              <a:buNone/>
            </a:pPr>
            <a:r>
              <a:rPr lang="en-US" sz="1400" b="1" dirty="0">
                <a:solidFill>
                  <a:schemeClr val="tx2"/>
                </a:solidFill>
              </a:rPr>
              <a:t>sprintbox AI agent</a:t>
            </a:r>
            <a:endParaRPr lang="en-US" sz="1400" dirty="0"/>
          </a:p>
        </p:txBody>
      </p:sp>
      <p:sp>
        <p:nvSpPr>
          <p:cNvPr id="70" name="Text-117"/>
          <p:cNvSpPr txBox="1"/>
          <p:nvPr/>
        </p:nvSpPr>
        <p:spPr>
          <a:xfrm>
            <a:off x="9784994" y="5458968"/>
            <a:ext cx="1737360" cy="548640"/>
          </a:xfrm>
          <a:prstGeom prst="rect">
            <a:avLst/>
          </a:prstGeom>
          <a:noFill/>
          <a:ln/>
        </p:spPr>
        <p:txBody>
          <a:bodyPr wrap="square" lIns="0" tIns="0" rIns="0" bIns="0" rtlCol="0" anchor="t"/>
          <a:lstStyle/>
          <a:p>
            <a:pPr indent="0" marL="0">
              <a:buNone/>
            </a:pPr>
            <a:r>
              <a:rPr lang="en-US" sz="1100" dirty="0">
                <a:solidFill>
                  <a:schemeClr val="tx1"/>
                </a:solidFill>
              </a:rPr>
              <a:t>Synthesis, lightning demos, additional concepts</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6858000" cy="457200"/>
          </a:xfrm>
          <a:prstGeom prst="rect">
            <a:avLst/>
          </a:prstGeom>
          <a:noFill/>
          <a:ln/>
        </p:spPr>
        <p:txBody>
          <a:bodyPr wrap="square" lIns="0" tIns="0" rIns="0" bIns="0" rtlCol="0" anchor="b"/>
          <a:lstStyle/>
          <a:p>
            <a:pPr indent="0" marL="0">
              <a:buNone/>
            </a:pPr>
            <a:r>
              <a:rPr lang="en-US" sz="1600" b="1" dirty="0">
                <a:solidFill>
                  <a:schemeClr val="accent2"/>
                </a:solidFill>
              </a:rPr>
              <a:t>PHASE 1</a:t>
            </a:r>
            <a:endParaRPr lang="en-US" sz="1600" dirty="0"/>
          </a:p>
        </p:txBody>
      </p:sp>
      <p:sp>
        <p:nvSpPr>
          <p:cNvPr id="3" name="Text 0"/>
          <p:cNvSpPr/>
          <p:nvPr>
            <p:ph idx="101" type="title" hasCustomPrompt="1"/>
          </p:nvPr>
        </p:nvSpPr>
        <p:spPr>
          <a:xfrm>
            <a:off x="731520" y="1874520"/>
            <a:ext cx="68580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Stakeholder Briefing</a:t>
            </a:r>
            <a:endParaRPr lang="en-US" sz="4400" dirty="0"/>
          </a:p>
        </p:txBody>
      </p:sp>
      <p:sp>
        <p:nvSpPr>
          <p:cNvPr id="4" name="Text 0"/>
          <p:cNvSpPr/>
          <p:nvPr>
            <p:ph idx="102" type="body" hasCustomPrompt="1"/>
          </p:nvPr>
        </p:nvSpPr>
        <p:spPr>
          <a:xfrm>
            <a:off x="731520" y="3200400"/>
            <a:ext cx="6858000" cy="2926080"/>
          </a:xfrm>
          <a:prstGeom prst="rect">
            <a:avLst/>
          </a:prstGeom>
          <a:noFill/>
          <a:ln/>
        </p:spPr>
        <p:txBody>
          <a:bodyPr wrap="square" lIns="0" tIns="0" rIns="0" bIns="0" rtlCol="0" anchor="t"/>
          <a:lstStyle/>
          <a:p>
            <a:pPr indent="0" marL="0">
              <a:spcAft>
                <a:spcPts val="600"/>
              </a:spcAft>
              <a:buNone/>
            </a:pPr>
            <a:r>
              <a:rPr lang="en-US" sz="1800" dirty="0">
                <a:solidFill>
                  <a:schemeClr val="bg2"/>
                </a:solidFill>
              </a:rPr>
              <a:t>1.1  Context material</a:t>
            </a:r>
            <a:endParaRPr lang="en-US" sz="1800" dirty="0"/>
          </a:p>
          <a:p>
            <a:pPr indent="0" marL="0">
              <a:spcAft>
                <a:spcPts val="600"/>
              </a:spcAft>
              <a:buNone/>
            </a:pPr>
            <a:r>
              <a:rPr lang="en-US" sz="1800" dirty="0">
                <a:solidFill>
                  <a:schemeClr val="bg2"/>
                </a:solidFill>
              </a:rPr>
              <a:t>1.2  Interview guide</a:t>
            </a:r>
            <a:endParaRPr lang="en-US" sz="1800" dirty="0"/>
          </a:p>
          <a:p>
            <a:pPr indent="0" marL="0">
              <a:spcAft>
                <a:spcPts val="600"/>
              </a:spcAft>
              <a:buNone/>
            </a:pPr>
            <a:r>
              <a:rPr lang="en-US" sz="1800" dirty="0">
                <a:solidFill>
                  <a:schemeClr val="bg2"/>
                </a:solidFill>
              </a:rPr>
              <a:t>1.3  Stakeholder invitation &amp; agenda</a:t>
            </a:r>
            <a:endParaRPr lang="en-US" sz="1800" dirty="0"/>
          </a:p>
          <a:p>
            <a:pPr indent="0" marL="0">
              <a:spcAft>
                <a:spcPts val="600"/>
              </a:spcAft>
              <a:buNone/>
            </a:pPr>
            <a:r>
              <a:rPr lang="en-US" sz="1800" dirty="0">
                <a:solidFill>
                  <a:schemeClr val="bg2"/>
                </a:solidFill>
              </a:rPr>
              <a:t>1.4  Briefing synthesis (AI)</a:t>
            </a:r>
            <a:endParaRPr lang="en-US" sz="1800" dirty="0"/>
          </a:p>
          <a:p>
            <a:pPr indent="0" marL="0">
              <a:spcAft>
                <a:spcPts val="600"/>
              </a:spcAft>
              <a:buNone/>
            </a:pPr>
            <a:r>
              <a:rPr lang="en-US" sz="1800" dirty="0">
                <a:solidFill>
                  <a:schemeClr val="bg2"/>
                </a:solidFill>
              </a:rPr>
              <a:t>1.5  Briefing sign-off</a:t>
            </a:r>
            <a:endParaRPr lang="en-US" sz="1800" dirty="0"/>
          </a:p>
        </p:txBody>
      </p:sp>
      <p:sp>
        <p:nvSpPr>
          <p:cNvPr id="5" name="Text-118"/>
          <p:cNvSpPr txBox="1"/>
          <p:nvPr/>
        </p:nvSpPr>
        <p:spPr>
          <a:xfrm>
            <a:off x="7680960" y="822960"/>
            <a:ext cx="3931920" cy="2743200"/>
          </a:xfrm>
          <a:prstGeom prst="rect">
            <a:avLst/>
          </a:prstGeom>
          <a:noFill/>
          <a:ln/>
        </p:spPr>
        <p:txBody>
          <a:bodyPr wrap="square" lIns="0" tIns="0" rIns="0" bIns="0" rtlCol="0" anchor="t"/>
          <a:lstStyle/>
          <a:p>
            <a:pPr algn="r" indent="0" marL="0">
              <a:buNone/>
            </a:pPr>
            <a:r>
              <a:rPr lang="en-US" sz="19000" b="1" dirty="0">
                <a:solidFill>
                  <a:schemeClr val="accent1"/>
                </a:solidFill>
                <a:latin typeface="Arial" pitchFamily="34" charset="0"/>
                <a:ea typeface="Arial" pitchFamily="34" charset="-122"/>
                <a:cs typeface="Arial" pitchFamily="34" charset="-120"/>
              </a:rPr>
              <a:t>01</a:t>
            </a:r>
            <a:endParaRPr lang="en-US" sz="19000" dirty="0"/>
          </a:p>
        </p:txBody>
      </p:sp>
      <p:sp>
        <p:nvSpPr>
          <p:cNvPr id="6" name="IconBg-119"/>
          <p:cNvSpPr/>
          <p:nvPr/>
        </p:nvSpPr>
        <p:spPr>
          <a:xfrm>
            <a:off x="10195560" y="4343400"/>
            <a:ext cx="1417320" cy="1417320"/>
          </a:xfrm>
          <a:prstGeom prst="ellipse">
            <a:avLst/>
          </a:prstGeom>
          <a:solidFill>
            <a:srgbClr val="F2C14E"/>
          </a:solidFill>
          <a:ln/>
        </p:spPr>
        <p:txBody>
          <a:bodyPr/>
          <a:p/>
        </p:txBody>
      </p:sp>
      <p:pic>
        <p:nvPicPr>
          <p:cNvPr id="7" name="Icon-120" descr="preencoded.png">    </p:cNvPr>
          <p:cNvPicPr>
            <a:picLocks noChangeAspect="1"/>
          </p:cNvPicPr>
          <p:nvPr/>
        </p:nvPicPr>
        <p:blipFill>
          <a:blip r:embed="rId1"/>
          <a:stretch>
            <a:fillRect/>
          </a:stretch>
        </p:blipFill>
        <p:spPr>
          <a:xfrm>
            <a:off x="10549890" y="4697730"/>
            <a:ext cx="708660" cy="7086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1 · STEP 1.1 · CONTEXT MATERIAL</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What the team needs to know before the sprint</a:t>
            </a:r>
            <a:endParaRPr lang="en-US" sz="3200" dirty="0"/>
          </a:p>
        </p:txBody>
      </p:sp>
      <p:sp>
        <p:nvSpPr>
          <p:cNvPr id="4" name="KontextCard-121"/>
          <p:cNvSpPr/>
          <p:nvPr/>
        </p:nvSpPr>
        <p:spPr>
          <a:xfrm>
            <a:off x="548640" y="1508760"/>
            <a:ext cx="3593592" cy="2212848"/>
          </a:xfrm>
          <a:prstGeom prst="roundRect">
            <a:avLst>
              <a:gd name="adj" fmla="val 3306"/>
            </a:avLst>
          </a:prstGeom>
          <a:solidFill>
            <a:schemeClr val="bg2"/>
          </a:solidFill>
          <a:ln/>
        </p:spPr>
        <p:txBody>
          <a:bodyPr/>
          <a:p/>
        </p:txBody>
      </p:sp>
      <p:sp>
        <p:nvSpPr>
          <p:cNvPr id="5" name="IconBg-122"/>
          <p:cNvSpPr/>
          <p:nvPr/>
        </p:nvSpPr>
        <p:spPr>
          <a:xfrm>
            <a:off x="749808" y="1709928"/>
            <a:ext cx="530352" cy="530352"/>
          </a:xfrm>
          <a:prstGeom prst="ellipse">
            <a:avLst/>
          </a:prstGeom>
          <a:solidFill>
            <a:srgbClr val="1F7A8C"/>
          </a:solidFill>
          <a:ln/>
        </p:spPr>
        <p:txBody>
          <a:bodyPr/>
          <a:p/>
        </p:txBody>
      </p:sp>
      <p:pic>
        <p:nvPicPr>
          <p:cNvPr id="6" name="Icon-123" descr="preencoded.png">    </p:cNvPr>
          <p:cNvPicPr>
            <a:picLocks noChangeAspect="1"/>
          </p:cNvPicPr>
          <p:nvPr/>
        </p:nvPicPr>
        <p:blipFill>
          <a:blip r:embed="rId1"/>
          <a:stretch>
            <a:fillRect/>
          </a:stretch>
        </p:blipFill>
        <p:spPr>
          <a:xfrm>
            <a:off x="882396" y="1842516"/>
            <a:ext cx="265176" cy="265176"/>
          </a:xfrm>
          <a:prstGeom prst="rect">
            <a:avLst/>
          </a:prstGeom>
        </p:spPr>
      </p:pic>
      <p:sp>
        <p:nvSpPr>
          <p:cNvPr id="7" name="Text-124"/>
          <p:cNvSpPr txBox="1"/>
          <p:nvPr/>
        </p:nvSpPr>
        <p:spPr>
          <a:xfrm>
            <a:off x="1417320" y="1709928"/>
            <a:ext cx="2587752" cy="530352"/>
          </a:xfrm>
          <a:prstGeom prst="rect">
            <a:avLst/>
          </a:prstGeom>
          <a:noFill/>
          <a:ln/>
        </p:spPr>
        <p:txBody>
          <a:bodyPr wrap="square" lIns="0" tIns="0" rIns="0" bIns="0" rtlCol="0" anchor="ctr"/>
          <a:lstStyle/>
          <a:p>
            <a:pPr indent="0" marL="0">
              <a:buNone/>
            </a:pPr>
            <a:r>
              <a:rPr lang="en-US" sz="1600" b="1" dirty="0">
                <a:solidFill>
                  <a:schemeClr val="tx2"/>
                </a:solidFill>
              </a:rPr>
              <a:t>The IPP model</a:t>
            </a:r>
            <a:endParaRPr lang="en-US" sz="1600" dirty="0"/>
          </a:p>
        </p:txBody>
      </p:sp>
      <p:sp>
        <p:nvSpPr>
          <p:cNvPr id="8" name="Text-125"/>
          <p:cNvSpPr txBox="1"/>
          <p:nvPr/>
        </p:nvSpPr>
        <p:spPr>
          <a:xfrm>
            <a:off x="749808" y="2377440"/>
            <a:ext cx="3191256" cy="1252728"/>
          </a:xfrm>
          <a:prstGeom prst="rect">
            <a:avLst/>
          </a:prstGeom>
          <a:noFill/>
          <a:ln/>
        </p:spPr>
        <p:txBody>
          <a:bodyPr wrap="square" lIns="0" tIns="0" rIns="0" bIns="0" rtlCol="0" anchor="t"/>
          <a:lstStyle/>
          <a:p>
            <a:pPr indent="0" marL="0">
              <a:buNone/>
            </a:pPr>
            <a:r>
              <a:rPr lang="en-US" sz="1400" dirty="0">
                <a:solidFill>
                  <a:schemeClr val="tx1"/>
                </a:solidFill>
              </a:rPr>
              <a:t>APC discounts for affiliated authors; central payment via collective invoicing or a prepayment account.</a:t>
            </a:r>
            <a:endParaRPr lang="en-US" sz="1400" dirty="0"/>
          </a:p>
        </p:txBody>
      </p:sp>
      <p:sp>
        <p:nvSpPr>
          <p:cNvPr id="9" name="KontextCard-126"/>
          <p:cNvSpPr/>
          <p:nvPr/>
        </p:nvSpPr>
        <p:spPr>
          <a:xfrm>
            <a:off x="4283964" y="1508760"/>
            <a:ext cx="3593592" cy="2212848"/>
          </a:xfrm>
          <a:prstGeom prst="roundRect">
            <a:avLst>
              <a:gd name="adj" fmla="val 3306"/>
            </a:avLst>
          </a:prstGeom>
          <a:solidFill>
            <a:schemeClr val="bg2"/>
          </a:solidFill>
          <a:ln/>
        </p:spPr>
        <p:txBody>
          <a:bodyPr/>
          <a:p/>
        </p:txBody>
      </p:sp>
      <p:sp>
        <p:nvSpPr>
          <p:cNvPr id="10" name="IconBg-127"/>
          <p:cNvSpPr/>
          <p:nvPr/>
        </p:nvSpPr>
        <p:spPr>
          <a:xfrm>
            <a:off x="4485132" y="1709928"/>
            <a:ext cx="530352" cy="530352"/>
          </a:xfrm>
          <a:prstGeom prst="ellipse">
            <a:avLst/>
          </a:prstGeom>
          <a:solidFill>
            <a:srgbClr val="1F7A8C"/>
          </a:solidFill>
          <a:ln/>
        </p:spPr>
        <p:txBody>
          <a:bodyPr/>
          <a:p/>
        </p:txBody>
      </p:sp>
      <p:pic>
        <p:nvPicPr>
          <p:cNvPr id="11" name="Icon-128" descr="preencoded.png">    </p:cNvPr>
          <p:cNvPicPr>
            <a:picLocks noChangeAspect="1"/>
          </p:cNvPicPr>
          <p:nvPr/>
        </p:nvPicPr>
        <p:blipFill>
          <a:blip r:embed="rId2"/>
          <a:stretch>
            <a:fillRect/>
          </a:stretch>
        </p:blipFill>
        <p:spPr>
          <a:xfrm>
            <a:off x="4617720" y="1842516"/>
            <a:ext cx="265176" cy="265176"/>
          </a:xfrm>
          <a:prstGeom prst="rect">
            <a:avLst/>
          </a:prstGeom>
        </p:spPr>
      </p:pic>
      <p:sp>
        <p:nvSpPr>
          <p:cNvPr id="12" name="Text-129"/>
          <p:cNvSpPr txBox="1"/>
          <p:nvPr/>
        </p:nvSpPr>
        <p:spPr>
          <a:xfrm>
            <a:off x="5152644" y="1709928"/>
            <a:ext cx="2587752" cy="530352"/>
          </a:xfrm>
          <a:prstGeom prst="rect">
            <a:avLst/>
          </a:prstGeom>
          <a:noFill/>
          <a:ln/>
        </p:spPr>
        <p:txBody>
          <a:bodyPr wrap="square" lIns="0" tIns="0" rIns="0" bIns="0" rtlCol="0" anchor="ctr"/>
          <a:lstStyle/>
          <a:p>
            <a:pPr indent="0" marL="0">
              <a:buNone/>
            </a:pPr>
            <a:r>
              <a:rPr lang="en-US" sz="1600" b="1" dirty="0">
                <a:solidFill>
                  <a:schemeClr val="tx2"/>
                </a:solidFill>
              </a:rPr>
              <a:t>The contacts</a:t>
            </a:r>
            <a:endParaRPr lang="en-US" sz="1600" dirty="0"/>
          </a:p>
        </p:txBody>
      </p:sp>
      <p:sp>
        <p:nvSpPr>
          <p:cNvPr id="13" name="Text-130"/>
          <p:cNvSpPr txBox="1"/>
          <p:nvPr/>
        </p:nvSpPr>
        <p:spPr>
          <a:xfrm>
            <a:off x="4485132" y="2377440"/>
            <a:ext cx="3191256" cy="1252728"/>
          </a:xfrm>
          <a:prstGeom prst="rect">
            <a:avLst/>
          </a:prstGeom>
          <a:noFill/>
          <a:ln/>
        </p:spPr>
        <p:txBody>
          <a:bodyPr wrap="square" lIns="0" tIns="0" rIns="0" bIns="0" rtlCol="0" anchor="t"/>
          <a:lstStyle/>
          <a:p>
            <a:pPr indent="0" marL="0">
              <a:buNone/>
            </a:pPr>
            <a:r>
              <a:rPr lang="en-US" sz="1400" dirty="0">
                <a:solidFill>
                  <a:schemeClr val="tx1"/>
                </a:solidFill>
              </a:rPr>
              <a:t>Librarians and data stewards – rarely in control of the budget, but expected to justify the partnership internally.</a:t>
            </a:r>
            <a:endParaRPr lang="en-US" sz="1400" dirty="0"/>
          </a:p>
        </p:txBody>
      </p:sp>
      <p:sp>
        <p:nvSpPr>
          <p:cNvPr id="14" name="KontextCard-131"/>
          <p:cNvSpPr/>
          <p:nvPr/>
        </p:nvSpPr>
        <p:spPr>
          <a:xfrm>
            <a:off x="8019288" y="1508760"/>
            <a:ext cx="3593592" cy="2212848"/>
          </a:xfrm>
          <a:prstGeom prst="roundRect">
            <a:avLst>
              <a:gd name="adj" fmla="val 3306"/>
            </a:avLst>
          </a:prstGeom>
          <a:solidFill>
            <a:schemeClr val="bg2"/>
          </a:solidFill>
          <a:ln/>
        </p:spPr>
        <p:txBody>
          <a:bodyPr/>
          <a:p/>
        </p:txBody>
      </p:sp>
      <p:sp>
        <p:nvSpPr>
          <p:cNvPr id="15" name="IconBg-132"/>
          <p:cNvSpPr/>
          <p:nvPr/>
        </p:nvSpPr>
        <p:spPr>
          <a:xfrm>
            <a:off x="8220456" y="1709928"/>
            <a:ext cx="530352" cy="530352"/>
          </a:xfrm>
          <a:prstGeom prst="ellipse">
            <a:avLst/>
          </a:prstGeom>
          <a:solidFill>
            <a:srgbClr val="1F7A8C"/>
          </a:solidFill>
          <a:ln/>
        </p:spPr>
        <p:txBody>
          <a:bodyPr/>
          <a:p/>
        </p:txBody>
      </p:sp>
      <p:pic>
        <p:nvPicPr>
          <p:cNvPr id="16" name="Icon-133" descr="preencoded.png">    </p:cNvPr>
          <p:cNvPicPr>
            <a:picLocks noChangeAspect="1"/>
          </p:cNvPicPr>
          <p:nvPr/>
        </p:nvPicPr>
        <p:blipFill>
          <a:blip r:embed="rId3"/>
          <a:stretch>
            <a:fillRect/>
          </a:stretch>
        </p:blipFill>
        <p:spPr>
          <a:xfrm>
            <a:off x="8353044" y="1842516"/>
            <a:ext cx="265176" cy="265176"/>
          </a:xfrm>
          <a:prstGeom prst="rect">
            <a:avLst/>
          </a:prstGeom>
        </p:spPr>
      </p:pic>
      <p:sp>
        <p:nvSpPr>
          <p:cNvPr id="17" name="Text-134"/>
          <p:cNvSpPr txBox="1"/>
          <p:nvPr/>
        </p:nvSpPr>
        <p:spPr>
          <a:xfrm>
            <a:off x="8887968" y="1709928"/>
            <a:ext cx="2587752" cy="530352"/>
          </a:xfrm>
          <a:prstGeom prst="rect">
            <a:avLst/>
          </a:prstGeom>
          <a:noFill/>
          <a:ln/>
        </p:spPr>
        <p:txBody>
          <a:bodyPr wrap="square" lIns="0" tIns="0" rIns="0" bIns="0" rtlCol="0" anchor="ctr"/>
          <a:lstStyle/>
          <a:p>
            <a:pPr indent="0" marL="0">
              <a:buNone/>
            </a:pPr>
            <a:r>
              <a:rPr lang="en-US" sz="1600" b="1" dirty="0">
                <a:solidFill>
                  <a:schemeClr val="tx2"/>
                </a:solidFill>
              </a:rPr>
              <a:t>The tool today</a:t>
            </a:r>
            <a:endParaRPr lang="en-US" sz="1600" dirty="0"/>
          </a:p>
        </p:txBody>
      </p:sp>
      <p:sp>
        <p:nvSpPr>
          <p:cNvPr id="18" name="Text-135"/>
          <p:cNvSpPr txBox="1"/>
          <p:nvPr/>
        </p:nvSpPr>
        <p:spPr>
          <a:xfrm>
            <a:off x="8220456" y="2377440"/>
            <a:ext cx="3191256" cy="1252728"/>
          </a:xfrm>
          <a:prstGeom prst="rect">
            <a:avLst/>
          </a:prstGeom>
          <a:noFill/>
          <a:ln/>
        </p:spPr>
        <p:txBody>
          <a:bodyPr wrap="square" lIns="0" tIns="0" rIns="0" bIns="0" rtlCol="0" anchor="t"/>
          <a:lstStyle/>
          <a:p>
            <a:pPr indent="0" marL="0">
              <a:buNone/>
            </a:pPr>
            <a:r>
              <a:rPr lang="en-US" sz="1400" dirty="0">
                <a:solidFill>
                  <a:schemeClr val="tx1"/>
                </a:solidFill>
              </a:rPr>
              <a:t>Manuscripta dashboard with submissions, status, APCs, discounts and CSV export – an invoicing tool, not evidence of value.</a:t>
            </a:r>
            <a:endParaRPr lang="en-US" sz="1400" dirty="0"/>
          </a:p>
        </p:txBody>
      </p:sp>
      <p:sp>
        <p:nvSpPr>
          <p:cNvPr id="19" name="KontextCard-136"/>
          <p:cNvSpPr/>
          <p:nvPr/>
        </p:nvSpPr>
        <p:spPr>
          <a:xfrm>
            <a:off x="548640" y="3904488"/>
            <a:ext cx="3593592" cy="2212848"/>
          </a:xfrm>
          <a:prstGeom prst="roundRect">
            <a:avLst>
              <a:gd name="adj" fmla="val 3306"/>
            </a:avLst>
          </a:prstGeom>
          <a:solidFill>
            <a:schemeClr val="bg2"/>
          </a:solidFill>
          <a:ln/>
        </p:spPr>
        <p:txBody>
          <a:bodyPr/>
          <a:p/>
        </p:txBody>
      </p:sp>
      <p:sp>
        <p:nvSpPr>
          <p:cNvPr id="20" name="IconBg-137"/>
          <p:cNvSpPr/>
          <p:nvPr/>
        </p:nvSpPr>
        <p:spPr>
          <a:xfrm>
            <a:off x="749808" y="4105656"/>
            <a:ext cx="530352" cy="530352"/>
          </a:xfrm>
          <a:prstGeom prst="ellipse">
            <a:avLst/>
          </a:prstGeom>
          <a:solidFill>
            <a:srgbClr val="1F7A8C"/>
          </a:solidFill>
          <a:ln/>
        </p:spPr>
        <p:txBody>
          <a:bodyPr/>
          <a:p/>
        </p:txBody>
      </p:sp>
      <p:pic>
        <p:nvPicPr>
          <p:cNvPr id="21" name="Icon-138" descr="preencoded.png">    </p:cNvPr>
          <p:cNvPicPr>
            <a:picLocks noChangeAspect="1"/>
          </p:cNvPicPr>
          <p:nvPr/>
        </p:nvPicPr>
        <p:blipFill>
          <a:blip r:embed="rId4"/>
          <a:stretch>
            <a:fillRect/>
          </a:stretch>
        </p:blipFill>
        <p:spPr>
          <a:xfrm>
            <a:off x="882396" y="4238244"/>
            <a:ext cx="265176" cy="265176"/>
          </a:xfrm>
          <a:prstGeom prst="rect">
            <a:avLst/>
          </a:prstGeom>
        </p:spPr>
      </p:pic>
      <p:sp>
        <p:nvSpPr>
          <p:cNvPr id="22" name="Text-139"/>
          <p:cNvSpPr txBox="1"/>
          <p:nvPr/>
        </p:nvSpPr>
        <p:spPr>
          <a:xfrm>
            <a:off x="1417320" y="4105656"/>
            <a:ext cx="2587752" cy="530352"/>
          </a:xfrm>
          <a:prstGeom prst="rect">
            <a:avLst/>
          </a:prstGeom>
          <a:noFill/>
          <a:ln/>
        </p:spPr>
        <p:txBody>
          <a:bodyPr wrap="square" lIns="0" tIns="0" rIns="0" bIns="0" rtlCol="0" anchor="ctr"/>
          <a:lstStyle/>
          <a:p>
            <a:pPr indent="0" marL="0">
              <a:buNone/>
            </a:pPr>
            <a:r>
              <a:rPr lang="en-US" sz="1600" b="1" dirty="0">
                <a:solidFill>
                  <a:schemeClr val="tx2"/>
                </a:solidFill>
              </a:rPr>
              <a:t>Renewal today</a:t>
            </a:r>
            <a:endParaRPr lang="en-US" sz="1600" dirty="0"/>
          </a:p>
        </p:txBody>
      </p:sp>
      <p:sp>
        <p:nvSpPr>
          <p:cNvPr id="23" name="Text-140"/>
          <p:cNvSpPr txBox="1"/>
          <p:nvPr/>
        </p:nvSpPr>
        <p:spPr>
          <a:xfrm>
            <a:off x="749808" y="4773168"/>
            <a:ext cx="3191256" cy="1252728"/>
          </a:xfrm>
          <a:prstGeom prst="rect">
            <a:avLst/>
          </a:prstGeom>
          <a:noFill/>
          <a:ln/>
        </p:spPr>
        <p:txBody>
          <a:bodyPr wrap="square" lIns="0" tIns="0" rIns="0" bIns="0" rtlCol="0" anchor="t"/>
          <a:lstStyle/>
          <a:p>
            <a:pPr indent="0" marL="0">
              <a:buNone/>
            </a:pPr>
            <a:r>
              <a:rPr lang="en-US" sz="1400" dirty="0">
                <a:solidFill>
                  <a:schemeClr val="tx1"/>
                </a:solidFill>
              </a:rPr>
              <a:t>The IPP team partly builds reports by hand, e.g. with Altmetric. Librarians are reluctant to log in and want ready-made reports.</a:t>
            </a:r>
            <a:endParaRPr lang="en-US" sz="1400" dirty="0"/>
          </a:p>
        </p:txBody>
      </p:sp>
      <p:sp>
        <p:nvSpPr>
          <p:cNvPr id="24" name="KontextCard-141"/>
          <p:cNvSpPr/>
          <p:nvPr/>
        </p:nvSpPr>
        <p:spPr>
          <a:xfrm>
            <a:off x="4283964" y="3904488"/>
            <a:ext cx="3593592" cy="2212848"/>
          </a:xfrm>
          <a:prstGeom prst="roundRect">
            <a:avLst>
              <a:gd name="adj" fmla="val 3306"/>
            </a:avLst>
          </a:prstGeom>
          <a:solidFill>
            <a:schemeClr val="bg2"/>
          </a:solidFill>
          <a:ln/>
        </p:spPr>
        <p:txBody>
          <a:bodyPr/>
          <a:p/>
        </p:txBody>
      </p:sp>
      <p:sp>
        <p:nvSpPr>
          <p:cNvPr id="25" name="IconBg-142"/>
          <p:cNvSpPr/>
          <p:nvPr/>
        </p:nvSpPr>
        <p:spPr>
          <a:xfrm>
            <a:off x="4485132" y="4105656"/>
            <a:ext cx="530352" cy="530352"/>
          </a:xfrm>
          <a:prstGeom prst="ellipse">
            <a:avLst/>
          </a:prstGeom>
          <a:solidFill>
            <a:srgbClr val="1F7A8C"/>
          </a:solidFill>
          <a:ln/>
        </p:spPr>
        <p:txBody>
          <a:bodyPr/>
          <a:p/>
        </p:txBody>
      </p:sp>
      <p:pic>
        <p:nvPicPr>
          <p:cNvPr id="26" name="Icon-143" descr="preencoded.png">    </p:cNvPr>
          <p:cNvPicPr>
            <a:picLocks noChangeAspect="1"/>
          </p:cNvPicPr>
          <p:nvPr/>
        </p:nvPicPr>
        <p:blipFill>
          <a:blip r:embed="rId5"/>
          <a:stretch>
            <a:fillRect/>
          </a:stretch>
        </p:blipFill>
        <p:spPr>
          <a:xfrm>
            <a:off x="4617720" y="4238244"/>
            <a:ext cx="265176" cy="265176"/>
          </a:xfrm>
          <a:prstGeom prst="rect">
            <a:avLst/>
          </a:prstGeom>
        </p:spPr>
      </p:pic>
      <p:sp>
        <p:nvSpPr>
          <p:cNvPr id="27" name="Text-144"/>
          <p:cNvSpPr txBox="1"/>
          <p:nvPr/>
        </p:nvSpPr>
        <p:spPr>
          <a:xfrm>
            <a:off x="5152644" y="4105656"/>
            <a:ext cx="2587752" cy="530352"/>
          </a:xfrm>
          <a:prstGeom prst="rect">
            <a:avLst/>
          </a:prstGeom>
          <a:noFill/>
          <a:ln/>
        </p:spPr>
        <p:txBody>
          <a:bodyPr wrap="square" lIns="0" tIns="0" rIns="0" bIns="0" rtlCol="0" anchor="ctr"/>
          <a:lstStyle/>
          <a:p>
            <a:pPr indent="0" marL="0">
              <a:buNone/>
            </a:pPr>
            <a:r>
              <a:rPr lang="en-US" sz="1600" b="1" dirty="0">
                <a:solidFill>
                  <a:schemeClr val="tx2"/>
                </a:solidFill>
              </a:rPr>
              <a:t>Possible kinds of value</a:t>
            </a:r>
            <a:endParaRPr lang="en-US" sz="1600" dirty="0"/>
          </a:p>
        </p:txBody>
      </p:sp>
      <p:sp>
        <p:nvSpPr>
          <p:cNvPr id="28" name="Text-145"/>
          <p:cNvSpPr txBox="1"/>
          <p:nvPr/>
        </p:nvSpPr>
        <p:spPr>
          <a:xfrm>
            <a:off x="4485132" y="4773168"/>
            <a:ext cx="3191256" cy="1252728"/>
          </a:xfrm>
          <a:prstGeom prst="rect">
            <a:avLst/>
          </a:prstGeom>
          <a:noFill/>
          <a:ln/>
        </p:spPr>
        <p:txBody>
          <a:bodyPr wrap="square" lIns="0" tIns="0" rIns="0" bIns="0" rtlCol="0" anchor="t"/>
          <a:lstStyle/>
          <a:p>
            <a:pPr indent="0" marL="0">
              <a:buNone/>
            </a:pPr>
            <a:r>
              <a:rPr lang="en-US" sz="1400" dirty="0">
                <a:solidFill>
                  <a:schemeClr val="tx1"/>
                </a:solidFill>
              </a:rPr>
              <a:t>Savings · Impact (citations, Altmetric, policy) · OA and open data compliance · Involvement as reviewers or editors.</a:t>
            </a:r>
            <a:endParaRPr lang="en-US" sz="1400" dirty="0"/>
          </a:p>
        </p:txBody>
      </p:sp>
      <p:sp>
        <p:nvSpPr>
          <p:cNvPr id="29" name="KontextCard-146"/>
          <p:cNvSpPr/>
          <p:nvPr/>
        </p:nvSpPr>
        <p:spPr>
          <a:xfrm>
            <a:off x="8019288" y="3904488"/>
            <a:ext cx="3593592" cy="2212848"/>
          </a:xfrm>
          <a:prstGeom prst="roundRect">
            <a:avLst>
              <a:gd name="adj" fmla="val 3306"/>
            </a:avLst>
          </a:prstGeom>
          <a:solidFill>
            <a:schemeClr val="bg2"/>
          </a:solidFill>
          <a:ln/>
        </p:spPr>
        <p:txBody>
          <a:bodyPr/>
          <a:p/>
        </p:txBody>
      </p:sp>
      <p:sp>
        <p:nvSpPr>
          <p:cNvPr id="30" name="IconBg-147"/>
          <p:cNvSpPr/>
          <p:nvPr/>
        </p:nvSpPr>
        <p:spPr>
          <a:xfrm>
            <a:off x="8220456" y="4105656"/>
            <a:ext cx="530352" cy="530352"/>
          </a:xfrm>
          <a:prstGeom prst="ellipse">
            <a:avLst/>
          </a:prstGeom>
          <a:solidFill>
            <a:srgbClr val="E4572E"/>
          </a:solidFill>
          <a:ln/>
        </p:spPr>
        <p:txBody>
          <a:bodyPr/>
          <a:p/>
        </p:txBody>
      </p:sp>
      <p:pic>
        <p:nvPicPr>
          <p:cNvPr id="31" name="Icon-148" descr="preencoded.png">    </p:cNvPr>
          <p:cNvPicPr>
            <a:picLocks noChangeAspect="1"/>
          </p:cNvPicPr>
          <p:nvPr/>
        </p:nvPicPr>
        <p:blipFill>
          <a:blip r:embed="rId6"/>
          <a:stretch>
            <a:fillRect/>
          </a:stretch>
        </p:blipFill>
        <p:spPr>
          <a:xfrm>
            <a:off x="8353044" y="4238244"/>
            <a:ext cx="265176" cy="265176"/>
          </a:xfrm>
          <a:prstGeom prst="rect">
            <a:avLst/>
          </a:prstGeom>
        </p:spPr>
      </p:pic>
      <p:sp>
        <p:nvSpPr>
          <p:cNvPr id="32" name="Text-149"/>
          <p:cNvSpPr txBox="1"/>
          <p:nvPr/>
        </p:nvSpPr>
        <p:spPr>
          <a:xfrm>
            <a:off x="8887968" y="4105656"/>
            <a:ext cx="2587752" cy="530352"/>
          </a:xfrm>
          <a:prstGeom prst="rect">
            <a:avLst/>
          </a:prstGeom>
          <a:noFill/>
          <a:ln/>
        </p:spPr>
        <p:txBody>
          <a:bodyPr wrap="square" lIns="0" tIns="0" rIns="0" bIns="0" rtlCol="0" anchor="ctr"/>
          <a:lstStyle/>
          <a:p>
            <a:pPr indent="0" marL="0">
              <a:buNone/>
            </a:pPr>
            <a:r>
              <a:rPr lang="en-US" sz="1600" b="1" dirty="0">
                <a:solidFill>
                  <a:schemeClr val="tx2"/>
                </a:solidFill>
              </a:rPr>
              <a:t>Goal in two years</a:t>
            </a:r>
            <a:endParaRPr lang="en-US" sz="1600" dirty="0"/>
          </a:p>
        </p:txBody>
      </p:sp>
      <p:sp>
        <p:nvSpPr>
          <p:cNvPr id="33" name="Text-150"/>
          <p:cNvSpPr txBox="1"/>
          <p:nvPr/>
        </p:nvSpPr>
        <p:spPr>
          <a:xfrm>
            <a:off x="8220456" y="4773168"/>
            <a:ext cx="3191256" cy="1252728"/>
          </a:xfrm>
          <a:prstGeom prst="rect">
            <a:avLst/>
          </a:prstGeom>
          <a:noFill/>
          <a:ln/>
        </p:spPr>
        <p:txBody>
          <a:bodyPr wrap="square" lIns="0" tIns="0" rIns="0" bIns="0" rtlCol="0" anchor="t"/>
          <a:lstStyle/>
          <a:p>
            <a:pPr indent="0" marL="0">
              <a:buNone/>
            </a:pPr>
            <a:r>
              <a:rPr lang="en-US" sz="1400" dirty="0">
                <a:solidFill>
                  <a:schemeClr val="tx1"/>
                </a:solidFill>
              </a:rPr>
              <a:t>Renewal, because evidence of value reaches decision-makers without manual effort – and more partners expand.</a:t>
            </a:r>
            <a:endParaRPr lang="en-US" sz="1400" dirty="0"/>
          </a:p>
        </p:txBody>
      </p:sp>
      <p:sp>
        <p:nvSpPr>
          <p:cNvPr id="34" name="Text-151"/>
          <p:cNvSpPr txBox="1"/>
          <p:nvPr/>
        </p:nvSpPr>
        <p:spPr>
          <a:xfrm>
            <a:off x="548640" y="6172200"/>
            <a:ext cx="7315200" cy="228600"/>
          </a:xfrm>
          <a:prstGeom prst="rect">
            <a:avLst/>
          </a:prstGeom>
          <a:noFill/>
          <a:ln/>
        </p:spPr>
        <p:txBody>
          <a:bodyPr wrap="square" lIns="0" tIns="0" rIns="0" bIns="0" rtlCol="0" anchor="t"/>
          <a:lstStyle/>
          <a:p>
            <a:pPr indent="0" marL="0">
              <a:buNone/>
            </a:pPr>
            <a:r>
              <a:rPr lang="en-US" sz="1000" dirty="0">
                <a:solidFill>
                  <a:schemeClr val="accent6"/>
                </a:solidFill>
              </a:rPr>
              <a:t>Source: Lumen sprint challenge (briefing document)</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1 · STEP 1.2 · INTERVIEW GUIDE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Three roles, three guides</a:t>
            </a:r>
            <a:endParaRPr lang="en-US" sz="3200" dirty="0"/>
          </a:p>
        </p:txBody>
      </p:sp>
      <p:sp>
        <p:nvSpPr>
          <p:cNvPr id="4" name="Intro-152"/>
          <p:cNvSpPr/>
          <p:nvPr/>
        </p:nvSpPr>
        <p:spPr>
          <a:xfrm>
            <a:off x="548640" y="1463040"/>
            <a:ext cx="11091672" cy="475488"/>
          </a:xfrm>
          <a:prstGeom prst="roundRect">
            <a:avLst>
              <a:gd name="adj" fmla="val 15385"/>
            </a:avLst>
          </a:prstGeom>
          <a:solidFill>
            <a:schemeClr val="bg2"/>
          </a:solidFill>
          <a:ln/>
        </p:spPr>
        <p:txBody>
          <a:bodyPr/>
          <a:p/>
        </p:txBody>
      </p:sp>
      <p:sp>
        <p:nvSpPr>
          <p:cNvPr id="5" name="Text-153"/>
          <p:cNvSpPr txBox="1"/>
          <p:nvPr/>
        </p:nvSpPr>
        <p:spPr>
          <a:xfrm>
            <a:off x="731520" y="1463040"/>
            <a:ext cx="10789920" cy="475488"/>
          </a:xfrm>
          <a:prstGeom prst="rect">
            <a:avLst/>
          </a:prstGeom>
          <a:noFill/>
          <a:ln/>
        </p:spPr>
        <p:txBody>
          <a:bodyPr wrap="square" lIns="0" tIns="0" rIns="0" bIns="0" rtlCol="0" anchor="ctr"/>
          <a:lstStyle/>
          <a:p>
            <a:pPr indent="0" marL="0">
              <a:buNone/>
            </a:pPr>
            <a:r>
              <a:rPr lang="en-US" sz="1400" b="1" dirty="0">
                <a:solidFill>
                  <a:schemeClr val="tx1"/>
                </a:solidFill>
              </a:rPr>
              <a:t>For everyone (5 min): </a:t>
            </a:r>
            <a:pPr indent="0" marL="0">
              <a:buNone/>
            </a:pPr>
            <a:r>
              <a:rPr lang="en-US" sz="1400" dirty="0">
                <a:solidFill>
                  <a:schemeClr val="tx1"/>
                </a:solidFill>
              </a:rPr>
              <a:t>Role, responsibilities and how the last renewal went · Format: 40 min remote, notes taken by the AI agent</a:t>
            </a:r>
            <a:endParaRPr lang="en-US" sz="1400" dirty="0"/>
          </a:p>
        </p:txBody>
      </p:sp>
      <p:sp>
        <p:nvSpPr>
          <p:cNvPr id="6" name="GuideCol-154"/>
          <p:cNvSpPr/>
          <p:nvPr/>
        </p:nvSpPr>
        <p:spPr>
          <a:xfrm>
            <a:off x="548640" y="2103120"/>
            <a:ext cx="3593592" cy="4114800"/>
          </a:xfrm>
          <a:prstGeom prst="roundRect">
            <a:avLst>
              <a:gd name="adj" fmla="val 2036"/>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7" name="Circle-155"/>
          <p:cNvSpPr/>
          <p:nvPr/>
        </p:nvSpPr>
        <p:spPr>
          <a:xfrm>
            <a:off x="731520" y="2286000"/>
            <a:ext cx="502920" cy="502920"/>
          </a:xfrm>
          <a:prstGeom prst="ellipse">
            <a:avLst/>
          </a:prstGeom>
          <a:solidFill>
            <a:schemeClr val="accent4"/>
          </a:solidFill>
          <a:ln/>
        </p:spPr>
        <p:txBody>
          <a:bodyPr/>
          <a:p/>
        </p:txBody>
      </p:sp>
      <p:sp>
        <p:nvSpPr>
          <p:cNvPr id="8" name="Text-156"/>
          <p:cNvSpPr txBox="1"/>
          <p:nvPr/>
        </p:nvSpPr>
        <p:spPr>
          <a:xfrm>
            <a:off x="731520" y="22860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MK</a:t>
            </a:r>
            <a:endParaRPr lang="en-US" sz="1300" dirty="0"/>
          </a:p>
        </p:txBody>
      </p:sp>
      <p:sp>
        <p:nvSpPr>
          <p:cNvPr id="9" name="Text-157"/>
          <p:cNvSpPr txBox="1"/>
          <p:nvPr/>
        </p:nvSpPr>
        <p:spPr>
          <a:xfrm>
            <a:off x="1353312" y="2258568"/>
            <a:ext cx="2679192" cy="274320"/>
          </a:xfrm>
          <a:prstGeom prst="rect">
            <a:avLst/>
          </a:prstGeom>
          <a:noFill/>
          <a:ln/>
        </p:spPr>
        <p:txBody>
          <a:bodyPr wrap="square" lIns="0" tIns="0" rIns="0" bIns="0" rtlCol="0" anchor="t"/>
          <a:lstStyle/>
          <a:p>
            <a:pPr indent="0" marL="0">
              <a:buNone/>
            </a:pPr>
            <a:r>
              <a:rPr lang="en-US" sz="1400" b="1" dirty="0">
                <a:solidFill>
                  <a:schemeClr val="tx2"/>
                </a:solidFill>
              </a:rPr>
              <a:t>Dr. Miriam Kessler</a:t>
            </a:r>
            <a:endParaRPr lang="en-US" sz="1400" dirty="0"/>
          </a:p>
        </p:txBody>
      </p:sp>
      <p:sp>
        <p:nvSpPr>
          <p:cNvPr id="10" name="Text-158"/>
          <p:cNvSpPr txBox="1"/>
          <p:nvPr/>
        </p:nvSpPr>
        <p:spPr>
          <a:xfrm>
            <a:off x="1353312" y="2532888"/>
            <a:ext cx="2679192" cy="274320"/>
          </a:xfrm>
          <a:prstGeom prst="rect">
            <a:avLst/>
          </a:prstGeom>
          <a:noFill/>
          <a:ln/>
        </p:spPr>
        <p:txBody>
          <a:bodyPr wrap="square" lIns="0" tIns="0" rIns="0" bIns="0" rtlCol="0" anchor="t"/>
          <a:lstStyle/>
          <a:p>
            <a:pPr indent="0" marL="0">
              <a:buNone/>
            </a:pPr>
            <a:r>
              <a:rPr lang="en-US" sz="1100" dirty="0">
                <a:solidFill>
                  <a:schemeClr val="accent6"/>
                </a:solidFill>
              </a:rPr>
              <a:t>Expert · User</a:t>
            </a:r>
            <a:endParaRPr lang="en-US" sz="1100" dirty="0"/>
          </a:p>
        </p:txBody>
      </p:sp>
      <p:sp>
        <p:nvSpPr>
          <p:cNvPr id="11" name="Circle-159"/>
          <p:cNvSpPr/>
          <p:nvPr/>
        </p:nvSpPr>
        <p:spPr>
          <a:xfrm>
            <a:off x="749808" y="3054096"/>
            <a:ext cx="310896" cy="310896"/>
          </a:xfrm>
          <a:prstGeom prst="ellipse">
            <a:avLst/>
          </a:prstGeom>
          <a:solidFill>
            <a:schemeClr val="accent1"/>
          </a:solidFill>
          <a:ln/>
        </p:spPr>
        <p:txBody>
          <a:bodyPr/>
          <a:p/>
        </p:txBody>
      </p:sp>
      <p:sp>
        <p:nvSpPr>
          <p:cNvPr id="12" name="Text-160"/>
          <p:cNvSpPr txBox="1"/>
          <p:nvPr/>
        </p:nvSpPr>
        <p:spPr>
          <a:xfrm>
            <a:off x="749808" y="30540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3" name="Text-161"/>
          <p:cNvSpPr txBox="1"/>
          <p:nvPr/>
        </p:nvSpPr>
        <p:spPr>
          <a:xfrm>
            <a:off x="1188720" y="3017520"/>
            <a:ext cx="2770632" cy="731520"/>
          </a:xfrm>
          <a:prstGeom prst="rect">
            <a:avLst/>
          </a:prstGeom>
          <a:noFill/>
          <a:ln/>
        </p:spPr>
        <p:txBody>
          <a:bodyPr wrap="square" lIns="0" tIns="0" rIns="0" bIns="0" rtlCol="0" anchor="t"/>
          <a:lstStyle/>
          <a:p>
            <a:pPr indent="0" marL="0">
              <a:buNone/>
            </a:pPr>
            <a:r>
              <a:rPr lang="en-US" sz="1400" dirty="0">
                <a:solidFill>
                  <a:schemeClr val="tx1"/>
                </a:solidFill>
              </a:rPr>
              <a:t>How do you prepare the renewal of a publisher agreement?</a:t>
            </a:r>
            <a:endParaRPr lang="en-US" sz="1400" dirty="0"/>
          </a:p>
        </p:txBody>
      </p:sp>
      <p:sp>
        <p:nvSpPr>
          <p:cNvPr id="14" name="Circle-162"/>
          <p:cNvSpPr/>
          <p:nvPr/>
        </p:nvSpPr>
        <p:spPr>
          <a:xfrm>
            <a:off x="749808" y="3840480"/>
            <a:ext cx="310896" cy="310896"/>
          </a:xfrm>
          <a:prstGeom prst="ellipse">
            <a:avLst/>
          </a:prstGeom>
          <a:solidFill>
            <a:schemeClr val="accent1"/>
          </a:solidFill>
          <a:ln/>
        </p:spPr>
        <p:txBody>
          <a:bodyPr/>
          <a:p/>
        </p:txBody>
      </p:sp>
      <p:sp>
        <p:nvSpPr>
          <p:cNvPr id="15" name="Text-163"/>
          <p:cNvSpPr txBox="1"/>
          <p:nvPr/>
        </p:nvSpPr>
        <p:spPr>
          <a:xfrm>
            <a:off x="749808" y="38404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Text-164"/>
          <p:cNvSpPr txBox="1"/>
          <p:nvPr/>
        </p:nvSpPr>
        <p:spPr>
          <a:xfrm>
            <a:off x="1188720" y="3803904"/>
            <a:ext cx="2770632" cy="731520"/>
          </a:xfrm>
          <a:prstGeom prst="rect">
            <a:avLst/>
          </a:prstGeom>
          <a:noFill/>
          <a:ln/>
        </p:spPr>
        <p:txBody>
          <a:bodyPr wrap="square" lIns="0" tIns="0" rIns="0" bIns="0" rtlCol="0" anchor="t"/>
          <a:lstStyle/>
          <a:p>
            <a:pPr indent="0" marL="0">
              <a:buNone/>
            </a:pPr>
            <a:r>
              <a:rPr lang="en-US" sz="1400" dirty="0">
                <a:solidFill>
                  <a:schemeClr val="tx1"/>
                </a:solidFill>
              </a:rPr>
              <a:t>Which figures do you pull from where today – and how long does it take?</a:t>
            </a:r>
            <a:endParaRPr lang="en-US" sz="1400" dirty="0"/>
          </a:p>
        </p:txBody>
      </p:sp>
      <p:sp>
        <p:nvSpPr>
          <p:cNvPr id="17" name="Circle-165"/>
          <p:cNvSpPr/>
          <p:nvPr/>
        </p:nvSpPr>
        <p:spPr>
          <a:xfrm>
            <a:off x="749808" y="4626864"/>
            <a:ext cx="310896" cy="310896"/>
          </a:xfrm>
          <a:prstGeom prst="ellipse">
            <a:avLst/>
          </a:prstGeom>
          <a:solidFill>
            <a:schemeClr val="accent1"/>
          </a:solidFill>
          <a:ln/>
        </p:spPr>
        <p:txBody>
          <a:bodyPr/>
          <a:p/>
        </p:txBody>
      </p:sp>
      <p:sp>
        <p:nvSpPr>
          <p:cNvPr id="18" name="Text-166"/>
          <p:cNvSpPr txBox="1"/>
          <p:nvPr/>
        </p:nvSpPr>
        <p:spPr>
          <a:xfrm>
            <a:off x="749808" y="462686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9" name="Text-167"/>
          <p:cNvSpPr txBox="1"/>
          <p:nvPr/>
        </p:nvSpPr>
        <p:spPr>
          <a:xfrm>
            <a:off x="1188720" y="4590288"/>
            <a:ext cx="2770632" cy="731520"/>
          </a:xfrm>
          <a:prstGeom prst="rect">
            <a:avLst/>
          </a:prstGeom>
          <a:noFill/>
          <a:ln/>
        </p:spPr>
        <p:txBody>
          <a:bodyPr wrap="square" lIns="0" tIns="0" rIns="0" bIns="0" rtlCol="0" anchor="t"/>
          <a:lstStyle/>
          <a:p>
            <a:pPr indent="0" marL="0">
              <a:buNone/>
            </a:pPr>
            <a:r>
              <a:rPr lang="en-US" sz="1400" dirty="0">
                <a:solidFill>
                  <a:schemeClr val="tx1"/>
                </a:solidFill>
              </a:rPr>
              <a:t>What convinced a decision-maker last time – or didn't?</a:t>
            </a:r>
            <a:endParaRPr lang="en-US" sz="1400" dirty="0"/>
          </a:p>
        </p:txBody>
      </p:sp>
      <p:sp>
        <p:nvSpPr>
          <p:cNvPr id="20" name="Circle-168"/>
          <p:cNvSpPr/>
          <p:nvPr/>
        </p:nvSpPr>
        <p:spPr>
          <a:xfrm>
            <a:off x="749808" y="5413248"/>
            <a:ext cx="310896" cy="310896"/>
          </a:xfrm>
          <a:prstGeom prst="ellipse">
            <a:avLst/>
          </a:prstGeom>
          <a:solidFill>
            <a:schemeClr val="accent1"/>
          </a:solidFill>
          <a:ln/>
        </p:spPr>
        <p:txBody>
          <a:bodyPr/>
          <a:p/>
        </p:txBody>
      </p:sp>
      <p:sp>
        <p:nvSpPr>
          <p:cNvPr id="21" name="Text-169"/>
          <p:cNvSpPr txBox="1"/>
          <p:nvPr/>
        </p:nvSpPr>
        <p:spPr>
          <a:xfrm>
            <a:off x="749808" y="54132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2" name="Text-170"/>
          <p:cNvSpPr txBox="1"/>
          <p:nvPr/>
        </p:nvSpPr>
        <p:spPr>
          <a:xfrm>
            <a:off x="1188720" y="5376672"/>
            <a:ext cx="2770632" cy="731520"/>
          </a:xfrm>
          <a:prstGeom prst="rect">
            <a:avLst/>
          </a:prstGeom>
          <a:noFill/>
          <a:ln/>
        </p:spPr>
        <p:txBody>
          <a:bodyPr wrap="square" lIns="0" tIns="0" rIns="0" bIns="0" rtlCol="0" anchor="t"/>
          <a:lstStyle/>
          <a:p>
            <a:pPr indent="0" marL="0">
              <a:buNone/>
            </a:pPr>
            <a:r>
              <a:rPr lang="en-US" sz="1400" dirty="0">
                <a:solidFill>
                  <a:schemeClr val="tx1"/>
                </a:solidFill>
              </a:rPr>
              <a:t>When and why do you log in to publisher portals?</a:t>
            </a:r>
            <a:endParaRPr lang="en-US" sz="1400" dirty="0"/>
          </a:p>
        </p:txBody>
      </p:sp>
      <p:sp>
        <p:nvSpPr>
          <p:cNvPr id="23" name="GuideCol-171"/>
          <p:cNvSpPr/>
          <p:nvPr/>
        </p:nvSpPr>
        <p:spPr>
          <a:xfrm>
            <a:off x="4297680" y="2103120"/>
            <a:ext cx="3593592" cy="4114800"/>
          </a:xfrm>
          <a:prstGeom prst="roundRect">
            <a:avLst>
              <a:gd name="adj" fmla="val 2036"/>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24" name="Circle-172"/>
          <p:cNvSpPr/>
          <p:nvPr/>
        </p:nvSpPr>
        <p:spPr>
          <a:xfrm>
            <a:off x="4480560" y="2286000"/>
            <a:ext cx="502920" cy="502920"/>
          </a:xfrm>
          <a:prstGeom prst="ellipse">
            <a:avLst/>
          </a:prstGeom>
          <a:solidFill>
            <a:schemeClr val="accent3"/>
          </a:solidFill>
          <a:ln/>
        </p:spPr>
        <p:txBody>
          <a:bodyPr/>
          <a:p/>
        </p:txBody>
      </p:sp>
      <p:sp>
        <p:nvSpPr>
          <p:cNvPr id="25" name="Text-173"/>
          <p:cNvSpPr txBox="1"/>
          <p:nvPr/>
        </p:nvSpPr>
        <p:spPr>
          <a:xfrm>
            <a:off x="4480560" y="22860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RH</a:t>
            </a:r>
            <a:endParaRPr lang="en-US" sz="1300" dirty="0"/>
          </a:p>
        </p:txBody>
      </p:sp>
      <p:sp>
        <p:nvSpPr>
          <p:cNvPr id="26" name="Text-174"/>
          <p:cNvSpPr txBox="1"/>
          <p:nvPr/>
        </p:nvSpPr>
        <p:spPr>
          <a:xfrm>
            <a:off x="5102352" y="2258568"/>
            <a:ext cx="2679192" cy="274320"/>
          </a:xfrm>
          <a:prstGeom prst="rect">
            <a:avLst/>
          </a:prstGeom>
          <a:noFill/>
          <a:ln/>
        </p:spPr>
        <p:txBody>
          <a:bodyPr wrap="square" lIns="0" tIns="0" rIns="0" bIns="0" rtlCol="0" anchor="t"/>
          <a:lstStyle/>
          <a:p>
            <a:pPr indent="0" marL="0">
              <a:buNone/>
            </a:pPr>
            <a:r>
              <a:rPr lang="en-US" sz="1400" b="1" dirty="0">
                <a:solidFill>
                  <a:schemeClr val="tx2"/>
                </a:solidFill>
              </a:rPr>
              <a:t>Dr. Rainer Hollmann</a:t>
            </a:r>
            <a:endParaRPr lang="en-US" sz="1400" dirty="0"/>
          </a:p>
        </p:txBody>
      </p:sp>
      <p:sp>
        <p:nvSpPr>
          <p:cNvPr id="27" name="Text-175"/>
          <p:cNvSpPr txBox="1"/>
          <p:nvPr/>
        </p:nvSpPr>
        <p:spPr>
          <a:xfrm>
            <a:off x="5102352" y="2532888"/>
            <a:ext cx="2679192" cy="274320"/>
          </a:xfrm>
          <a:prstGeom prst="rect">
            <a:avLst/>
          </a:prstGeom>
          <a:noFill/>
          <a:ln/>
        </p:spPr>
        <p:txBody>
          <a:bodyPr wrap="square" lIns="0" tIns="0" rIns="0" bIns="0" rtlCol="0" anchor="t"/>
          <a:lstStyle/>
          <a:p>
            <a:pPr indent="0" marL="0">
              <a:buNone/>
            </a:pPr>
            <a:r>
              <a:rPr lang="en-US" sz="1100" dirty="0">
                <a:solidFill>
                  <a:schemeClr val="accent6"/>
                </a:solidFill>
              </a:rPr>
              <a:t>Expert · Budget</a:t>
            </a:r>
            <a:endParaRPr lang="en-US" sz="1100" dirty="0"/>
          </a:p>
        </p:txBody>
      </p:sp>
      <p:sp>
        <p:nvSpPr>
          <p:cNvPr id="28" name="Circle-176"/>
          <p:cNvSpPr/>
          <p:nvPr/>
        </p:nvSpPr>
        <p:spPr>
          <a:xfrm>
            <a:off x="4498848" y="3054096"/>
            <a:ext cx="310896" cy="310896"/>
          </a:xfrm>
          <a:prstGeom prst="ellipse">
            <a:avLst/>
          </a:prstGeom>
          <a:solidFill>
            <a:schemeClr val="accent1"/>
          </a:solidFill>
          <a:ln/>
        </p:spPr>
        <p:txBody>
          <a:bodyPr/>
          <a:p/>
        </p:txBody>
      </p:sp>
      <p:sp>
        <p:nvSpPr>
          <p:cNvPr id="29" name="Text-177"/>
          <p:cNvSpPr txBox="1"/>
          <p:nvPr/>
        </p:nvSpPr>
        <p:spPr>
          <a:xfrm>
            <a:off x="4498848" y="30540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30" name="Text-178"/>
          <p:cNvSpPr txBox="1"/>
          <p:nvPr/>
        </p:nvSpPr>
        <p:spPr>
          <a:xfrm>
            <a:off x="4937760" y="3017520"/>
            <a:ext cx="2770632" cy="731520"/>
          </a:xfrm>
          <a:prstGeom prst="rect">
            <a:avLst/>
          </a:prstGeom>
          <a:noFill/>
          <a:ln/>
        </p:spPr>
        <p:txBody>
          <a:bodyPr wrap="square" lIns="0" tIns="0" rIns="0" bIns="0" rtlCol="0" anchor="t"/>
          <a:lstStyle/>
          <a:p>
            <a:pPr indent="0" marL="0">
              <a:buNone/>
            </a:pPr>
            <a:r>
              <a:rPr lang="en-US" sz="1400" dirty="0">
                <a:solidFill>
                  <a:schemeClr val="tx1"/>
                </a:solidFill>
              </a:rPr>
              <a:t>What criteria do you use to renew or cancel agreements?</a:t>
            </a:r>
            <a:endParaRPr lang="en-US" sz="1400" dirty="0"/>
          </a:p>
        </p:txBody>
      </p:sp>
      <p:sp>
        <p:nvSpPr>
          <p:cNvPr id="31" name="Circle-179"/>
          <p:cNvSpPr/>
          <p:nvPr/>
        </p:nvSpPr>
        <p:spPr>
          <a:xfrm>
            <a:off x="4498848" y="3840480"/>
            <a:ext cx="310896" cy="310896"/>
          </a:xfrm>
          <a:prstGeom prst="ellipse">
            <a:avLst/>
          </a:prstGeom>
          <a:solidFill>
            <a:schemeClr val="accent1"/>
          </a:solidFill>
          <a:ln/>
        </p:spPr>
        <p:txBody>
          <a:bodyPr/>
          <a:p/>
        </p:txBody>
      </p:sp>
      <p:sp>
        <p:nvSpPr>
          <p:cNvPr id="32" name="Text-180"/>
          <p:cNvSpPr txBox="1"/>
          <p:nvPr/>
        </p:nvSpPr>
        <p:spPr>
          <a:xfrm>
            <a:off x="4498848" y="38404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33" name="Text-181"/>
          <p:cNvSpPr txBox="1"/>
          <p:nvPr/>
        </p:nvSpPr>
        <p:spPr>
          <a:xfrm>
            <a:off x="4937760" y="3803904"/>
            <a:ext cx="2770632" cy="731520"/>
          </a:xfrm>
          <a:prstGeom prst="rect">
            <a:avLst/>
          </a:prstGeom>
          <a:noFill/>
          <a:ln/>
        </p:spPr>
        <p:txBody>
          <a:bodyPr wrap="square" lIns="0" tIns="0" rIns="0" bIns="0" rtlCol="0" anchor="t"/>
          <a:lstStyle/>
          <a:p>
            <a:pPr indent="0" marL="0">
              <a:buNone/>
            </a:pPr>
            <a:r>
              <a:rPr lang="en-US" sz="1400" dirty="0">
                <a:solidFill>
                  <a:schemeClr val="tx1"/>
                </a:solidFill>
              </a:rPr>
              <a:t>What form must evidence of value take for you to pass it on?</a:t>
            </a:r>
            <a:endParaRPr lang="en-US" sz="1400" dirty="0"/>
          </a:p>
        </p:txBody>
      </p:sp>
      <p:sp>
        <p:nvSpPr>
          <p:cNvPr id="34" name="Circle-182"/>
          <p:cNvSpPr/>
          <p:nvPr/>
        </p:nvSpPr>
        <p:spPr>
          <a:xfrm>
            <a:off x="4498848" y="4626864"/>
            <a:ext cx="310896" cy="310896"/>
          </a:xfrm>
          <a:prstGeom prst="ellipse">
            <a:avLst/>
          </a:prstGeom>
          <a:solidFill>
            <a:schemeClr val="accent1"/>
          </a:solidFill>
          <a:ln/>
        </p:spPr>
        <p:txBody>
          <a:bodyPr/>
          <a:p/>
        </p:txBody>
      </p:sp>
      <p:sp>
        <p:nvSpPr>
          <p:cNvPr id="35" name="Text-183"/>
          <p:cNvSpPr txBox="1"/>
          <p:nvPr/>
        </p:nvSpPr>
        <p:spPr>
          <a:xfrm>
            <a:off x="4498848" y="462686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6" name="Text-184"/>
          <p:cNvSpPr txBox="1"/>
          <p:nvPr/>
        </p:nvSpPr>
        <p:spPr>
          <a:xfrm>
            <a:off x="4937760" y="4590288"/>
            <a:ext cx="2770632" cy="731520"/>
          </a:xfrm>
          <a:prstGeom prst="rect">
            <a:avLst/>
          </a:prstGeom>
          <a:noFill/>
          <a:ln/>
        </p:spPr>
        <p:txBody>
          <a:bodyPr wrap="square" lIns="0" tIns="0" rIns="0" bIns="0" rtlCol="0" anchor="t"/>
          <a:lstStyle/>
          <a:p>
            <a:pPr indent="0" marL="0">
              <a:buNone/>
            </a:pPr>
            <a:r>
              <a:rPr lang="en-US" sz="1400" dirty="0">
                <a:solidFill>
                  <a:schemeClr val="tx1"/>
                </a:solidFill>
              </a:rPr>
              <a:t>What makes you suspicious of publisher figures?</a:t>
            </a:r>
            <a:endParaRPr lang="en-US" sz="1400" dirty="0"/>
          </a:p>
        </p:txBody>
      </p:sp>
      <p:sp>
        <p:nvSpPr>
          <p:cNvPr id="37" name="Circle-185"/>
          <p:cNvSpPr/>
          <p:nvPr/>
        </p:nvSpPr>
        <p:spPr>
          <a:xfrm>
            <a:off x="4498848" y="5413248"/>
            <a:ext cx="310896" cy="310896"/>
          </a:xfrm>
          <a:prstGeom prst="ellipse">
            <a:avLst/>
          </a:prstGeom>
          <a:solidFill>
            <a:schemeClr val="accent1"/>
          </a:solidFill>
          <a:ln/>
        </p:spPr>
        <p:txBody>
          <a:bodyPr/>
          <a:p/>
        </p:txBody>
      </p:sp>
      <p:sp>
        <p:nvSpPr>
          <p:cNvPr id="38" name="Text-186"/>
          <p:cNvSpPr txBox="1"/>
          <p:nvPr/>
        </p:nvSpPr>
        <p:spPr>
          <a:xfrm>
            <a:off x="4498848" y="54132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9" name="Text-187"/>
          <p:cNvSpPr txBox="1"/>
          <p:nvPr/>
        </p:nvSpPr>
        <p:spPr>
          <a:xfrm>
            <a:off x="4937760" y="5376672"/>
            <a:ext cx="2770632" cy="731520"/>
          </a:xfrm>
          <a:prstGeom prst="rect">
            <a:avLst/>
          </a:prstGeom>
          <a:noFill/>
          <a:ln/>
        </p:spPr>
        <p:txBody>
          <a:bodyPr wrap="square" lIns="0" tIns="0" rIns="0" bIns="0" rtlCol="0" anchor="t"/>
          <a:lstStyle/>
          <a:p>
            <a:pPr indent="0" marL="0">
              <a:buNone/>
            </a:pPr>
            <a:r>
              <a:rPr lang="en-US" sz="1400" dirty="0">
                <a:solidFill>
                  <a:schemeClr val="tx1"/>
                </a:solidFill>
              </a:rPr>
              <a:t>What would make you expand an agreement?</a:t>
            </a:r>
            <a:endParaRPr lang="en-US" sz="1400" dirty="0"/>
          </a:p>
        </p:txBody>
      </p:sp>
      <p:sp>
        <p:nvSpPr>
          <p:cNvPr id="40" name="GuideCol-188"/>
          <p:cNvSpPr/>
          <p:nvPr/>
        </p:nvSpPr>
        <p:spPr>
          <a:xfrm>
            <a:off x="8046720" y="2103120"/>
            <a:ext cx="3593592" cy="4114800"/>
          </a:xfrm>
          <a:prstGeom prst="roundRect">
            <a:avLst>
              <a:gd name="adj" fmla="val 2036"/>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41" name="Circle-189"/>
          <p:cNvSpPr/>
          <p:nvPr/>
        </p:nvSpPr>
        <p:spPr>
          <a:xfrm>
            <a:off x="8229600" y="2286000"/>
            <a:ext cx="502920" cy="502920"/>
          </a:xfrm>
          <a:prstGeom prst="ellipse">
            <a:avLst/>
          </a:prstGeom>
          <a:solidFill>
            <a:schemeClr val="accent6"/>
          </a:solidFill>
          <a:ln/>
        </p:spPr>
        <p:txBody>
          <a:bodyPr/>
          <a:p/>
        </p:txBody>
      </p:sp>
      <p:sp>
        <p:nvSpPr>
          <p:cNvPr id="42" name="Text-190"/>
          <p:cNvSpPr txBox="1"/>
          <p:nvPr/>
        </p:nvSpPr>
        <p:spPr>
          <a:xfrm>
            <a:off x="8229600" y="22860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US</a:t>
            </a:r>
            <a:endParaRPr lang="en-US" sz="1300" dirty="0"/>
          </a:p>
        </p:txBody>
      </p:sp>
      <p:sp>
        <p:nvSpPr>
          <p:cNvPr id="43" name="Text-191"/>
          <p:cNvSpPr txBox="1"/>
          <p:nvPr/>
        </p:nvSpPr>
        <p:spPr>
          <a:xfrm>
            <a:off x="8851392" y="2258568"/>
            <a:ext cx="2679192" cy="274320"/>
          </a:xfrm>
          <a:prstGeom prst="rect">
            <a:avLst/>
          </a:prstGeom>
          <a:noFill/>
          <a:ln/>
        </p:spPr>
        <p:txBody>
          <a:bodyPr wrap="square" lIns="0" tIns="0" rIns="0" bIns="0" rtlCol="0" anchor="t"/>
          <a:lstStyle/>
          <a:p>
            <a:pPr indent="0" marL="0">
              <a:buNone/>
            </a:pPr>
            <a:r>
              <a:rPr lang="en-US" sz="1400" b="1" dirty="0">
                <a:solidFill>
                  <a:schemeClr val="tx2"/>
                </a:solidFill>
              </a:rPr>
              <a:t>Ulrike Sandmann</a:t>
            </a:r>
            <a:endParaRPr lang="en-US" sz="1400" dirty="0"/>
          </a:p>
        </p:txBody>
      </p:sp>
      <p:sp>
        <p:nvSpPr>
          <p:cNvPr id="44" name="Text-192"/>
          <p:cNvSpPr txBox="1"/>
          <p:nvPr/>
        </p:nvSpPr>
        <p:spPr>
          <a:xfrm>
            <a:off x="8851392" y="2532888"/>
            <a:ext cx="2679192" cy="274320"/>
          </a:xfrm>
          <a:prstGeom prst="rect">
            <a:avLst/>
          </a:prstGeom>
          <a:noFill/>
          <a:ln/>
        </p:spPr>
        <p:txBody>
          <a:bodyPr wrap="square" lIns="0" tIns="0" rIns="0" bIns="0" rtlCol="0" anchor="t"/>
          <a:lstStyle/>
          <a:p>
            <a:pPr indent="0" marL="0">
              <a:buNone/>
            </a:pPr>
            <a:r>
              <a:rPr lang="en-US" sz="1100" dirty="0">
                <a:solidFill>
                  <a:schemeClr val="accent6"/>
                </a:solidFill>
              </a:rPr>
              <a:t>Expert · Market &amp; policy</a:t>
            </a:r>
            <a:endParaRPr lang="en-US" sz="1100" dirty="0"/>
          </a:p>
        </p:txBody>
      </p:sp>
      <p:sp>
        <p:nvSpPr>
          <p:cNvPr id="45" name="Circle-193"/>
          <p:cNvSpPr/>
          <p:nvPr/>
        </p:nvSpPr>
        <p:spPr>
          <a:xfrm>
            <a:off x="8247888" y="3054096"/>
            <a:ext cx="310896" cy="310896"/>
          </a:xfrm>
          <a:prstGeom prst="ellipse">
            <a:avLst/>
          </a:prstGeom>
          <a:solidFill>
            <a:schemeClr val="accent1"/>
          </a:solidFill>
          <a:ln/>
        </p:spPr>
        <p:txBody>
          <a:bodyPr/>
          <a:p/>
        </p:txBody>
      </p:sp>
      <p:sp>
        <p:nvSpPr>
          <p:cNvPr id="46" name="Text-194"/>
          <p:cNvSpPr txBox="1"/>
          <p:nvPr/>
        </p:nvSpPr>
        <p:spPr>
          <a:xfrm>
            <a:off x="8247888" y="30540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7" name="Text-195"/>
          <p:cNvSpPr txBox="1"/>
          <p:nvPr/>
        </p:nvSpPr>
        <p:spPr>
          <a:xfrm>
            <a:off x="8686800" y="3017520"/>
            <a:ext cx="2770632" cy="731520"/>
          </a:xfrm>
          <a:prstGeom prst="rect">
            <a:avLst/>
          </a:prstGeom>
          <a:noFill/>
          <a:ln/>
        </p:spPr>
        <p:txBody>
          <a:bodyPr wrap="square" lIns="0" tIns="0" rIns="0" bIns="0" rtlCol="0" anchor="t"/>
          <a:lstStyle/>
          <a:p>
            <a:pPr indent="0" marL="0">
              <a:buNone/>
            </a:pPr>
            <a:r>
              <a:rPr lang="en-US" sz="1400" dirty="0">
                <a:solidFill>
                  <a:schemeClr val="tx1"/>
                </a:solidFill>
              </a:rPr>
              <a:t>How do consortia compare the value of OA agreements?</a:t>
            </a:r>
            <a:endParaRPr lang="en-US" sz="1400" dirty="0"/>
          </a:p>
        </p:txBody>
      </p:sp>
      <p:sp>
        <p:nvSpPr>
          <p:cNvPr id="48" name="Circle-196"/>
          <p:cNvSpPr/>
          <p:nvPr/>
        </p:nvSpPr>
        <p:spPr>
          <a:xfrm>
            <a:off x="8247888" y="3840480"/>
            <a:ext cx="310896" cy="310896"/>
          </a:xfrm>
          <a:prstGeom prst="ellipse">
            <a:avLst/>
          </a:prstGeom>
          <a:solidFill>
            <a:schemeClr val="accent1"/>
          </a:solidFill>
          <a:ln/>
        </p:spPr>
        <p:txBody>
          <a:bodyPr/>
          <a:p/>
        </p:txBody>
      </p:sp>
      <p:sp>
        <p:nvSpPr>
          <p:cNvPr id="49" name="Text-197"/>
          <p:cNvSpPr txBox="1"/>
          <p:nvPr/>
        </p:nvSpPr>
        <p:spPr>
          <a:xfrm>
            <a:off x="8247888" y="38404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50" name="Text-198"/>
          <p:cNvSpPr txBox="1"/>
          <p:nvPr/>
        </p:nvSpPr>
        <p:spPr>
          <a:xfrm>
            <a:off x="8686800" y="3803904"/>
            <a:ext cx="2770632" cy="731520"/>
          </a:xfrm>
          <a:prstGeom prst="rect">
            <a:avLst/>
          </a:prstGeom>
          <a:noFill/>
          <a:ln/>
        </p:spPr>
        <p:txBody>
          <a:bodyPr wrap="square" lIns="0" tIns="0" rIns="0" bIns="0" rtlCol="0" anchor="t"/>
          <a:lstStyle/>
          <a:p>
            <a:pPr indent="0" marL="0">
              <a:buNone/>
            </a:pPr>
            <a:r>
              <a:rPr lang="en-US" sz="1400" dirty="0">
                <a:solidFill>
                  <a:schemeClr val="tx1"/>
                </a:solidFill>
              </a:rPr>
              <a:t>Which metrics are standard (e.g. cost per article)?</a:t>
            </a:r>
            <a:endParaRPr lang="en-US" sz="1400" dirty="0"/>
          </a:p>
        </p:txBody>
      </p:sp>
      <p:sp>
        <p:nvSpPr>
          <p:cNvPr id="51" name="Circle-199"/>
          <p:cNvSpPr/>
          <p:nvPr/>
        </p:nvSpPr>
        <p:spPr>
          <a:xfrm>
            <a:off x="8247888" y="4626864"/>
            <a:ext cx="310896" cy="310896"/>
          </a:xfrm>
          <a:prstGeom prst="ellipse">
            <a:avLst/>
          </a:prstGeom>
          <a:solidFill>
            <a:schemeClr val="accent1"/>
          </a:solidFill>
          <a:ln/>
        </p:spPr>
        <p:txBody>
          <a:bodyPr/>
          <a:p/>
        </p:txBody>
      </p:sp>
      <p:sp>
        <p:nvSpPr>
          <p:cNvPr id="52" name="Text-200"/>
          <p:cNvSpPr txBox="1"/>
          <p:nvPr/>
        </p:nvSpPr>
        <p:spPr>
          <a:xfrm>
            <a:off x="8247888" y="462686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53" name="Text-201"/>
          <p:cNvSpPr txBox="1"/>
          <p:nvPr/>
        </p:nvSpPr>
        <p:spPr>
          <a:xfrm>
            <a:off x="8686800" y="4590288"/>
            <a:ext cx="2770632" cy="731520"/>
          </a:xfrm>
          <a:prstGeom prst="rect">
            <a:avLst/>
          </a:prstGeom>
          <a:noFill/>
          <a:ln/>
        </p:spPr>
        <p:txBody>
          <a:bodyPr wrap="square" lIns="0" tIns="0" rIns="0" bIns="0" rtlCol="0" anchor="t"/>
          <a:lstStyle/>
          <a:p>
            <a:pPr indent="0" marL="0">
              <a:buNone/>
            </a:pPr>
            <a:r>
              <a:rPr lang="en-US" sz="1400" dirty="0">
                <a:solidFill>
                  <a:schemeClr val="tx1"/>
                </a:solidFill>
              </a:rPr>
              <a:t>What role do funder requirements play?</a:t>
            </a:r>
            <a:endParaRPr lang="en-US" sz="1400" dirty="0"/>
          </a:p>
        </p:txBody>
      </p:sp>
      <p:sp>
        <p:nvSpPr>
          <p:cNvPr id="54" name="Circle-202"/>
          <p:cNvSpPr/>
          <p:nvPr/>
        </p:nvSpPr>
        <p:spPr>
          <a:xfrm>
            <a:off x="8247888" y="5413248"/>
            <a:ext cx="310896" cy="310896"/>
          </a:xfrm>
          <a:prstGeom prst="ellipse">
            <a:avLst/>
          </a:prstGeom>
          <a:solidFill>
            <a:schemeClr val="accent1"/>
          </a:solidFill>
          <a:ln/>
        </p:spPr>
        <p:txBody>
          <a:bodyPr/>
          <a:p/>
        </p:txBody>
      </p:sp>
      <p:sp>
        <p:nvSpPr>
          <p:cNvPr id="55" name="Text-203"/>
          <p:cNvSpPr txBox="1"/>
          <p:nvPr/>
        </p:nvSpPr>
        <p:spPr>
          <a:xfrm>
            <a:off x="8247888" y="54132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56" name="Text-204"/>
          <p:cNvSpPr txBox="1"/>
          <p:nvPr/>
        </p:nvSpPr>
        <p:spPr>
          <a:xfrm>
            <a:off x="8686800" y="5376672"/>
            <a:ext cx="2770632" cy="731520"/>
          </a:xfrm>
          <a:prstGeom prst="rect">
            <a:avLst/>
          </a:prstGeom>
          <a:noFill/>
          <a:ln/>
        </p:spPr>
        <p:txBody>
          <a:bodyPr wrap="square" lIns="0" tIns="0" rIns="0" bIns="0" rtlCol="0" anchor="t"/>
          <a:lstStyle/>
          <a:p>
            <a:pPr indent="0" marL="0">
              <a:buNone/>
            </a:pPr>
            <a:r>
              <a:rPr lang="en-US" sz="1400" dirty="0">
                <a:solidFill>
                  <a:schemeClr val="tx1"/>
                </a:solidFill>
              </a:rPr>
              <a:t>What separates good publisher reports from bad ones?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1 · STEP 1.3 · STAKEHOLDER INVITATION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Invitation to the experts and agenda</a:t>
            </a:r>
            <a:endParaRPr lang="en-US" sz="3200" dirty="0"/>
          </a:p>
        </p:txBody>
      </p:sp>
      <p:sp>
        <p:nvSpPr>
          <p:cNvPr id="4" name="Mail-205"/>
          <p:cNvSpPr/>
          <p:nvPr/>
        </p:nvSpPr>
        <p:spPr>
          <a:xfrm>
            <a:off x="548640" y="1508760"/>
            <a:ext cx="5212080" cy="4709160"/>
          </a:xfrm>
          <a:prstGeom prst="roundRect">
            <a:avLst>
              <a:gd name="adj" fmla="val 1553"/>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5" name="MailBar-206"/>
          <p:cNvSpPr/>
          <p:nvPr/>
        </p:nvSpPr>
        <p:spPr>
          <a:xfrm>
            <a:off x="576072" y="1536192"/>
            <a:ext cx="5157216" cy="457200"/>
          </a:xfrm>
          <a:prstGeom prst="rect">
            <a:avLst/>
          </a:prstGeom>
          <a:solidFill>
            <a:schemeClr val="bg2"/>
          </a:solidFill>
          <a:ln/>
        </p:spPr>
        <p:txBody>
          <a:bodyPr/>
          <a:p/>
        </p:txBody>
      </p:sp>
      <p:sp>
        <p:nvSpPr>
          <p:cNvPr id="6" name="IconBg-207"/>
          <p:cNvSpPr/>
          <p:nvPr/>
        </p:nvSpPr>
        <p:spPr>
          <a:xfrm>
            <a:off x="685800" y="1581912"/>
            <a:ext cx="365760" cy="365760"/>
          </a:xfrm>
          <a:prstGeom prst="ellipse">
            <a:avLst/>
          </a:prstGeom>
          <a:solidFill>
            <a:srgbClr val="1F7A8C"/>
          </a:solidFill>
          <a:ln/>
        </p:spPr>
        <p:txBody>
          <a:bodyPr/>
          <a:p/>
        </p:txBody>
      </p:sp>
      <p:pic>
        <p:nvPicPr>
          <p:cNvPr id="7" name="Icon-208" descr="preencoded.png">    </p:cNvPr>
          <p:cNvPicPr>
            <a:picLocks noChangeAspect="1"/>
          </p:cNvPicPr>
          <p:nvPr/>
        </p:nvPicPr>
        <p:blipFill>
          <a:blip r:embed="rId1"/>
          <a:stretch>
            <a:fillRect/>
          </a:stretch>
        </p:blipFill>
        <p:spPr>
          <a:xfrm>
            <a:off x="777240" y="1673352"/>
            <a:ext cx="182880" cy="182880"/>
          </a:xfrm>
          <a:prstGeom prst="rect">
            <a:avLst/>
          </a:prstGeom>
        </p:spPr>
      </p:pic>
      <p:sp>
        <p:nvSpPr>
          <p:cNvPr id="8" name="Text-209"/>
          <p:cNvSpPr txBox="1"/>
          <p:nvPr/>
        </p:nvSpPr>
        <p:spPr>
          <a:xfrm>
            <a:off x="1143000" y="1536192"/>
            <a:ext cx="2743200" cy="457200"/>
          </a:xfrm>
          <a:prstGeom prst="rect">
            <a:avLst/>
          </a:prstGeom>
          <a:noFill/>
          <a:ln/>
        </p:spPr>
        <p:txBody>
          <a:bodyPr wrap="square" lIns="0" tIns="0" rIns="0" bIns="0" rtlCol="0" anchor="ctr"/>
          <a:lstStyle/>
          <a:p>
            <a:pPr indent="0" marL="0">
              <a:buNone/>
            </a:pPr>
            <a:r>
              <a:rPr lang="en-US" sz="1300" b="1" dirty="0">
                <a:solidFill>
                  <a:schemeClr val="tx2"/>
                </a:solidFill>
              </a:rPr>
              <a:t>New message</a:t>
            </a:r>
            <a:endParaRPr lang="en-US" sz="1300" dirty="0"/>
          </a:p>
        </p:txBody>
      </p:sp>
      <p:sp>
        <p:nvSpPr>
          <p:cNvPr id="9" name="Text-210"/>
          <p:cNvSpPr txBox="1"/>
          <p:nvPr/>
        </p:nvSpPr>
        <p:spPr>
          <a:xfrm>
            <a:off x="777240" y="2103120"/>
            <a:ext cx="4800600" cy="594360"/>
          </a:xfrm>
          <a:prstGeom prst="rect">
            <a:avLst/>
          </a:prstGeom>
          <a:noFill/>
          <a:ln/>
        </p:spPr>
        <p:txBody>
          <a:bodyPr wrap="square" lIns="0" tIns="0" rIns="0" bIns="0" rtlCol="0" anchor="t"/>
          <a:lstStyle/>
          <a:p>
            <a:pPr indent="0" marL="0">
              <a:buNone/>
            </a:pPr>
            <a:r>
              <a:rPr lang="en-US" sz="1200" b="1" dirty="0">
                <a:solidFill>
                  <a:schemeClr val="tx1"/>
                </a:solidFill>
              </a:rPr>
              <a:t>To: </a:t>
            </a:r>
            <a:pPr indent="0" marL="0">
              <a:buNone/>
            </a:pPr>
            <a:r>
              <a:rPr lang="en-US" sz="1200" dirty="0">
                <a:solidFill>
                  <a:schemeClr val="tx1"/>
                </a:solidFill>
              </a:rPr>
              <a:t>Dr. M. Kessler, Dr. R. Hollmann, U. Sandmann</a:t>
            </a:r>
            <a:endParaRPr lang="en-US" sz="1200" dirty="0"/>
          </a:p>
          <a:p>
            <a:pPr indent="0" marL="0">
              <a:buNone/>
            </a:pPr>
            <a:r>
              <a:rPr lang="en-US" sz="1200" b="1" dirty="0">
                <a:solidFill>
                  <a:schemeClr val="tx1"/>
                </a:solidFill>
              </a:rPr>
              <a:t>Subject: </a:t>
            </a:r>
            <a:pPr indent="0" marL="0">
              <a:buNone/>
            </a:pPr>
            <a:r>
              <a:rPr lang="en-US" sz="1200" dirty="0">
                <a:solidFill>
                  <a:schemeClr val="tx1"/>
                </a:solidFill>
              </a:rPr>
              <a:t>Expert interview (40 min) on the value of OA partnerships</a:t>
            </a:r>
            <a:endParaRPr lang="en-US" sz="1200" dirty="0"/>
          </a:p>
        </p:txBody>
      </p:sp>
      <p:sp>
        <p:nvSpPr>
          <p:cNvPr id="10" name="Line-211"/>
          <p:cNvSpPr/>
          <p:nvPr/>
        </p:nvSpPr>
        <p:spPr>
          <a:xfrm>
            <a:off x="777240" y="2761488"/>
            <a:ext cx="4800600" cy="0"/>
          </a:xfrm>
          <a:prstGeom prst="line">
            <a:avLst/>
          </a:prstGeom>
          <a:noFill/>
          <a:ln w="9525">
            <a:solidFill>
              <a:srgbClr val="C9D5D8"/>
            </a:solidFill>
            <a:prstDash val="solid"/>
          </a:ln>
        </p:spPr>
        <p:txBody>
          <a:bodyPr/>
          <a:p/>
        </p:txBody>
      </p:sp>
      <p:sp>
        <p:nvSpPr>
          <p:cNvPr id="11" name="Text-212"/>
          <p:cNvSpPr txBox="1"/>
          <p:nvPr/>
        </p:nvSpPr>
        <p:spPr>
          <a:xfrm>
            <a:off x="777240" y="2852928"/>
            <a:ext cx="4800600" cy="3291840"/>
          </a:xfrm>
          <a:prstGeom prst="rect">
            <a:avLst/>
          </a:prstGeom>
          <a:noFill/>
          <a:ln/>
        </p:spPr>
        <p:txBody>
          <a:bodyPr wrap="square" lIns="0" tIns="0" rIns="0" bIns="0" rtlCol="0" anchor="t"/>
          <a:lstStyle/>
          <a:p>
            <a:pPr indent="0" marL="0">
              <a:buNone/>
            </a:pPr>
            <a:r>
              <a:rPr lang="en-US" sz="1300" dirty="0">
                <a:solidFill>
                  <a:schemeClr val="tx1"/>
                </a:solidFill>
              </a:rPr>
              <a:t>Hello</a:t>
            </a:r>
            <a:endParaRPr lang="en-US" sz="1300" dirty="0"/>
          </a:p>
          <a:p>
            <a:pPr indent="0" marL="0">
              <a:buNone/>
            </a:pPr>
            <a:endParaRPr lang="en-US" sz="1300" dirty="0"/>
          </a:p>
          <a:p>
            <a:pPr indent="0" marL="0">
              <a:buNone/>
            </a:pPr>
            <a:r>
              <a:rPr lang="en-US" sz="1300" dirty="0">
                <a:solidFill>
                  <a:schemeClr val="tx1"/>
                </a:solidFill>
              </a:rPr>
              <a:t>We'd like to understand how libraries demonstrate the value of their open access partnerships to budget holders – and what they really need to do so.</a:t>
            </a:r>
            <a:endParaRPr lang="en-US" sz="1300" dirty="0"/>
          </a:p>
          <a:p>
            <a:pPr indent="0" marL="0">
              <a:buNone/>
            </a:pPr>
            <a:endParaRPr lang="en-US" sz="1300" dirty="0"/>
          </a:p>
          <a:p>
            <a:pPr indent="0" marL="0">
              <a:buNone/>
            </a:pPr>
            <a:r>
              <a:rPr lang="en-US" sz="1300" dirty="0">
                <a:solidFill>
                  <a:schemeClr val="tx1"/>
                </a:solidFill>
              </a:rPr>
              <a:t>Could we interview you for 40 minutes by video on sprint day 1, between 09:30 and 12:00? No preparation needed; we'll send three guiding questions in advance.</a:t>
            </a:r>
            <a:endParaRPr lang="en-US" sz="1300" dirty="0"/>
          </a:p>
          <a:p>
            <a:pPr indent="0" marL="0">
              <a:buNone/>
            </a:pPr>
            <a:endParaRPr lang="en-US" sz="1300" dirty="0"/>
          </a:p>
          <a:p>
            <a:pPr indent="0" marL="0">
              <a:buNone/>
            </a:pPr>
            <a:r>
              <a:rPr lang="en-US" sz="1300" dirty="0">
                <a:solidFill>
                  <a:schemeClr val="tx1"/>
                </a:solidFill>
              </a:rPr>
              <a:t>Kind regards</a:t>
            </a:r>
            <a:endParaRPr lang="en-US" sz="1300" dirty="0"/>
          </a:p>
          <a:p>
            <a:pPr indent="0" marL="0">
              <a:buNone/>
            </a:pPr>
            <a:r>
              <a:rPr lang="en-US" sz="1300" dirty="0">
                <a:solidFill>
                  <a:schemeClr val="tx1"/>
                </a:solidFill>
              </a:rPr>
              <a:t>Clara Imhof, Head of Institutional Partnerships Europe</a:t>
            </a:r>
            <a:endParaRPr lang="en-US" sz="1300" dirty="0"/>
          </a:p>
        </p:txBody>
      </p:sp>
      <p:sp>
        <p:nvSpPr>
          <p:cNvPr id="12" name="Text-213"/>
          <p:cNvSpPr txBox="1"/>
          <p:nvPr/>
        </p:nvSpPr>
        <p:spPr>
          <a:xfrm>
            <a:off x="6080760" y="1508760"/>
            <a:ext cx="2651760" cy="365760"/>
          </a:xfrm>
          <a:prstGeom prst="rect">
            <a:avLst/>
          </a:prstGeom>
          <a:noFill/>
          <a:ln/>
        </p:spPr>
        <p:txBody>
          <a:bodyPr wrap="square" lIns="0" tIns="0" rIns="0" bIns="0" rtlCol="0" anchor="t"/>
          <a:lstStyle/>
          <a:p>
            <a:pPr indent="0" marL="0">
              <a:buNone/>
            </a:pPr>
            <a:r>
              <a:rPr lang="en-US" sz="1600" b="1" dirty="0">
                <a:solidFill>
                  <a:schemeClr val="tx2"/>
                </a:solidFill>
              </a:rPr>
              <a:t>Day 1</a:t>
            </a:r>
            <a:endParaRPr lang="en-US" sz="1600" dirty="0"/>
          </a:p>
        </p:txBody>
      </p:sp>
      <p:sp>
        <p:nvSpPr>
          <p:cNvPr id="13" name="Circle-214"/>
          <p:cNvSpPr/>
          <p:nvPr/>
        </p:nvSpPr>
        <p:spPr>
          <a:xfrm>
            <a:off x="6080760" y="2011680"/>
            <a:ext cx="182880" cy="182880"/>
          </a:xfrm>
          <a:prstGeom prst="ellipse">
            <a:avLst/>
          </a:prstGeom>
          <a:solidFill>
            <a:schemeClr val="accent1"/>
          </a:solidFill>
          <a:ln/>
        </p:spPr>
        <p:txBody>
          <a:bodyPr/>
          <a:p/>
        </p:txBody>
      </p:sp>
      <p:sp>
        <p:nvSpPr>
          <p:cNvPr id="14" name="Text-215"/>
          <p:cNvSpPr txBox="1"/>
          <p:nvPr/>
        </p:nvSpPr>
        <p:spPr>
          <a:xfrm>
            <a:off x="6355080" y="1938528"/>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09:00</a:t>
            </a:r>
            <a:endParaRPr lang="en-US" sz="1200" dirty="0"/>
          </a:p>
        </p:txBody>
      </p:sp>
      <p:sp>
        <p:nvSpPr>
          <p:cNvPr id="15" name="Text-216"/>
          <p:cNvSpPr txBox="1"/>
          <p:nvPr/>
        </p:nvSpPr>
        <p:spPr>
          <a:xfrm>
            <a:off x="6922008" y="1938528"/>
            <a:ext cx="1828800" cy="548640"/>
          </a:xfrm>
          <a:prstGeom prst="rect">
            <a:avLst/>
          </a:prstGeom>
          <a:noFill/>
          <a:ln/>
        </p:spPr>
        <p:txBody>
          <a:bodyPr wrap="square" lIns="0" tIns="0" rIns="0" bIns="0" rtlCol="0" anchor="t"/>
          <a:lstStyle/>
          <a:p>
            <a:pPr indent="0" marL="0">
              <a:buNone/>
            </a:pPr>
            <a:r>
              <a:rPr lang="en-US" sz="1200" dirty="0">
                <a:solidFill>
                  <a:schemeClr val="tx1"/>
                </a:solidFill>
              </a:rPr>
              <a:t>Kick-off &amp; Challenge</a:t>
            </a:r>
            <a:endParaRPr lang="en-US" sz="1200" dirty="0"/>
          </a:p>
        </p:txBody>
      </p:sp>
      <p:sp>
        <p:nvSpPr>
          <p:cNvPr id="16" name="Circle-217"/>
          <p:cNvSpPr/>
          <p:nvPr/>
        </p:nvSpPr>
        <p:spPr>
          <a:xfrm>
            <a:off x="6080760" y="2615184"/>
            <a:ext cx="182880" cy="182880"/>
          </a:xfrm>
          <a:prstGeom prst="ellipse">
            <a:avLst/>
          </a:prstGeom>
          <a:solidFill>
            <a:schemeClr val="accent1"/>
          </a:solidFill>
          <a:ln/>
        </p:spPr>
        <p:txBody>
          <a:bodyPr/>
          <a:p/>
        </p:txBody>
      </p:sp>
      <p:sp>
        <p:nvSpPr>
          <p:cNvPr id="17" name="Text-218"/>
          <p:cNvSpPr txBox="1"/>
          <p:nvPr/>
        </p:nvSpPr>
        <p:spPr>
          <a:xfrm>
            <a:off x="6355080" y="2542032"/>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09:30</a:t>
            </a:r>
            <a:endParaRPr lang="en-US" sz="1200" dirty="0"/>
          </a:p>
        </p:txBody>
      </p:sp>
      <p:sp>
        <p:nvSpPr>
          <p:cNvPr id="18" name="Text-219"/>
          <p:cNvSpPr txBox="1"/>
          <p:nvPr/>
        </p:nvSpPr>
        <p:spPr>
          <a:xfrm>
            <a:off x="6922008" y="2542032"/>
            <a:ext cx="1828800" cy="548640"/>
          </a:xfrm>
          <a:prstGeom prst="rect">
            <a:avLst/>
          </a:prstGeom>
          <a:noFill/>
          <a:ln/>
        </p:spPr>
        <p:txBody>
          <a:bodyPr wrap="square" lIns="0" tIns="0" rIns="0" bIns="0" rtlCol="0" anchor="t"/>
          <a:lstStyle/>
          <a:p>
            <a:pPr indent="0" marL="0">
              <a:buNone/>
            </a:pPr>
            <a:r>
              <a:rPr lang="en-US" sz="1200" dirty="0">
                <a:solidFill>
                  <a:schemeClr val="tx1"/>
                </a:solidFill>
              </a:rPr>
              <a:t>Expert interviews 3 × 40 min</a:t>
            </a:r>
            <a:endParaRPr lang="en-US" sz="1200" dirty="0"/>
          </a:p>
        </p:txBody>
      </p:sp>
      <p:sp>
        <p:nvSpPr>
          <p:cNvPr id="19" name="Circle-220"/>
          <p:cNvSpPr/>
          <p:nvPr/>
        </p:nvSpPr>
        <p:spPr>
          <a:xfrm>
            <a:off x="6080760" y="3218688"/>
            <a:ext cx="182880" cy="182880"/>
          </a:xfrm>
          <a:prstGeom prst="ellipse">
            <a:avLst/>
          </a:prstGeom>
          <a:solidFill>
            <a:schemeClr val="accent5"/>
          </a:solidFill>
          <a:ln/>
        </p:spPr>
        <p:txBody>
          <a:bodyPr/>
          <a:p/>
        </p:txBody>
      </p:sp>
      <p:sp>
        <p:nvSpPr>
          <p:cNvPr id="20" name="Text-221"/>
          <p:cNvSpPr txBox="1"/>
          <p:nvPr/>
        </p:nvSpPr>
        <p:spPr>
          <a:xfrm>
            <a:off x="6355080" y="3145536"/>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12:00</a:t>
            </a:r>
            <a:endParaRPr lang="en-US" sz="1200" dirty="0"/>
          </a:p>
        </p:txBody>
      </p:sp>
      <p:sp>
        <p:nvSpPr>
          <p:cNvPr id="21" name="Text-222"/>
          <p:cNvSpPr txBox="1"/>
          <p:nvPr/>
        </p:nvSpPr>
        <p:spPr>
          <a:xfrm>
            <a:off x="6922008" y="3145536"/>
            <a:ext cx="1828800" cy="548640"/>
          </a:xfrm>
          <a:prstGeom prst="rect">
            <a:avLst/>
          </a:prstGeom>
          <a:noFill/>
          <a:ln/>
        </p:spPr>
        <p:txBody>
          <a:bodyPr wrap="square" lIns="0" tIns="0" rIns="0" bIns="0" rtlCol="0" anchor="t"/>
          <a:lstStyle/>
          <a:p>
            <a:pPr indent="0" marL="0">
              <a:buNone/>
            </a:pPr>
            <a:r>
              <a:rPr lang="en-US" sz="1200" dirty="0">
                <a:solidFill>
                  <a:schemeClr val="tx1"/>
                </a:solidFill>
              </a:rPr>
              <a:t>AI synthesis of the interviews</a:t>
            </a:r>
            <a:endParaRPr lang="en-US" sz="1200" dirty="0"/>
          </a:p>
        </p:txBody>
      </p:sp>
      <p:sp>
        <p:nvSpPr>
          <p:cNvPr id="22" name="Circle-223"/>
          <p:cNvSpPr/>
          <p:nvPr/>
        </p:nvSpPr>
        <p:spPr>
          <a:xfrm>
            <a:off x="6080760" y="3822192"/>
            <a:ext cx="182880" cy="182880"/>
          </a:xfrm>
          <a:prstGeom prst="ellipse">
            <a:avLst/>
          </a:prstGeom>
          <a:solidFill>
            <a:schemeClr val="accent1"/>
          </a:solidFill>
          <a:ln/>
        </p:spPr>
        <p:txBody>
          <a:bodyPr/>
          <a:p/>
        </p:txBody>
      </p:sp>
      <p:sp>
        <p:nvSpPr>
          <p:cNvPr id="23" name="Text-224"/>
          <p:cNvSpPr txBox="1"/>
          <p:nvPr/>
        </p:nvSpPr>
        <p:spPr>
          <a:xfrm>
            <a:off x="6355080" y="3749040"/>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13:30</a:t>
            </a:r>
            <a:endParaRPr lang="en-US" sz="1200" dirty="0"/>
          </a:p>
        </p:txBody>
      </p:sp>
      <p:sp>
        <p:nvSpPr>
          <p:cNvPr id="24" name="Text-225"/>
          <p:cNvSpPr txBox="1"/>
          <p:nvPr/>
        </p:nvSpPr>
        <p:spPr>
          <a:xfrm>
            <a:off x="6922008" y="3749040"/>
            <a:ext cx="1828800" cy="548640"/>
          </a:xfrm>
          <a:prstGeom prst="rect">
            <a:avLst/>
          </a:prstGeom>
          <a:noFill/>
          <a:ln/>
        </p:spPr>
        <p:txBody>
          <a:bodyPr wrap="square" lIns="0" tIns="0" rIns="0" bIns="0" rtlCol="0" anchor="t"/>
          <a:lstStyle/>
          <a:p>
            <a:pPr indent="0" marL="0">
              <a:buNone/>
            </a:pPr>
            <a:r>
              <a:rPr lang="en-US" sz="1200" dirty="0">
                <a:solidFill>
                  <a:schemeClr val="tx1"/>
                </a:solidFill>
              </a:rPr>
              <a:t>HMW session &amp; voting</a:t>
            </a:r>
            <a:endParaRPr lang="en-US" sz="1200" dirty="0"/>
          </a:p>
        </p:txBody>
      </p:sp>
      <p:sp>
        <p:nvSpPr>
          <p:cNvPr id="25" name="Circle-226"/>
          <p:cNvSpPr/>
          <p:nvPr/>
        </p:nvSpPr>
        <p:spPr>
          <a:xfrm>
            <a:off x="6080760" y="4425696"/>
            <a:ext cx="182880" cy="182880"/>
          </a:xfrm>
          <a:prstGeom prst="ellipse">
            <a:avLst/>
          </a:prstGeom>
          <a:solidFill>
            <a:schemeClr val="accent1"/>
          </a:solidFill>
          <a:ln/>
        </p:spPr>
        <p:txBody>
          <a:bodyPr/>
          <a:p/>
        </p:txBody>
      </p:sp>
      <p:sp>
        <p:nvSpPr>
          <p:cNvPr id="26" name="Text-227"/>
          <p:cNvSpPr txBox="1"/>
          <p:nvPr/>
        </p:nvSpPr>
        <p:spPr>
          <a:xfrm>
            <a:off x="6355080" y="4352544"/>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14:30</a:t>
            </a:r>
            <a:endParaRPr lang="en-US" sz="1200" dirty="0"/>
          </a:p>
        </p:txBody>
      </p:sp>
      <p:sp>
        <p:nvSpPr>
          <p:cNvPr id="27" name="Text-228"/>
          <p:cNvSpPr txBox="1"/>
          <p:nvPr/>
        </p:nvSpPr>
        <p:spPr>
          <a:xfrm>
            <a:off x="6922008" y="4352544"/>
            <a:ext cx="1828800" cy="548640"/>
          </a:xfrm>
          <a:prstGeom prst="rect">
            <a:avLst/>
          </a:prstGeom>
          <a:noFill/>
          <a:ln/>
        </p:spPr>
        <p:txBody>
          <a:bodyPr wrap="square" lIns="0" tIns="0" rIns="0" bIns="0" rtlCol="0" anchor="t"/>
          <a:lstStyle/>
          <a:p>
            <a:pPr indent="0" marL="0">
              <a:buNone/>
            </a:pPr>
            <a:r>
              <a:rPr lang="en-US" sz="1200" dirty="0">
                <a:solidFill>
                  <a:schemeClr val="tx1"/>
                </a:solidFill>
              </a:rPr>
              <a:t>Map &amp; Target Area</a:t>
            </a:r>
            <a:endParaRPr lang="en-US" sz="1200" dirty="0"/>
          </a:p>
        </p:txBody>
      </p:sp>
      <p:sp>
        <p:nvSpPr>
          <p:cNvPr id="28" name="Circle-229"/>
          <p:cNvSpPr/>
          <p:nvPr/>
        </p:nvSpPr>
        <p:spPr>
          <a:xfrm>
            <a:off x="6080760" y="5029200"/>
            <a:ext cx="182880" cy="182880"/>
          </a:xfrm>
          <a:prstGeom prst="ellipse">
            <a:avLst/>
          </a:prstGeom>
          <a:solidFill>
            <a:schemeClr val="accent1"/>
          </a:solidFill>
          <a:ln/>
        </p:spPr>
        <p:txBody>
          <a:bodyPr/>
          <a:p/>
        </p:txBody>
      </p:sp>
      <p:sp>
        <p:nvSpPr>
          <p:cNvPr id="29" name="Text-230"/>
          <p:cNvSpPr txBox="1"/>
          <p:nvPr/>
        </p:nvSpPr>
        <p:spPr>
          <a:xfrm>
            <a:off x="6355080" y="4956048"/>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15:30</a:t>
            </a:r>
            <a:endParaRPr lang="en-US" sz="1200" dirty="0"/>
          </a:p>
        </p:txBody>
      </p:sp>
      <p:sp>
        <p:nvSpPr>
          <p:cNvPr id="30" name="Text-231"/>
          <p:cNvSpPr txBox="1"/>
          <p:nvPr/>
        </p:nvSpPr>
        <p:spPr>
          <a:xfrm>
            <a:off x="6922008" y="4956048"/>
            <a:ext cx="1828800" cy="548640"/>
          </a:xfrm>
          <a:prstGeom prst="rect">
            <a:avLst/>
          </a:prstGeom>
          <a:noFill/>
          <a:ln/>
        </p:spPr>
        <p:txBody>
          <a:bodyPr wrap="square" lIns="0" tIns="0" rIns="0" bIns="0" rtlCol="0" anchor="t"/>
          <a:lstStyle/>
          <a:p>
            <a:pPr indent="0" marL="0">
              <a:buNone/>
            </a:pPr>
            <a:r>
              <a:rPr lang="en-US" sz="1200" dirty="0">
                <a:solidFill>
                  <a:schemeClr val="tx1"/>
                </a:solidFill>
              </a:rPr>
              <a:t>Long Term Goal &amp; Sprint Questions</a:t>
            </a:r>
            <a:endParaRPr lang="en-US" sz="1200" dirty="0"/>
          </a:p>
        </p:txBody>
      </p:sp>
      <p:sp>
        <p:nvSpPr>
          <p:cNvPr id="31" name="Circle-232"/>
          <p:cNvSpPr/>
          <p:nvPr/>
        </p:nvSpPr>
        <p:spPr>
          <a:xfrm>
            <a:off x="6080760" y="5632704"/>
            <a:ext cx="182880" cy="182880"/>
          </a:xfrm>
          <a:prstGeom prst="ellipse">
            <a:avLst/>
          </a:prstGeom>
          <a:solidFill>
            <a:schemeClr val="accent2"/>
          </a:solidFill>
          <a:ln/>
        </p:spPr>
        <p:txBody>
          <a:bodyPr/>
          <a:p/>
        </p:txBody>
      </p:sp>
      <p:sp>
        <p:nvSpPr>
          <p:cNvPr id="32" name="Text-233"/>
          <p:cNvSpPr txBox="1"/>
          <p:nvPr/>
        </p:nvSpPr>
        <p:spPr>
          <a:xfrm>
            <a:off x="6355080" y="5559552"/>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16:15</a:t>
            </a:r>
            <a:endParaRPr lang="en-US" sz="1200" dirty="0"/>
          </a:p>
        </p:txBody>
      </p:sp>
      <p:sp>
        <p:nvSpPr>
          <p:cNvPr id="33" name="Text-234"/>
          <p:cNvSpPr txBox="1"/>
          <p:nvPr/>
        </p:nvSpPr>
        <p:spPr>
          <a:xfrm>
            <a:off x="6922008" y="5559552"/>
            <a:ext cx="1828800" cy="548640"/>
          </a:xfrm>
          <a:prstGeom prst="rect">
            <a:avLst/>
          </a:prstGeom>
          <a:noFill/>
          <a:ln/>
        </p:spPr>
        <p:txBody>
          <a:bodyPr wrap="square" lIns="0" tIns="0" rIns="0" bIns="0" rtlCol="0" anchor="t"/>
          <a:lstStyle/>
          <a:p>
            <a:pPr indent="0" marL="0">
              <a:buNone/>
            </a:pPr>
            <a:r>
              <a:rPr lang="en-US" sz="1200" dirty="0">
                <a:solidFill>
                  <a:schemeClr val="tx1"/>
                </a:solidFill>
              </a:rPr>
              <a:t>Lightning demos (team)</a:t>
            </a:r>
            <a:endParaRPr lang="en-US" sz="1200" dirty="0"/>
          </a:p>
        </p:txBody>
      </p:sp>
      <p:sp>
        <p:nvSpPr>
          <p:cNvPr id="34" name="Text-235"/>
          <p:cNvSpPr txBox="1"/>
          <p:nvPr/>
        </p:nvSpPr>
        <p:spPr>
          <a:xfrm>
            <a:off x="8915400" y="1508760"/>
            <a:ext cx="2651760" cy="365760"/>
          </a:xfrm>
          <a:prstGeom prst="rect">
            <a:avLst/>
          </a:prstGeom>
          <a:noFill/>
          <a:ln/>
        </p:spPr>
        <p:txBody>
          <a:bodyPr wrap="square" lIns="0" tIns="0" rIns="0" bIns="0" rtlCol="0" anchor="t"/>
          <a:lstStyle/>
          <a:p>
            <a:pPr indent="0" marL="0">
              <a:buNone/>
            </a:pPr>
            <a:r>
              <a:rPr lang="en-US" sz="1600" b="1" dirty="0">
                <a:solidFill>
                  <a:schemeClr val="tx2"/>
                </a:solidFill>
              </a:rPr>
              <a:t>Day 2</a:t>
            </a:r>
            <a:endParaRPr lang="en-US" sz="1600" dirty="0"/>
          </a:p>
        </p:txBody>
      </p:sp>
      <p:sp>
        <p:nvSpPr>
          <p:cNvPr id="35" name="Circle-236"/>
          <p:cNvSpPr/>
          <p:nvPr/>
        </p:nvSpPr>
        <p:spPr>
          <a:xfrm>
            <a:off x="8915400" y="2011680"/>
            <a:ext cx="182880" cy="182880"/>
          </a:xfrm>
          <a:prstGeom prst="ellipse">
            <a:avLst/>
          </a:prstGeom>
          <a:solidFill>
            <a:schemeClr val="accent5"/>
          </a:solidFill>
          <a:ln/>
        </p:spPr>
        <p:txBody>
          <a:bodyPr/>
          <a:p/>
        </p:txBody>
      </p:sp>
      <p:sp>
        <p:nvSpPr>
          <p:cNvPr id="36" name="Text-237"/>
          <p:cNvSpPr txBox="1"/>
          <p:nvPr/>
        </p:nvSpPr>
        <p:spPr>
          <a:xfrm>
            <a:off x="9189720" y="1938528"/>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09:00</a:t>
            </a:r>
            <a:endParaRPr lang="en-US" sz="1200" dirty="0"/>
          </a:p>
        </p:txBody>
      </p:sp>
      <p:sp>
        <p:nvSpPr>
          <p:cNvPr id="37" name="Text-238"/>
          <p:cNvSpPr txBox="1"/>
          <p:nvPr/>
        </p:nvSpPr>
        <p:spPr>
          <a:xfrm>
            <a:off x="9756648" y="1938528"/>
            <a:ext cx="1828800" cy="548640"/>
          </a:xfrm>
          <a:prstGeom prst="rect">
            <a:avLst/>
          </a:prstGeom>
          <a:noFill/>
          <a:ln/>
        </p:spPr>
        <p:txBody>
          <a:bodyPr wrap="square" lIns="0" tIns="0" rIns="0" bIns="0" rtlCol="0" anchor="t"/>
          <a:lstStyle/>
          <a:p>
            <a:pPr indent="0" marL="0">
              <a:buNone/>
            </a:pPr>
            <a:r>
              <a:rPr lang="en-US" sz="1200" dirty="0">
                <a:solidFill>
                  <a:schemeClr val="tx1"/>
                </a:solidFill>
              </a:rPr>
              <a:t>Lightning demos (AI)</a:t>
            </a:r>
            <a:endParaRPr lang="en-US" sz="1200" dirty="0"/>
          </a:p>
        </p:txBody>
      </p:sp>
      <p:sp>
        <p:nvSpPr>
          <p:cNvPr id="38" name="Circle-239"/>
          <p:cNvSpPr/>
          <p:nvPr/>
        </p:nvSpPr>
        <p:spPr>
          <a:xfrm>
            <a:off x="8915400" y="2615184"/>
            <a:ext cx="182880" cy="182880"/>
          </a:xfrm>
          <a:prstGeom prst="ellipse">
            <a:avLst/>
          </a:prstGeom>
          <a:solidFill>
            <a:schemeClr val="accent2"/>
          </a:solidFill>
          <a:ln/>
        </p:spPr>
        <p:txBody>
          <a:bodyPr/>
          <a:p/>
        </p:txBody>
      </p:sp>
      <p:sp>
        <p:nvSpPr>
          <p:cNvPr id="39" name="Text-240"/>
          <p:cNvSpPr txBox="1"/>
          <p:nvPr/>
        </p:nvSpPr>
        <p:spPr>
          <a:xfrm>
            <a:off x="9189720" y="2542032"/>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09:30</a:t>
            </a:r>
            <a:endParaRPr lang="en-US" sz="1200" dirty="0"/>
          </a:p>
        </p:txBody>
      </p:sp>
      <p:sp>
        <p:nvSpPr>
          <p:cNvPr id="40" name="Text-241"/>
          <p:cNvSpPr txBox="1"/>
          <p:nvPr/>
        </p:nvSpPr>
        <p:spPr>
          <a:xfrm>
            <a:off x="9756648" y="2542032"/>
            <a:ext cx="1828800" cy="548640"/>
          </a:xfrm>
          <a:prstGeom prst="rect">
            <a:avLst/>
          </a:prstGeom>
          <a:noFill/>
          <a:ln/>
        </p:spPr>
        <p:txBody>
          <a:bodyPr wrap="square" lIns="0" tIns="0" rIns="0" bIns="0" rtlCol="0" anchor="t"/>
          <a:lstStyle/>
          <a:p>
            <a:pPr indent="0" marL="0">
              <a:buNone/>
            </a:pPr>
            <a:r>
              <a:rPr lang="en-US" sz="1200" dirty="0">
                <a:solidFill>
                  <a:schemeClr val="tx1"/>
                </a:solidFill>
              </a:rPr>
              <a:t>Notes</a:t>
            </a:r>
            <a:endParaRPr lang="en-US" sz="1200" dirty="0"/>
          </a:p>
        </p:txBody>
      </p:sp>
      <p:sp>
        <p:nvSpPr>
          <p:cNvPr id="41" name="Circle-242"/>
          <p:cNvSpPr/>
          <p:nvPr/>
        </p:nvSpPr>
        <p:spPr>
          <a:xfrm>
            <a:off x="8915400" y="3218688"/>
            <a:ext cx="182880" cy="182880"/>
          </a:xfrm>
          <a:prstGeom prst="ellipse">
            <a:avLst/>
          </a:prstGeom>
          <a:solidFill>
            <a:schemeClr val="accent2"/>
          </a:solidFill>
          <a:ln/>
        </p:spPr>
        <p:txBody>
          <a:bodyPr/>
          <a:p/>
        </p:txBody>
      </p:sp>
      <p:sp>
        <p:nvSpPr>
          <p:cNvPr id="42" name="Text-243"/>
          <p:cNvSpPr txBox="1"/>
          <p:nvPr/>
        </p:nvSpPr>
        <p:spPr>
          <a:xfrm>
            <a:off x="9189720" y="3145536"/>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09:50</a:t>
            </a:r>
            <a:endParaRPr lang="en-US" sz="1200" dirty="0"/>
          </a:p>
        </p:txBody>
      </p:sp>
      <p:sp>
        <p:nvSpPr>
          <p:cNvPr id="43" name="Text-244"/>
          <p:cNvSpPr txBox="1"/>
          <p:nvPr/>
        </p:nvSpPr>
        <p:spPr>
          <a:xfrm>
            <a:off x="9756648" y="3145536"/>
            <a:ext cx="1828800" cy="548640"/>
          </a:xfrm>
          <a:prstGeom prst="rect">
            <a:avLst/>
          </a:prstGeom>
          <a:noFill/>
          <a:ln/>
        </p:spPr>
        <p:txBody>
          <a:bodyPr wrap="square" lIns="0" tIns="0" rIns="0" bIns="0" rtlCol="0" anchor="t"/>
          <a:lstStyle/>
          <a:p>
            <a:pPr indent="0" marL="0">
              <a:buNone/>
            </a:pPr>
            <a:r>
              <a:rPr lang="en-US" sz="1200" dirty="0">
                <a:solidFill>
                  <a:schemeClr val="tx1"/>
                </a:solidFill>
              </a:rPr>
              <a:t>Doodles</a:t>
            </a:r>
            <a:endParaRPr lang="en-US" sz="1200" dirty="0"/>
          </a:p>
        </p:txBody>
      </p:sp>
      <p:sp>
        <p:nvSpPr>
          <p:cNvPr id="44" name="Circle-245"/>
          <p:cNvSpPr/>
          <p:nvPr/>
        </p:nvSpPr>
        <p:spPr>
          <a:xfrm>
            <a:off x="8915400" y="3822192"/>
            <a:ext cx="182880" cy="182880"/>
          </a:xfrm>
          <a:prstGeom prst="ellipse">
            <a:avLst/>
          </a:prstGeom>
          <a:solidFill>
            <a:schemeClr val="accent2"/>
          </a:solidFill>
          <a:ln/>
        </p:spPr>
        <p:txBody>
          <a:bodyPr/>
          <a:p/>
        </p:txBody>
      </p:sp>
      <p:sp>
        <p:nvSpPr>
          <p:cNvPr id="45" name="Text-246"/>
          <p:cNvSpPr txBox="1"/>
          <p:nvPr/>
        </p:nvSpPr>
        <p:spPr>
          <a:xfrm>
            <a:off x="9189720" y="3749040"/>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10:10</a:t>
            </a:r>
            <a:endParaRPr lang="en-US" sz="1200" dirty="0"/>
          </a:p>
        </p:txBody>
      </p:sp>
      <p:sp>
        <p:nvSpPr>
          <p:cNvPr id="46" name="Text-247"/>
          <p:cNvSpPr txBox="1"/>
          <p:nvPr/>
        </p:nvSpPr>
        <p:spPr>
          <a:xfrm>
            <a:off x="9756648" y="3749040"/>
            <a:ext cx="1828800" cy="548640"/>
          </a:xfrm>
          <a:prstGeom prst="rect">
            <a:avLst/>
          </a:prstGeom>
          <a:noFill/>
          <a:ln/>
        </p:spPr>
        <p:txBody>
          <a:bodyPr wrap="square" lIns="0" tIns="0" rIns="0" bIns="0" rtlCol="0" anchor="t"/>
          <a:lstStyle/>
          <a:p>
            <a:pPr indent="0" marL="0">
              <a:buNone/>
            </a:pPr>
            <a:r>
              <a:rPr lang="en-US" sz="1200" dirty="0">
                <a:solidFill>
                  <a:schemeClr val="tx1"/>
                </a:solidFill>
              </a:rPr>
              <a:t>Crazy 8s</a:t>
            </a:r>
            <a:endParaRPr lang="en-US" sz="1200" dirty="0"/>
          </a:p>
        </p:txBody>
      </p:sp>
      <p:sp>
        <p:nvSpPr>
          <p:cNvPr id="47" name="Circle-248"/>
          <p:cNvSpPr/>
          <p:nvPr/>
        </p:nvSpPr>
        <p:spPr>
          <a:xfrm>
            <a:off x="8915400" y="4425696"/>
            <a:ext cx="182880" cy="182880"/>
          </a:xfrm>
          <a:prstGeom prst="ellipse">
            <a:avLst/>
          </a:prstGeom>
          <a:solidFill>
            <a:schemeClr val="accent2"/>
          </a:solidFill>
          <a:ln/>
        </p:spPr>
        <p:txBody>
          <a:bodyPr/>
          <a:p/>
        </p:txBody>
      </p:sp>
      <p:sp>
        <p:nvSpPr>
          <p:cNvPr id="48" name="Text-249"/>
          <p:cNvSpPr txBox="1"/>
          <p:nvPr/>
        </p:nvSpPr>
        <p:spPr>
          <a:xfrm>
            <a:off x="9189720" y="4352544"/>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10:20</a:t>
            </a:r>
            <a:endParaRPr lang="en-US" sz="1200" dirty="0"/>
          </a:p>
        </p:txBody>
      </p:sp>
      <p:sp>
        <p:nvSpPr>
          <p:cNvPr id="49" name="Text-250"/>
          <p:cNvSpPr txBox="1"/>
          <p:nvPr/>
        </p:nvSpPr>
        <p:spPr>
          <a:xfrm>
            <a:off x="9756648" y="4352544"/>
            <a:ext cx="1828800" cy="548640"/>
          </a:xfrm>
          <a:prstGeom prst="rect">
            <a:avLst/>
          </a:prstGeom>
          <a:noFill/>
          <a:ln/>
        </p:spPr>
        <p:txBody>
          <a:bodyPr wrap="square" lIns="0" tIns="0" rIns="0" bIns="0" rtlCol="0" anchor="t"/>
          <a:lstStyle/>
          <a:p>
            <a:pPr indent="0" marL="0">
              <a:buNone/>
            </a:pPr>
            <a:r>
              <a:rPr lang="en-US" sz="1200" dirty="0">
                <a:solidFill>
                  <a:schemeClr val="tx1"/>
                </a:solidFill>
              </a:rPr>
              <a:t>Solution Sketch</a:t>
            </a:r>
            <a:endParaRPr lang="en-US" sz="1200" dirty="0"/>
          </a:p>
        </p:txBody>
      </p:sp>
      <p:sp>
        <p:nvSpPr>
          <p:cNvPr id="50" name="Circle-251"/>
          <p:cNvSpPr/>
          <p:nvPr/>
        </p:nvSpPr>
        <p:spPr>
          <a:xfrm>
            <a:off x="8915400" y="5029200"/>
            <a:ext cx="182880" cy="182880"/>
          </a:xfrm>
          <a:prstGeom prst="ellipse">
            <a:avLst/>
          </a:prstGeom>
          <a:solidFill>
            <a:schemeClr val="accent5"/>
          </a:solidFill>
          <a:ln/>
        </p:spPr>
        <p:txBody>
          <a:bodyPr/>
          <a:p/>
        </p:txBody>
      </p:sp>
      <p:sp>
        <p:nvSpPr>
          <p:cNvPr id="51" name="Text-252"/>
          <p:cNvSpPr txBox="1"/>
          <p:nvPr/>
        </p:nvSpPr>
        <p:spPr>
          <a:xfrm>
            <a:off x="9189720" y="4956048"/>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11:15</a:t>
            </a:r>
            <a:endParaRPr lang="en-US" sz="1200" dirty="0"/>
          </a:p>
        </p:txBody>
      </p:sp>
      <p:sp>
        <p:nvSpPr>
          <p:cNvPr id="52" name="Text-253"/>
          <p:cNvSpPr txBox="1"/>
          <p:nvPr/>
        </p:nvSpPr>
        <p:spPr>
          <a:xfrm>
            <a:off x="9756648" y="4956048"/>
            <a:ext cx="1828800" cy="548640"/>
          </a:xfrm>
          <a:prstGeom prst="rect">
            <a:avLst/>
          </a:prstGeom>
          <a:noFill/>
          <a:ln/>
        </p:spPr>
        <p:txBody>
          <a:bodyPr wrap="square" lIns="0" tIns="0" rIns="0" bIns="0" rtlCol="0" anchor="t"/>
          <a:lstStyle/>
          <a:p>
            <a:pPr indent="0" marL="0">
              <a:buNone/>
            </a:pPr>
            <a:r>
              <a:rPr lang="en-US" sz="1200" dirty="0">
                <a:solidFill>
                  <a:schemeClr val="tx1"/>
                </a:solidFill>
              </a:rPr>
              <a:t>Additional AI concepts &amp; gallery</a:t>
            </a:r>
            <a:endParaRPr lang="en-US" sz="1200" dirty="0"/>
          </a:p>
        </p:txBody>
      </p:sp>
      <p:sp>
        <p:nvSpPr>
          <p:cNvPr id="53" name="Circle-254"/>
          <p:cNvSpPr/>
          <p:nvPr/>
        </p:nvSpPr>
        <p:spPr>
          <a:xfrm>
            <a:off x="8915400" y="5632704"/>
            <a:ext cx="182880" cy="182880"/>
          </a:xfrm>
          <a:prstGeom prst="ellipse">
            <a:avLst/>
          </a:prstGeom>
          <a:solidFill>
            <a:schemeClr val="accent6"/>
          </a:solidFill>
          <a:ln/>
        </p:spPr>
        <p:txBody>
          <a:bodyPr/>
          <a:p/>
        </p:txBody>
      </p:sp>
      <p:sp>
        <p:nvSpPr>
          <p:cNvPr id="54" name="Text-255"/>
          <p:cNvSpPr txBox="1"/>
          <p:nvPr/>
        </p:nvSpPr>
        <p:spPr>
          <a:xfrm>
            <a:off x="9189720" y="5559552"/>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13:30</a:t>
            </a:r>
            <a:endParaRPr lang="en-US" sz="1200" dirty="0"/>
          </a:p>
        </p:txBody>
      </p:sp>
      <p:sp>
        <p:nvSpPr>
          <p:cNvPr id="55" name="Text-256"/>
          <p:cNvSpPr txBox="1"/>
          <p:nvPr/>
        </p:nvSpPr>
        <p:spPr>
          <a:xfrm>
            <a:off x="9756648" y="5559552"/>
            <a:ext cx="1828800" cy="548640"/>
          </a:xfrm>
          <a:prstGeom prst="rect">
            <a:avLst/>
          </a:prstGeom>
          <a:noFill/>
          <a:ln/>
        </p:spPr>
        <p:txBody>
          <a:bodyPr wrap="square" lIns="0" tIns="0" rIns="0" bIns="0" rtlCol="0" anchor="t"/>
          <a:lstStyle/>
          <a:p>
            <a:pPr indent="0" marL="0">
              <a:buNone/>
            </a:pPr>
            <a:r>
              <a:rPr lang="en-US" sz="1200" dirty="0">
                <a:solidFill>
                  <a:schemeClr val="tx1"/>
                </a:solidFill>
              </a:rPr>
              <a:t>→ Decide &amp; Align (not simulated)</a:t>
            </a:r>
            <a:endParaRPr lang="en-US" sz="1200" dirty="0"/>
          </a:p>
        </p:txBody>
      </p:sp>
      <p:sp>
        <p:nvSpPr>
          <p:cNvPr id="56" name="Circle-257"/>
          <p:cNvSpPr/>
          <p:nvPr/>
        </p:nvSpPr>
        <p:spPr>
          <a:xfrm>
            <a:off x="6080760" y="6144768"/>
            <a:ext cx="146304" cy="146304"/>
          </a:xfrm>
          <a:prstGeom prst="ellipse">
            <a:avLst/>
          </a:prstGeom>
          <a:solidFill>
            <a:schemeClr val="accent1"/>
          </a:solidFill>
          <a:ln/>
        </p:spPr>
        <p:txBody>
          <a:bodyPr/>
          <a:p/>
        </p:txBody>
      </p:sp>
      <p:sp>
        <p:nvSpPr>
          <p:cNvPr id="57" name="Text-258"/>
          <p:cNvSpPr txBox="1"/>
          <p:nvPr/>
        </p:nvSpPr>
        <p:spPr>
          <a:xfrm>
            <a:off x="6309360" y="6071616"/>
            <a:ext cx="1645920" cy="274320"/>
          </a:xfrm>
          <a:prstGeom prst="rect">
            <a:avLst/>
          </a:prstGeom>
          <a:noFill/>
          <a:ln/>
        </p:spPr>
        <p:txBody>
          <a:bodyPr wrap="square" lIns="0" tIns="0" rIns="0" bIns="0" rtlCol="0" anchor="ctr"/>
          <a:lstStyle/>
          <a:p>
            <a:pPr indent="0" marL="0">
              <a:buNone/>
            </a:pPr>
            <a:r>
              <a:rPr lang="en-US" sz="1000" dirty="0">
                <a:solidFill>
                  <a:schemeClr val="accent6"/>
                </a:solidFill>
              </a:rPr>
              <a:t>Understand &amp; Frame</a:t>
            </a:r>
            <a:endParaRPr lang="en-US" sz="1000" dirty="0"/>
          </a:p>
        </p:txBody>
      </p:sp>
      <p:sp>
        <p:nvSpPr>
          <p:cNvPr id="58" name="Circle-259"/>
          <p:cNvSpPr/>
          <p:nvPr/>
        </p:nvSpPr>
        <p:spPr>
          <a:xfrm>
            <a:off x="7955280" y="6144768"/>
            <a:ext cx="146304" cy="146304"/>
          </a:xfrm>
          <a:prstGeom prst="ellipse">
            <a:avLst/>
          </a:prstGeom>
          <a:solidFill>
            <a:schemeClr val="accent2"/>
          </a:solidFill>
          <a:ln/>
        </p:spPr>
        <p:txBody>
          <a:bodyPr/>
          <a:p/>
        </p:txBody>
      </p:sp>
      <p:sp>
        <p:nvSpPr>
          <p:cNvPr id="59" name="Text-260"/>
          <p:cNvSpPr txBox="1"/>
          <p:nvPr/>
        </p:nvSpPr>
        <p:spPr>
          <a:xfrm>
            <a:off x="8183880" y="6071616"/>
            <a:ext cx="1645920" cy="274320"/>
          </a:xfrm>
          <a:prstGeom prst="rect">
            <a:avLst/>
          </a:prstGeom>
          <a:noFill/>
          <a:ln/>
        </p:spPr>
        <p:txBody>
          <a:bodyPr wrap="square" lIns="0" tIns="0" rIns="0" bIns="0" rtlCol="0" anchor="ctr"/>
          <a:lstStyle/>
          <a:p>
            <a:pPr indent="0" marL="0">
              <a:buNone/>
            </a:pPr>
            <a:r>
              <a:rPr lang="en-US" sz="1000" dirty="0">
                <a:solidFill>
                  <a:schemeClr val="accent6"/>
                </a:solidFill>
              </a:rPr>
              <a:t>Ideate &amp; Explore</a:t>
            </a:r>
            <a:endParaRPr lang="en-US" sz="1000" dirty="0"/>
          </a:p>
        </p:txBody>
      </p:sp>
      <p:sp>
        <p:nvSpPr>
          <p:cNvPr id="60" name="Circle-261"/>
          <p:cNvSpPr/>
          <p:nvPr/>
        </p:nvSpPr>
        <p:spPr>
          <a:xfrm>
            <a:off x="9829800" y="6144768"/>
            <a:ext cx="146304" cy="146304"/>
          </a:xfrm>
          <a:prstGeom prst="ellipse">
            <a:avLst/>
          </a:prstGeom>
          <a:solidFill>
            <a:schemeClr val="accent5"/>
          </a:solidFill>
          <a:ln/>
        </p:spPr>
        <p:txBody>
          <a:bodyPr/>
          <a:p/>
        </p:txBody>
      </p:sp>
      <p:sp>
        <p:nvSpPr>
          <p:cNvPr id="61" name="Text-262"/>
          <p:cNvSpPr txBox="1"/>
          <p:nvPr/>
        </p:nvSpPr>
        <p:spPr>
          <a:xfrm>
            <a:off x="10058400" y="6071616"/>
            <a:ext cx="1645920" cy="274320"/>
          </a:xfrm>
          <a:prstGeom prst="rect">
            <a:avLst/>
          </a:prstGeom>
          <a:noFill/>
          <a:ln/>
        </p:spPr>
        <p:txBody>
          <a:bodyPr wrap="square" lIns="0" tIns="0" rIns="0" bIns="0" rtlCol="0" anchor="ctr"/>
          <a:lstStyle/>
          <a:p>
            <a:pPr indent="0" marL="0">
              <a:buNone/>
            </a:pPr>
            <a:r>
              <a:rPr lang="en-US" sz="1000" dirty="0">
                <a:solidFill>
                  <a:schemeClr val="accent6"/>
                </a:solidFill>
              </a:rPr>
              <a:t>AI step</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1 · STEP 1.4 · BRIEFING SYNTHESIS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AI synthesis of the briefing</a:t>
            </a:r>
            <a:endParaRPr lang="en-US" sz="3200" dirty="0"/>
          </a:p>
        </p:txBody>
      </p:sp>
      <p:sp>
        <p:nvSpPr>
          <p:cNvPr id="4" name="Box-263"/>
          <p:cNvSpPr/>
          <p:nvPr/>
        </p:nvSpPr>
        <p:spPr>
          <a:xfrm>
            <a:off x="11183112" y="329184"/>
            <a:ext cx="457200" cy="256032"/>
          </a:xfrm>
          <a:prstGeom prst="roundRect">
            <a:avLst>
              <a:gd name="adj" fmla="val 50000"/>
            </a:avLst>
          </a:prstGeom>
          <a:solidFill>
            <a:schemeClr val="accent5"/>
          </a:solidFill>
          <a:ln/>
        </p:spPr>
        <p:txBody>
          <a:bodyPr/>
          <a:p/>
        </p:txBody>
      </p:sp>
      <p:sp>
        <p:nvSpPr>
          <p:cNvPr id="5" name="Text-264"/>
          <p:cNvSpPr txBox="1"/>
          <p:nvPr/>
        </p:nvSpPr>
        <p:spPr>
          <a:xfrm>
            <a:off x="11183112" y="329184"/>
            <a:ext cx="457200" cy="256032"/>
          </a:xfrm>
          <a:prstGeom prst="rect">
            <a:avLst/>
          </a:prstGeom>
          <a:noFill/>
          <a:ln/>
        </p:spPr>
        <p:txBody>
          <a:bodyPr wrap="square" lIns="0" tIns="0" rIns="0" bIns="0" rtlCol="0" anchor="ctr"/>
          <a:lstStyle/>
          <a:p>
            <a:pPr algn="ctr" indent="0" marL="0">
              <a:buNone/>
            </a:pPr>
            <a:r>
              <a:rPr lang="en-US" sz="1000" b="1" dirty="0">
                <a:solidFill>
                  <a:schemeClr val="bg1"/>
                </a:solidFill>
              </a:rPr>
              <a:t>AI</a:t>
            </a:r>
            <a:endParaRPr lang="en-US" sz="1000" dirty="0"/>
          </a:p>
        </p:txBody>
      </p:sp>
      <p:sp>
        <p:nvSpPr>
          <p:cNvPr id="6" name="ColHead-265"/>
          <p:cNvSpPr/>
          <p:nvPr/>
        </p:nvSpPr>
        <p:spPr>
          <a:xfrm>
            <a:off x="548640" y="1508760"/>
            <a:ext cx="3593592" cy="502920"/>
          </a:xfrm>
          <a:prstGeom prst="roundRect">
            <a:avLst>
              <a:gd name="adj" fmla="val 14545"/>
            </a:avLst>
          </a:prstGeom>
          <a:solidFill>
            <a:schemeClr val="accent1"/>
          </a:solidFill>
          <a:ln/>
        </p:spPr>
        <p:txBody>
          <a:bodyPr/>
          <a:p/>
        </p:txBody>
      </p:sp>
      <p:sp>
        <p:nvSpPr>
          <p:cNvPr id="7" name="Text-266"/>
          <p:cNvSpPr txBox="1"/>
          <p:nvPr/>
        </p:nvSpPr>
        <p:spPr>
          <a:xfrm>
            <a:off x="731520" y="1508760"/>
            <a:ext cx="3227832" cy="502920"/>
          </a:xfrm>
          <a:prstGeom prst="rect">
            <a:avLst/>
          </a:prstGeom>
          <a:noFill/>
          <a:ln/>
        </p:spPr>
        <p:txBody>
          <a:bodyPr wrap="square" lIns="0" tIns="0" rIns="0" bIns="0" rtlCol="0" anchor="ctr"/>
          <a:lstStyle/>
          <a:p>
            <a:pPr indent="0" marL="0">
              <a:buNone/>
            </a:pPr>
            <a:r>
              <a:rPr lang="en-US" sz="1600" b="1" dirty="0">
                <a:solidFill>
                  <a:schemeClr val="bg1"/>
                </a:solidFill>
              </a:rPr>
              <a:t>What we know</a:t>
            </a:r>
            <a:endParaRPr lang="en-US" sz="1600" dirty="0"/>
          </a:p>
        </p:txBody>
      </p:sp>
      <p:sp>
        <p:nvSpPr>
          <p:cNvPr id="8" name="Item-267"/>
          <p:cNvSpPr/>
          <p:nvPr/>
        </p:nvSpPr>
        <p:spPr>
          <a:xfrm>
            <a:off x="548640" y="2130552"/>
            <a:ext cx="3593592" cy="886968"/>
          </a:xfrm>
          <a:prstGeom prst="roundRect">
            <a:avLst>
              <a:gd name="adj" fmla="val 8247"/>
            </a:avLst>
          </a:prstGeom>
          <a:solidFill>
            <a:schemeClr val="bg2"/>
          </a:solidFill>
          <a:ln/>
        </p:spPr>
        <p:txBody>
          <a:bodyPr/>
          <a:p/>
        </p:txBody>
      </p:sp>
      <p:sp>
        <p:nvSpPr>
          <p:cNvPr id="9" name="Text-268"/>
          <p:cNvSpPr txBox="1"/>
          <p:nvPr/>
        </p:nvSpPr>
        <p:spPr>
          <a:xfrm>
            <a:off x="731520" y="2130552"/>
            <a:ext cx="3227832" cy="886968"/>
          </a:xfrm>
          <a:prstGeom prst="rect">
            <a:avLst/>
          </a:prstGeom>
          <a:noFill/>
          <a:ln/>
        </p:spPr>
        <p:txBody>
          <a:bodyPr wrap="square" lIns="0" tIns="0" rIns="0" bIns="0" rtlCol="0" anchor="ctr"/>
          <a:lstStyle/>
          <a:p>
            <a:pPr indent="0" marL="0">
              <a:buNone/>
            </a:pPr>
            <a:r>
              <a:rPr lang="en-US" sz="1400" dirty="0">
                <a:solidFill>
                  <a:schemeClr val="tx1"/>
                </a:solidFill>
              </a:rPr>
              <a:t>IPP offers discounts, collective invoicing or prepayment</a:t>
            </a:r>
            <a:endParaRPr lang="en-US" sz="1400" dirty="0"/>
          </a:p>
        </p:txBody>
      </p:sp>
      <p:sp>
        <p:nvSpPr>
          <p:cNvPr id="10" name="Item-269"/>
          <p:cNvSpPr/>
          <p:nvPr/>
        </p:nvSpPr>
        <p:spPr>
          <a:xfrm>
            <a:off x="548640" y="3108960"/>
            <a:ext cx="3593592" cy="886968"/>
          </a:xfrm>
          <a:prstGeom prst="roundRect">
            <a:avLst>
              <a:gd name="adj" fmla="val 8247"/>
            </a:avLst>
          </a:prstGeom>
          <a:solidFill>
            <a:schemeClr val="bg2"/>
          </a:solidFill>
          <a:ln/>
        </p:spPr>
        <p:txBody>
          <a:bodyPr/>
          <a:p/>
        </p:txBody>
      </p:sp>
      <p:sp>
        <p:nvSpPr>
          <p:cNvPr id="11" name="Text-270"/>
          <p:cNvSpPr txBox="1"/>
          <p:nvPr/>
        </p:nvSpPr>
        <p:spPr>
          <a:xfrm>
            <a:off x="731520" y="3108960"/>
            <a:ext cx="3227832" cy="886968"/>
          </a:xfrm>
          <a:prstGeom prst="rect">
            <a:avLst/>
          </a:prstGeom>
          <a:noFill/>
          <a:ln/>
        </p:spPr>
        <p:txBody>
          <a:bodyPr wrap="square" lIns="0" tIns="0" rIns="0" bIns="0" rtlCol="0" anchor="ctr"/>
          <a:lstStyle/>
          <a:p>
            <a:pPr indent="0" marL="0">
              <a:buNone/>
            </a:pPr>
            <a:r>
              <a:rPr lang="en-US" sz="1400" dirty="0">
                <a:solidFill>
                  <a:schemeClr val="tx1"/>
                </a:solidFill>
              </a:rPr>
              <a:t>Contacts rarely control a budget themselves</a:t>
            </a:r>
            <a:endParaRPr lang="en-US" sz="1400" dirty="0"/>
          </a:p>
        </p:txBody>
      </p:sp>
      <p:sp>
        <p:nvSpPr>
          <p:cNvPr id="12" name="Item-271"/>
          <p:cNvSpPr/>
          <p:nvPr/>
        </p:nvSpPr>
        <p:spPr>
          <a:xfrm>
            <a:off x="548640" y="4087368"/>
            <a:ext cx="3593592" cy="886968"/>
          </a:xfrm>
          <a:prstGeom prst="roundRect">
            <a:avLst>
              <a:gd name="adj" fmla="val 8247"/>
            </a:avLst>
          </a:prstGeom>
          <a:solidFill>
            <a:schemeClr val="bg2"/>
          </a:solidFill>
          <a:ln/>
        </p:spPr>
        <p:txBody>
          <a:bodyPr/>
          <a:p/>
        </p:txBody>
      </p:sp>
      <p:sp>
        <p:nvSpPr>
          <p:cNvPr id="13" name="Text-272"/>
          <p:cNvSpPr txBox="1"/>
          <p:nvPr/>
        </p:nvSpPr>
        <p:spPr>
          <a:xfrm>
            <a:off x="731520" y="4087368"/>
            <a:ext cx="3227832" cy="886968"/>
          </a:xfrm>
          <a:prstGeom prst="rect">
            <a:avLst/>
          </a:prstGeom>
          <a:noFill/>
          <a:ln/>
        </p:spPr>
        <p:txBody>
          <a:bodyPr wrap="square" lIns="0" tIns="0" rIns="0" bIns="0" rtlCol="0" anchor="ctr"/>
          <a:lstStyle/>
          <a:p>
            <a:pPr indent="0" marL="0">
              <a:buNone/>
            </a:pPr>
            <a:r>
              <a:rPr lang="en-US" sz="1400" dirty="0">
                <a:solidFill>
                  <a:schemeClr val="tx1"/>
                </a:solidFill>
              </a:rPr>
              <a:t>Manuscripta is an invoicing tool, not evidence of value</a:t>
            </a:r>
            <a:endParaRPr lang="en-US" sz="1400" dirty="0"/>
          </a:p>
        </p:txBody>
      </p:sp>
      <p:sp>
        <p:nvSpPr>
          <p:cNvPr id="14" name="Item-273"/>
          <p:cNvSpPr/>
          <p:nvPr/>
        </p:nvSpPr>
        <p:spPr>
          <a:xfrm>
            <a:off x="548640" y="5065776"/>
            <a:ext cx="3593592" cy="886968"/>
          </a:xfrm>
          <a:prstGeom prst="roundRect">
            <a:avLst>
              <a:gd name="adj" fmla="val 8247"/>
            </a:avLst>
          </a:prstGeom>
          <a:solidFill>
            <a:schemeClr val="bg2"/>
          </a:solidFill>
          <a:ln/>
        </p:spPr>
        <p:txBody>
          <a:bodyPr/>
          <a:p/>
        </p:txBody>
      </p:sp>
      <p:sp>
        <p:nvSpPr>
          <p:cNvPr id="15" name="Text-274"/>
          <p:cNvSpPr txBox="1"/>
          <p:nvPr/>
        </p:nvSpPr>
        <p:spPr>
          <a:xfrm>
            <a:off x="731520" y="5065776"/>
            <a:ext cx="3227832" cy="886968"/>
          </a:xfrm>
          <a:prstGeom prst="rect">
            <a:avLst/>
          </a:prstGeom>
          <a:noFill/>
          <a:ln/>
        </p:spPr>
        <p:txBody>
          <a:bodyPr wrap="square" lIns="0" tIns="0" rIns="0" bIns="0" rtlCol="0" anchor="ctr"/>
          <a:lstStyle/>
          <a:p>
            <a:pPr indent="0" marL="0">
              <a:buNone/>
            </a:pPr>
            <a:r>
              <a:rPr lang="en-US" sz="1400" dirty="0">
                <a:solidFill>
                  <a:schemeClr val="tx1"/>
                </a:solidFill>
              </a:rPr>
              <a:t>Renewal reports are partly built by hand</a:t>
            </a:r>
            <a:endParaRPr lang="en-US" sz="1400" dirty="0"/>
          </a:p>
        </p:txBody>
      </p:sp>
      <p:sp>
        <p:nvSpPr>
          <p:cNvPr id="16" name="ColHead-275"/>
          <p:cNvSpPr/>
          <p:nvPr/>
        </p:nvSpPr>
        <p:spPr>
          <a:xfrm>
            <a:off x="4297680" y="1508760"/>
            <a:ext cx="3593592" cy="502920"/>
          </a:xfrm>
          <a:prstGeom prst="roundRect">
            <a:avLst>
              <a:gd name="adj" fmla="val 14545"/>
            </a:avLst>
          </a:prstGeom>
          <a:solidFill>
            <a:schemeClr val="accent2"/>
          </a:solidFill>
          <a:ln/>
        </p:spPr>
        <p:txBody>
          <a:bodyPr/>
          <a:p/>
        </p:txBody>
      </p:sp>
      <p:sp>
        <p:nvSpPr>
          <p:cNvPr id="17" name="Text-276"/>
          <p:cNvSpPr txBox="1"/>
          <p:nvPr/>
        </p:nvSpPr>
        <p:spPr>
          <a:xfrm>
            <a:off x="4480560" y="1508760"/>
            <a:ext cx="3227832" cy="502920"/>
          </a:xfrm>
          <a:prstGeom prst="rect">
            <a:avLst/>
          </a:prstGeom>
          <a:noFill/>
          <a:ln/>
        </p:spPr>
        <p:txBody>
          <a:bodyPr wrap="square" lIns="0" tIns="0" rIns="0" bIns="0" rtlCol="0" anchor="ctr"/>
          <a:lstStyle/>
          <a:p>
            <a:pPr indent="0" marL="0">
              <a:buNone/>
            </a:pPr>
            <a:r>
              <a:rPr lang="en-US" sz="1600" b="1" dirty="0">
                <a:solidFill>
                  <a:schemeClr val="tx2"/>
                </a:solidFill>
              </a:rPr>
              <a:t>Assumptions we test</a:t>
            </a:r>
            <a:endParaRPr lang="en-US" sz="1600" dirty="0"/>
          </a:p>
        </p:txBody>
      </p:sp>
      <p:sp>
        <p:nvSpPr>
          <p:cNvPr id="18" name="Item-277"/>
          <p:cNvSpPr/>
          <p:nvPr/>
        </p:nvSpPr>
        <p:spPr>
          <a:xfrm>
            <a:off x="4297680" y="2130552"/>
            <a:ext cx="3593592" cy="886968"/>
          </a:xfrm>
          <a:prstGeom prst="roundRect">
            <a:avLst>
              <a:gd name="adj" fmla="val 8247"/>
            </a:avLst>
          </a:prstGeom>
          <a:solidFill>
            <a:schemeClr val="bg2"/>
          </a:solidFill>
          <a:ln/>
        </p:spPr>
        <p:txBody>
          <a:bodyPr/>
          <a:p/>
        </p:txBody>
      </p:sp>
      <p:sp>
        <p:nvSpPr>
          <p:cNvPr id="19" name="Text-278"/>
          <p:cNvSpPr txBox="1"/>
          <p:nvPr/>
        </p:nvSpPr>
        <p:spPr>
          <a:xfrm>
            <a:off x="4480560" y="2130552"/>
            <a:ext cx="3227832" cy="886968"/>
          </a:xfrm>
          <a:prstGeom prst="rect">
            <a:avLst/>
          </a:prstGeom>
          <a:noFill/>
          <a:ln/>
        </p:spPr>
        <p:txBody>
          <a:bodyPr wrap="square" lIns="0" tIns="0" rIns="0" bIns="0" rtlCol="0" anchor="ctr"/>
          <a:lstStyle/>
          <a:p>
            <a:pPr indent="0" marL="0">
              <a:buNone/>
            </a:pPr>
            <a:r>
              <a:rPr lang="en-US" sz="1400" dirty="0">
                <a:solidFill>
                  <a:schemeClr val="tx1"/>
                </a:solidFill>
              </a:rPr>
              <a:t>Librarians want reports, not logins</a:t>
            </a:r>
            <a:endParaRPr lang="en-US" sz="1400" dirty="0"/>
          </a:p>
        </p:txBody>
      </p:sp>
      <p:sp>
        <p:nvSpPr>
          <p:cNvPr id="20" name="Item-279"/>
          <p:cNvSpPr/>
          <p:nvPr/>
        </p:nvSpPr>
        <p:spPr>
          <a:xfrm>
            <a:off x="4297680" y="3108960"/>
            <a:ext cx="3593592" cy="886968"/>
          </a:xfrm>
          <a:prstGeom prst="roundRect">
            <a:avLst>
              <a:gd name="adj" fmla="val 8247"/>
            </a:avLst>
          </a:prstGeom>
          <a:solidFill>
            <a:schemeClr val="bg2"/>
          </a:solidFill>
          <a:ln/>
        </p:spPr>
        <p:txBody>
          <a:bodyPr/>
          <a:p/>
        </p:txBody>
      </p:sp>
      <p:sp>
        <p:nvSpPr>
          <p:cNvPr id="21" name="Text-280"/>
          <p:cNvSpPr txBox="1"/>
          <p:nvPr/>
        </p:nvSpPr>
        <p:spPr>
          <a:xfrm>
            <a:off x="4480560" y="3108960"/>
            <a:ext cx="3227832" cy="886968"/>
          </a:xfrm>
          <a:prstGeom prst="rect">
            <a:avLst/>
          </a:prstGeom>
          <a:noFill/>
          <a:ln/>
        </p:spPr>
        <p:txBody>
          <a:bodyPr wrap="square" lIns="0" tIns="0" rIns="0" bIns="0" rtlCol="0" anchor="ctr"/>
          <a:lstStyle/>
          <a:p>
            <a:pPr indent="0" marL="0">
              <a:buNone/>
            </a:pPr>
            <a:r>
              <a:rPr lang="en-US" sz="1400" dirty="0">
                <a:solidFill>
                  <a:schemeClr val="tx1"/>
                </a:solidFill>
              </a:rPr>
              <a:t>Savings are the strongest argument</a:t>
            </a:r>
            <a:endParaRPr lang="en-US" sz="1400" dirty="0"/>
          </a:p>
        </p:txBody>
      </p:sp>
      <p:sp>
        <p:nvSpPr>
          <p:cNvPr id="22" name="Item-281"/>
          <p:cNvSpPr/>
          <p:nvPr/>
        </p:nvSpPr>
        <p:spPr>
          <a:xfrm>
            <a:off x="4297680" y="4087368"/>
            <a:ext cx="3593592" cy="886968"/>
          </a:xfrm>
          <a:prstGeom prst="roundRect">
            <a:avLst>
              <a:gd name="adj" fmla="val 8247"/>
            </a:avLst>
          </a:prstGeom>
          <a:solidFill>
            <a:schemeClr val="bg2"/>
          </a:solidFill>
          <a:ln/>
        </p:spPr>
        <p:txBody>
          <a:bodyPr/>
          <a:p/>
        </p:txBody>
      </p:sp>
      <p:sp>
        <p:nvSpPr>
          <p:cNvPr id="23" name="Text-282"/>
          <p:cNvSpPr txBox="1"/>
          <p:nvPr/>
        </p:nvSpPr>
        <p:spPr>
          <a:xfrm>
            <a:off x="4480560" y="4087368"/>
            <a:ext cx="3227832" cy="886968"/>
          </a:xfrm>
          <a:prstGeom prst="rect">
            <a:avLst/>
          </a:prstGeom>
          <a:noFill/>
          <a:ln/>
        </p:spPr>
        <p:txBody>
          <a:bodyPr wrap="square" lIns="0" tIns="0" rIns="0" bIns="0" rtlCol="0" anchor="ctr"/>
          <a:lstStyle/>
          <a:p>
            <a:pPr indent="0" marL="0">
              <a:buNone/>
            </a:pPr>
            <a:r>
              <a:rPr lang="en-US" sz="1400" dirty="0">
                <a:solidFill>
                  <a:schemeClr val="tx1"/>
                </a:solidFill>
              </a:rPr>
              <a:t>Decision-makers read one page at most</a:t>
            </a:r>
            <a:endParaRPr lang="en-US" sz="1400" dirty="0"/>
          </a:p>
        </p:txBody>
      </p:sp>
      <p:sp>
        <p:nvSpPr>
          <p:cNvPr id="24" name="Item-283"/>
          <p:cNvSpPr/>
          <p:nvPr/>
        </p:nvSpPr>
        <p:spPr>
          <a:xfrm>
            <a:off x="4297680" y="5065776"/>
            <a:ext cx="3593592" cy="886968"/>
          </a:xfrm>
          <a:prstGeom prst="roundRect">
            <a:avLst>
              <a:gd name="adj" fmla="val 8247"/>
            </a:avLst>
          </a:prstGeom>
          <a:solidFill>
            <a:schemeClr val="bg2"/>
          </a:solidFill>
          <a:ln/>
        </p:spPr>
        <p:txBody>
          <a:bodyPr/>
          <a:p/>
        </p:txBody>
      </p:sp>
      <p:sp>
        <p:nvSpPr>
          <p:cNvPr id="25" name="Text-284"/>
          <p:cNvSpPr txBox="1"/>
          <p:nvPr/>
        </p:nvSpPr>
        <p:spPr>
          <a:xfrm>
            <a:off x="4480560" y="5065776"/>
            <a:ext cx="3227832" cy="886968"/>
          </a:xfrm>
          <a:prstGeom prst="rect">
            <a:avLst/>
          </a:prstGeom>
          <a:noFill/>
          <a:ln/>
        </p:spPr>
        <p:txBody>
          <a:bodyPr wrap="square" lIns="0" tIns="0" rIns="0" bIns="0" rtlCol="0" anchor="ctr"/>
          <a:lstStyle/>
          <a:p>
            <a:pPr indent="0" marL="0">
              <a:buNone/>
            </a:pPr>
            <a:r>
              <a:rPr lang="en-US" sz="1400" dirty="0">
                <a:solidFill>
                  <a:schemeClr val="tx1"/>
                </a:solidFill>
              </a:rPr>
              <a:t>Impact figures convince research leadership</a:t>
            </a:r>
            <a:endParaRPr lang="en-US" sz="1400" dirty="0"/>
          </a:p>
        </p:txBody>
      </p:sp>
      <p:sp>
        <p:nvSpPr>
          <p:cNvPr id="26" name="ColHead-285"/>
          <p:cNvSpPr/>
          <p:nvPr/>
        </p:nvSpPr>
        <p:spPr>
          <a:xfrm>
            <a:off x="8046720" y="1508760"/>
            <a:ext cx="3593592" cy="502920"/>
          </a:xfrm>
          <a:prstGeom prst="roundRect">
            <a:avLst>
              <a:gd name="adj" fmla="val 14545"/>
            </a:avLst>
          </a:prstGeom>
          <a:solidFill>
            <a:schemeClr val="accent3"/>
          </a:solidFill>
          <a:ln/>
        </p:spPr>
        <p:txBody>
          <a:bodyPr/>
          <a:p/>
        </p:txBody>
      </p:sp>
      <p:sp>
        <p:nvSpPr>
          <p:cNvPr id="27" name="Text-286"/>
          <p:cNvSpPr txBox="1"/>
          <p:nvPr/>
        </p:nvSpPr>
        <p:spPr>
          <a:xfrm>
            <a:off x="8229600" y="1508760"/>
            <a:ext cx="3227832" cy="502920"/>
          </a:xfrm>
          <a:prstGeom prst="rect">
            <a:avLst/>
          </a:prstGeom>
          <a:noFill/>
          <a:ln/>
        </p:spPr>
        <p:txBody>
          <a:bodyPr wrap="square" lIns="0" tIns="0" rIns="0" bIns="0" rtlCol="0" anchor="ctr"/>
          <a:lstStyle/>
          <a:p>
            <a:pPr indent="0" marL="0">
              <a:buNone/>
            </a:pPr>
            <a:r>
              <a:rPr lang="en-US" sz="1600" b="1" dirty="0">
                <a:solidFill>
                  <a:schemeClr val="bg1"/>
                </a:solidFill>
              </a:rPr>
              <a:t>Knowledge gaps &amp; risks</a:t>
            </a:r>
            <a:endParaRPr lang="en-US" sz="1600" dirty="0"/>
          </a:p>
        </p:txBody>
      </p:sp>
      <p:sp>
        <p:nvSpPr>
          <p:cNvPr id="28" name="Item-287"/>
          <p:cNvSpPr/>
          <p:nvPr/>
        </p:nvSpPr>
        <p:spPr>
          <a:xfrm>
            <a:off x="8046720" y="2130552"/>
            <a:ext cx="3593592" cy="886968"/>
          </a:xfrm>
          <a:prstGeom prst="roundRect">
            <a:avLst>
              <a:gd name="adj" fmla="val 8247"/>
            </a:avLst>
          </a:prstGeom>
          <a:solidFill>
            <a:schemeClr val="bg2"/>
          </a:solidFill>
          <a:ln/>
        </p:spPr>
        <p:txBody>
          <a:bodyPr/>
          <a:p/>
        </p:txBody>
      </p:sp>
      <p:sp>
        <p:nvSpPr>
          <p:cNvPr id="29" name="Text-288"/>
          <p:cNvSpPr txBox="1"/>
          <p:nvPr/>
        </p:nvSpPr>
        <p:spPr>
          <a:xfrm>
            <a:off x="8229600" y="2130552"/>
            <a:ext cx="3227832" cy="886968"/>
          </a:xfrm>
          <a:prstGeom prst="rect">
            <a:avLst/>
          </a:prstGeom>
          <a:noFill/>
          <a:ln/>
        </p:spPr>
        <p:txBody>
          <a:bodyPr wrap="square" lIns="0" tIns="0" rIns="0" bIns="0" rtlCol="0" anchor="ctr"/>
          <a:lstStyle/>
          <a:p>
            <a:pPr indent="0" marL="0">
              <a:buNone/>
            </a:pPr>
            <a:r>
              <a:rPr lang="en-US" sz="1400" dirty="0">
                <a:solidFill>
                  <a:schemeClr val="tx1"/>
                </a:solidFill>
              </a:rPr>
              <a:t>Which kind of value counts how much in the decision?</a:t>
            </a:r>
            <a:endParaRPr lang="en-US" sz="1400" dirty="0"/>
          </a:p>
        </p:txBody>
      </p:sp>
      <p:sp>
        <p:nvSpPr>
          <p:cNvPr id="30" name="Item-289"/>
          <p:cNvSpPr/>
          <p:nvPr/>
        </p:nvSpPr>
        <p:spPr>
          <a:xfrm>
            <a:off x="8046720" y="3108960"/>
            <a:ext cx="3593592" cy="886968"/>
          </a:xfrm>
          <a:prstGeom prst="roundRect">
            <a:avLst>
              <a:gd name="adj" fmla="val 8247"/>
            </a:avLst>
          </a:prstGeom>
          <a:solidFill>
            <a:schemeClr val="bg2"/>
          </a:solidFill>
          <a:ln/>
        </p:spPr>
        <p:txBody>
          <a:bodyPr/>
          <a:p/>
        </p:txBody>
      </p:sp>
      <p:sp>
        <p:nvSpPr>
          <p:cNvPr id="31" name="Text-290"/>
          <p:cNvSpPr txBox="1"/>
          <p:nvPr/>
        </p:nvSpPr>
        <p:spPr>
          <a:xfrm>
            <a:off x="8229600" y="3108960"/>
            <a:ext cx="3227832" cy="886968"/>
          </a:xfrm>
          <a:prstGeom prst="rect">
            <a:avLst/>
          </a:prstGeom>
          <a:noFill/>
          <a:ln/>
        </p:spPr>
        <p:txBody>
          <a:bodyPr wrap="square" lIns="0" tIns="0" rIns="0" bIns="0" rtlCol="0" anchor="ctr"/>
          <a:lstStyle/>
          <a:p>
            <a:pPr indent="0" marL="0">
              <a:buNone/>
            </a:pPr>
            <a:r>
              <a:rPr lang="en-US" sz="1400" dirty="0">
                <a:solidFill>
                  <a:schemeClr val="tx1"/>
                </a:solidFill>
              </a:rPr>
              <a:t>Who decides: library or Executive Board?</a:t>
            </a:r>
            <a:endParaRPr lang="en-US" sz="1400" dirty="0"/>
          </a:p>
        </p:txBody>
      </p:sp>
      <p:sp>
        <p:nvSpPr>
          <p:cNvPr id="32" name="Item-291"/>
          <p:cNvSpPr/>
          <p:nvPr/>
        </p:nvSpPr>
        <p:spPr>
          <a:xfrm>
            <a:off x="8046720" y="4087368"/>
            <a:ext cx="3593592" cy="886968"/>
          </a:xfrm>
          <a:prstGeom prst="roundRect">
            <a:avLst>
              <a:gd name="adj" fmla="val 8247"/>
            </a:avLst>
          </a:prstGeom>
          <a:solidFill>
            <a:schemeClr val="bg2"/>
          </a:solidFill>
          <a:ln/>
        </p:spPr>
        <p:txBody>
          <a:bodyPr/>
          <a:p/>
        </p:txBody>
      </p:sp>
      <p:sp>
        <p:nvSpPr>
          <p:cNvPr id="33" name="Text-292"/>
          <p:cNvSpPr txBox="1"/>
          <p:nvPr/>
        </p:nvSpPr>
        <p:spPr>
          <a:xfrm>
            <a:off x="8229600" y="4087368"/>
            <a:ext cx="3227832" cy="886968"/>
          </a:xfrm>
          <a:prstGeom prst="rect">
            <a:avLst/>
          </a:prstGeom>
          <a:noFill/>
          <a:ln/>
        </p:spPr>
        <p:txBody>
          <a:bodyPr wrap="square" lIns="0" tIns="0" rIns="0" bIns="0" rtlCol="0" anchor="ctr"/>
          <a:lstStyle/>
          <a:p>
            <a:pPr indent="0" marL="0">
              <a:buNone/>
            </a:pPr>
            <a:r>
              <a:rPr lang="en-US" sz="1400" dirty="0">
                <a:solidFill>
                  <a:schemeClr val="tx1"/>
                </a:solidFill>
              </a:rPr>
              <a:t>Risk: publisher figures look like advertising</a:t>
            </a:r>
            <a:endParaRPr lang="en-US" sz="1400" dirty="0"/>
          </a:p>
        </p:txBody>
      </p:sp>
      <p:sp>
        <p:nvSpPr>
          <p:cNvPr id="34" name="Item-293"/>
          <p:cNvSpPr/>
          <p:nvPr/>
        </p:nvSpPr>
        <p:spPr>
          <a:xfrm>
            <a:off x="8046720" y="5065776"/>
            <a:ext cx="3593592" cy="886968"/>
          </a:xfrm>
          <a:prstGeom prst="roundRect">
            <a:avLst>
              <a:gd name="adj" fmla="val 8247"/>
            </a:avLst>
          </a:prstGeom>
          <a:solidFill>
            <a:schemeClr val="bg2"/>
          </a:solidFill>
          <a:ln/>
        </p:spPr>
        <p:txBody>
          <a:bodyPr/>
          <a:p/>
        </p:txBody>
      </p:sp>
      <p:sp>
        <p:nvSpPr>
          <p:cNvPr id="35" name="Text-294"/>
          <p:cNvSpPr txBox="1"/>
          <p:nvPr/>
        </p:nvSpPr>
        <p:spPr>
          <a:xfrm>
            <a:off x="8229600" y="5065776"/>
            <a:ext cx="3227832" cy="886968"/>
          </a:xfrm>
          <a:prstGeom prst="rect">
            <a:avLst/>
          </a:prstGeom>
          <a:noFill/>
          <a:ln/>
        </p:spPr>
        <p:txBody>
          <a:bodyPr wrap="square" lIns="0" tIns="0" rIns="0" bIns="0" rtlCol="0" anchor="ctr"/>
          <a:lstStyle/>
          <a:p>
            <a:pPr indent="0" marL="0">
              <a:buNone/>
            </a:pPr>
            <a:r>
              <a:rPr lang="en-US" sz="1400" dirty="0">
                <a:solidFill>
                  <a:schemeClr val="tx1"/>
                </a:solidFill>
              </a:rPr>
              <a:t>Risk: data protection for reviewer and editor data</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1 · STEP 1.5 · BRIEFING SIGN-OFF</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Briefing signed off – with a clear scope</a:t>
            </a:r>
            <a:endParaRPr lang="en-US" sz="3200" dirty="0"/>
          </a:p>
        </p:txBody>
      </p:sp>
      <p:sp>
        <p:nvSpPr>
          <p:cNvPr id="4" name="Check-295"/>
          <p:cNvSpPr/>
          <p:nvPr/>
        </p:nvSpPr>
        <p:spPr>
          <a:xfrm>
            <a:off x="548640" y="1554480"/>
            <a:ext cx="5394960" cy="640080"/>
          </a:xfrm>
          <a:prstGeom prst="roundRect">
            <a:avLst>
              <a:gd name="adj" fmla="val 11429"/>
            </a:avLst>
          </a:prstGeom>
          <a:solidFill>
            <a:schemeClr val="bg2"/>
          </a:solidFill>
          <a:ln/>
        </p:spPr>
        <p:txBody>
          <a:bodyPr/>
          <a:p/>
        </p:txBody>
      </p:sp>
      <p:sp>
        <p:nvSpPr>
          <p:cNvPr id="5" name="Circle-296"/>
          <p:cNvSpPr/>
          <p:nvPr/>
        </p:nvSpPr>
        <p:spPr>
          <a:xfrm>
            <a:off x="713232" y="1691640"/>
            <a:ext cx="365760" cy="365760"/>
          </a:xfrm>
          <a:prstGeom prst="ellipse">
            <a:avLst/>
          </a:prstGeom>
          <a:solidFill>
            <a:schemeClr val="accent4"/>
          </a:solidFill>
          <a:ln/>
        </p:spPr>
        <p:txBody>
          <a:bodyPr/>
          <a:p/>
        </p:txBody>
      </p:sp>
      <p:sp>
        <p:nvSpPr>
          <p:cNvPr id="6" name="Text-297"/>
          <p:cNvSpPr txBox="1"/>
          <p:nvPr/>
        </p:nvSpPr>
        <p:spPr>
          <a:xfrm>
            <a:off x="713232" y="16916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Text-298"/>
          <p:cNvSpPr txBox="1"/>
          <p:nvPr/>
        </p:nvSpPr>
        <p:spPr>
          <a:xfrm>
            <a:off x="1234440" y="1554480"/>
            <a:ext cx="4572000" cy="640080"/>
          </a:xfrm>
          <a:prstGeom prst="rect">
            <a:avLst/>
          </a:prstGeom>
          <a:noFill/>
          <a:ln/>
        </p:spPr>
        <p:txBody>
          <a:bodyPr wrap="square" lIns="0" tIns="0" rIns="0" bIns="0" rtlCol="0" anchor="ctr"/>
          <a:lstStyle/>
          <a:p>
            <a:pPr indent="0" marL="0">
              <a:buNone/>
            </a:pPr>
            <a:r>
              <a:rPr lang="en-US" sz="1400" dirty="0">
                <a:solidFill>
                  <a:schemeClr val="tx1"/>
                </a:solidFill>
              </a:rPr>
              <a:t>Challenge and goal agreed with the Decider</a:t>
            </a:r>
            <a:endParaRPr lang="en-US" sz="1400" dirty="0"/>
          </a:p>
        </p:txBody>
      </p:sp>
      <p:sp>
        <p:nvSpPr>
          <p:cNvPr id="8" name="Check-299"/>
          <p:cNvSpPr/>
          <p:nvPr/>
        </p:nvSpPr>
        <p:spPr>
          <a:xfrm>
            <a:off x="548640" y="2313432"/>
            <a:ext cx="5394960" cy="640080"/>
          </a:xfrm>
          <a:prstGeom prst="roundRect">
            <a:avLst>
              <a:gd name="adj" fmla="val 11429"/>
            </a:avLst>
          </a:prstGeom>
          <a:solidFill>
            <a:schemeClr val="bg2"/>
          </a:solidFill>
          <a:ln/>
        </p:spPr>
        <p:txBody>
          <a:bodyPr/>
          <a:p/>
        </p:txBody>
      </p:sp>
      <p:sp>
        <p:nvSpPr>
          <p:cNvPr id="9" name="Circle-300"/>
          <p:cNvSpPr/>
          <p:nvPr/>
        </p:nvSpPr>
        <p:spPr>
          <a:xfrm>
            <a:off x="713232" y="2450592"/>
            <a:ext cx="365760" cy="365760"/>
          </a:xfrm>
          <a:prstGeom prst="ellipse">
            <a:avLst/>
          </a:prstGeom>
          <a:solidFill>
            <a:schemeClr val="accent4"/>
          </a:solidFill>
          <a:ln/>
        </p:spPr>
        <p:txBody>
          <a:bodyPr/>
          <a:p/>
        </p:txBody>
      </p:sp>
      <p:sp>
        <p:nvSpPr>
          <p:cNvPr id="10" name="Text-301"/>
          <p:cNvSpPr txBox="1"/>
          <p:nvPr/>
        </p:nvSpPr>
        <p:spPr>
          <a:xfrm>
            <a:off x="713232" y="245059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Text-302"/>
          <p:cNvSpPr txBox="1"/>
          <p:nvPr/>
        </p:nvSpPr>
        <p:spPr>
          <a:xfrm>
            <a:off x="1234440" y="2313432"/>
            <a:ext cx="4572000" cy="640080"/>
          </a:xfrm>
          <a:prstGeom prst="rect">
            <a:avLst/>
          </a:prstGeom>
          <a:noFill/>
          <a:ln/>
        </p:spPr>
        <p:txBody>
          <a:bodyPr wrap="square" lIns="0" tIns="0" rIns="0" bIns="0" rtlCol="0" anchor="ctr"/>
          <a:lstStyle/>
          <a:p>
            <a:pPr indent="0" marL="0">
              <a:buNone/>
            </a:pPr>
            <a:r>
              <a:rPr lang="en-US" sz="1400" dirty="0">
                <a:solidFill>
                  <a:schemeClr val="tx1"/>
                </a:solidFill>
              </a:rPr>
              <a:t>3 experts confirmed: user, budget, market &amp; policy</a:t>
            </a:r>
            <a:endParaRPr lang="en-US" sz="1400" dirty="0"/>
          </a:p>
        </p:txBody>
      </p:sp>
      <p:sp>
        <p:nvSpPr>
          <p:cNvPr id="12" name="Check-303"/>
          <p:cNvSpPr/>
          <p:nvPr/>
        </p:nvSpPr>
        <p:spPr>
          <a:xfrm>
            <a:off x="548640" y="3072384"/>
            <a:ext cx="5394960" cy="640080"/>
          </a:xfrm>
          <a:prstGeom prst="roundRect">
            <a:avLst>
              <a:gd name="adj" fmla="val 11429"/>
            </a:avLst>
          </a:prstGeom>
          <a:solidFill>
            <a:schemeClr val="bg2"/>
          </a:solidFill>
          <a:ln/>
        </p:spPr>
        <p:txBody>
          <a:bodyPr/>
          <a:p/>
        </p:txBody>
      </p:sp>
      <p:sp>
        <p:nvSpPr>
          <p:cNvPr id="13" name="Circle-304"/>
          <p:cNvSpPr/>
          <p:nvPr/>
        </p:nvSpPr>
        <p:spPr>
          <a:xfrm>
            <a:off x="713232" y="3209544"/>
            <a:ext cx="365760" cy="365760"/>
          </a:xfrm>
          <a:prstGeom prst="ellipse">
            <a:avLst/>
          </a:prstGeom>
          <a:solidFill>
            <a:schemeClr val="accent4"/>
          </a:solidFill>
          <a:ln/>
        </p:spPr>
        <p:txBody>
          <a:bodyPr/>
          <a:p/>
        </p:txBody>
      </p:sp>
      <p:sp>
        <p:nvSpPr>
          <p:cNvPr id="14" name="Text-305"/>
          <p:cNvSpPr txBox="1"/>
          <p:nvPr/>
        </p:nvSpPr>
        <p:spPr>
          <a:xfrm>
            <a:off x="713232" y="32095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306"/>
          <p:cNvSpPr txBox="1"/>
          <p:nvPr/>
        </p:nvSpPr>
        <p:spPr>
          <a:xfrm>
            <a:off x="1234440" y="3072384"/>
            <a:ext cx="4572000" cy="640080"/>
          </a:xfrm>
          <a:prstGeom prst="rect">
            <a:avLst/>
          </a:prstGeom>
          <a:noFill/>
          <a:ln/>
        </p:spPr>
        <p:txBody>
          <a:bodyPr wrap="square" lIns="0" tIns="0" rIns="0" bIns="0" rtlCol="0" anchor="ctr"/>
          <a:lstStyle/>
          <a:p>
            <a:pPr indent="0" marL="0">
              <a:buNone/>
            </a:pPr>
            <a:r>
              <a:rPr lang="en-US" sz="1400" dirty="0">
                <a:solidFill>
                  <a:schemeClr val="tx1"/>
                </a:solidFill>
              </a:rPr>
              <a:t>Context material shared with the team</a:t>
            </a:r>
            <a:endParaRPr lang="en-US" sz="1400" dirty="0"/>
          </a:p>
        </p:txBody>
      </p:sp>
      <p:sp>
        <p:nvSpPr>
          <p:cNvPr id="16" name="Check-307"/>
          <p:cNvSpPr/>
          <p:nvPr/>
        </p:nvSpPr>
        <p:spPr>
          <a:xfrm>
            <a:off x="548640" y="3831336"/>
            <a:ext cx="5394960" cy="640080"/>
          </a:xfrm>
          <a:prstGeom prst="roundRect">
            <a:avLst>
              <a:gd name="adj" fmla="val 11429"/>
            </a:avLst>
          </a:prstGeom>
          <a:solidFill>
            <a:schemeClr val="bg2"/>
          </a:solidFill>
          <a:ln/>
        </p:spPr>
        <p:txBody>
          <a:bodyPr/>
          <a:p/>
        </p:txBody>
      </p:sp>
      <p:sp>
        <p:nvSpPr>
          <p:cNvPr id="17" name="Circle-308"/>
          <p:cNvSpPr/>
          <p:nvPr/>
        </p:nvSpPr>
        <p:spPr>
          <a:xfrm>
            <a:off x="713232" y="3968496"/>
            <a:ext cx="365760" cy="365760"/>
          </a:xfrm>
          <a:prstGeom prst="ellipse">
            <a:avLst/>
          </a:prstGeom>
          <a:solidFill>
            <a:schemeClr val="accent4"/>
          </a:solidFill>
          <a:ln/>
        </p:spPr>
        <p:txBody>
          <a:bodyPr/>
          <a:p/>
        </p:txBody>
      </p:sp>
      <p:sp>
        <p:nvSpPr>
          <p:cNvPr id="18" name="Text-309"/>
          <p:cNvSpPr txBox="1"/>
          <p:nvPr/>
        </p:nvSpPr>
        <p:spPr>
          <a:xfrm>
            <a:off x="713232" y="396849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9" name="Text-310"/>
          <p:cNvSpPr txBox="1"/>
          <p:nvPr/>
        </p:nvSpPr>
        <p:spPr>
          <a:xfrm>
            <a:off x="1234440" y="3831336"/>
            <a:ext cx="4572000" cy="640080"/>
          </a:xfrm>
          <a:prstGeom prst="rect">
            <a:avLst/>
          </a:prstGeom>
          <a:noFill/>
          <a:ln/>
        </p:spPr>
        <p:txBody>
          <a:bodyPr wrap="square" lIns="0" tIns="0" rIns="0" bIns="0" rtlCol="0" anchor="ctr"/>
          <a:lstStyle/>
          <a:p>
            <a:pPr indent="0" marL="0">
              <a:buNone/>
            </a:pPr>
            <a:r>
              <a:rPr lang="en-US" sz="1400" dirty="0">
                <a:solidFill>
                  <a:schemeClr val="tx1"/>
                </a:solidFill>
              </a:rPr>
              <a:t>Data: Manuscripta exports, Altmetric, invoices (anonymised)</a:t>
            </a:r>
            <a:endParaRPr lang="en-US" sz="1400" dirty="0"/>
          </a:p>
        </p:txBody>
      </p:sp>
      <p:sp>
        <p:nvSpPr>
          <p:cNvPr id="20" name="Check-311"/>
          <p:cNvSpPr/>
          <p:nvPr/>
        </p:nvSpPr>
        <p:spPr>
          <a:xfrm>
            <a:off x="548640" y="4590288"/>
            <a:ext cx="5394960" cy="640080"/>
          </a:xfrm>
          <a:prstGeom prst="roundRect">
            <a:avLst>
              <a:gd name="adj" fmla="val 11429"/>
            </a:avLst>
          </a:prstGeom>
          <a:solidFill>
            <a:schemeClr val="bg2"/>
          </a:solidFill>
          <a:ln/>
        </p:spPr>
        <p:txBody>
          <a:bodyPr/>
          <a:p/>
        </p:txBody>
      </p:sp>
      <p:sp>
        <p:nvSpPr>
          <p:cNvPr id="21" name="Circle-312"/>
          <p:cNvSpPr/>
          <p:nvPr/>
        </p:nvSpPr>
        <p:spPr>
          <a:xfrm>
            <a:off x="713232" y="4727448"/>
            <a:ext cx="365760" cy="365760"/>
          </a:xfrm>
          <a:prstGeom prst="ellipse">
            <a:avLst/>
          </a:prstGeom>
          <a:solidFill>
            <a:schemeClr val="accent4"/>
          </a:solidFill>
          <a:ln/>
        </p:spPr>
        <p:txBody>
          <a:bodyPr/>
          <a:p/>
        </p:txBody>
      </p:sp>
      <p:sp>
        <p:nvSpPr>
          <p:cNvPr id="22" name="Text-313"/>
          <p:cNvSpPr txBox="1"/>
          <p:nvPr/>
        </p:nvSpPr>
        <p:spPr>
          <a:xfrm>
            <a:off x="713232" y="4727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3" name="Text-314"/>
          <p:cNvSpPr txBox="1"/>
          <p:nvPr/>
        </p:nvSpPr>
        <p:spPr>
          <a:xfrm>
            <a:off x="1234440" y="4590288"/>
            <a:ext cx="4572000" cy="640080"/>
          </a:xfrm>
          <a:prstGeom prst="rect">
            <a:avLst/>
          </a:prstGeom>
          <a:noFill/>
          <a:ln/>
        </p:spPr>
        <p:txBody>
          <a:bodyPr wrap="square" lIns="0" tIns="0" rIns="0" bIns="0" rtlCol="0" anchor="ctr"/>
          <a:lstStyle/>
          <a:p>
            <a:pPr indent="0" marL="0">
              <a:buNone/>
            </a:pPr>
            <a:r>
              <a:rPr lang="en-US" sz="1400" dirty="0">
                <a:solidFill>
                  <a:schemeClr val="tx1"/>
                </a:solidFill>
              </a:rPr>
              <a:t>Roles: Decider, facilitator, 3 members, AI agent</a:t>
            </a:r>
            <a:endParaRPr lang="en-US" sz="1400" dirty="0"/>
          </a:p>
        </p:txBody>
      </p:sp>
      <p:sp>
        <p:nvSpPr>
          <p:cNvPr id="24" name="Check-315"/>
          <p:cNvSpPr/>
          <p:nvPr/>
        </p:nvSpPr>
        <p:spPr>
          <a:xfrm>
            <a:off x="548640" y="5349240"/>
            <a:ext cx="5394960" cy="640080"/>
          </a:xfrm>
          <a:prstGeom prst="roundRect">
            <a:avLst>
              <a:gd name="adj" fmla="val 11429"/>
            </a:avLst>
          </a:prstGeom>
          <a:solidFill>
            <a:schemeClr val="bg2"/>
          </a:solidFill>
          <a:ln/>
        </p:spPr>
        <p:txBody>
          <a:bodyPr/>
          <a:p/>
        </p:txBody>
      </p:sp>
      <p:sp>
        <p:nvSpPr>
          <p:cNvPr id="25" name="Circle-316"/>
          <p:cNvSpPr/>
          <p:nvPr/>
        </p:nvSpPr>
        <p:spPr>
          <a:xfrm>
            <a:off x="713232" y="5486400"/>
            <a:ext cx="365760" cy="365760"/>
          </a:xfrm>
          <a:prstGeom prst="ellipse">
            <a:avLst/>
          </a:prstGeom>
          <a:solidFill>
            <a:schemeClr val="accent4"/>
          </a:solidFill>
          <a:ln/>
        </p:spPr>
        <p:txBody>
          <a:bodyPr/>
          <a:p/>
        </p:txBody>
      </p:sp>
      <p:sp>
        <p:nvSpPr>
          <p:cNvPr id="26" name="Text-317"/>
          <p:cNvSpPr txBox="1"/>
          <p:nvPr/>
        </p:nvSpPr>
        <p:spPr>
          <a:xfrm>
            <a:off x="713232" y="5486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7" name="Text-318"/>
          <p:cNvSpPr txBox="1"/>
          <p:nvPr/>
        </p:nvSpPr>
        <p:spPr>
          <a:xfrm>
            <a:off x="1234440" y="5349240"/>
            <a:ext cx="4572000" cy="640080"/>
          </a:xfrm>
          <a:prstGeom prst="rect">
            <a:avLst/>
          </a:prstGeom>
          <a:noFill/>
          <a:ln/>
        </p:spPr>
        <p:txBody>
          <a:bodyPr wrap="square" lIns="0" tIns="0" rIns="0" bIns="0" rtlCol="0" anchor="ctr"/>
          <a:lstStyle/>
          <a:p>
            <a:pPr indent="0" marL="0">
              <a:buNone/>
            </a:pPr>
            <a:r>
              <a:rPr lang="en-US" sz="1400" dirty="0">
                <a:solidFill>
                  <a:schemeClr val="tx1"/>
                </a:solidFill>
              </a:rPr>
              <a:t>Agenda for days 1 and 2 confirmed</a:t>
            </a:r>
            <a:endParaRPr lang="en-US" sz="1400" dirty="0"/>
          </a:p>
        </p:txBody>
      </p:sp>
      <p:sp>
        <p:nvSpPr>
          <p:cNvPr id="28" name="Decider-319"/>
          <p:cNvSpPr/>
          <p:nvPr/>
        </p:nvSpPr>
        <p:spPr>
          <a:xfrm>
            <a:off x="6263640" y="1554480"/>
            <a:ext cx="5376672" cy="4572000"/>
          </a:xfrm>
          <a:prstGeom prst="roundRect">
            <a:avLst>
              <a:gd name="adj" fmla="val 1600"/>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29" name="Circle-320"/>
          <p:cNvSpPr/>
          <p:nvPr/>
        </p:nvSpPr>
        <p:spPr>
          <a:xfrm>
            <a:off x="6492240" y="1755648"/>
            <a:ext cx="594360" cy="594360"/>
          </a:xfrm>
          <a:prstGeom prst="ellipse">
            <a:avLst/>
          </a:prstGeom>
          <a:solidFill>
            <a:schemeClr val="accent3"/>
          </a:solidFill>
          <a:ln/>
        </p:spPr>
        <p:txBody>
          <a:bodyPr/>
          <a:p/>
        </p:txBody>
      </p:sp>
      <p:sp>
        <p:nvSpPr>
          <p:cNvPr id="30" name="Text-321"/>
          <p:cNvSpPr txBox="1"/>
          <p:nvPr/>
        </p:nvSpPr>
        <p:spPr>
          <a:xfrm>
            <a:off x="6492240" y="1755648"/>
            <a:ext cx="594360" cy="594360"/>
          </a:xfrm>
          <a:prstGeom prst="rect">
            <a:avLst/>
          </a:prstGeom>
          <a:noFill/>
          <a:ln/>
        </p:spPr>
        <p:txBody>
          <a:bodyPr wrap="square" lIns="0" tIns="0" rIns="0" bIns="0" rtlCol="0" anchor="ctr"/>
          <a:lstStyle/>
          <a:p>
            <a:pPr algn="ctr" indent="0" marL="0">
              <a:buNone/>
            </a:pPr>
            <a:r>
              <a:rPr lang="en-US" sz="1500" b="1" dirty="0">
                <a:solidFill>
                  <a:schemeClr val="bg1"/>
                </a:solidFill>
              </a:rPr>
              <a:t>CI</a:t>
            </a:r>
            <a:endParaRPr lang="en-US" sz="1500" dirty="0"/>
          </a:p>
        </p:txBody>
      </p:sp>
      <p:sp>
        <p:nvSpPr>
          <p:cNvPr id="31" name="Text-322"/>
          <p:cNvSpPr txBox="1"/>
          <p:nvPr/>
        </p:nvSpPr>
        <p:spPr>
          <a:xfrm>
            <a:off x="7223760" y="1755648"/>
            <a:ext cx="2743200" cy="320040"/>
          </a:xfrm>
          <a:prstGeom prst="rect">
            <a:avLst/>
          </a:prstGeom>
          <a:noFill/>
          <a:ln/>
        </p:spPr>
        <p:txBody>
          <a:bodyPr wrap="square" lIns="0" tIns="0" rIns="0" bIns="0" rtlCol="0" anchor="t"/>
          <a:lstStyle/>
          <a:p>
            <a:pPr indent="0" marL="0">
              <a:buNone/>
            </a:pPr>
            <a:r>
              <a:rPr lang="en-US" sz="1500" b="1" dirty="0">
                <a:solidFill>
                  <a:schemeClr val="tx2"/>
                </a:solidFill>
              </a:rPr>
              <a:t>Clara Imhof · Decider</a:t>
            </a:r>
            <a:endParaRPr lang="en-US" sz="1500" dirty="0"/>
          </a:p>
        </p:txBody>
      </p:sp>
      <p:sp>
        <p:nvSpPr>
          <p:cNvPr id="32" name="Text-323"/>
          <p:cNvSpPr txBox="1"/>
          <p:nvPr/>
        </p:nvSpPr>
        <p:spPr>
          <a:xfrm>
            <a:off x="7223760" y="2057400"/>
            <a:ext cx="2926080" cy="292608"/>
          </a:xfrm>
          <a:prstGeom prst="rect">
            <a:avLst/>
          </a:prstGeom>
          <a:noFill/>
          <a:ln/>
        </p:spPr>
        <p:txBody>
          <a:bodyPr wrap="square" lIns="0" tIns="0" rIns="0" bIns="0" rtlCol="0" anchor="t"/>
          <a:lstStyle/>
          <a:p>
            <a:pPr indent="0" marL="0">
              <a:buNone/>
            </a:pPr>
            <a:r>
              <a:rPr lang="en-US" sz="1200" dirty="0">
                <a:solidFill>
                  <a:schemeClr val="accent6"/>
                </a:solidFill>
              </a:rPr>
              <a:t>signed off the briefing the day before</a:t>
            </a:r>
            <a:endParaRPr lang="en-US" sz="1200" dirty="0"/>
          </a:p>
        </p:txBody>
      </p:sp>
      <p:sp>
        <p:nvSpPr>
          <p:cNvPr id="33" name="Box-324"/>
          <p:cNvSpPr/>
          <p:nvPr/>
        </p:nvSpPr>
        <p:spPr>
          <a:xfrm>
            <a:off x="10040112" y="1828800"/>
            <a:ext cx="1371600" cy="411480"/>
          </a:xfrm>
          <a:prstGeom prst="roundRect">
            <a:avLst>
              <a:gd name="adj" fmla="val 44444"/>
            </a:avLst>
          </a:prstGeom>
          <a:solidFill>
            <a:schemeClr val="accent4"/>
          </a:solidFill>
          <a:ln/>
        </p:spPr>
        <p:txBody>
          <a:bodyPr/>
          <a:p/>
        </p:txBody>
      </p:sp>
      <p:sp>
        <p:nvSpPr>
          <p:cNvPr id="34" name="Text-325"/>
          <p:cNvSpPr txBox="1"/>
          <p:nvPr/>
        </p:nvSpPr>
        <p:spPr>
          <a:xfrm>
            <a:off x="10040112" y="1828800"/>
            <a:ext cx="1371600" cy="411480"/>
          </a:xfrm>
          <a:prstGeom prst="rect">
            <a:avLst/>
          </a:prstGeom>
          <a:noFill/>
          <a:ln/>
        </p:spPr>
        <p:txBody>
          <a:bodyPr wrap="square" lIns="0" tIns="0" rIns="0" bIns="0" rtlCol="0" anchor="ctr"/>
          <a:lstStyle/>
          <a:p>
            <a:pPr algn="ctr" indent="0" marL="0">
              <a:buNone/>
            </a:pPr>
            <a:r>
              <a:rPr lang="en-US" sz="1200" b="1" dirty="0">
                <a:solidFill>
                  <a:schemeClr val="bg1"/>
                </a:solidFill>
              </a:rPr>
              <a:t>SIGNED OFF</a:t>
            </a:r>
            <a:endParaRPr lang="en-US" sz="1200" dirty="0"/>
          </a:p>
        </p:txBody>
      </p:sp>
      <p:sp>
        <p:nvSpPr>
          <p:cNvPr id="35" name="Text-326"/>
          <p:cNvSpPr txBox="1"/>
          <p:nvPr/>
        </p:nvSpPr>
        <p:spPr>
          <a:xfrm>
            <a:off x="6492240" y="2606040"/>
            <a:ext cx="2377440" cy="292608"/>
          </a:xfrm>
          <a:prstGeom prst="rect">
            <a:avLst/>
          </a:prstGeom>
          <a:noFill/>
          <a:ln/>
        </p:spPr>
        <p:txBody>
          <a:bodyPr wrap="square" lIns="0" tIns="0" rIns="0" bIns="0" rtlCol="0" anchor="t"/>
          <a:lstStyle/>
          <a:p>
            <a:pPr indent="0" marL="0">
              <a:buNone/>
            </a:pPr>
            <a:r>
              <a:rPr lang="en-US" sz="1400" b="1" dirty="0">
                <a:solidFill>
                  <a:schemeClr val="accent4"/>
                </a:solidFill>
              </a:rPr>
              <a:t>In scope</a:t>
            </a:r>
            <a:endParaRPr lang="en-US" sz="1400" dirty="0"/>
          </a:p>
        </p:txBody>
      </p:sp>
      <p:sp>
        <p:nvSpPr>
          <p:cNvPr id="36" name="Text-327"/>
          <p:cNvSpPr txBox="1"/>
          <p:nvPr/>
        </p:nvSpPr>
        <p:spPr>
          <a:xfrm>
            <a:off x="6492240" y="2926080"/>
            <a:ext cx="2423160" cy="18288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Evidence of value: library → budget holders</a:t>
            </a:r>
            <a:endParaRPr lang="en-US" sz="1300" dirty="0"/>
          </a:p>
          <a:p>
            <a:pPr marL="342900" indent="-342900">
              <a:spcAft>
                <a:spcPts val="400"/>
              </a:spcAft>
              <a:buSzPct val="100000"/>
              <a:buChar char="•"/>
            </a:pPr>
            <a:r>
              <a:rPr lang="en-US" sz="1300" dirty="0">
                <a:solidFill>
                  <a:schemeClr val="tx1"/>
                </a:solidFill>
              </a:rPr>
              <a:t>Automated reports and formats</a:t>
            </a:r>
            <a:endParaRPr lang="en-US" sz="1300" dirty="0"/>
          </a:p>
          <a:p>
            <a:pPr marL="342900" indent="-342900">
              <a:spcAft>
                <a:spcPts val="400"/>
              </a:spcAft>
              <a:buSzPct val="100000"/>
              <a:buChar char="•"/>
            </a:pPr>
            <a:r>
              <a:rPr lang="en-US" sz="1300" dirty="0">
                <a:solidFill>
                  <a:schemeClr val="tx1"/>
                </a:solidFill>
              </a:rPr>
              <a:t>Choice of metrics</a:t>
            </a:r>
            <a:endParaRPr lang="en-US" sz="1300" dirty="0"/>
          </a:p>
        </p:txBody>
      </p:sp>
      <p:sp>
        <p:nvSpPr>
          <p:cNvPr id="37" name="Text-328"/>
          <p:cNvSpPr txBox="1"/>
          <p:nvPr/>
        </p:nvSpPr>
        <p:spPr>
          <a:xfrm>
            <a:off x="9052560" y="2606040"/>
            <a:ext cx="2377440" cy="292608"/>
          </a:xfrm>
          <a:prstGeom prst="rect">
            <a:avLst/>
          </a:prstGeom>
          <a:noFill/>
          <a:ln/>
        </p:spPr>
        <p:txBody>
          <a:bodyPr wrap="square" lIns="0" tIns="0" rIns="0" bIns="0" rtlCol="0" anchor="t"/>
          <a:lstStyle/>
          <a:p>
            <a:pPr indent="0" marL="0">
              <a:buNone/>
            </a:pPr>
            <a:r>
              <a:rPr lang="en-US" sz="1400" b="1" dirty="0">
                <a:solidFill>
                  <a:schemeClr val="accent3"/>
                </a:solidFill>
              </a:rPr>
              <a:t>Out of scope</a:t>
            </a:r>
            <a:endParaRPr lang="en-US" sz="1400" dirty="0"/>
          </a:p>
        </p:txBody>
      </p:sp>
      <p:sp>
        <p:nvSpPr>
          <p:cNvPr id="38" name="Text-329"/>
          <p:cNvSpPr txBox="1"/>
          <p:nvPr/>
        </p:nvSpPr>
        <p:spPr>
          <a:xfrm>
            <a:off x="9052560" y="2926080"/>
            <a:ext cx="2377440" cy="18288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Prices and discount levels</a:t>
            </a:r>
            <a:endParaRPr lang="en-US" sz="1300" dirty="0"/>
          </a:p>
          <a:p>
            <a:pPr marL="342900" indent="-342900">
              <a:spcAft>
                <a:spcPts val="400"/>
              </a:spcAft>
              <a:buSzPct val="100000"/>
              <a:buChar char="•"/>
            </a:pPr>
            <a:r>
              <a:rPr lang="en-US" sz="1300" dirty="0">
                <a:solidFill>
                  <a:schemeClr val="tx1"/>
                </a:solidFill>
              </a:rPr>
              <a:t>Redesign of the submission process</a:t>
            </a:r>
            <a:endParaRPr lang="en-US" sz="1300" dirty="0"/>
          </a:p>
          <a:p>
            <a:pPr marL="342900" indent="-342900">
              <a:spcAft>
                <a:spcPts val="400"/>
              </a:spcAft>
              <a:buSzPct val="100000"/>
              <a:buChar char="•"/>
            </a:pPr>
            <a:r>
              <a:rPr lang="en-US" sz="1300" dirty="0">
                <a:solidFill>
                  <a:schemeClr val="tx1"/>
                </a:solidFill>
              </a:rPr>
              <a:t>Comparison with other publishers</a:t>
            </a:r>
            <a:endParaRPr lang="en-US" sz="1300" dirty="0"/>
          </a:p>
        </p:txBody>
      </p:sp>
      <p:sp>
        <p:nvSpPr>
          <p:cNvPr id="39" name="Success-330"/>
          <p:cNvSpPr/>
          <p:nvPr/>
        </p:nvSpPr>
        <p:spPr>
          <a:xfrm>
            <a:off x="6492240" y="4937760"/>
            <a:ext cx="4919472" cy="1005840"/>
          </a:xfrm>
          <a:prstGeom prst="roundRect">
            <a:avLst>
              <a:gd name="adj" fmla="val 7273"/>
            </a:avLst>
          </a:prstGeom>
          <a:solidFill>
            <a:schemeClr val="bg2"/>
          </a:solidFill>
          <a:ln/>
        </p:spPr>
        <p:txBody>
          <a:bodyPr/>
          <a:p/>
        </p:txBody>
      </p:sp>
      <p:sp>
        <p:nvSpPr>
          <p:cNvPr id="40" name="Text-331"/>
          <p:cNvSpPr txBox="1"/>
          <p:nvPr/>
        </p:nvSpPr>
        <p:spPr>
          <a:xfrm>
            <a:off x="6675120" y="4937760"/>
            <a:ext cx="4553712" cy="1005840"/>
          </a:xfrm>
          <a:prstGeom prst="rect">
            <a:avLst/>
          </a:prstGeom>
          <a:noFill/>
          <a:ln/>
        </p:spPr>
        <p:txBody>
          <a:bodyPr wrap="square" lIns="0" tIns="0" rIns="0" bIns="0" rtlCol="0" anchor="ctr"/>
          <a:lstStyle/>
          <a:p>
            <a:pPr indent="0" marL="0">
              <a:buNone/>
            </a:pPr>
            <a:r>
              <a:rPr lang="en-US" sz="1400" b="1" dirty="0">
                <a:solidFill>
                  <a:schemeClr val="tx1"/>
                </a:solidFill>
              </a:rPr>
              <a:t>Success criterion: </a:t>
            </a:r>
            <a:pPr indent="0" marL="0">
              <a:buNone/>
            </a:pPr>
            <a:r>
              <a:rPr lang="en-US" sz="1400" dirty="0">
                <a:solidFill>
                  <a:schemeClr val="tx1"/>
                </a:solidFill>
              </a:rPr>
              <a:t>Concepts work without manual effort from the IPP team.</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6858000" cy="457200"/>
          </a:xfrm>
          <a:prstGeom prst="rect">
            <a:avLst/>
          </a:prstGeom>
          <a:noFill/>
          <a:ln/>
        </p:spPr>
        <p:txBody>
          <a:bodyPr wrap="square" lIns="0" tIns="0" rIns="0" bIns="0" rtlCol="0" anchor="b"/>
          <a:lstStyle/>
          <a:p>
            <a:pPr indent="0" marL="0">
              <a:buNone/>
            </a:pPr>
            <a:r>
              <a:rPr lang="en-US" sz="1600" b="1" dirty="0">
                <a:solidFill>
                  <a:schemeClr val="accent2"/>
                </a:solidFill>
              </a:rPr>
              <a:t>PHASE 2</a:t>
            </a:r>
            <a:endParaRPr lang="en-US" sz="1600" dirty="0"/>
          </a:p>
        </p:txBody>
      </p:sp>
      <p:sp>
        <p:nvSpPr>
          <p:cNvPr id="3" name="Text 0"/>
          <p:cNvSpPr/>
          <p:nvPr>
            <p:ph idx="101" type="title" hasCustomPrompt="1"/>
          </p:nvPr>
        </p:nvSpPr>
        <p:spPr>
          <a:xfrm>
            <a:off x="731520" y="1874520"/>
            <a:ext cx="68580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Understand &amp; Frame</a:t>
            </a:r>
            <a:endParaRPr lang="en-US" sz="4400" dirty="0"/>
          </a:p>
        </p:txBody>
      </p:sp>
      <p:sp>
        <p:nvSpPr>
          <p:cNvPr id="4" name="Text 0"/>
          <p:cNvSpPr/>
          <p:nvPr>
            <p:ph idx="102" type="body" hasCustomPrompt="1"/>
          </p:nvPr>
        </p:nvSpPr>
        <p:spPr>
          <a:xfrm>
            <a:off x="731520" y="3200400"/>
            <a:ext cx="6858000" cy="2926080"/>
          </a:xfrm>
          <a:prstGeom prst="rect">
            <a:avLst/>
          </a:prstGeom>
          <a:noFill/>
          <a:ln/>
        </p:spPr>
        <p:txBody>
          <a:bodyPr wrap="square" lIns="0" tIns="0" rIns="0" bIns="0" rtlCol="0" anchor="t"/>
          <a:lstStyle/>
          <a:p>
            <a:pPr indent="0" marL="0">
              <a:spcAft>
                <a:spcPts val="600"/>
              </a:spcAft>
              <a:buNone/>
            </a:pPr>
            <a:r>
              <a:rPr lang="en-US" sz="1800" dirty="0">
                <a:solidFill>
                  <a:schemeClr val="bg2"/>
                </a:solidFill>
              </a:rPr>
              <a:t>2.1  Defining the challenge</a:t>
            </a:r>
            <a:endParaRPr lang="en-US" sz="1800" dirty="0"/>
          </a:p>
          <a:p>
            <a:pPr indent="0" marL="0">
              <a:spcAft>
                <a:spcPts val="600"/>
              </a:spcAft>
              <a:buNone/>
            </a:pPr>
            <a:r>
              <a:rPr lang="en-US" sz="1800" dirty="0">
                <a:solidFill>
                  <a:schemeClr val="bg2"/>
                </a:solidFill>
              </a:rPr>
              <a:t>2.2  Expert interviews (3×)</a:t>
            </a:r>
            <a:endParaRPr lang="en-US" sz="1800" dirty="0"/>
          </a:p>
          <a:p>
            <a:pPr indent="0" marL="0">
              <a:spcAft>
                <a:spcPts val="600"/>
              </a:spcAft>
              <a:buNone/>
            </a:pPr>
            <a:r>
              <a:rPr lang="en-US" sz="1800" dirty="0">
                <a:solidFill>
                  <a:schemeClr val="bg2"/>
                </a:solidFill>
              </a:rPr>
              <a:t>2.3  AI synthesis of the interviews</a:t>
            </a:r>
            <a:endParaRPr lang="en-US" sz="1800" dirty="0"/>
          </a:p>
          <a:p>
            <a:pPr indent="0" marL="0">
              <a:spcAft>
                <a:spcPts val="600"/>
              </a:spcAft>
              <a:buNone/>
            </a:pPr>
            <a:r>
              <a:rPr lang="en-US" sz="1800" dirty="0">
                <a:solidFill>
                  <a:schemeClr val="bg2"/>
                </a:solidFill>
              </a:rPr>
              <a:t>2.4  HMW session &amp; voting</a:t>
            </a:r>
            <a:endParaRPr lang="en-US" sz="1800" dirty="0"/>
          </a:p>
          <a:p>
            <a:pPr indent="0" marL="0">
              <a:spcAft>
                <a:spcPts val="600"/>
              </a:spcAft>
              <a:buNone/>
            </a:pPr>
            <a:r>
              <a:rPr lang="en-US" sz="1800" dirty="0">
                <a:solidFill>
                  <a:schemeClr val="bg2"/>
                </a:solidFill>
              </a:rPr>
              <a:t>2.5  Map &amp; Target Area</a:t>
            </a:r>
            <a:endParaRPr lang="en-US" sz="1800" dirty="0"/>
          </a:p>
          <a:p>
            <a:pPr indent="0" marL="0">
              <a:spcAft>
                <a:spcPts val="600"/>
              </a:spcAft>
              <a:buNone/>
            </a:pPr>
            <a:r>
              <a:rPr lang="en-US" sz="1800" dirty="0">
                <a:solidFill>
                  <a:schemeClr val="bg2"/>
                </a:solidFill>
              </a:rPr>
              <a:t>2.6  Long Term Goal &amp; Sprint Questions</a:t>
            </a:r>
            <a:endParaRPr lang="en-US" sz="1800" dirty="0"/>
          </a:p>
        </p:txBody>
      </p:sp>
      <p:sp>
        <p:nvSpPr>
          <p:cNvPr id="5" name="Text-332"/>
          <p:cNvSpPr txBox="1"/>
          <p:nvPr/>
        </p:nvSpPr>
        <p:spPr>
          <a:xfrm>
            <a:off x="7680960" y="822960"/>
            <a:ext cx="3931920" cy="2743200"/>
          </a:xfrm>
          <a:prstGeom prst="rect">
            <a:avLst/>
          </a:prstGeom>
          <a:noFill/>
          <a:ln/>
        </p:spPr>
        <p:txBody>
          <a:bodyPr wrap="square" lIns="0" tIns="0" rIns="0" bIns="0" rtlCol="0" anchor="t"/>
          <a:lstStyle/>
          <a:p>
            <a:pPr algn="r" indent="0" marL="0">
              <a:buNone/>
            </a:pPr>
            <a:r>
              <a:rPr lang="en-US" sz="19000" b="1" dirty="0">
                <a:solidFill>
                  <a:schemeClr val="accent1"/>
                </a:solidFill>
                <a:latin typeface="Arial" pitchFamily="34" charset="0"/>
                <a:ea typeface="Arial" pitchFamily="34" charset="-122"/>
                <a:cs typeface="Arial" pitchFamily="34" charset="-120"/>
              </a:rPr>
              <a:t>02</a:t>
            </a:r>
            <a:endParaRPr lang="en-US" sz="19000" dirty="0"/>
          </a:p>
        </p:txBody>
      </p:sp>
      <p:sp>
        <p:nvSpPr>
          <p:cNvPr id="6" name="IconBg-333"/>
          <p:cNvSpPr/>
          <p:nvPr/>
        </p:nvSpPr>
        <p:spPr>
          <a:xfrm>
            <a:off x="10195560" y="4343400"/>
            <a:ext cx="1417320" cy="1417320"/>
          </a:xfrm>
          <a:prstGeom prst="ellipse">
            <a:avLst/>
          </a:prstGeom>
          <a:solidFill>
            <a:srgbClr val="F2C14E"/>
          </a:solidFill>
          <a:ln/>
        </p:spPr>
        <p:txBody>
          <a:bodyPr/>
          <a:p/>
        </p:txBody>
      </p:sp>
      <p:pic>
        <p:nvPicPr>
          <p:cNvPr id="7" name="Icon-334" descr="preencoded.png">    </p:cNvPr>
          <p:cNvPicPr>
            <a:picLocks noChangeAspect="1"/>
          </p:cNvPicPr>
          <p:nvPr/>
        </p:nvPicPr>
        <p:blipFill>
          <a:blip r:embed="rId1"/>
          <a:stretch>
            <a:fillRect/>
          </a:stretch>
        </p:blipFill>
        <p:spPr>
          <a:xfrm>
            <a:off x="10549890" y="4697730"/>
            <a:ext cx="708660" cy="7086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2 · STEP 2.1 · DEFINING THE CHALLENGE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The challenge, sharpened</a:t>
            </a:r>
            <a:endParaRPr lang="en-US" sz="3200" dirty="0"/>
          </a:p>
        </p:txBody>
      </p:sp>
      <p:sp>
        <p:nvSpPr>
          <p:cNvPr id="4" name="Before-335"/>
          <p:cNvSpPr/>
          <p:nvPr/>
        </p:nvSpPr>
        <p:spPr>
          <a:xfrm>
            <a:off x="548640" y="1508760"/>
            <a:ext cx="4937760" cy="2651760"/>
          </a:xfrm>
          <a:prstGeom prst="roundRect">
            <a:avLst>
              <a:gd name="adj" fmla="val 2759"/>
            </a:avLst>
          </a:prstGeom>
          <a:solidFill>
            <a:schemeClr val="bg2"/>
          </a:solidFill>
          <a:ln/>
        </p:spPr>
        <p:txBody>
          <a:bodyPr/>
          <a:p/>
        </p:txBody>
      </p:sp>
      <p:sp>
        <p:nvSpPr>
          <p:cNvPr id="5" name="Text-336"/>
          <p:cNvSpPr txBox="1"/>
          <p:nvPr/>
        </p:nvSpPr>
        <p:spPr>
          <a:xfrm>
            <a:off x="777240" y="1691640"/>
            <a:ext cx="4480560" cy="274320"/>
          </a:xfrm>
          <a:prstGeom prst="rect">
            <a:avLst/>
          </a:prstGeom>
          <a:noFill/>
          <a:ln/>
        </p:spPr>
        <p:txBody>
          <a:bodyPr wrap="square" lIns="0" tIns="0" rIns="0" bIns="0" rtlCol="0" anchor="t"/>
          <a:lstStyle/>
          <a:p>
            <a:pPr indent="0" marL="0">
              <a:buNone/>
            </a:pPr>
            <a:r>
              <a:rPr lang="en-US" sz="1100" b="1" dirty="0">
                <a:solidFill>
                  <a:schemeClr val="accent6"/>
                </a:solidFill>
              </a:rPr>
              <a:t>BEFORE · ORIGINAL</a:t>
            </a:r>
            <a:endParaRPr lang="en-US" sz="1100" dirty="0"/>
          </a:p>
        </p:txBody>
      </p:sp>
      <p:sp>
        <p:nvSpPr>
          <p:cNvPr id="6" name="Text-337"/>
          <p:cNvSpPr txBox="1"/>
          <p:nvPr/>
        </p:nvSpPr>
        <p:spPr>
          <a:xfrm>
            <a:off x="777240" y="2011680"/>
            <a:ext cx="4480560" cy="2011680"/>
          </a:xfrm>
          <a:prstGeom prst="rect">
            <a:avLst/>
          </a:prstGeom>
          <a:noFill/>
          <a:ln/>
        </p:spPr>
        <p:txBody>
          <a:bodyPr wrap="square" lIns="0" tIns="0" rIns="0" bIns="0" rtlCol="0" anchor="t"/>
          <a:lstStyle/>
          <a:p>
            <a:pPr indent="0" marL="0">
              <a:buNone/>
            </a:pPr>
            <a:r>
              <a:rPr lang="en-US" sz="1600" i="1" dirty="0">
                <a:solidFill>
                  <a:schemeClr val="tx1"/>
                </a:solidFill>
              </a:rPr>
              <a:t>“How might we help librarians at our partner institutions recognize the value of their agreement with Lumen Scholarly Publishing and demonstrate it convincingly to the budget holders at their institution?”</a:t>
            </a:r>
            <a:endParaRPr lang="en-US" sz="1600" dirty="0"/>
          </a:p>
        </p:txBody>
      </p:sp>
      <p:sp>
        <p:nvSpPr>
          <p:cNvPr id="7" name="Arrow"/>
          <p:cNvSpPr/>
          <p:nvPr/>
        </p:nvSpPr>
        <p:spPr>
          <a:xfrm>
            <a:off x="5623560" y="2560320"/>
            <a:ext cx="548640" cy="548640"/>
          </a:xfrm>
          <a:prstGeom prst="rightArrow">
            <a:avLst/>
          </a:prstGeom>
          <a:solidFill>
            <a:schemeClr val="accent3"/>
          </a:solidFill>
          <a:ln/>
        </p:spPr>
        <p:txBody>
          <a:bodyPr/>
          <a:p/>
        </p:txBody>
      </p:sp>
      <p:sp>
        <p:nvSpPr>
          <p:cNvPr id="8" name="After-338"/>
          <p:cNvSpPr/>
          <p:nvPr/>
        </p:nvSpPr>
        <p:spPr>
          <a:xfrm>
            <a:off x="6309360" y="1508760"/>
            <a:ext cx="5330952" cy="2651760"/>
          </a:xfrm>
          <a:prstGeom prst="roundRect">
            <a:avLst>
              <a:gd name="adj" fmla="val 2759"/>
            </a:avLst>
          </a:prstGeom>
          <a:solidFill>
            <a:schemeClr val="tx2"/>
          </a:solidFill>
          <a:ln/>
        </p:spPr>
        <p:txBody>
          <a:bodyPr/>
          <a:p/>
        </p:txBody>
      </p:sp>
      <p:sp>
        <p:nvSpPr>
          <p:cNvPr id="9" name="Text-339"/>
          <p:cNvSpPr txBox="1"/>
          <p:nvPr/>
        </p:nvSpPr>
        <p:spPr>
          <a:xfrm>
            <a:off x="6537960" y="1691640"/>
            <a:ext cx="4846320" cy="274320"/>
          </a:xfrm>
          <a:prstGeom prst="rect">
            <a:avLst/>
          </a:prstGeom>
          <a:noFill/>
          <a:ln/>
        </p:spPr>
        <p:txBody>
          <a:bodyPr wrap="square" lIns="0" tIns="0" rIns="0" bIns="0" rtlCol="0" anchor="t"/>
          <a:lstStyle/>
          <a:p>
            <a:pPr indent="0" marL="0">
              <a:buNone/>
            </a:pPr>
            <a:r>
              <a:rPr lang="en-US" sz="1100" b="1" dirty="0">
                <a:solidFill>
                  <a:schemeClr val="accent2"/>
                </a:solidFill>
              </a:rPr>
              <a:t>AFTER · SHARPENED</a:t>
            </a:r>
            <a:endParaRPr lang="en-US" sz="1100" dirty="0"/>
          </a:p>
        </p:txBody>
      </p:sp>
      <p:sp>
        <p:nvSpPr>
          <p:cNvPr id="10" name="Text-340"/>
          <p:cNvSpPr txBox="1"/>
          <p:nvPr/>
        </p:nvSpPr>
        <p:spPr>
          <a:xfrm>
            <a:off x="6537960" y="2011680"/>
            <a:ext cx="4892040" cy="2011680"/>
          </a:xfrm>
          <a:prstGeom prst="rect">
            <a:avLst/>
          </a:prstGeom>
          <a:noFill/>
          <a:ln/>
        </p:spPr>
        <p:txBody>
          <a:bodyPr wrap="square" lIns="0" tIns="0" rIns="0" bIns="0" rtlCol="0" anchor="t"/>
          <a:lstStyle/>
          <a:p>
            <a:pPr indent="0" marL="0">
              <a:buNone/>
            </a:pPr>
            <a:r>
              <a:rPr lang="en-US" sz="1900" b="1" dirty="0">
                <a:solidFill>
                  <a:schemeClr val="bg1"/>
                </a:solidFill>
              </a:rPr>
              <a:t>How might we automatically equip librarians with credible, forwardable evidence of value that convinces budget holders in the renewal decision?</a:t>
            </a:r>
            <a:endParaRPr lang="en-US" sz="1900" dirty="0"/>
          </a:p>
        </p:txBody>
      </p:sp>
      <p:sp>
        <p:nvSpPr>
          <p:cNvPr id="11" name="Text-341"/>
          <p:cNvSpPr txBox="1"/>
          <p:nvPr/>
        </p:nvSpPr>
        <p:spPr>
          <a:xfrm>
            <a:off x="548640" y="4389120"/>
            <a:ext cx="5486400" cy="274320"/>
          </a:xfrm>
          <a:prstGeom prst="rect">
            <a:avLst/>
          </a:prstGeom>
          <a:noFill/>
          <a:ln/>
        </p:spPr>
        <p:txBody>
          <a:bodyPr wrap="square" lIns="0" tIns="0" rIns="0" bIns="0" rtlCol="0" anchor="t"/>
          <a:lstStyle/>
          <a:p>
            <a:pPr indent="0" marL="0">
              <a:buNone/>
            </a:pPr>
            <a:r>
              <a:rPr lang="en-US" sz="1100" b="1" dirty="0">
                <a:solidFill>
                  <a:schemeClr val="accent6"/>
                </a:solidFill>
              </a:rPr>
              <a:t>TERMS CLARIFIED</a:t>
            </a:r>
            <a:endParaRPr lang="en-US" sz="1100" dirty="0"/>
          </a:p>
        </p:txBody>
      </p:sp>
      <p:sp>
        <p:nvSpPr>
          <p:cNvPr id="12" name="Def-342"/>
          <p:cNvSpPr/>
          <p:nvPr/>
        </p:nvSpPr>
        <p:spPr>
          <a:xfrm>
            <a:off x="548640" y="4709160"/>
            <a:ext cx="3593592" cy="1508760"/>
          </a:xfrm>
          <a:prstGeom prst="roundRect">
            <a:avLst>
              <a:gd name="adj" fmla="val 4848"/>
            </a:avLst>
          </a:prstGeom>
          <a:solidFill>
            <a:schemeClr val="bg1"/>
          </a:solidFill>
          <a:ln w="12700">
            <a:solidFill>
              <a:srgbClr val="C9D5D8"/>
            </a:solidFill>
            <a:prstDash val="solid"/>
          </a:ln>
        </p:spPr>
        <p:txBody>
          <a:bodyPr/>
          <a:p/>
        </p:txBody>
      </p:sp>
      <p:sp>
        <p:nvSpPr>
          <p:cNvPr id="13" name="Text-343"/>
          <p:cNvSpPr txBox="1"/>
          <p:nvPr/>
        </p:nvSpPr>
        <p:spPr>
          <a:xfrm>
            <a:off x="731520" y="4800600"/>
            <a:ext cx="3200400" cy="320040"/>
          </a:xfrm>
          <a:prstGeom prst="rect">
            <a:avLst/>
          </a:prstGeom>
          <a:noFill/>
          <a:ln/>
        </p:spPr>
        <p:txBody>
          <a:bodyPr wrap="square" lIns="0" tIns="0" rIns="0" bIns="0" rtlCol="0" anchor="t"/>
          <a:lstStyle/>
          <a:p>
            <a:pPr indent="0" marL="0">
              <a:buNone/>
            </a:pPr>
            <a:r>
              <a:rPr lang="en-US" sz="1500" b="1" dirty="0">
                <a:solidFill>
                  <a:schemeClr val="accent1"/>
                </a:solidFill>
              </a:rPr>
              <a:t>“Value”</a:t>
            </a:r>
            <a:endParaRPr lang="en-US" sz="1500" dirty="0"/>
          </a:p>
        </p:txBody>
      </p:sp>
      <p:sp>
        <p:nvSpPr>
          <p:cNvPr id="14" name="Text-344"/>
          <p:cNvSpPr txBox="1"/>
          <p:nvPr/>
        </p:nvSpPr>
        <p:spPr>
          <a:xfrm>
            <a:off x="731520" y="5138928"/>
            <a:ext cx="3246120" cy="1005840"/>
          </a:xfrm>
          <a:prstGeom prst="rect">
            <a:avLst/>
          </a:prstGeom>
          <a:noFill/>
          <a:ln/>
        </p:spPr>
        <p:txBody>
          <a:bodyPr wrap="square" lIns="0" tIns="0" rIns="0" bIns="0" rtlCol="0" anchor="t"/>
          <a:lstStyle/>
          <a:p>
            <a:pPr indent="0" marL="0">
              <a:buNone/>
            </a:pPr>
            <a:r>
              <a:rPr lang="en-US" sz="1400" dirty="0">
                <a:solidFill>
                  <a:schemeClr val="tx1"/>
                </a:solidFill>
              </a:rPr>
              <a:t>Savings, compliance with OA strategy and funder requirements, impact, involvement of own researchers</a:t>
            </a:r>
            <a:endParaRPr lang="en-US" sz="1400" dirty="0"/>
          </a:p>
        </p:txBody>
      </p:sp>
      <p:sp>
        <p:nvSpPr>
          <p:cNvPr id="15" name="Def-345"/>
          <p:cNvSpPr/>
          <p:nvPr/>
        </p:nvSpPr>
        <p:spPr>
          <a:xfrm>
            <a:off x="4297680" y="4709160"/>
            <a:ext cx="3593592" cy="1508760"/>
          </a:xfrm>
          <a:prstGeom prst="roundRect">
            <a:avLst>
              <a:gd name="adj" fmla="val 4848"/>
            </a:avLst>
          </a:prstGeom>
          <a:solidFill>
            <a:schemeClr val="bg1"/>
          </a:solidFill>
          <a:ln w="12700">
            <a:solidFill>
              <a:srgbClr val="C9D5D8"/>
            </a:solidFill>
            <a:prstDash val="solid"/>
          </a:ln>
        </p:spPr>
        <p:txBody>
          <a:bodyPr/>
          <a:p/>
        </p:txBody>
      </p:sp>
      <p:sp>
        <p:nvSpPr>
          <p:cNvPr id="16" name="Text-346"/>
          <p:cNvSpPr txBox="1"/>
          <p:nvPr/>
        </p:nvSpPr>
        <p:spPr>
          <a:xfrm>
            <a:off x="4480560" y="4800600"/>
            <a:ext cx="3200400" cy="320040"/>
          </a:xfrm>
          <a:prstGeom prst="rect">
            <a:avLst/>
          </a:prstGeom>
          <a:noFill/>
          <a:ln/>
        </p:spPr>
        <p:txBody>
          <a:bodyPr wrap="square" lIns="0" tIns="0" rIns="0" bIns="0" rtlCol="0" anchor="t"/>
          <a:lstStyle/>
          <a:p>
            <a:pPr indent="0" marL="0">
              <a:buNone/>
            </a:pPr>
            <a:r>
              <a:rPr lang="en-US" sz="1500" b="1" dirty="0">
                <a:solidFill>
                  <a:schemeClr val="accent1"/>
                </a:solidFill>
              </a:rPr>
              <a:t>“Budget holders”</a:t>
            </a:r>
            <a:endParaRPr lang="en-US" sz="1500" dirty="0"/>
          </a:p>
        </p:txBody>
      </p:sp>
      <p:sp>
        <p:nvSpPr>
          <p:cNvPr id="17" name="Text-347"/>
          <p:cNvSpPr txBox="1"/>
          <p:nvPr/>
        </p:nvSpPr>
        <p:spPr>
          <a:xfrm>
            <a:off x="4480560" y="5138928"/>
            <a:ext cx="3246120" cy="1005840"/>
          </a:xfrm>
          <a:prstGeom prst="rect">
            <a:avLst/>
          </a:prstGeom>
          <a:noFill/>
          <a:ln/>
        </p:spPr>
        <p:txBody>
          <a:bodyPr wrap="square" lIns="0" tIns="0" rIns="0" bIns="0" rtlCol="0" anchor="t"/>
          <a:lstStyle/>
          <a:p>
            <a:pPr indent="0" marL="0">
              <a:buNone/>
            </a:pPr>
            <a:r>
              <a:rPr lang="en-US" sz="1400" dirty="0">
                <a:solidFill>
                  <a:schemeClr val="tx1"/>
                </a:solidFill>
              </a:rPr>
              <a:t>Library director and Executive Board (Vice-President for Research) – not the contact person</a:t>
            </a:r>
            <a:endParaRPr lang="en-US" sz="1400" dirty="0"/>
          </a:p>
        </p:txBody>
      </p:sp>
      <p:sp>
        <p:nvSpPr>
          <p:cNvPr id="18" name="Def-348"/>
          <p:cNvSpPr/>
          <p:nvPr/>
        </p:nvSpPr>
        <p:spPr>
          <a:xfrm>
            <a:off x="8046720" y="4709160"/>
            <a:ext cx="3593592" cy="1508760"/>
          </a:xfrm>
          <a:prstGeom prst="roundRect">
            <a:avLst>
              <a:gd name="adj" fmla="val 4848"/>
            </a:avLst>
          </a:prstGeom>
          <a:solidFill>
            <a:schemeClr val="bg1"/>
          </a:solidFill>
          <a:ln w="12700">
            <a:solidFill>
              <a:srgbClr val="C9D5D8"/>
            </a:solidFill>
            <a:prstDash val="solid"/>
          </a:ln>
        </p:spPr>
        <p:txBody>
          <a:bodyPr/>
          <a:p/>
        </p:txBody>
      </p:sp>
      <p:sp>
        <p:nvSpPr>
          <p:cNvPr id="19" name="Text-349"/>
          <p:cNvSpPr txBox="1"/>
          <p:nvPr/>
        </p:nvSpPr>
        <p:spPr>
          <a:xfrm>
            <a:off x="8229600" y="4800600"/>
            <a:ext cx="3200400" cy="320040"/>
          </a:xfrm>
          <a:prstGeom prst="rect">
            <a:avLst/>
          </a:prstGeom>
          <a:noFill/>
          <a:ln/>
        </p:spPr>
        <p:txBody>
          <a:bodyPr wrap="square" lIns="0" tIns="0" rIns="0" bIns="0" rtlCol="0" anchor="t"/>
          <a:lstStyle/>
          <a:p>
            <a:pPr indent="0" marL="0">
              <a:buNone/>
            </a:pPr>
            <a:r>
              <a:rPr lang="en-US" sz="1500" b="1" dirty="0">
                <a:solidFill>
                  <a:schemeClr val="accent1"/>
                </a:solidFill>
              </a:rPr>
              <a:t>“Automatically”</a:t>
            </a:r>
            <a:endParaRPr lang="en-US" sz="1500" dirty="0"/>
          </a:p>
        </p:txBody>
      </p:sp>
      <p:sp>
        <p:nvSpPr>
          <p:cNvPr id="20" name="Text-350"/>
          <p:cNvSpPr txBox="1"/>
          <p:nvPr/>
        </p:nvSpPr>
        <p:spPr>
          <a:xfrm>
            <a:off x="8229600" y="5138928"/>
            <a:ext cx="3246120" cy="1005840"/>
          </a:xfrm>
          <a:prstGeom prst="rect">
            <a:avLst/>
          </a:prstGeom>
          <a:noFill/>
          <a:ln/>
        </p:spPr>
        <p:txBody>
          <a:bodyPr wrap="square" lIns="0" tIns="0" rIns="0" bIns="0" rtlCol="0" anchor="t"/>
          <a:lstStyle/>
          <a:p>
            <a:pPr indent="0" marL="0">
              <a:buNone/>
            </a:pPr>
            <a:r>
              <a:rPr lang="en-US" sz="1400" dirty="0">
                <a:solidFill>
                  <a:schemeClr val="tx1"/>
                </a:solidFill>
              </a:rPr>
              <a:t>Generated from Manuscripta and invoice data, with no manual work by the IPP team</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2 · STEP 2.2 · EXPERT INTERVIEW 1/3</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Interview: Dr. Miriam Kessler</a:t>
            </a:r>
            <a:endParaRPr lang="en-US" sz="3200" dirty="0"/>
          </a:p>
        </p:txBody>
      </p:sp>
      <p:sp>
        <p:nvSpPr>
          <p:cNvPr id="4" name="ExpertPanel-351"/>
          <p:cNvSpPr/>
          <p:nvPr/>
        </p:nvSpPr>
        <p:spPr>
          <a:xfrm>
            <a:off x="548640" y="1508760"/>
            <a:ext cx="3063240" cy="4709160"/>
          </a:xfrm>
          <a:prstGeom prst="roundRect">
            <a:avLst>
              <a:gd name="adj" fmla="val 2388"/>
            </a:avLst>
          </a:prstGeom>
          <a:solidFill>
            <a:schemeClr val="bg2"/>
          </a:solidFill>
          <a:ln/>
        </p:spPr>
        <p:txBody>
          <a:bodyPr/>
          <a:p/>
        </p:txBody>
      </p:sp>
      <p:sp>
        <p:nvSpPr>
          <p:cNvPr id="5" name="Circle-352"/>
          <p:cNvSpPr/>
          <p:nvPr/>
        </p:nvSpPr>
        <p:spPr>
          <a:xfrm>
            <a:off x="749808" y="1709928"/>
            <a:ext cx="731520" cy="731520"/>
          </a:xfrm>
          <a:prstGeom prst="ellipse">
            <a:avLst/>
          </a:prstGeom>
          <a:solidFill>
            <a:schemeClr val="accent4"/>
          </a:solidFill>
          <a:ln/>
        </p:spPr>
        <p:txBody>
          <a:bodyPr/>
          <a:p/>
        </p:txBody>
      </p:sp>
      <p:sp>
        <p:nvSpPr>
          <p:cNvPr id="6" name="Text-353"/>
          <p:cNvSpPr txBox="1"/>
          <p:nvPr/>
        </p:nvSpPr>
        <p:spPr>
          <a:xfrm>
            <a:off x="749808" y="1709928"/>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MK</a:t>
            </a:r>
            <a:endParaRPr lang="en-US" sz="1800" dirty="0"/>
          </a:p>
        </p:txBody>
      </p:sp>
      <p:sp>
        <p:nvSpPr>
          <p:cNvPr id="7" name="Text-354"/>
          <p:cNvSpPr txBox="1"/>
          <p:nvPr/>
        </p:nvSpPr>
        <p:spPr>
          <a:xfrm>
            <a:off x="1600200" y="1755648"/>
            <a:ext cx="1920240" cy="274320"/>
          </a:xfrm>
          <a:prstGeom prst="rect">
            <a:avLst/>
          </a:prstGeom>
          <a:noFill/>
          <a:ln/>
        </p:spPr>
        <p:txBody>
          <a:bodyPr wrap="square" lIns="0" tIns="0" rIns="0" bIns="0" rtlCol="0" anchor="t"/>
          <a:lstStyle/>
          <a:p>
            <a:pPr indent="0" marL="0">
              <a:buNone/>
            </a:pPr>
            <a:r>
              <a:rPr lang="en-US" sz="1100" b="1" dirty="0">
                <a:solidFill>
                  <a:schemeClr val="accent6"/>
                </a:solidFill>
              </a:rPr>
              <a:t>Expert · User</a:t>
            </a:r>
            <a:endParaRPr lang="en-US" sz="1100" dirty="0"/>
          </a:p>
        </p:txBody>
      </p:sp>
      <p:sp>
        <p:nvSpPr>
          <p:cNvPr id="8" name="Text-355"/>
          <p:cNvSpPr txBox="1"/>
          <p:nvPr/>
        </p:nvSpPr>
        <p:spPr>
          <a:xfrm>
            <a:off x="1600200" y="2029968"/>
            <a:ext cx="1920240" cy="685800"/>
          </a:xfrm>
          <a:prstGeom prst="rect">
            <a:avLst/>
          </a:prstGeom>
          <a:noFill/>
          <a:ln/>
        </p:spPr>
        <p:txBody>
          <a:bodyPr wrap="square" lIns="0" tIns="0" rIns="0" bIns="0" rtlCol="0" anchor="t"/>
          <a:lstStyle/>
          <a:p>
            <a:pPr indent="0" marL="0">
              <a:buNone/>
            </a:pPr>
            <a:r>
              <a:rPr lang="en-US" sz="1100" dirty="0">
                <a:solidFill>
                  <a:schemeClr val="tx1"/>
                </a:solidFill>
              </a:rPr>
              <a:t>OA Coordinator, University Library, Rheinfeld (DE)</a:t>
            </a:r>
            <a:endParaRPr lang="en-US" sz="1100" dirty="0"/>
          </a:p>
        </p:txBody>
      </p:sp>
      <p:sp>
        <p:nvSpPr>
          <p:cNvPr id="9" name="Text-356"/>
          <p:cNvSpPr txBox="1"/>
          <p:nvPr/>
        </p:nvSpPr>
        <p:spPr>
          <a:xfrm>
            <a:off x="749808" y="2788920"/>
            <a:ext cx="2743200" cy="256032"/>
          </a:xfrm>
          <a:prstGeom prst="rect">
            <a:avLst/>
          </a:prstGeom>
          <a:noFill/>
          <a:ln/>
        </p:spPr>
        <p:txBody>
          <a:bodyPr wrap="square" lIns="0" tIns="0" rIns="0" bIns="0" rtlCol="0" anchor="t"/>
          <a:lstStyle/>
          <a:p>
            <a:pPr indent="0" marL="0">
              <a:buNone/>
            </a:pPr>
            <a:r>
              <a:rPr lang="en-US" sz="1100" b="1" dirty="0">
                <a:solidFill>
                  <a:schemeClr val="accent3"/>
                </a:solidFill>
              </a:rPr>
              <a:t>KEY MESSAGE</a:t>
            </a:r>
            <a:endParaRPr lang="en-US" sz="1100" dirty="0"/>
          </a:p>
        </p:txBody>
      </p:sp>
      <p:sp>
        <p:nvSpPr>
          <p:cNvPr id="10" name="Text-357"/>
          <p:cNvSpPr txBox="1"/>
          <p:nvPr/>
        </p:nvSpPr>
        <p:spPr>
          <a:xfrm>
            <a:off x="749808" y="3044952"/>
            <a:ext cx="2697480" cy="1097280"/>
          </a:xfrm>
          <a:prstGeom prst="rect">
            <a:avLst/>
          </a:prstGeom>
          <a:noFill/>
          <a:ln/>
        </p:spPr>
        <p:txBody>
          <a:bodyPr wrap="square" lIns="0" tIns="0" rIns="0" bIns="0" rtlCol="0" anchor="t"/>
          <a:lstStyle/>
          <a:p>
            <a:pPr indent="0" marL="0">
              <a:buNone/>
            </a:pPr>
            <a:r>
              <a:rPr lang="en-US" sz="1600" b="1" dirty="0">
                <a:solidFill>
                  <a:schemeClr val="tx2"/>
                </a:solidFill>
              </a:rPr>
              <a:t>I need evidence of value I can pass on without reworking it.</a:t>
            </a:r>
            <a:endParaRPr lang="en-US" sz="1600" dirty="0"/>
          </a:p>
        </p:txBody>
      </p:sp>
      <p:sp>
        <p:nvSpPr>
          <p:cNvPr id="11" name="Text-358"/>
          <p:cNvSpPr txBox="1"/>
          <p:nvPr/>
        </p:nvSpPr>
        <p:spPr>
          <a:xfrm>
            <a:off x="749808" y="4251960"/>
            <a:ext cx="2697480"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Coordinates ~1,400 OA publications a year across 11 publishers</a:t>
            </a:r>
            <a:endParaRPr lang="en-US" sz="1200" dirty="0"/>
          </a:p>
          <a:p>
            <a:pPr marL="342900" indent="-342900">
              <a:spcAft>
                <a:spcPts val="500"/>
              </a:spcAft>
              <a:buSzPct val="100000"/>
              <a:buChar char="•"/>
            </a:pPr>
            <a:r>
              <a:rPr lang="en-US" sz="1200" dirty="0">
                <a:solidFill>
                  <a:schemeClr val="tx1"/>
                </a:solidFill>
              </a:rPr>
              <a:t>No budget of her own – writes the proposal for the director</a:t>
            </a:r>
            <a:endParaRPr lang="en-US" sz="1200" dirty="0"/>
          </a:p>
          <a:p>
            <a:pPr marL="342900" indent="-342900">
              <a:spcAft>
                <a:spcPts val="500"/>
              </a:spcAft>
              <a:buSzPct val="100000"/>
              <a:buChar char="•"/>
            </a:pPr>
            <a:r>
              <a:rPr lang="en-US" sz="1200" dirty="0">
                <a:solidFill>
                  <a:schemeClr val="tx1"/>
                </a:solidFill>
              </a:rPr>
              <a:t>Uses Manuscripta about three times a year</a:t>
            </a:r>
            <a:endParaRPr lang="en-US" sz="1200" dirty="0"/>
          </a:p>
        </p:txBody>
      </p:sp>
      <p:sp>
        <p:nvSpPr>
          <p:cNvPr id="12" name="Quote-359"/>
          <p:cNvSpPr/>
          <p:nvPr/>
        </p:nvSpPr>
        <p:spPr>
          <a:xfrm>
            <a:off x="3794760" y="1508760"/>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3" name="Text-360"/>
          <p:cNvSpPr txBox="1"/>
          <p:nvPr/>
        </p:nvSpPr>
        <p:spPr>
          <a:xfrm>
            <a:off x="3904488" y="1527048"/>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14" name="Text-361"/>
          <p:cNvSpPr txBox="1"/>
          <p:nvPr/>
        </p:nvSpPr>
        <p:spPr>
          <a:xfrm>
            <a:off x="4343400" y="1618488"/>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I log in to Manuscripta maybe three times a year – usually when the prepayment account is running low.</a:t>
            </a:r>
            <a:endParaRPr lang="en-US" sz="1400" dirty="0"/>
          </a:p>
        </p:txBody>
      </p:sp>
      <p:sp>
        <p:nvSpPr>
          <p:cNvPr id="15" name="Quote-362"/>
          <p:cNvSpPr/>
          <p:nvPr/>
        </p:nvSpPr>
        <p:spPr>
          <a:xfrm>
            <a:off x="7891272" y="1508760"/>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6" name="Text-363"/>
          <p:cNvSpPr txBox="1"/>
          <p:nvPr/>
        </p:nvSpPr>
        <p:spPr>
          <a:xfrm>
            <a:off x="8001000" y="1527048"/>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17" name="Text-364"/>
          <p:cNvSpPr txBox="1"/>
          <p:nvPr/>
        </p:nvSpPr>
        <p:spPr>
          <a:xfrm>
            <a:off x="8439912" y="1618488"/>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For the proposal I copy figures from six publisher portals into a spreadsheet. That's two full days.</a:t>
            </a:r>
            <a:endParaRPr lang="en-US" sz="1400" dirty="0"/>
          </a:p>
        </p:txBody>
      </p:sp>
      <p:sp>
        <p:nvSpPr>
          <p:cNvPr id="18" name="Quote-365"/>
          <p:cNvSpPr/>
          <p:nvPr/>
        </p:nvSpPr>
        <p:spPr>
          <a:xfrm>
            <a:off x="3794760" y="2999232"/>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9" name="Text-366"/>
          <p:cNvSpPr txBox="1"/>
          <p:nvPr/>
        </p:nvSpPr>
        <p:spPr>
          <a:xfrm>
            <a:off x="3904488" y="3017520"/>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20" name="Text-367"/>
          <p:cNvSpPr txBox="1"/>
          <p:nvPr/>
        </p:nvSpPr>
        <p:spPr>
          <a:xfrm>
            <a:off x="4343400" y="3108960"/>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Dr. Hollmann doesn't read dashboards. He wants one page he can take to the Executive Board.</a:t>
            </a:r>
            <a:endParaRPr lang="en-US" sz="1400" dirty="0"/>
          </a:p>
        </p:txBody>
      </p:sp>
      <p:sp>
        <p:nvSpPr>
          <p:cNvPr id="21" name="Quote-368"/>
          <p:cNvSpPr/>
          <p:nvPr/>
        </p:nvSpPr>
        <p:spPr>
          <a:xfrm>
            <a:off x="7891272" y="2999232"/>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22" name="Text-369"/>
          <p:cNvSpPr txBox="1"/>
          <p:nvPr/>
        </p:nvSpPr>
        <p:spPr>
          <a:xfrm>
            <a:off x="8001000" y="3017520"/>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23" name="Text-370"/>
          <p:cNvSpPr txBox="1"/>
          <p:nvPr/>
        </p:nvSpPr>
        <p:spPr>
          <a:xfrm>
            <a:off x="8439912" y="3108960"/>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What worked last time: Dr. Ferreira is a guest editor at Lumen. Nobody on the Executive Board knew.</a:t>
            </a:r>
            <a:endParaRPr lang="en-US" sz="1400" dirty="0"/>
          </a:p>
        </p:txBody>
      </p:sp>
      <p:sp>
        <p:nvSpPr>
          <p:cNvPr id="24" name="Text-371"/>
          <p:cNvSpPr txBox="1"/>
          <p:nvPr/>
        </p:nvSpPr>
        <p:spPr>
          <a:xfrm>
            <a:off x="3794760" y="4526280"/>
            <a:ext cx="5486400" cy="256032"/>
          </a:xfrm>
          <a:prstGeom prst="rect">
            <a:avLst/>
          </a:prstGeom>
          <a:noFill/>
          <a:ln/>
        </p:spPr>
        <p:txBody>
          <a:bodyPr wrap="square" lIns="0" tIns="0" rIns="0" bIns="0" rtlCol="0" anchor="t"/>
          <a:lstStyle/>
          <a:p>
            <a:pPr indent="0" marL="0">
              <a:buNone/>
            </a:pPr>
            <a:r>
              <a:rPr lang="en-US" sz="1100" b="1" dirty="0">
                <a:solidFill>
                  <a:schemeClr val="accent6"/>
                </a:solidFill>
              </a:rPr>
              <a:t>HMW NOTES FROM THE INTERVIEW</a:t>
            </a:r>
            <a:endParaRPr lang="en-US" sz="1100" dirty="0"/>
          </a:p>
        </p:txBody>
      </p:sp>
      <p:sp>
        <p:nvSpPr>
          <p:cNvPr id="25" name="Sticky-372"/>
          <p:cNvSpPr/>
          <p:nvPr/>
        </p:nvSpPr>
        <p:spPr>
          <a:xfrm>
            <a:off x="3794760" y="4828032"/>
            <a:ext cx="2514600" cy="132588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6" name="Text-373"/>
          <p:cNvSpPr txBox="1"/>
          <p:nvPr/>
        </p:nvSpPr>
        <p:spPr>
          <a:xfrm>
            <a:off x="3867912" y="4892040"/>
            <a:ext cx="2368296" cy="1197864"/>
          </a:xfrm>
          <a:prstGeom prst="rect">
            <a:avLst/>
          </a:prstGeom>
          <a:noFill/>
          <a:ln/>
        </p:spPr>
        <p:txBody>
          <a:bodyPr wrap="square" lIns="508" tIns="508" rIns="508" bIns="508" rtlCol="0" anchor="t"/>
          <a:lstStyle/>
          <a:p>
            <a:pPr indent="0" marL="0">
              <a:buNone/>
            </a:pPr>
            <a:r>
              <a:rPr lang="en-US" sz="1300" dirty="0">
                <a:solidFill>
                  <a:schemeClr val="tx1"/>
                </a:solidFill>
              </a:rPr>
              <a:t>HMW deliver the evidence so it drops straight into the proposal?</a:t>
            </a:r>
            <a:endParaRPr lang="en-US" sz="1300" dirty="0"/>
          </a:p>
        </p:txBody>
      </p:sp>
      <p:sp>
        <p:nvSpPr>
          <p:cNvPr id="27" name="Sticky-374"/>
          <p:cNvSpPr/>
          <p:nvPr/>
        </p:nvSpPr>
        <p:spPr>
          <a:xfrm>
            <a:off x="6446520" y="4828032"/>
            <a:ext cx="2514600" cy="132588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8" name="Text-375"/>
          <p:cNvSpPr txBox="1"/>
          <p:nvPr/>
        </p:nvSpPr>
        <p:spPr>
          <a:xfrm>
            <a:off x="6519672" y="4892040"/>
            <a:ext cx="2368296" cy="1197864"/>
          </a:xfrm>
          <a:prstGeom prst="rect">
            <a:avLst/>
          </a:prstGeom>
          <a:noFill/>
          <a:ln/>
        </p:spPr>
        <p:txBody>
          <a:bodyPr wrap="square" lIns="508" tIns="508" rIns="508" bIns="508" rtlCol="0" anchor="t"/>
          <a:lstStyle/>
          <a:p>
            <a:pPr indent="0" marL="0">
              <a:buNone/>
            </a:pPr>
            <a:r>
              <a:rPr lang="en-US" sz="1300" dirty="0">
                <a:solidFill>
                  <a:schemeClr val="tx1"/>
                </a:solidFill>
              </a:rPr>
              <a:t>HMW make our guest editors and reviewers visible?</a:t>
            </a:r>
            <a:endParaRPr lang="en-US" sz="1300" dirty="0"/>
          </a:p>
        </p:txBody>
      </p:sp>
      <p:sp>
        <p:nvSpPr>
          <p:cNvPr id="29" name="Sticky-376"/>
          <p:cNvSpPr/>
          <p:nvPr/>
        </p:nvSpPr>
        <p:spPr>
          <a:xfrm>
            <a:off x="9098280" y="4828032"/>
            <a:ext cx="2514600" cy="132588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30" name="Text-377"/>
          <p:cNvSpPr txBox="1"/>
          <p:nvPr/>
        </p:nvSpPr>
        <p:spPr>
          <a:xfrm>
            <a:off x="9171432" y="4892040"/>
            <a:ext cx="2368296" cy="1197864"/>
          </a:xfrm>
          <a:prstGeom prst="rect">
            <a:avLst/>
          </a:prstGeom>
          <a:noFill/>
          <a:ln/>
        </p:spPr>
        <p:txBody>
          <a:bodyPr wrap="square" lIns="508" tIns="508" rIns="508" bIns="508" rtlCol="0" anchor="t"/>
          <a:lstStyle/>
          <a:p>
            <a:pPr indent="0" marL="0">
              <a:buNone/>
            </a:pPr>
            <a:r>
              <a:rPr lang="en-US" sz="1300" dirty="0">
                <a:solidFill>
                  <a:schemeClr val="tx1"/>
                </a:solidFill>
              </a:rPr>
              <a:t>HMW make the two days of spreadsheet work unnecessary?</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2 · STEP 2.2 · EXPERT INTERVIEW 2/3</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Interview: Dr. Rainer Hollmann</a:t>
            </a:r>
            <a:endParaRPr lang="en-US" sz="3200" dirty="0"/>
          </a:p>
        </p:txBody>
      </p:sp>
      <p:sp>
        <p:nvSpPr>
          <p:cNvPr id="4" name="ExpertPanel-378"/>
          <p:cNvSpPr/>
          <p:nvPr/>
        </p:nvSpPr>
        <p:spPr>
          <a:xfrm>
            <a:off x="548640" y="1508760"/>
            <a:ext cx="3063240" cy="4709160"/>
          </a:xfrm>
          <a:prstGeom prst="roundRect">
            <a:avLst>
              <a:gd name="adj" fmla="val 2388"/>
            </a:avLst>
          </a:prstGeom>
          <a:solidFill>
            <a:schemeClr val="bg2"/>
          </a:solidFill>
          <a:ln/>
        </p:spPr>
        <p:txBody>
          <a:bodyPr/>
          <a:p/>
        </p:txBody>
      </p:sp>
      <p:sp>
        <p:nvSpPr>
          <p:cNvPr id="5" name="Circle-379"/>
          <p:cNvSpPr/>
          <p:nvPr/>
        </p:nvSpPr>
        <p:spPr>
          <a:xfrm>
            <a:off x="749808" y="1709928"/>
            <a:ext cx="731520" cy="731520"/>
          </a:xfrm>
          <a:prstGeom prst="ellipse">
            <a:avLst/>
          </a:prstGeom>
          <a:solidFill>
            <a:schemeClr val="accent3"/>
          </a:solidFill>
          <a:ln/>
        </p:spPr>
        <p:txBody>
          <a:bodyPr/>
          <a:p/>
        </p:txBody>
      </p:sp>
      <p:sp>
        <p:nvSpPr>
          <p:cNvPr id="6" name="Text-380"/>
          <p:cNvSpPr txBox="1"/>
          <p:nvPr/>
        </p:nvSpPr>
        <p:spPr>
          <a:xfrm>
            <a:off x="749808" y="1709928"/>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RH</a:t>
            </a:r>
            <a:endParaRPr lang="en-US" sz="1800" dirty="0"/>
          </a:p>
        </p:txBody>
      </p:sp>
      <p:sp>
        <p:nvSpPr>
          <p:cNvPr id="7" name="Text-381"/>
          <p:cNvSpPr txBox="1"/>
          <p:nvPr/>
        </p:nvSpPr>
        <p:spPr>
          <a:xfrm>
            <a:off x="1600200" y="1755648"/>
            <a:ext cx="1920240" cy="274320"/>
          </a:xfrm>
          <a:prstGeom prst="rect">
            <a:avLst/>
          </a:prstGeom>
          <a:noFill/>
          <a:ln/>
        </p:spPr>
        <p:txBody>
          <a:bodyPr wrap="square" lIns="0" tIns="0" rIns="0" bIns="0" rtlCol="0" anchor="t"/>
          <a:lstStyle/>
          <a:p>
            <a:pPr indent="0" marL="0">
              <a:buNone/>
            </a:pPr>
            <a:r>
              <a:rPr lang="en-US" sz="1100" b="1" dirty="0">
                <a:solidFill>
                  <a:schemeClr val="accent6"/>
                </a:solidFill>
              </a:rPr>
              <a:t>Expert · Budget</a:t>
            </a:r>
            <a:endParaRPr lang="en-US" sz="1100" dirty="0"/>
          </a:p>
        </p:txBody>
      </p:sp>
      <p:sp>
        <p:nvSpPr>
          <p:cNvPr id="8" name="Text-382"/>
          <p:cNvSpPr txBox="1"/>
          <p:nvPr/>
        </p:nvSpPr>
        <p:spPr>
          <a:xfrm>
            <a:off x="1600200" y="2029968"/>
            <a:ext cx="1920240" cy="685800"/>
          </a:xfrm>
          <a:prstGeom prst="rect">
            <a:avLst/>
          </a:prstGeom>
          <a:noFill/>
          <a:ln/>
        </p:spPr>
        <p:txBody>
          <a:bodyPr wrap="square" lIns="0" tIns="0" rIns="0" bIns="0" rtlCol="0" anchor="t"/>
          <a:lstStyle/>
          <a:p>
            <a:pPr indent="0" marL="0">
              <a:buNone/>
            </a:pPr>
            <a:r>
              <a:rPr lang="en-US" sz="1100" dirty="0">
                <a:solidFill>
                  <a:schemeClr val="tx1"/>
                </a:solidFill>
              </a:rPr>
              <a:t>Director, University Library, Rheinfeld (DE)</a:t>
            </a:r>
            <a:endParaRPr lang="en-US" sz="1100" dirty="0"/>
          </a:p>
        </p:txBody>
      </p:sp>
      <p:sp>
        <p:nvSpPr>
          <p:cNvPr id="9" name="Text-383"/>
          <p:cNvSpPr txBox="1"/>
          <p:nvPr/>
        </p:nvSpPr>
        <p:spPr>
          <a:xfrm>
            <a:off x="749808" y="2788920"/>
            <a:ext cx="2743200" cy="256032"/>
          </a:xfrm>
          <a:prstGeom prst="rect">
            <a:avLst/>
          </a:prstGeom>
          <a:noFill/>
          <a:ln/>
        </p:spPr>
        <p:txBody>
          <a:bodyPr wrap="square" lIns="0" tIns="0" rIns="0" bIns="0" rtlCol="0" anchor="t"/>
          <a:lstStyle/>
          <a:p>
            <a:pPr indent="0" marL="0">
              <a:buNone/>
            </a:pPr>
            <a:r>
              <a:rPr lang="en-US" sz="1100" b="1" dirty="0">
                <a:solidFill>
                  <a:schemeClr val="accent3"/>
                </a:solidFill>
              </a:rPr>
              <a:t>KEY MESSAGE</a:t>
            </a:r>
            <a:endParaRPr lang="en-US" sz="1100" dirty="0"/>
          </a:p>
        </p:txBody>
      </p:sp>
      <p:sp>
        <p:nvSpPr>
          <p:cNvPr id="10" name="Text-384"/>
          <p:cNvSpPr txBox="1"/>
          <p:nvPr/>
        </p:nvSpPr>
        <p:spPr>
          <a:xfrm>
            <a:off x="749808" y="3044952"/>
            <a:ext cx="2697480" cy="1097280"/>
          </a:xfrm>
          <a:prstGeom prst="rect">
            <a:avLst/>
          </a:prstGeom>
          <a:noFill/>
          <a:ln/>
        </p:spPr>
        <p:txBody>
          <a:bodyPr wrap="square" lIns="0" tIns="0" rIns="0" bIns="0" rtlCol="0" anchor="t"/>
          <a:lstStyle/>
          <a:p>
            <a:pPr indent="0" marL="0">
              <a:buNone/>
            </a:pPr>
            <a:r>
              <a:rPr lang="en-US" sz="1600" b="1" dirty="0">
                <a:solidFill>
                  <a:schemeClr val="tx2"/>
                </a:solidFill>
              </a:rPr>
              <a:t>One page, cost versus benefit – with the method disclosed.</a:t>
            </a:r>
            <a:endParaRPr lang="en-US" sz="1600" dirty="0"/>
          </a:p>
        </p:txBody>
      </p:sp>
      <p:sp>
        <p:nvSpPr>
          <p:cNvPr id="11" name="Text-385"/>
          <p:cNvSpPr txBox="1"/>
          <p:nvPr/>
        </p:nvSpPr>
        <p:spPr>
          <a:xfrm>
            <a:off x="749808" y="4251960"/>
            <a:ext cx="2697480"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Acquisitions budget approx. EUR 6.5m</a:t>
            </a:r>
            <a:endParaRPr lang="en-US" sz="1200" dirty="0"/>
          </a:p>
          <a:p>
            <a:pPr marL="342900" indent="-342900">
              <a:spcAft>
                <a:spcPts val="500"/>
              </a:spcAft>
              <a:buSzPct val="100000"/>
              <a:buChar char="•"/>
            </a:pPr>
            <a:r>
              <a:rPr lang="en-US" sz="1200" dirty="0">
                <a:solidFill>
                  <a:schemeClr val="tx1"/>
                </a:solidFill>
              </a:rPr>
              <a:t>Responsible for around 40 publisher agreements</a:t>
            </a:r>
            <a:endParaRPr lang="en-US" sz="1200" dirty="0"/>
          </a:p>
          <a:p>
            <a:pPr marL="342900" indent="-342900">
              <a:spcAft>
                <a:spcPts val="500"/>
              </a:spcAft>
              <a:buSzPct val="100000"/>
              <a:buChar char="•"/>
            </a:pPr>
            <a:r>
              <a:rPr lang="en-US" sz="1200" dirty="0">
                <a:solidFill>
                  <a:schemeClr val="tx1"/>
                </a:solidFill>
              </a:rPr>
              <a:t>Takes renewals to the Executive Board</a:t>
            </a:r>
            <a:endParaRPr lang="en-US" sz="1200" dirty="0"/>
          </a:p>
        </p:txBody>
      </p:sp>
      <p:sp>
        <p:nvSpPr>
          <p:cNvPr id="12" name="Quote-386"/>
          <p:cNvSpPr/>
          <p:nvPr/>
        </p:nvSpPr>
        <p:spPr>
          <a:xfrm>
            <a:off x="3794760" y="1508760"/>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3" name="Text-387"/>
          <p:cNvSpPr txBox="1"/>
          <p:nvPr/>
        </p:nvSpPr>
        <p:spPr>
          <a:xfrm>
            <a:off x="3904488" y="1527048"/>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14" name="Text-388"/>
          <p:cNvSpPr txBox="1"/>
          <p:nvPr/>
        </p:nvSpPr>
        <p:spPr>
          <a:xfrm>
            <a:off x="4343400" y="1618488"/>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I want one page: what do we pay, what do we get – and what would it cost without the agreement?</a:t>
            </a:r>
            <a:endParaRPr lang="en-US" sz="1400" dirty="0"/>
          </a:p>
        </p:txBody>
      </p:sp>
      <p:sp>
        <p:nvSpPr>
          <p:cNvPr id="15" name="Quote-389"/>
          <p:cNvSpPr/>
          <p:nvPr/>
        </p:nvSpPr>
        <p:spPr>
          <a:xfrm>
            <a:off x="7891272" y="1508760"/>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6" name="Text-390"/>
          <p:cNvSpPr txBox="1"/>
          <p:nvPr/>
        </p:nvSpPr>
        <p:spPr>
          <a:xfrm>
            <a:off x="8001000" y="1527048"/>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17" name="Text-391"/>
          <p:cNvSpPr txBox="1"/>
          <p:nvPr/>
        </p:nvSpPr>
        <p:spPr>
          <a:xfrm>
            <a:off x="8439912" y="1618488"/>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I double-check any figures a publisher reports about itself. No method, no trust.</a:t>
            </a:r>
            <a:endParaRPr lang="en-US" sz="1400" dirty="0"/>
          </a:p>
        </p:txBody>
      </p:sp>
      <p:sp>
        <p:nvSpPr>
          <p:cNvPr id="18" name="Quote-392"/>
          <p:cNvSpPr/>
          <p:nvPr/>
        </p:nvSpPr>
        <p:spPr>
          <a:xfrm>
            <a:off x="3794760" y="2999232"/>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9" name="Text-393"/>
          <p:cNvSpPr txBox="1"/>
          <p:nvPr/>
        </p:nvSpPr>
        <p:spPr>
          <a:xfrm>
            <a:off x="3904488" y="3017520"/>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20" name="Text-394"/>
          <p:cNvSpPr txBox="1"/>
          <p:nvPr/>
        </p:nvSpPr>
        <p:spPr>
          <a:xfrm>
            <a:off x="4343400" y="3108960"/>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Prof. Aigner doesn't ask about Altmetric. She asks whether we meet our OA strategy and DFG requirements.</a:t>
            </a:r>
            <a:endParaRPr lang="en-US" sz="1400" dirty="0"/>
          </a:p>
        </p:txBody>
      </p:sp>
      <p:sp>
        <p:nvSpPr>
          <p:cNvPr id="21" name="Quote-395"/>
          <p:cNvSpPr/>
          <p:nvPr/>
        </p:nvSpPr>
        <p:spPr>
          <a:xfrm>
            <a:off x="7891272" y="2999232"/>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22" name="Text-396"/>
          <p:cNvSpPr txBox="1"/>
          <p:nvPr/>
        </p:nvSpPr>
        <p:spPr>
          <a:xfrm>
            <a:off x="8001000" y="3017520"/>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23" name="Text-397"/>
          <p:cNvSpPr txBox="1"/>
          <p:nvPr/>
        </p:nvSpPr>
        <p:spPr>
          <a:xfrm>
            <a:off x="8439912" y="3108960"/>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I'd top up the prepayment if demand rises and the budget stays predictable.</a:t>
            </a:r>
            <a:endParaRPr lang="en-US" sz="1400" dirty="0"/>
          </a:p>
        </p:txBody>
      </p:sp>
      <p:sp>
        <p:nvSpPr>
          <p:cNvPr id="24" name="Text-398"/>
          <p:cNvSpPr txBox="1"/>
          <p:nvPr/>
        </p:nvSpPr>
        <p:spPr>
          <a:xfrm>
            <a:off x="3794760" y="4526280"/>
            <a:ext cx="5486400" cy="256032"/>
          </a:xfrm>
          <a:prstGeom prst="rect">
            <a:avLst/>
          </a:prstGeom>
          <a:noFill/>
          <a:ln/>
        </p:spPr>
        <p:txBody>
          <a:bodyPr wrap="square" lIns="0" tIns="0" rIns="0" bIns="0" rtlCol="0" anchor="t"/>
          <a:lstStyle/>
          <a:p>
            <a:pPr indent="0" marL="0">
              <a:buNone/>
            </a:pPr>
            <a:r>
              <a:rPr lang="en-US" sz="1100" b="1" dirty="0">
                <a:solidFill>
                  <a:schemeClr val="accent6"/>
                </a:solidFill>
              </a:rPr>
              <a:t>HMW NOTES FROM THE INTERVIEW</a:t>
            </a:r>
            <a:endParaRPr lang="en-US" sz="1100" dirty="0"/>
          </a:p>
        </p:txBody>
      </p:sp>
      <p:sp>
        <p:nvSpPr>
          <p:cNvPr id="25" name="Sticky-399"/>
          <p:cNvSpPr/>
          <p:nvPr/>
        </p:nvSpPr>
        <p:spPr>
          <a:xfrm>
            <a:off x="3794760" y="4828032"/>
            <a:ext cx="2514600" cy="132588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6" name="Text-400"/>
          <p:cNvSpPr txBox="1"/>
          <p:nvPr/>
        </p:nvSpPr>
        <p:spPr>
          <a:xfrm>
            <a:off x="3867912" y="4892040"/>
            <a:ext cx="2368296" cy="1197864"/>
          </a:xfrm>
          <a:prstGeom prst="rect">
            <a:avLst/>
          </a:prstGeom>
          <a:noFill/>
          <a:ln/>
        </p:spPr>
        <p:txBody>
          <a:bodyPr wrap="square" lIns="508" tIns="508" rIns="508" bIns="508" rtlCol="0" anchor="t"/>
          <a:lstStyle/>
          <a:p>
            <a:pPr indent="0" marL="0">
              <a:buNone/>
            </a:pPr>
            <a:r>
              <a:rPr lang="en-US" sz="1300" dirty="0">
                <a:solidFill>
                  <a:schemeClr val="tx1"/>
                </a:solidFill>
              </a:rPr>
              <a:t>HMW show cost per article with and without the agreement?</a:t>
            </a:r>
            <a:endParaRPr lang="en-US" sz="1300" dirty="0"/>
          </a:p>
        </p:txBody>
      </p:sp>
      <p:sp>
        <p:nvSpPr>
          <p:cNvPr id="27" name="Sticky-401"/>
          <p:cNvSpPr/>
          <p:nvPr/>
        </p:nvSpPr>
        <p:spPr>
          <a:xfrm>
            <a:off x="6446520" y="4828032"/>
            <a:ext cx="2514600" cy="132588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8" name="Text-402"/>
          <p:cNvSpPr txBox="1"/>
          <p:nvPr/>
        </p:nvSpPr>
        <p:spPr>
          <a:xfrm>
            <a:off x="6519672" y="4892040"/>
            <a:ext cx="2368296" cy="1197864"/>
          </a:xfrm>
          <a:prstGeom prst="rect">
            <a:avLst/>
          </a:prstGeom>
          <a:noFill/>
          <a:ln/>
        </p:spPr>
        <p:txBody>
          <a:bodyPr wrap="square" lIns="508" tIns="508" rIns="508" bIns="508" rtlCol="0" anchor="t"/>
          <a:lstStyle/>
          <a:p>
            <a:pPr indent="0" marL="0">
              <a:buNone/>
            </a:pPr>
            <a:r>
              <a:rPr lang="en-US" sz="1300" dirty="0">
                <a:solidFill>
                  <a:schemeClr val="tx1"/>
                </a:solidFill>
              </a:rPr>
              <a:t>HMW disclose our calculation method?</a:t>
            </a:r>
            <a:endParaRPr lang="en-US" sz="1300" dirty="0"/>
          </a:p>
        </p:txBody>
      </p:sp>
      <p:sp>
        <p:nvSpPr>
          <p:cNvPr id="29" name="Sticky-403"/>
          <p:cNvSpPr/>
          <p:nvPr/>
        </p:nvSpPr>
        <p:spPr>
          <a:xfrm>
            <a:off x="9098280" y="4828032"/>
            <a:ext cx="2514600" cy="132588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30" name="Text-404"/>
          <p:cNvSpPr txBox="1"/>
          <p:nvPr/>
        </p:nvSpPr>
        <p:spPr>
          <a:xfrm>
            <a:off x="9171432" y="4892040"/>
            <a:ext cx="2368296" cy="1197864"/>
          </a:xfrm>
          <a:prstGeom prst="rect">
            <a:avLst/>
          </a:prstGeom>
          <a:noFill/>
          <a:ln/>
        </p:spPr>
        <p:txBody>
          <a:bodyPr wrap="square" lIns="508" tIns="508" rIns="508" bIns="508" rtlCol="0" anchor="t"/>
          <a:lstStyle/>
          <a:p>
            <a:pPr indent="0" marL="0">
              <a:buNone/>
            </a:pPr>
            <a:r>
              <a:rPr lang="en-US" sz="1300" dirty="0">
                <a:solidFill>
                  <a:schemeClr val="tx1"/>
                </a:solidFill>
              </a:rPr>
              <a:t>HMW prove compliance with OA strategy and funder requirements?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2 · STEP 2.2 · EXPERT INTERVIEW 3/3</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Interview: Ulrike Sandmann</a:t>
            </a:r>
            <a:endParaRPr lang="en-US" sz="3200" dirty="0"/>
          </a:p>
        </p:txBody>
      </p:sp>
      <p:sp>
        <p:nvSpPr>
          <p:cNvPr id="4" name="ExpertPanel-405"/>
          <p:cNvSpPr/>
          <p:nvPr/>
        </p:nvSpPr>
        <p:spPr>
          <a:xfrm>
            <a:off x="548640" y="1508760"/>
            <a:ext cx="3063240" cy="4709160"/>
          </a:xfrm>
          <a:prstGeom prst="roundRect">
            <a:avLst>
              <a:gd name="adj" fmla="val 2388"/>
            </a:avLst>
          </a:prstGeom>
          <a:solidFill>
            <a:schemeClr val="bg2"/>
          </a:solidFill>
          <a:ln/>
        </p:spPr>
        <p:txBody>
          <a:bodyPr/>
          <a:p/>
        </p:txBody>
      </p:sp>
      <p:sp>
        <p:nvSpPr>
          <p:cNvPr id="5" name="Circle-406"/>
          <p:cNvSpPr/>
          <p:nvPr/>
        </p:nvSpPr>
        <p:spPr>
          <a:xfrm>
            <a:off x="749808" y="1709928"/>
            <a:ext cx="731520" cy="731520"/>
          </a:xfrm>
          <a:prstGeom prst="ellipse">
            <a:avLst/>
          </a:prstGeom>
          <a:solidFill>
            <a:schemeClr val="accent6"/>
          </a:solidFill>
          <a:ln/>
        </p:spPr>
        <p:txBody>
          <a:bodyPr/>
          <a:p/>
        </p:txBody>
      </p:sp>
      <p:sp>
        <p:nvSpPr>
          <p:cNvPr id="6" name="Text-407"/>
          <p:cNvSpPr txBox="1"/>
          <p:nvPr/>
        </p:nvSpPr>
        <p:spPr>
          <a:xfrm>
            <a:off x="749808" y="1709928"/>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US</a:t>
            </a:r>
            <a:endParaRPr lang="en-US" sz="1800" dirty="0"/>
          </a:p>
        </p:txBody>
      </p:sp>
      <p:sp>
        <p:nvSpPr>
          <p:cNvPr id="7" name="Text-408"/>
          <p:cNvSpPr txBox="1"/>
          <p:nvPr/>
        </p:nvSpPr>
        <p:spPr>
          <a:xfrm>
            <a:off x="1600200" y="1755648"/>
            <a:ext cx="1920240" cy="274320"/>
          </a:xfrm>
          <a:prstGeom prst="rect">
            <a:avLst/>
          </a:prstGeom>
          <a:noFill/>
          <a:ln/>
        </p:spPr>
        <p:txBody>
          <a:bodyPr wrap="square" lIns="0" tIns="0" rIns="0" bIns="0" rtlCol="0" anchor="t"/>
          <a:lstStyle/>
          <a:p>
            <a:pPr indent="0" marL="0">
              <a:buNone/>
            </a:pPr>
            <a:r>
              <a:rPr lang="en-US" sz="1100" b="1" dirty="0">
                <a:solidFill>
                  <a:schemeClr val="accent6"/>
                </a:solidFill>
              </a:rPr>
              <a:t>Expert · Market &amp; policy</a:t>
            </a:r>
            <a:endParaRPr lang="en-US" sz="1100" dirty="0"/>
          </a:p>
        </p:txBody>
      </p:sp>
      <p:sp>
        <p:nvSpPr>
          <p:cNvPr id="8" name="Text-409"/>
          <p:cNvSpPr txBox="1"/>
          <p:nvPr/>
        </p:nvSpPr>
        <p:spPr>
          <a:xfrm>
            <a:off x="1600200" y="2029968"/>
            <a:ext cx="1920240" cy="685800"/>
          </a:xfrm>
          <a:prstGeom prst="rect">
            <a:avLst/>
          </a:prstGeom>
          <a:noFill/>
          <a:ln/>
        </p:spPr>
        <p:txBody>
          <a:bodyPr wrap="square" lIns="0" tIns="0" rIns="0" bIns="0" rtlCol="0" anchor="t"/>
          <a:lstStyle/>
          <a:p>
            <a:pPr indent="0" marL="0">
              <a:buNone/>
            </a:pPr>
            <a:r>
              <a:rPr lang="en-US" sz="1100" dirty="0">
                <a:solidFill>
                  <a:schemeClr val="tx1"/>
                </a:solidFill>
              </a:rPr>
              <a:t>Head of Licensing and Consortium Negotiations, Southern Library Consortium</a:t>
            </a:r>
            <a:endParaRPr lang="en-US" sz="1100" dirty="0"/>
          </a:p>
        </p:txBody>
      </p:sp>
      <p:sp>
        <p:nvSpPr>
          <p:cNvPr id="9" name="Text-410"/>
          <p:cNvSpPr txBox="1"/>
          <p:nvPr/>
        </p:nvSpPr>
        <p:spPr>
          <a:xfrm>
            <a:off x="749808" y="2788920"/>
            <a:ext cx="2743200" cy="256032"/>
          </a:xfrm>
          <a:prstGeom prst="rect">
            <a:avLst/>
          </a:prstGeom>
          <a:noFill/>
          <a:ln/>
        </p:spPr>
        <p:txBody>
          <a:bodyPr wrap="square" lIns="0" tIns="0" rIns="0" bIns="0" rtlCol="0" anchor="t"/>
          <a:lstStyle/>
          <a:p>
            <a:pPr indent="0" marL="0">
              <a:buNone/>
            </a:pPr>
            <a:r>
              <a:rPr lang="en-US" sz="1100" b="1" dirty="0">
                <a:solidFill>
                  <a:schemeClr val="accent3"/>
                </a:solidFill>
              </a:rPr>
              <a:t>KEY MESSAGE</a:t>
            </a:r>
            <a:endParaRPr lang="en-US" sz="1100" dirty="0"/>
          </a:p>
        </p:txBody>
      </p:sp>
      <p:sp>
        <p:nvSpPr>
          <p:cNvPr id="10" name="Text-411"/>
          <p:cNvSpPr txBox="1"/>
          <p:nvPr/>
        </p:nvSpPr>
        <p:spPr>
          <a:xfrm>
            <a:off x="749808" y="3044952"/>
            <a:ext cx="2697480" cy="1097280"/>
          </a:xfrm>
          <a:prstGeom prst="rect">
            <a:avLst/>
          </a:prstGeom>
          <a:noFill/>
          <a:ln/>
        </p:spPr>
        <p:txBody>
          <a:bodyPr wrap="square" lIns="0" tIns="0" rIns="0" bIns="0" rtlCol="0" anchor="t"/>
          <a:lstStyle/>
          <a:p>
            <a:pPr indent="0" marL="0">
              <a:buNone/>
            </a:pPr>
            <a:r>
              <a:rPr lang="en-US" sz="1600" b="1" dirty="0">
                <a:solidFill>
                  <a:schemeClr val="tx2"/>
                </a:solidFill>
              </a:rPr>
              <a:t>Without comparability there is no argument.</a:t>
            </a:r>
            <a:endParaRPr lang="en-US" sz="1600" dirty="0"/>
          </a:p>
        </p:txBody>
      </p:sp>
      <p:sp>
        <p:nvSpPr>
          <p:cNvPr id="11" name="Text-412"/>
          <p:cNvSpPr txBox="1"/>
          <p:nvPr/>
        </p:nvSpPr>
        <p:spPr>
          <a:xfrm>
            <a:off x="749808" y="4251960"/>
            <a:ext cx="2697480"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Negotiates for 14 institutions</a:t>
            </a:r>
            <a:endParaRPr lang="en-US" sz="1200" dirty="0"/>
          </a:p>
          <a:p>
            <a:pPr marL="342900" indent="-342900">
              <a:spcAft>
                <a:spcPts val="500"/>
              </a:spcAft>
              <a:buSzPct val="100000"/>
              <a:buChar char="•"/>
            </a:pPr>
            <a:r>
              <a:rPr lang="en-US" sz="1200" dirty="0">
                <a:solidFill>
                  <a:schemeClr val="tx1"/>
                </a:solidFill>
              </a:rPr>
              <a:t>Runs cross-publisher OA monitoring</a:t>
            </a:r>
            <a:endParaRPr lang="en-US" sz="1200" dirty="0"/>
          </a:p>
          <a:p>
            <a:pPr marL="342900" indent="-342900">
              <a:spcAft>
                <a:spcPts val="500"/>
              </a:spcAft>
              <a:buSzPct val="100000"/>
              <a:buChar char="•"/>
            </a:pPr>
            <a:r>
              <a:rPr lang="en-US" sz="1200" dirty="0">
                <a:solidFill>
                  <a:schemeClr val="tx1"/>
                </a:solidFill>
              </a:rPr>
              <a:t>Rates agreements by cost per article</a:t>
            </a:r>
            <a:endParaRPr lang="en-US" sz="1200" dirty="0"/>
          </a:p>
        </p:txBody>
      </p:sp>
      <p:sp>
        <p:nvSpPr>
          <p:cNvPr id="12" name="Quote-413"/>
          <p:cNvSpPr/>
          <p:nvPr/>
        </p:nvSpPr>
        <p:spPr>
          <a:xfrm>
            <a:off x="3794760" y="1508760"/>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3" name="Text-414"/>
          <p:cNvSpPr txBox="1"/>
          <p:nvPr/>
        </p:nvSpPr>
        <p:spPr>
          <a:xfrm>
            <a:off x="3904488" y="1527048"/>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14" name="Text-415"/>
          <p:cNvSpPr txBox="1"/>
          <p:nvPr/>
        </p:nvSpPr>
        <p:spPr>
          <a:xfrm>
            <a:off x="4343400" y="1618488"/>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We calculate every agreement the same way: cost per article, OA share, flexibility.</a:t>
            </a:r>
            <a:endParaRPr lang="en-US" sz="1400" dirty="0"/>
          </a:p>
        </p:txBody>
      </p:sp>
      <p:sp>
        <p:nvSpPr>
          <p:cNvPr id="15" name="Quote-416"/>
          <p:cNvSpPr/>
          <p:nvPr/>
        </p:nvSpPr>
        <p:spPr>
          <a:xfrm>
            <a:off x="7891272" y="1508760"/>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6" name="Text-417"/>
          <p:cNvSpPr txBox="1"/>
          <p:nvPr/>
        </p:nvSpPr>
        <p:spPr>
          <a:xfrm>
            <a:off x="8001000" y="1527048"/>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17" name="Text-418"/>
          <p:cNvSpPr txBox="1"/>
          <p:nvPr/>
        </p:nvSpPr>
        <p:spPr>
          <a:xfrm>
            <a:off x="8439912" y="1618488"/>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A publisher report in its own layout has to be reworked first. I need a standard format for our monitoring.</a:t>
            </a:r>
            <a:endParaRPr lang="en-US" sz="1400" dirty="0"/>
          </a:p>
        </p:txBody>
      </p:sp>
      <p:sp>
        <p:nvSpPr>
          <p:cNvPr id="18" name="Quote-419"/>
          <p:cNvSpPr/>
          <p:nvPr/>
        </p:nvSpPr>
        <p:spPr>
          <a:xfrm>
            <a:off x="3794760" y="2999232"/>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9" name="Text-420"/>
          <p:cNvSpPr txBox="1"/>
          <p:nvPr/>
        </p:nvSpPr>
        <p:spPr>
          <a:xfrm>
            <a:off x="3904488" y="3017520"/>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20" name="Text-421"/>
          <p:cNvSpPr txBox="1"/>
          <p:nvPr/>
        </p:nvSpPr>
        <p:spPr>
          <a:xfrm>
            <a:off x="4343400" y="3108960"/>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My members ask: where do we stand compared with similar institutions?</a:t>
            </a:r>
            <a:endParaRPr lang="en-US" sz="1400" dirty="0"/>
          </a:p>
        </p:txBody>
      </p:sp>
      <p:sp>
        <p:nvSpPr>
          <p:cNvPr id="21" name="Quote-422"/>
          <p:cNvSpPr/>
          <p:nvPr/>
        </p:nvSpPr>
        <p:spPr>
          <a:xfrm>
            <a:off x="7891272" y="2999232"/>
            <a:ext cx="3931920" cy="1353312"/>
          </a:xfrm>
          <a:prstGeom prst="roundRect">
            <a:avLst>
              <a:gd name="adj" fmla="val 5405"/>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22" name="Text-423"/>
          <p:cNvSpPr txBox="1"/>
          <p:nvPr/>
        </p:nvSpPr>
        <p:spPr>
          <a:xfrm>
            <a:off x="8001000" y="3017520"/>
            <a:ext cx="457200" cy="5486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a:t>
            </a:r>
            <a:endParaRPr lang="en-US" sz="4000" dirty="0"/>
          </a:p>
        </p:txBody>
      </p:sp>
      <p:sp>
        <p:nvSpPr>
          <p:cNvPr id="23" name="Text-424"/>
          <p:cNvSpPr txBox="1"/>
          <p:nvPr/>
        </p:nvSpPr>
        <p:spPr>
          <a:xfrm>
            <a:off x="8439912" y="3108960"/>
            <a:ext cx="3246120" cy="1133856"/>
          </a:xfrm>
          <a:prstGeom prst="rect">
            <a:avLst/>
          </a:prstGeom>
          <a:noFill/>
          <a:ln/>
        </p:spPr>
        <p:txBody>
          <a:bodyPr wrap="square" lIns="0" tIns="0" rIns="0" bIns="0" rtlCol="0" anchor="ctr"/>
          <a:lstStyle/>
          <a:p>
            <a:pPr indent="0" marL="0">
              <a:buNone/>
            </a:pPr>
            <a:r>
              <a:rPr lang="en-US" sz="1400" i="1" dirty="0">
                <a:solidFill>
                  <a:schemeClr val="tx1"/>
                </a:solidFill>
              </a:rPr>
              <a:t>Funders require OA and open data. Anyone who can prove it has a strong argument.</a:t>
            </a:r>
            <a:endParaRPr lang="en-US" sz="1400" dirty="0"/>
          </a:p>
        </p:txBody>
      </p:sp>
      <p:sp>
        <p:nvSpPr>
          <p:cNvPr id="24" name="Text-425"/>
          <p:cNvSpPr txBox="1"/>
          <p:nvPr/>
        </p:nvSpPr>
        <p:spPr>
          <a:xfrm>
            <a:off x="3794760" y="4526280"/>
            <a:ext cx="5486400" cy="256032"/>
          </a:xfrm>
          <a:prstGeom prst="rect">
            <a:avLst/>
          </a:prstGeom>
          <a:noFill/>
          <a:ln/>
        </p:spPr>
        <p:txBody>
          <a:bodyPr wrap="square" lIns="0" tIns="0" rIns="0" bIns="0" rtlCol="0" anchor="t"/>
          <a:lstStyle/>
          <a:p>
            <a:pPr indent="0" marL="0">
              <a:buNone/>
            </a:pPr>
            <a:r>
              <a:rPr lang="en-US" sz="1100" b="1" dirty="0">
                <a:solidFill>
                  <a:schemeClr val="accent6"/>
                </a:solidFill>
              </a:rPr>
              <a:t>HMW NOTES FROM THE INTERVIEW</a:t>
            </a:r>
            <a:endParaRPr lang="en-US" sz="1100" dirty="0"/>
          </a:p>
        </p:txBody>
      </p:sp>
      <p:sp>
        <p:nvSpPr>
          <p:cNvPr id="25" name="Sticky-426"/>
          <p:cNvSpPr/>
          <p:nvPr/>
        </p:nvSpPr>
        <p:spPr>
          <a:xfrm>
            <a:off x="3794760" y="4828032"/>
            <a:ext cx="2514600" cy="132588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6" name="Text-427"/>
          <p:cNvSpPr txBox="1"/>
          <p:nvPr/>
        </p:nvSpPr>
        <p:spPr>
          <a:xfrm>
            <a:off x="3867912" y="4892040"/>
            <a:ext cx="2368296" cy="1197864"/>
          </a:xfrm>
          <a:prstGeom prst="rect">
            <a:avLst/>
          </a:prstGeom>
          <a:noFill/>
          <a:ln/>
        </p:spPr>
        <p:txBody>
          <a:bodyPr wrap="square" lIns="508" tIns="508" rIns="508" bIns="508" rtlCol="0" anchor="t"/>
          <a:lstStyle/>
          <a:p>
            <a:pPr indent="0" marL="0">
              <a:buNone/>
            </a:pPr>
            <a:r>
              <a:rPr lang="en-US" sz="1300" dirty="0">
                <a:solidFill>
                  <a:schemeClr val="tx1"/>
                </a:solidFill>
              </a:rPr>
              <a:t>HMW deliver reports in a standard format consortia can adopt?</a:t>
            </a:r>
            <a:endParaRPr lang="en-US" sz="1300" dirty="0"/>
          </a:p>
        </p:txBody>
      </p:sp>
      <p:sp>
        <p:nvSpPr>
          <p:cNvPr id="27" name="Sticky-428"/>
          <p:cNvSpPr/>
          <p:nvPr/>
        </p:nvSpPr>
        <p:spPr>
          <a:xfrm>
            <a:off x="6446520" y="4828032"/>
            <a:ext cx="2514600" cy="132588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8" name="Text-429"/>
          <p:cNvSpPr txBox="1"/>
          <p:nvPr/>
        </p:nvSpPr>
        <p:spPr>
          <a:xfrm>
            <a:off x="6519672" y="4892040"/>
            <a:ext cx="2368296" cy="1197864"/>
          </a:xfrm>
          <a:prstGeom prst="rect">
            <a:avLst/>
          </a:prstGeom>
          <a:noFill/>
          <a:ln/>
        </p:spPr>
        <p:txBody>
          <a:bodyPr wrap="square" lIns="508" tIns="508" rIns="508" bIns="508" rtlCol="0" anchor="t"/>
          <a:lstStyle/>
          <a:p>
            <a:pPr indent="0" marL="0">
              <a:buNone/>
            </a:pPr>
            <a:r>
              <a:rPr lang="en-US" sz="1300" dirty="0">
                <a:solidFill>
                  <a:schemeClr val="tx1"/>
                </a:solidFill>
              </a:rPr>
              <a:t>HMW offer fair benchmarks against similar institutions?</a:t>
            </a:r>
            <a:endParaRPr lang="en-US" sz="1300" dirty="0"/>
          </a:p>
        </p:txBody>
      </p:sp>
      <p:sp>
        <p:nvSpPr>
          <p:cNvPr id="29" name="Sticky-430"/>
          <p:cNvSpPr/>
          <p:nvPr/>
        </p:nvSpPr>
        <p:spPr>
          <a:xfrm>
            <a:off x="9098280" y="4828032"/>
            <a:ext cx="2514600" cy="132588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30" name="Text-431"/>
          <p:cNvSpPr txBox="1"/>
          <p:nvPr/>
        </p:nvSpPr>
        <p:spPr>
          <a:xfrm>
            <a:off x="9171432" y="4892040"/>
            <a:ext cx="2368296" cy="1197864"/>
          </a:xfrm>
          <a:prstGeom prst="rect">
            <a:avLst/>
          </a:prstGeom>
          <a:noFill/>
          <a:ln/>
        </p:spPr>
        <p:txBody>
          <a:bodyPr wrap="square" lIns="508" tIns="508" rIns="508" bIns="508" rtlCol="0" anchor="t"/>
          <a:lstStyle/>
          <a:p>
            <a:pPr indent="0" marL="0">
              <a:buNone/>
            </a:pPr>
            <a:r>
              <a:rPr lang="en-US" sz="1300" dirty="0">
                <a:solidFill>
                  <a:schemeClr val="tx1"/>
                </a:solidFill>
              </a:rPr>
              <a:t>HMW prove funder compliance automatically?</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2 · STEP 2.3 · AI SYNTHESIS OF THE INTERVIEWS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Six themes from 48 notes</a:t>
            </a:r>
            <a:endParaRPr lang="en-US" sz="3200" dirty="0"/>
          </a:p>
        </p:txBody>
      </p:sp>
      <p:sp>
        <p:nvSpPr>
          <p:cNvPr id="4" name="Box-432"/>
          <p:cNvSpPr/>
          <p:nvPr/>
        </p:nvSpPr>
        <p:spPr>
          <a:xfrm>
            <a:off x="11183112" y="329184"/>
            <a:ext cx="457200" cy="256032"/>
          </a:xfrm>
          <a:prstGeom prst="roundRect">
            <a:avLst>
              <a:gd name="adj" fmla="val 50000"/>
            </a:avLst>
          </a:prstGeom>
          <a:solidFill>
            <a:schemeClr val="accent5"/>
          </a:solidFill>
          <a:ln/>
        </p:spPr>
        <p:txBody>
          <a:bodyPr/>
          <a:p/>
        </p:txBody>
      </p:sp>
      <p:sp>
        <p:nvSpPr>
          <p:cNvPr id="5" name="Text-433"/>
          <p:cNvSpPr txBox="1"/>
          <p:nvPr/>
        </p:nvSpPr>
        <p:spPr>
          <a:xfrm>
            <a:off x="11183112" y="329184"/>
            <a:ext cx="457200" cy="256032"/>
          </a:xfrm>
          <a:prstGeom prst="rect">
            <a:avLst/>
          </a:prstGeom>
          <a:noFill/>
          <a:ln/>
        </p:spPr>
        <p:txBody>
          <a:bodyPr wrap="square" lIns="0" tIns="0" rIns="0" bIns="0" rtlCol="0" anchor="ctr"/>
          <a:lstStyle/>
          <a:p>
            <a:pPr algn="ctr" indent="0" marL="0">
              <a:buNone/>
            </a:pPr>
            <a:r>
              <a:rPr lang="en-US" sz="1000" b="1" dirty="0">
                <a:solidFill>
                  <a:schemeClr val="bg1"/>
                </a:solidFill>
              </a:rPr>
              <a:t>AI</a:t>
            </a:r>
            <a:endParaRPr lang="en-US" sz="1000" dirty="0"/>
          </a:p>
        </p:txBody>
      </p:sp>
      <p:graphicFrame>
        <p:nvGraphicFramePr>
          <p:cNvPr id="6" name="Chart 0" descr=""/>
          <p:cNvGraphicFramePr/>
          <p:nvPr/>
        </p:nvGraphicFramePr>
        <p:xfrm>
          <a:off x="548640" y="150876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7" name="Surprise-434"/>
          <p:cNvSpPr/>
          <p:nvPr/>
        </p:nvSpPr>
        <p:spPr>
          <a:xfrm>
            <a:off x="7452360" y="1508760"/>
            <a:ext cx="4187952" cy="2377440"/>
          </a:xfrm>
          <a:prstGeom prst="roundRect">
            <a:avLst>
              <a:gd name="adj" fmla="val 3077"/>
            </a:avLst>
          </a:prstGeom>
          <a:solidFill>
            <a:schemeClr val="accent3">
              <a:alpha val="12000"/>
            </a:schemeClr>
          </a:solidFill>
          <a:ln/>
        </p:spPr>
        <p:txBody>
          <a:bodyPr/>
          <a:p/>
        </p:txBody>
      </p:sp>
      <p:sp>
        <p:nvSpPr>
          <p:cNvPr id="8" name="Text-435"/>
          <p:cNvSpPr txBox="1"/>
          <p:nvPr/>
        </p:nvSpPr>
        <p:spPr>
          <a:xfrm>
            <a:off x="7680960" y="1645920"/>
            <a:ext cx="3749040" cy="320040"/>
          </a:xfrm>
          <a:prstGeom prst="rect">
            <a:avLst/>
          </a:prstGeom>
          <a:noFill/>
          <a:ln/>
        </p:spPr>
        <p:txBody>
          <a:bodyPr wrap="square" lIns="0" tIns="0" rIns="0" bIns="0" rtlCol="0" anchor="t"/>
          <a:lstStyle/>
          <a:p>
            <a:pPr indent="0" marL="0">
              <a:buNone/>
            </a:pPr>
            <a:r>
              <a:rPr lang="en-US" sz="1600" b="1" dirty="0">
                <a:solidFill>
                  <a:schemeClr val="accent3"/>
                </a:solidFill>
              </a:rPr>
              <a:t>Surprise</a:t>
            </a:r>
            <a:endParaRPr lang="en-US" sz="1600" dirty="0"/>
          </a:p>
        </p:txBody>
      </p:sp>
      <p:sp>
        <p:nvSpPr>
          <p:cNvPr id="9" name="Text-436"/>
          <p:cNvSpPr txBox="1"/>
          <p:nvPr/>
        </p:nvSpPr>
        <p:spPr>
          <a:xfrm>
            <a:off x="7680960" y="2011680"/>
            <a:ext cx="3749040" cy="1783080"/>
          </a:xfrm>
          <a:prstGeom prst="rect">
            <a:avLst/>
          </a:prstGeom>
          <a:noFill/>
          <a:ln/>
        </p:spPr>
        <p:txBody>
          <a:bodyPr wrap="square" lIns="0" tIns="0" rIns="0" bIns="0" rtlCol="0" anchor="t"/>
          <a:lstStyle/>
          <a:p>
            <a:pPr indent="0" marL="0">
              <a:buNone/>
            </a:pPr>
            <a:r>
              <a:rPr lang="en-US" sz="1400" dirty="0">
                <a:solidFill>
                  <a:schemeClr val="tx1"/>
                </a:solidFill>
              </a:rPr>
              <a:t>All three ranked impact figures (citations, Altmetric) – assumed internally to be the main argument – as secondary. Stronger than expected: own researchers as editors.</a:t>
            </a:r>
            <a:endParaRPr lang="en-US" sz="1400" dirty="0"/>
          </a:p>
        </p:txBody>
      </p:sp>
      <p:sp>
        <p:nvSpPr>
          <p:cNvPr id="10" name="Pattern-437"/>
          <p:cNvSpPr/>
          <p:nvPr/>
        </p:nvSpPr>
        <p:spPr>
          <a:xfrm>
            <a:off x="7452360" y="4023360"/>
            <a:ext cx="4187952" cy="2148840"/>
          </a:xfrm>
          <a:prstGeom prst="roundRect">
            <a:avLst>
              <a:gd name="adj" fmla="val 3404"/>
            </a:avLst>
          </a:prstGeom>
          <a:solidFill>
            <a:schemeClr val="bg2"/>
          </a:solidFill>
          <a:ln/>
        </p:spPr>
        <p:txBody>
          <a:bodyPr/>
          <a:p/>
        </p:txBody>
      </p:sp>
      <p:sp>
        <p:nvSpPr>
          <p:cNvPr id="11" name="Text-438"/>
          <p:cNvSpPr txBox="1"/>
          <p:nvPr/>
        </p:nvSpPr>
        <p:spPr>
          <a:xfrm>
            <a:off x="7680960" y="4160520"/>
            <a:ext cx="3749040" cy="320040"/>
          </a:xfrm>
          <a:prstGeom prst="rect">
            <a:avLst/>
          </a:prstGeom>
          <a:noFill/>
          <a:ln/>
        </p:spPr>
        <p:txBody>
          <a:bodyPr wrap="square" lIns="0" tIns="0" rIns="0" bIns="0" rtlCol="0" anchor="t"/>
          <a:lstStyle/>
          <a:p>
            <a:pPr indent="0" marL="0">
              <a:buNone/>
            </a:pPr>
            <a:r>
              <a:rPr lang="en-US" sz="1600" b="1" dirty="0">
                <a:solidFill>
                  <a:schemeClr val="tx2"/>
                </a:solidFill>
              </a:rPr>
              <a:t>Pattern across all interviews</a:t>
            </a:r>
            <a:endParaRPr lang="en-US" sz="1600" dirty="0"/>
          </a:p>
        </p:txBody>
      </p:sp>
      <p:sp>
        <p:nvSpPr>
          <p:cNvPr id="12" name="Text-439"/>
          <p:cNvSpPr txBox="1"/>
          <p:nvPr/>
        </p:nvSpPr>
        <p:spPr>
          <a:xfrm>
            <a:off x="7680960" y="4526280"/>
            <a:ext cx="3749040" cy="1554480"/>
          </a:xfrm>
          <a:prstGeom prst="rect">
            <a:avLst/>
          </a:prstGeom>
          <a:noFill/>
          <a:ln/>
        </p:spPr>
        <p:txBody>
          <a:bodyPr wrap="square" lIns="0" tIns="0" rIns="0" bIns="0" rtlCol="0" anchor="t"/>
          <a:lstStyle/>
          <a:p>
            <a:pPr indent="0" marL="0">
              <a:buNone/>
            </a:pPr>
            <a:r>
              <a:rPr lang="en-US" sz="1400" dirty="0">
                <a:solidFill>
                  <a:schemeClr val="tx1"/>
                </a:solidFill>
              </a:rPr>
              <a:t>Nobody wants another dashboard. What's needed are ready-made, verifiable formats that reach decision-makers without rework.</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2 · STEP 2.4 · HMW SESSION &amp; VOTING</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How might we …? – clustered and voted</a:t>
            </a:r>
            <a:endParaRPr lang="en-US" sz="3200" dirty="0"/>
          </a:p>
        </p:txBody>
      </p:sp>
      <p:sp>
        <p:nvSpPr>
          <p:cNvPr id="4" name="Text-440"/>
          <p:cNvSpPr txBox="1"/>
          <p:nvPr/>
        </p:nvSpPr>
        <p:spPr>
          <a:xfrm>
            <a:off x="548640" y="1463040"/>
            <a:ext cx="1783080" cy="320040"/>
          </a:xfrm>
          <a:prstGeom prst="rect">
            <a:avLst/>
          </a:prstGeom>
          <a:noFill/>
          <a:ln/>
        </p:spPr>
        <p:txBody>
          <a:bodyPr wrap="square" lIns="0" tIns="0" rIns="0" bIns="0" rtlCol="0" anchor="t"/>
          <a:lstStyle/>
          <a:p>
            <a:pPr algn="ctr" indent="0" marL="0">
              <a:buNone/>
            </a:pPr>
            <a:r>
              <a:rPr lang="en-US" sz="1300" b="1" dirty="0">
                <a:solidFill>
                  <a:schemeClr val="tx2"/>
                </a:solidFill>
              </a:rPr>
              <a:t>Format &amp; access</a:t>
            </a:r>
            <a:endParaRPr lang="en-US" sz="1300" dirty="0"/>
          </a:p>
        </p:txBody>
      </p:sp>
      <p:sp>
        <p:nvSpPr>
          <p:cNvPr id="5" name="Sticky-441"/>
          <p:cNvSpPr/>
          <p:nvPr/>
        </p:nvSpPr>
        <p:spPr>
          <a:xfrm>
            <a:off x="548640" y="184708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6" name="Text-442"/>
          <p:cNvSpPr txBox="1"/>
          <p:nvPr/>
        </p:nvSpPr>
        <p:spPr>
          <a:xfrm>
            <a:off x="621792" y="191109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turn the evidence into a slide that goes straight into the budget meeting?</a:t>
            </a:r>
            <a:endParaRPr lang="en-US" sz="1200" dirty="0"/>
          </a:p>
        </p:txBody>
      </p:sp>
      <p:sp>
        <p:nvSpPr>
          <p:cNvPr id="7" name="Circle-443"/>
          <p:cNvSpPr/>
          <p:nvPr/>
        </p:nvSpPr>
        <p:spPr>
          <a:xfrm>
            <a:off x="640080" y="3493008"/>
            <a:ext cx="201168" cy="201168"/>
          </a:xfrm>
          <a:prstGeom prst="ellipse">
            <a:avLst/>
          </a:prstGeom>
          <a:solidFill>
            <a:schemeClr val="accent3"/>
          </a:solidFill>
          <a:ln/>
        </p:spPr>
        <p:txBody>
          <a:bodyPr/>
          <a:p/>
        </p:txBody>
      </p:sp>
      <p:sp>
        <p:nvSpPr>
          <p:cNvPr id="8" name="Circle-444"/>
          <p:cNvSpPr/>
          <p:nvPr/>
        </p:nvSpPr>
        <p:spPr>
          <a:xfrm>
            <a:off x="886968" y="3493008"/>
            <a:ext cx="201168" cy="201168"/>
          </a:xfrm>
          <a:prstGeom prst="ellipse">
            <a:avLst/>
          </a:prstGeom>
          <a:solidFill>
            <a:schemeClr val="accent3"/>
          </a:solidFill>
          <a:ln/>
        </p:spPr>
        <p:txBody>
          <a:bodyPr/>
          <a:p/>
        </p:txBody>
      </p:sp>
      <p:sp>
        <p:nvSpPr>
          <p:cNvPr id="9" name="Circle-445"/>
          <p:cNvSpPr/>
          <p:nvPr/>
        </p:nvSpPr>
        <p:spPr>
          <a:xfrm>
            <a:off x="1133856" y="3493008"/>
            <a:ext cx="201168" cy="201168"/>
          </a:xfrm>
          <a:prstGeom prst="ellipse">
            <a:avLst/>
          </a:prstGeom>
          <a:solidFill>
            <a:schemeClr val="accent3"/>
          </a:solidFill>
          <a:ln/>
        </p:spPr>
        <p:txBody>
          <a:bodyPr/>
          <a:p/>
        </p:txBody>
      </p:sp>
      <p:sp>
        <p:nvSpPr>
          <p:cNvPr id="10" name="Circle-446"/>
          <p:cNvSpPr/>
          <p:nvPr/>
        </p:nvSpPr>
        <p:spPr>
          <a:xfrm>
            <a:off x="1380744" y="3493008"/>
            <a:ext cx="201168" cy="201168"/>
          </a:xfrm>
          <a:prstGeom prst="ellipse">
            <a:avLst/>
          </a:prstGeom>
          <a:solidFill>
            <a:schemeClr val="accent3"/>
          </a:solidFill>
          <a:ln/>
        </p:spPr>
        <p:txBody>
          <a:bodyPr/>
          <a:p/>
        </p:txBody>
      </p:sp>
      <p:sp>
        <p:nvSpPr>
          <p:cNvPr id="11" name="Circle-447"/>
          <p:cNvSpPr/>
          <p:nvPr/>
        </p:nvSpPr>
        <p:spPr>
          <a:xfrm>
            <a:off x="1627632" y="3493008"/>
            <a:ext cx="201168" cy="201168"/>
          </a:xfrm>
          <a:prstGeom prst="ellipse">
            <a:avLst/>
          </a:prstGeom>
          <a:solidFill>
            <a:schemeClr val="accent3"/>
          </a:solidFill>
          <a:ln/>
        </p:spPr>
        <p:txBody>
          <a:bodyPr/>
          <a:p/>
        </p:txBody>
      </p:sp>
      <p:sp>
        <p:nvSpPr>
          <p:cNvPr id="12" name="Box-448"/>
          <p:cNvSpPr/>
          <p:nvPr/>
        </p:nvSpPr>
        <p:spPr>
          <a:xfrm>
            <a:off x="1645920" y="3456432"/>
            <a:ext cx="594360" cy="274320"/>
          </a:xfrm>
          <a:prstGeom prst="roundRect">
            <a:avLst>
              <a:gd name="adj" fmla="val 46667"/>
            </a:avLst>
          </a:prstGeom>
          <a:solidFill>
            <a:schemeClr val="tx2"/>
          </a:solidFill>
          <a:ln/>
        </p:spPr>
        <p:txBody>
          <a:bodyPr/>
          <a:p/>
        </p:txBody>
      </p:sp>
      <p:sp>
        <p:nvSpPr>
          <p:cNvPr id="13" name="Text-449"/>
          <p:cNvSpPr txBox="1"/>
          <p:nvPr/>
        </p:nvSpPr>
        <p:spPr>
          <a:xfrm>
            <a:off x="1645920" y="3456432"/>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TOP 1</a:t>
            </a:r>
            <a:endParaRPr lang="en-US" sz="1000" dirty="0"/>
          </a:p>
        </p:txBody>
      </p:sp>
      <p:sp>
        <p:nvSpPr>
          <p:cNvPr id="14" name="Sticky-450"/>
          <p:cNvSpPr/>
          <p:nvPr/>
        </p:nvSpPr>
        <p:spPr>
          <a:xfrm>
            <a:off x="548640" y="395020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15" name="Text-451"/>
          <p:cNvSpPr txBox="1"/>
          <p:nvPr/>
        </p:nvSpPr>
        <p:spPr>
          <a:xfrm>
            <a:off x="621792" y="401421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make logins unnecessary for librarians?</a:t>
            </a:r>
            <a:endParaRPr lang="en-US" sz="1200" dirty="0"/>
          </a:p>
        </p:txBody>
      </p:sp>
      <p:sp>
        <p:nvSpPr>
          <p:cNvPr id="16" name="Circle-452"/>
          <p:cNvSpPr/>
          <p:nvPr/>
        </p:nvSpPr>
        <p:spPr>
          <a:xfrm>
            <a:off x="640080" y="5596128"/>
            <a:ext cx="201168" cy="201168"/>
          </a:xfrm>
          <a:prstGeom prst="ellipse">
            <a:avLst/>
          </a:prstGeom>
          <a:solidFill>
            <a:schemeClr val="accent3"/>
          </a:solidFill>
          <a:ln/>
        </p:spPr>
        <p:txBody>
          <a:bodyPr/>
          <a:p/>
        </p:txBody>
      </p:sp>
      <p:sp>
        <p:nvSpPr>
          <p:cNvPr id="17" name="Text-453"/>
          <p:cNvSpPr txBox="1"/>
          <p:nvPr/>
        </p:nvSpPr>
        <p:spPr>
          <a:xfrm>
            <a:off x="2410358" y="1463040"/>
            <a:ext cx="1783080" cy="320040"/>
          </a:xfrm>
          <a:prstGeom prst="rect">
            <a:avLst/>
          </a:prstGeom>
          <a:noFill/>
          <a:ln/>
        </p:spPr>
        <p:txBody>
          <a:bodyPr wrap="square" lIns="0" tIns="0" rIns="0" bIns="0" rtlCol="0" anchor="t"/>
          <a:lstStyle/>
          <a:p>
            <a:pPr algn="ctr" indent="0" marL="0">
              <a:buNone/>
            </a:pPr>
            <a:r>
              <a:rPr lang="en-US" sz="1300" b="1" dirty="0">
                <a:solidFill>
                  <a:schemeClr val="tx2"/>
                </a:solidFill>
              </a:rPr>
              <a:t>Credibility</a:t>
            </a:r>
            <a:endParaRPr lang="en-US" sz="1300" dirty="0"/>
          </a:p>
        </p:txBody>
      </p:sp>
      <p:sp>
        <p:nvSpPr>
          <p:cNvPr id="18" name="Sticky-454"/>
          <p:cNvSpPr/>
          <p:nvPr/>
        </p:nvSpPr>
        <p:spPr>
          <a:xfrm>
            <a:off x="2410358" y="184708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19" name="Text-455"/>
          <p:cNvSpPr txBox="1"/>
          <p:nvPr/>
        </p:nvSpPr>
        <p:spPr>
          <a:xfrm>
            <a:off x="2483510" y="191109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disclose our calculation so budget holders trust it?</a:t>
            </a:r>
            <a:endParaRPr lang="en-US" sz="1200" dirty="0"/>
          </a:p>
        </p:txBody>
      </p:sp>
      <p:sp>
        <p:nvSpPr>
          <p:cNvPr id="20" name="Circle-456"/>
          <p:cNvSpPr/>
          <p:nvPr/>
        </p:nvSpPr>
        <p:spPr>
          <a:xfrm>
            <a:off x="2501798" y="3493008"/>
            <a:ext cx="201168" cy="201168"/>
          </a:xfrm>
          <a:prstGeom prst="ellipse">
            <a:avLst/>
          </a:prstGeom>
          <a:solidFill>
            <a:schemeClr val="accent3"/>
          </a:solidFill>
          <a:ln/>
        </p:spPr>
        <p:txBody>
          <a:bodyPr/>
          <a:p/>
        </p:txBody>
      </p:sp>
      <p:sp>
        <p:nvSpPr>
          <p:cNvPr id="21" name="Circle-457"/>
          <p:cNvSpPr/>
          <p:nvPr/>
        </p:nvSpPr>
        <p:spPr>
          <a:xfrm>
            <a:off x="2748686" y="3493008"/>
            <a:ext cx="201168" cy="201168"/>
          </a:xfrm>
          <a:prstGeom prst="ellipse">
            <a:avLst/>
          </a:prstGeom>
          <a:solidFill>
            <a:schemeClr val="accent3"/>
          </a:solidFill>
          <a:ln/>
        </p:spPr>
        <p:txBody>
          <a:bodyPr/>
          <a:p/>
        </p:txBody>
      </p:sp>
      <p:sp>
        <p:nvSpPr>
          <p:cNvPr id="22" name="Circle-458"/>
          <p:cNvSpPr/>
          <p:nvPr/>
        </p:nvSpPr>
        <p:spPr>
          <a:xfrm>
            <a:off x="2995574" y="3493008"/>
            <a:ext cx="201168" cy="201168"/>
          </a:xfrm>
          <a:prstGeom prst="ellipse">
            <a:avLst/>
          </a:prstGeom>
          <a:solidFill>
            <a:schemeClr val="accent3"/>
          </a:solidFill>
          <a:ln/>
        </p:spPr>
        <p:txBody>
          <a:bodyPr/>
          <a:p/>
        </p:txBody>
      </p:sp>
      <p:sp>
        <p:nvSpPr>
          <p:cNvPr id="23" name="Circle-459"/>
          <p:cNvSpPr/>
          <p:nvPr/>
        </p:nvSpPr>
        <p:spPr>
          <a:xfrm>
            <a:off x="3242462" y="3493008"/>
            <a:ext cx="201168" cy="201168"/>
          </a:xfrm>
          <a:prstGeom prst="ellipse">
            <a:avLst/>
          </a:prstGeom>
          <a:solidFill>
            <a:schemeClr val="accent3"/>
          </a:solidFill>
          <a:ln/>
        </p:spPr>
        <p:txBody>
          <a:bodyPr/>
          <a:p/>
        </p:txBody>
      </p:sp>
      <p:sp>
        <p:nvSpPr>
          <p:cNvPr id="24" name="Box-460"/>
          <p:cNvSpPr/>
          <p:nvPr/>
        </p:nvSpPr>
        <p:spPr>
          <a:xfrm>
            <a:off x="3507638" y="3456432"/>
            <a:ext cx="594360" cy="274320"/>
          </a:xfrm>
          <a:prstGeom prst="roundRect">
            <a:avLst>
              <a:gd name="adj" fmla="val 46667"/>
            </a:avLst>
          </a:prstGeom>
          <a:solidFill>
            <a:schemeClr val="tx2"/>
          </a:solidFill>
          <a:ln/>
        </p:spPr>
        <p:txBody>
          <a:bodyPr/>
          <a:p/>
        </p:txBody>
      </p:sp>
      <p:sp>
        <p:nvSpPr>
          <p:cNvPr id="25" name="Text-461"/>
          <p:cNvSpPr txBox="1"/>
          <p:nvPr/>
        </p:nvSpPr>
        <p:spPr>
          <a:xfrm>
            <a:off x="3507638" y="3456432"/>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TOP 2</a:t>
            </a:r>
            <a:endParaRPr lang="en-US" sz="1000" dirty="0"/>
          </a:p>
        </p:txBody>
      </p:sp>
      <p:sp>
        <p:nvSpPr>
          <p:cNvPr id="26" name="Sticky-462"/>
          <p:cNvSpPr/>
          <p:nvPr/>
        </p:nvSpPr>
        <p:spPr>
          <a:xfrm>
            <a:off x="2410358" y="395020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7" name="Text-463"/>
          <p:cNvSpPr txBox="1"/>
          <p:nvPr/>
        </p:nvSpPr>
        <p:spPr>
          <a:xfrm>
            <a:off x="2483510" y="401421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have the figures confirmed independently?</a:t>
            </a:r>
            <a:endParaRPr lang="en-US" sz="1200" dirty="0"/>
          </a:p>
        </p:txBody>
      </p:sp>
      <p:sp>
        <p:nvSpPr>
          <p:cNvPr id="28" name="Text-464"/>
          <p:cNvSpPr txBox="1"/>
          <p:nvPr/>
        </p:nvSpPr>
        <p:spPr>
          <a:xfrm>
            <a:off x="4272077" y="1463040"/>
            <a:ext cx="1783080" cy="320040"/>
          </a:xfrm>
          <a:prstGeom prst="rect">
            <a:avLst/>
          </a:prstGeom>
          <a:noFill/>
          <a:ln/>
        </p:spPr>
        <p:txBody>
          <a:bodyPr wrap="square" lIns="0" tIns="0" rIns="0" bIns="0" rtlCol="0" anchor="t"/>
          <a:lstStyle/>
          <a:p>
            <a:pPr algn="ctr" indent="0" marL="0">
              <a:buNone/>
            </a:pPr>
            <a:r>
              <a:rPr lang="en-US" sz="1300" b="1" dirty="0">
                <a:solidFill>
                  <a:schemeClr val="tx2"/>
                </a:solidFill>
              </a:rPr>
              <a:t>Cost</a:t>
            </a:r>
            <a:endParaRPr lang="en-US" sz="1300" dirty="0"/>
          </a:p>
        </p:txBody>
      </p:sp>
      <p:sp>
        <p:nvSpPr>
          <p:cNvPr id="29" name="Sticky-465"/>
          <p:cNvSpPr/>
          <p:nvPr/>
        </p:nvSpPr>
        <p:spPr>
          <a:xfrm>
            <a:off x="4272077" y="184708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30" name="Text-466"/>
          <p:cNvSpPr txBox="1"/>
          <p:nvPr/>
        </p:nvSpPr>
        <p:spPr>
          <a:xfrm>
            <a:off x="4345229" y="191109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make cost per article comparable with and without the agreement?</a:t>
            </a:r>
            <a:endParaRPr lang="en-US" sz="1200" dirty="0"/>
          </a:p>
        </p:txBody>
      </p:sp>
      <p:sp>
        <p:nvSpPr>
          <p:cNvPr id="31" name="Circle-467"/>
          <p:cNvSpPr/>
          <p:nvPr/>
        </p:nvSpPr>
        <p:spPr>
          <a:xfrm>
            <a:off x="4363517" y="3493008"/>
            <a:ext cx="201168" cy="201168"/>
          </a:xfrm>
          <a:prstGeom prst="ellipse">
            <a:avLst/>
          </a:prstGeom>
          <a:solidFill>
            <a:schemeClr val="accent3"/>
          </a:solidFill>
          <a:ln/>
        </p:spPr>
        <p:txBody>
          <a:bodyPr/>
          <a:p/>
        </p:txBody>
      </p:sp>
      <p:sp>
        <p:nvSpPr>
          <p:cNvPr id="32" name="Circle-468"/>
          <p:cNvSpPr/>
          <p:nvPr/>
        </p:nvSpPr>
        <p:spPr>
          <a:xfrm>
            <a:off x="4610405" y="3493008"/>
            <a:ext cx="201168" cy="201168"/>
          </a:xfrm>
          <a:prstGeom prst="ellipse">
            <a:avLst/>
          </a:prstGeom>
          <a:solidFill>
            <a:schemeClr val="accent3"/>
          </a:solidFill>
          <a:ln/>
        </p:spPr>
        <p:txBody>
          <a:bodyPr/>
          <a:p/>
        </p:txBody>
      </p:sp>
      <p:sp>
        <p:nvSpPr>
          <p:cNvPr id="33" name="Circle-469"/>
          <p:cNvSpPr/>
          <p:nvPr/>
        </p:nvSpPr>
        <p:spPr>
          <a:xfrm>
            <a:off x="4857293" y="3493008"/>
            <a:ext cx="201168" cy="201168"/>
          </a:xfrm>
          <a:prstGeom prst="ellipse">
            <a:avLst/>
          </a:prstGeom>
          <a:solidFill>
            <a:schemeClr val="accent3"/>
          </a:solidFill>
          <a:ln/>
        </p:spPr>
        <p:txBody>
          <a:bodyPr/>
          <a:p/>
        </p:txBody>
      </p:sp>
      <p:sp>
        <p:nvSpPr>
          <p:cNvPr id="34" name="Box-470"/>
          <p:cNvSpPr/>
          <p:nvPr/>
        </p:nvSpPr>
        <p:spPr>
          <a:xfrm>
            <a:off x="5369357" y="3456432"/>
            <a:ext cx="594360" cy="274320"/>
          </a:xfrm>
          <a:prstGeom prst="roundRect">
            <a:avLst>
              <a:gd name="adj" fmla="val 46667"/>
            </a:avLst>
          </a:prstGeom>
          <a:solidFill>
            <a:schemeClr val="tx2"/>
          </a:solidFill>
          <a:ln/>
        </p:spPr>
        <p:txBody>
          <a:bodyPr/>
          <a:p/>
        </p:txBody>
      </p:sp>
      <p:sp>
        <p:nvSpPr>
          <p:cNvPr id="35" name="Text-471"/>
          <p:cNvSpPr txBox="1"/>
          <p:nvPr/>
        </p:nvSpPr>
        <p:spPr>
          <a:xfrm>
            <a:off x="5369357" y="3456432"/>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TOP 3</a:t>
            </a:r>
            <a:endParaRPr lang="en-US" sz="1000" dirty="0"/>
          </a:p>
        </p:txBody>
      </p:sp>
      <p:sp>
        <p:nvSpPr>
          <p:cNvPr id="36" name="Sticky-472"/>
          <p:cNvSpPr/>
          <p:nvPr/>
        </p:nvSpPr>
        <p:spPr>
          <a:xfrm>
            <a:off x="4272077" y="395020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37" name="Text-473"/>
          <p:cNvSpPr txBox="1"/>
          <p:nvPr/>
        </p:nvSpPr>
        <p:spPr>
          <a:xfrm>
            <a:off x="4345229" y="401421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include a budget forecast for next year?</a:t>
            </a:r>
            <a:endParaRPr lang="en-US" sz="1200" dirty="0"/>
          </a:p>
        </p:txBody>
      </p:sp>
      <p:sp>
        <p:nvSpPr>
          <p:cNvPr id="38" name="Text-474"/>
          <p:cNvSpPr txBox="1"/>
          <p:nvPr/>
        </p:nvSpPr>
        <p:spPr>
          <a:xfrm>
            <a:off x="6133795" y="1463040"/>
            <a:ext cx="1783080" cy="320040"/>
          </a:xfrm>
          <a:prstGeom prst="rect">
            <a:avLst/>
          </a:prstGeom>
          <a:noFill/>
          <a:ln/>
        </p:spPr>
        <p:txBody>
          <a:bodyPr wrap="square" lIns="0" tIns="0" rIns="0" bIns="0" rtlCol="0" anchor="t"/>
          <a:lstStyle/>
          <a:p>
            <a:pPr algn="ctr" indent="0" marL="0">
              <a:buNone/>
            </a:pPr>
            <a:r>
              <a:rPr lang="en-US" sz="1300" b="1" dirty="0">
                <a:solidFill>
                  <a:schemeClr val="tx2"/>
                </a:solidFill>
              </a:rPr>
              <a:t>Compliance</a:t>
            </a:r>
            <a:endParaRPr lang="en-US" sz="1300" dirty="0"/>
          </a:p>
        </p:txBody>
      </p:sp>
      <p:sp>
        <p:nvSpPr>
          <p:cNvPr id="39" name="Sticky-475"/>
          <p:cNvSpPr/>
          <p:nvPr/>
        </p:nvSpPr>
        <p:spPr>
          <a:xfrm>
            <a:off x="6133795" y="184708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40" name="Text-476"/>
          <p:cNvSpPr txBox="1"/>
          <p:nvPr/>
        </p:nvSpPr>
        <p:spPr>
          <a:xfrm>
            <a:off x="6206947" y="191109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automatically show how well the agreement meets OA strategy and funder requirements?</a:t>
            </a:r>
            <a:endParaRPr lang="en-US" sz="1200" dirty="0"/>
          </a:p>
        </p:txBody>
      </p:sp>
      <p:sp>
        <p:nvSpPr>
          <p:cNvPr id="41" name="Circle-477"/>
          <p:cNvSpPr/>
          <p:nvPr/>
        </p:nvSpPr>
        <p:spPr>
          <a:xfrm>
            <a:off x="6225235" y="3493008"/>
            <a:ext cx="201168" cy="201168"/>
          </a:xfrm>
          <a:prstGeom prst="ellipse">
            <a:avLst/>
          </a:prstGeom>
          <a:solidFill>
            <a:schemeClr val="accent3"/>
          </a:solidFill>
          <a:ln/>
        </p:spPr>
        <p:txBody>
          <a:bodyPr/>
          <a:p/>
        </p:txBody>
      </p:sp>
      <p:sp>
        <p:nvSpPr>
          <p:cNvPr id="42" name="Circle-478"/>
          <p:cNvSpPr/>
          <p:nvPr/>
        </p:nvSpPr>
        <p:spPr>
          <a:xfrm>
            <a:off x="6472123" y="3493008"/>
            <a:ext cx="201168" cy="201168"/>
          </a:xfrm>
          <a:prstGeom prst="ellipse">
            <a:avLst/>
          </a:prstGeom>
          <a:solidFill>
            <a:schemeClr val="accent3"/>
          </a:solidFill>
          <a:ln/>
        </p:spPr>
        <p:txBody>
          <a:bodyPr/>
          <a:p/>
        </p:txBody>
      </p:sp>
      <p:sp>
        <p:nvSpPr>
          <p:cNvPr id="43" name="Sticky-479"/>
          <p:cNvSpPr/>
          <p:nvPr/>
        </p:nvSpPr>
        <p:spPr>
          <a:xfrm>
            <a:off x="6133795" y="395020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44" name="Text-480"/>
          <p:cNvSpPr txBox="1"/>
          <p:nvPr/>
        </p:nvSpPr>
        <p:spPr>
          <a:xfrm>
            <a:off x="6206947" y="401421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provide machine-readable data for OA monitoring?</a:t>
            </a:r>
            <a:endParaRPr lang="en-US" sz="1200" dirty="0"/>
          </a:p>
        </p:txBody>
      </p:sp>
      <p:sp>
        <p:nvSpPr>
          <p:cNvPr id="45" name="Text-481"/>
          <p:cNvSpPr txBox="1"/>
          <p:nvPr/>
        </p:nvSpPr>
        <p:spPr>
          <a:xfrm>
            <a:off x="7995514" y="1463040"/>
            <a:ext cx="1783080" cy="320040"/>
          </a:xfrm>
          <a:prstGeom prst="rect">
            <a:avLst/>
          </a:prstGeom>
          <a:noFill/>
          <a:ln/>
        </p:spPr>
        <p:txBody>
          <a:bodyPr wrap="square" lIns="0" tIns="0" rIns="0" bIns="0" rtlCol="0" anchor="t"/>
          <a:lstStyle/>
          <a:p>
            <a:pPr algn="ctr" indent="0" marL="0">
              <a:buNone/>
            </a:pPr>
            <a:r>
              <a:rPr lang="en-US" sz="1300" b="1" dirty="0">
                <a:solidFill>
                  <a:schemeClr val="tx2"/>
                </a:solidFill>
              </a:rPr>
              <a:t>People</a:t>
            </a:r>
            <a:endParaRPr lang="en-US" sz="1300" dirty="0"/>
          </a:p>
        </p:txBody>
      </p:sp>
      <p:sp>
        <p:nvSpPr>
          <p:cNvPr id="46" name="Sticky-482"/>
          <p:cNvSpPr/>
          <p:nvPr/>
        </p:nvSpPr>
        <p:spPr>
          <a:xfrm>
            <a:off x="7995514" y="184708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47" name="Text-483"/>
          <p:cNvSpPr txBox="1"/>
          <p:nvPr/>
        </p:nvSpPr>
        <p:spPr>
          <a:xfrm>
            <a:off x="8068666" y="191109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make our own researchers' work as reviewers and editors visible?</a:t>
            </a:r>
            <a:endParaRPr lang="en-US" sz="1200" dirty="0"/>
          </a:p>
        </p:txBody>
      </p:sp>
      <p:sp>
        <p:nvSpPr>
          <p:cNvPr id="48" name="Circle-484"/>
          <p:cNvSpPr/>
          <p:nvPr/>
        </p:nvSpPr>
        <p:spPr>
          <a:xfrm>
            <a:off x="8086954" y="3493008"/>
            <a:ext cx="201168" cy="201168"/>
          </a:xfrm>
          <a:prstGeom prst="ellipse">
            <a:avLst/>
          </a:prstGeom>
          <a:solidFill>
            <a:schemeClr val="accent3"/>
          </a:solidFill>
          <a:ln/>
        </p:spPr>
        <p:txBody>
          <a:bodyPr/>
          <a:p/>
        </p:txBody>
      </p:sp>
      <p:sp>
        <p:nvSpPr>
          <p:cNvPr id="49" name="Sticky-485"/>
          <p:cNvSpPr/>
          <p:nvPr/>
        </p:nvSpPr>
        <p:spPr>
          <a:xfrm>
            <a:off x="7995514" y="395020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50" name="Text-486"/>
          <p:cNvSpPr txBox="1"/>
          <p:nvPr/>
        </p:nvSpPr>
        <p:spPr>
          <a:xfrm>
            <a:off x="8068666" y="401421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turn researchers into advocates?</a:t>
            </a:r>
            <a:endParaRPr lang="en-US" sz="1200" dirty="0"/>
          </a:p>
        </p:txBody>
      </p:sp>
      <p:sp>
        <p:nvSpPr>
          <p:cNvPr id="51" name="Text-487"/>
          <p:cNvSpPr txBox="1"/>
          <p:nvPr/>
        </p:nvSpPr>
        <p:spPr>
          <a:xfrm>
            <a:off x="9857232" y="1463040"/>
            <a:ext cx="1783080" cy="320040"/>
          </a:xfrm>
          <a:prstGeom prst="rect">
            <a:avLst/>
          </a:prstGeom>
          <a:noFill/>
          <a:ln/>
        </p:spPr>
        <p:txBody>
          <a:bodyPr wrap="square" lIns="0" tIns="0" rIns="0" bIns="0" rtlCol="0" anchor="t"/>
          <a:lstStyle/>
          <a:p>
            <a:pPr algn="ctr" indent="0" marL="0">
              <a:buNone/>
            </a:pPr>
            <a:r>
              <a:rPr lang="en-US" sz="1300" b="1" dirty="0">
                <a:solidFill>
                  <a:schemeClr val="tx2"/>
                </a:solidFill>
              </a:rPr>
              <a:t>Benchmark</a:t>
            </a:r>
            <a:endParaRPr lang="en-US" sz="1300" dirty="0"/>
          </a:p>
        </p:txBody>
      </p:sp>
      <p:sp>
        <p:nvSpPr>
          <p:cNvPr id="52" name="Sticky-488"/>
          <p:cNvSpPr/>
          <p:nvPr/>
        </p:nvSpPr>
        <p:spPr>
          <a:xfrm>
            <a:off x="9857232" y="184708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53" name="Text-489"/>
          <p:cNvSpPr txBox="1"/>
          <p:nvPr/>
        </p:nvSpPr>
        <p:spPr>
          <a:xfrm>
            <a:off x="9930384" y="191109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offer a fair comparison with similar institutions?</a:t>
            </a:r>
            <a:endParaRPr lang="en-US" sz="1200" dirty="0"/>
          </a:p>
        </p:txBody>
      </p:sp>
      <p:sp>
        <p:nvSpPr>
          <p:cNvPr id="54" name="Sticky-490"/>
          <p:cNvSpPr/>
          <p:nvPr/>
        </p:nvSpPr>
        <p:spPr>
          <a:xfrm>
            <a:off x="9857232" y="3950208"/>
            <a:ext cx="1783080" cy="1938528"/>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55" name="Text-491"/>
          <p:cNvSpPr txBox="1"/>
          <p:nvPr/>
        </p:nvSpPr>
        <p:spPr>
          <a:xfrm>
            <a:off x="9930384" y="4014216"/>
            <a:ext cx="1636776" cy="1810512"/>
          </a:xfrm>
          <a:prstGeom prst="rect">
            <a:avLst/>
          </a:prstGeom>
          <a:noFill/>
          <a:ln/>
        </p:spPr>
        <p:txBody>
          <a:bodyPr wrap="square" lIns="508" tIns="508" rIns="508" bIns="508" rtlCol="0" anchor="t"/>
          <a:lstStyle/>
          <a:p>
            <a:pPr indent="0" marL="0">
              <a:buNone/>
            </a:pPr>
            <a:r>
              <a:rPr lang="en-US" sz="1200" dirty="0">
                <a:solidFill>
                  <a:schemeClr val="tx1"/>
                </a:solidFill>
              </a:rPr>
              <a:t>HMW show growing demand from researchers?</a:t>
            </a:r>
            <a:endParaRPr lang="en-US" sz="1200" dirty="0"/>
          </a:p>
        </p:txBody>
      </p:sp>
      <p:sp>
        <p:nvSpPr>
          <p:cNvPr id="56" name="Circle-492"/>
          <p:cNvSpPr/>
          <p:nvPr/>
        </p:nvSpPr>
        <p:spPr>
          <a:xfrm>
            <a:off x="548640" y="6108192"/>
            <a:ext cx="182880" cy="182880"/>
          </a:xfrm>
          <a:prstGeom prst="ellipse">
            <a:avLst/>
          </a:prstGeom>
          <a:solidFill>
            <a:schemeClr val="accent3"/>
          </a:solidFill>
          <a:ln/>
        </p:spPr>
        <p:txBody>
          <a:bodyPr/>
          <a:p/>
        </p:txBody>
      </p:sp>
      <p:sp>
        <p:nvSpPr>
          <p:cNvPr id="57" name="Text-493"/>
          <p:cNvSpPr txBox="1"/>
          <p:nvPr/>
        </p:nvSpPr>
        <p:spPr>
          <a:xfrm>
            <a:off x="804672" y="6053328"/>
            <a:ext cx="8229600" cy="292608"/>
          </a:xfrm>
          <a:prstGeom prst="rect">
            <a:avLst/>
          </a:prstGeom>
          <a:noFill/>
          <a:ln/>
        </p:spPr>
        <p:txBody>
          <a:bodyPr wrap="square" lIns="0" tIns="0" rIns="0" bIns="0" rtlCol="0" anchor="ctr"/>
          <a:lstStyle/>
          <a:p>
            <a:pPr indent="0" marL="0">
              <a:buNone/>
            </a:pPr>
            <a:r>
              <a:rPr lang="en-US" sz="1100" dirty="0">
                <a:solidFill>
                  <a:schemeClr val="accent6"/>
                </a:solidFill>
              </a:rPr>
              <a:t>= 1 dot · 16 dots (4 per sprint member) · The top 3 go on the map</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2 · STEP 2.5 · MAP &amp; TARGET AREA</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The map: from article to renewal</a:t>
            </a:r>
            <a:endParaRPr lang="en-US" sz="3200" dirty="0"/>
          </a:p>
        </p:txBody>
      </p:sp>
      <p:sp>
        <p:nvSpPr>
          <p:cNvPr id="4" name="Circle-494"/>
          <p:cNvSpPr/>
          <p:nvPr/>
        </p:nvSpPr>
        <p:spPr>
          <a:xfrm>
            <a:off x="548640" y="1481328"/>
            <a:ext cx="219456" cy="219456"/>
          </a:xfrm>
          <a:prstGeom prst="ellipse">
            <a:avLst/>
          </a:prstGeom>
          <a:solidFill>
            <a:schemeClr val="accent4"/>
          </a:solidFill>
          <a:ln/>
        </p:spPr>
        <p:txBody>
          <a:bodyPr/>
          <a:p/>
        </p:txBody>
      </p:sp>
      <p:sp>
        <p:nvSpPr>
          <p:cNvPr id="5" name="Text-495"/>
          <p:cNvSpPr txBox="1"/>
          <p:nvPr/>
        </p:nvSpPr>
        <p:spPr>
          <a:xfrm>
            <a:off x="868680" y="1435608"/>
            <a:ext cx="1828800" cy="310896"/>
          </a:xfrm>
          <a:prstGeom prst="rect">
            <a:avLst/>
          </a:prstGeom>
          <a:noFill/>
          <a:ln/>
        </p:spPr>
        <p:txBody>
          <a:bodyPr wrap="square" lIns="0" tIns="0" rIns="0" bIns="0" rtlCol="0" anchor="ctr"/>
          <a:lstStyle/>
          <a:p>
            <a:pPr indent="0" marL="0">
              <a:buNone/>
            </a:pPr>
            <a:r>
              <a:rPr lang="en-US" sz="1200" dirty="0">
                <a:solidFill>
                  <a:schemeClr val="tx1"/>
                </a:solidFill>
              </a:rPr>
              <a:t>Researchers</a:t>
            </a:r>
            <a:endParaRPr lang="en-US" sz="1200" dirty="0"/>
          </a:p>
        </p:txBody>
      </p:sp>
      <p:sp>
        <p:nvSpPr>
          <p:cNvPr id="6" name="Circle-496"/>
          <p:cNvSpPr/>
          <p:nvPr/>
        </p:nvSpPr>
        <p:spPr>
          <a:xfrm>
            <a:off x="2788920" y="1481328"/>
            <a:ext cx="219456" cy="219456"/>
          </a:xfrm>
          <a:prstGeom prst="ellipse">
            <a:avLst/>
          </a:prstGeom>
          <a:solidFill>
            <a:schemeClr val="accent6"/>
          </a:solidFill>
          <a:ln/>
        </p:spPr>
        <p:txBody>
          <a:bodyPr/>
          <a:p/>
        </p:txBody>
      </p:sp>
      <p:sp>
        <p:nvSpPr>
          <p:cNvPr id="7" name="Text-497"/>
          <p:cNvSpPr txBox="1"/>
          <p:nvPr/>
        </p:nvSpPr>
        <p:spPr>
          <a:xfrm>
            <a:off x="3108960" y="1435608"/>
            <a:ext cx="1828800" cy="310896"/>
          </a:xfrm>
          <a:prstGeom prst="rect">
            <a:avLst/>
          </a:prstGeom>
          <a:noFill/>
          <a:ln/>
        </p:spPr>
        <p:txBody>
          <a:bodyPr wrap="square" lIns="0" tIns="0" rIns="0" bIns="0" rtlCol="0" anchor="ctr"/>
          <a:lstStyle/>
          <a:p>
            <a:pPr indent="0" marL="0">
              <a:buNone/>
            </a:pPr>
            <a:r>
              <a:rPr lang="en-US" sz="1200" dirty="0">
                <a:solidFill>
                  <a:schemeClr val="tx1"/>
                </a:solidFill>
              </a:rPr>
              <a:t>Lumen IPP team</a:t>
            </a:r>
            <a:endParaRPr lang="en-US" sz="1200" dirty="0"/>
          </a:p>
        </p:txBody>
      </p:sp>
      <p:sp>
        <p:nvSpPr>
          <p:cNvPr id="8" name="Circle-498"/>
          <p:cNvSpPr/>
          <p:nvPr/>
        </p:nvSpPr>
        <p:spPr>
          <a:xfrm>
            <a:off x="5029200" y="1481328"/>
            <a:ext cx="219456" cy="219456"/>
          </a:xfrm>
          <a:prstGeom prst="ellipse">
            <a:avLst/>
          </a:prstGeom>
          <a:solidFill>
            <a:schemeClr val="accent1"/>
          </a:solidFill>
          <a:ln/>
        </p:spPr>
        <p:txBody>
          <a:bodyPr/>
          <a:p/>
        </p:txBody>
      </p:sp>
      <p:sp>
        <p:nvSpPr>
          <p:cNvPr id="9" name="Text-499"/>
          <p:cNvSpPr txBox="1"/>
          <p:nvPr/>
        </p:nvSpPr>
        <p:spPr>
          <a:xfrm>
            <a:off x="5349240" y="1435608"/>
            <a:ext cx="1828800" cy="310896"/>
          </a:xfrm>
          <a:prstGeom prst="rect">
            <a:avLst/>
          </a:prstGeom>
          <a:noFill/>
          <a:ln/>
        </p:spPr>
        <p:txBody>
          <a:bodyPr wrap="square" lIns="0" tIns="0" rIns="0" bIns="0" rtlCol="0" anchor="ctr"/>
          <a:lstStyle/>
          <a:p>
            <a:pPr indent="0" marL="0">
              <a:buNone/>
            </a:pPr>
            <a:r>
              <a:rPr lang="en-US" sz="1200" dirty="0">
                <a:solidFill>
                  <a:schemeClr val="tx1"/>
                </a:solidFill>
              </a:rPr>
              <a:t>Librarian</a:t>
            </a:r>
            <a:endParaRPr lang="en-US" sz="1200" dirty="0"/>
          </a:p>
        </p:txBody>
      </p:sp>
      <p:sp>
        <p:nvSpPr>
          <p:cNvPr id="10" name="Circle-500"/>
          <p:cNvSpPr/>
          <p:nvPr/>
        </p:nvSpPr>
        <p:spPr>
          <a:xfrm>
            <a:off x="7269480" y="1481328"/>
            <a:ext cx="219456" cy="219456"/>
          </a:xfrm>
          <a:prstGeom prst="ellipse">
            <a:avLst/>
          </a:prstGeom>
          <a:solidFill>
            <a:schemeClr val="accent3"/>
          </a:solidFill>
          <a:ln/>
        </p:spPr>
        <p:txBody>
          <a:bodyPr/>
          <a:p/>
        </p:txBody>
      </p:sp>
      <p:sp>
        <p:nvSpPr>
          <p:cNvPr id="11" name="Text-501"/>
          <p:cNvSpPr txBox="1"/>
          <p:nvPr/>
        </p:nvSpPr>
        <p:spPr>
          <a:xfrm>
            <a:off x="7589520" y="1435608"/>
            <a:ext cx="1828800" cy="310896"/>
          </a:xfrm>
          <a:prstGeom prst="rect">
            <a:avLst/>
          </a:prstGeom>
          <a:noFill/>
          <a:ln/>
        </p:spPr>
        <p:txBody>
          <a:bodyPr wrap="square" lIns="0" tIns="0" rIns="0" bIns="0" rtlCol="0" anchor="ctr"/>
          <a:lstStyle/>
          <a:p>
            <a:pPr indent="0" marL="0">
              <a:buNone/>
            </a:pPr>
            <a:r>
              <a:rPr lang="en-US" sz="1200" dirty="0">
                <a:solidFill>
                  <a:schemeClr val="tx1"/>
                </a:solidFill>
              </a:rPr>
              <a:t>Budget holders</a:t>
            </a:r>
            <a:endParaRPr lang="en-US" sz="1200" dirty="0"/>
          </a:p>
        </p:txBody>
      </p:sp>
      <p:sp>
        <p:nvSpPr>
          <p:cNvPr id="12" name="Circle-502"/>
          <p:cNvSpPr/>
          <p:nvPr/>
        </p:nvSpPr>
        <p:spPr>
          <a:xfrm>
            <a:off x="9509760" y="1481328"/>
            <a:ext cx="219456" cy="219456"/>
          </a:xfrm>
          <a:prstGeom prst="ellipse">
            <a:avLst/>
          </a:prstGeom>
          <a:solidFill>
            <a:schemeClr val="tx2"/>
          </a:solidFill>
          <a:ln/>
        </p:spPr>
        <p:txBody>
          <a:bodyPr/>
          <a:p/>
        </p:txBody>
      </p:sp>
      <p:sp>
        <p:nvSpPr>
          <p:cNvPr id="13" name="Text-503"/>
          <p:cNvSpPr txBox="1"/>
          <p:nvPr/>
        </p:nvSpPr>
        <p:spPr>
          <a:xfrm>
            <a:off x="9829800" y="1435608"/>
            <a:ext cx="1828800" cy="310896"/>
          </a:xfrm>
          <a:prstGeom prst="rect">
            <a:avLst/>
          </a:prstGeom>
          <a:noFill/>
          <a:ln/>
        </p:spPr>
        <p:txBody>
          <a:bodyPr wrap="square" lIns="0" tIns="0" rIns="0" bIns="0" rtlCol="0" anchor="ctr"/>
          <a:lstStyle/>
          <a:p>
            <a:pPr indent="0" marL="0">
              <a:buNone/>
            </a:pPr>
            <a:r>
              <a:rPr lang="en-US" sz="1200" dirty="0">
                <a:solidFill>
                  <a:schemeClr val="tx1"/>
                </a:solidFill>
              </a:rPr>
              <a:t>Goal</a:t>
            </a:r>
            <a:endParaRPr lang="en-US" sz="1200" dirty="0"/>
          </a:p>
        </p:txBody>
      </p:sp>
      <p:sp>
        <p:nvSpPr>
          <p:cNvPr id="14" name="Target-504"/>
          <p:cNvSpPr/>
          <p:nvPr/>
        </p:nvSpPr>
        <p:spPr>
          <a:xfrm>
            <a:off x="4224528" y="2011680"/>
            <a:ext cx="3730752" cy="2606040"/>
          </a:xfrm>
          <a:prstGeom prst="roundRect">
            <a:avLst>
              <a:gd name="adj" fmla="val 1754"/>
            </a:avLst>
          </a:prstGeom>
          <a:solidFill>
            <a:schemeClr val="accent3">
              <a:alpha val="8000"/>
            </a:schemeClr>
          </a:solidFill>
          <a:ln w="25400">
            <a:solidFill>
              <a:srgbClr val="E4572E"/>
            </a:solidFill>
            <a:prstDash val="dash"/>
          </a:ln>
        </p:spPr>
        <p:txBody>
          <a:bodyPr/>
          <a:p/>
        </p:txBody>
      </p:sp>
      <p:sp>
        <p:nvSpPr>
          <p:cNvPr id="15" name="Text-505"/>
          <p:cNvSpPr txBox="1"/>
          <p:nvPr/>
        </p:nvSpPr>
        <p:spPr>
          <a:xfrm>
            <a:off x="4334256" y="2075688"/>
            <a:ext cx="1097280" cy="256032"/>
          </a:xfrm>
          <a:prstGeom prst="rect">
            <a:avLst/>
          </a:prstGeom>
          <a:noFill/>
          <a:ln/>
        </p:spPr>
        <p:txBody>
          <a:bodyPr wrap="square" lIns="0" tIns="0" rIns="0" bIns="0" rtlCol="0" anchor="t"/>
          <a:lstStyle/>
          <a:p>
            <a:pPr indent="0" marL="0">
              <a:buNone/>
            </a:pPr>
            <a:r>
              <a:rPr lang="en-US" sz="1100" b="1" dirty="0">
                <a:solidFill>
                  <a:schemeClr val="accent3"/>
                </a:solidFill>
              </a:rPr>
              <a:t>TARGET</a:t>
            </a:r>
            <a:endParaRPr lang="en-US" sz="1100" dirty="0"/>
          </a:p>
        </p:txBody>
      </p:sp>
      <p:sp>
        <p:nvSpPr>
          <p:cNvPr id="16" name="Step-506"/>
          <p:cNvSpPr/>
          <p:nvPr/>
        </p:nvSpPr>
        <p:spPr>
          <a:xfrm>
            <a:off x="548640" y="2926080"/>
            <a:ext cx="1572768" cy="1188720"/>
          </a:xfrm>
          <a:prstGeom prst="roundRect">
            <a:avLst>
              <a:gd name="adj" fmla="val 6154"/>
            </a:avLst>
          </a:prstGeom>
          <a:solidFill>
            <a:schemeClr val="accent4"/>
          </a:solidFill>
          <a:ln/>
        </p:spPr>
        <p:txBody>
          <a:bodyPr/>
          <a:p/>
        </p:txBody>
      </p:sp>
      <p:sp>
        <p:nvSpPr>
          <p:cNvPr id="17" name="Text-507"/>
          <p:cNvSpPr txBox="1"/>
          <p:nvPr/>
        </p:nvSpPr>
        <p:spPr>
          <a:xfrm>
            <a:off x="640080" y="2980944"/>
            <a:ext cx="365760" cy="274320"/>
          </a:xfrm>
          <a:prstGeom prst="rect">
            <a:avLst/>
          </a:prstGeom>
          <a:noFill/>
          <a:ln/>
        </p:spPr>
        <p:txBody>
          <a:bodyPr wrap="square" lIns="0" tIns="0" rIns="0" bIns="0" rtlCol="0" anchor="t"/>
          <a:lstStyle/>
          <a:p>
            <a:pPr indent="0" marL="0">
              <a:buNone/>
            </a:pPr>
            <a:r>
              <a:rPr lang="en-US" sz="1100" b="1" dirty="0">
                <a:solidFill>
                  <a:schemeClr val="bg1"/>
                </a:solidFill>
              </a:rPr>
              <a:t>1</a:t>
            </a:r>
            <a:endParaRPr lang="en-US" sz="1100" dirty="0"/>
          </a:p>
        </p:txBody>
      </p:sp>
      <p:sp>
        <p:nvSpPr>
          <p:cNvPr id="18" name="Text-508"/>
          <p:cNvSpPr txBox="1"/>
          <p:nvPr/>
        </p:nvSpPr>
        <p:spPr>
          <a:xfrm>
            <a:off x="640080" y="3200400"/>
            <a:ext cx="1389888" cy="868680"/>
          </a:xfrm>
          <a:prstGeom prst="rect">
            <a:avLst/>
          </a:prstGeom>
          <a:noFill/>
          <a:ln/>
        </p:spPr>
        <p:txBody>
          <a:bodyPr wrap="square" lIns="0" tIns="0" rIns="0" bIns="0" rtlCol="0" anchor="ctr"/>
          <a:lstStyle/>
          <a:p>
            <a:pPr algn="ctr" indent="0" marL="0">
              <a:buNone/>
            </a:pPr>
            <a:r>
              <a:rPr lang="en-US" sz="1300" b="1" dirty="0">
                <a:solidFill>
                  <a:schemeClr val="bg1"/>
                </a:solidFill>
              </a:rPr>
              <a:t>Publish with IPP discount</a:t>
            </a:r>
            <a:endParaRPr lang="en-US" sz="1300" dirty="0"/>
          </a:p>
        </p:txBody>
      </p:sp>
      <p:sp>
        <p:nvSpPr>
          <p:cNvPr id="19" name="Text-509"/>
          <p:cNvSpPr txBox="1"/>
          <p:nvPr/>
        </p:nvSpPr>
        <p:spPr>
          <a:xfrm>
            <a:off x="548640" y="4169664"/>
            <a:ext cx="1572768" cy="274320"/>
          </a:xfrm>
          <a:prstGeom prst="rect">
            <a:avLst/>
          </a:prstGeom>
          <a:noFill/>
          <a:ln/>
        </p:spPr>
        <p:txBody>
          <a:bodyPr wrap="square" lIns="0" tIns="0" rIns="0" bIns="0" rtlCol="0" anchor="t"/>
          <a:lstStyle/>
          <a:p>
            <a:pPr algn="ctr" indent="0" marL="0">
              <a:buNone/>
            </a:pPr>
            <a:r>
              <a:rPr lang="en-US" sz="1000" dirty="0">
                <a:solidFill>
                  <a:schemeClr val="accent6"/>
                </a:solidFill>
              </a:rPr>
              <a:t>Researchers</a:t>
            </a:r>
            <a:endParaRPr lang="en-US" sz="1000" dirty="0"/>
          </a:p>
        </p:txBody>
      </p:sp>
      <p:sp>
        <p:nvSpPr>
          <p:cNvPr id="20" name="Line-510"/>
          <p:cNvSpPr/>
          <p:nvPr/>
        </p:nvSpPr>
        <p:spPr>
          <a:xfrm>
            <a:off x="2157984" y="3520440"/>
            <a:ext cx="256032" cy="0"/>
          </a:xfrm>
          <a:prstGeom prst="line">
            <a:avLst/>
          </a:prstGeom>
          <a:noFill/>
          <a:ln w="25400">
            <a:solidFill>
              <a:srgbClr val="0F3B45"/>
            </a:solidFill>
            <a:prstDash val="solid"/>
            <a:tailEnd type="triangle"/>
          </a:ln>
        </p:spPr>
        <p:txBody>
          <a:bodyPr/>
          <a:p/>
        </p:txBody>
      </p:sp>
      <p:sp>
        <p:nvSpPr>
          <p:cNvPr id="21" name="Step-511"/>
          <p:cNvSpPr/>
          <p:nvPr/>
        </p:nvSpPr>
        <p:spPr>
          <a:xfrm>
            <a:off x="2450592" y="2926080"/>
            <a:ext cx="1572768" cy="1188720"/>
          </a:xfrm>
          <a:prstGeom prst="roundRect">
            <a:avLst>
              <a:gd name="adj" fmla="val 6154"/>
            </a:avLst>
          </a:prstGeom>
          <a:solidFill>
            <a:schemeClr val="accent6"/>
          </a:solidFill>
          <a:ln/>
        </p:spPr>
        <p:txBody>
          <a:bodyPr/>
          <a:p/>
        </p:txBody>
      </p:sp>
      <p:sp>
        <p:nvSpPr>
          <p:cNvPr id="22" name="Text-512"/>
          <p:cNvSpPr txBox="1"/>
          <p:nvPr/>
        </p:nvSpPr>
        <p:spPr>
          <a:xfrm>
            <a:off x="2542032" y="2980944"/>
            <a:ext cx="365760" cy="274320"/>
          </a:xfrm>
          <a:prstGeom prst="rect">
            <a:avLst/>
          </a:prstGeom>
          <a:noFill/>
          <a:ln/>
        </p:spPr>
        <p:txBody>
          <a:bodyPr wrap="square" lIns="0" tIns="0" rIns="0" bIns="0" rtlCol="0" anchor="t"/>
          <a:lstStyle/>
          <a:p>
            <a:pPr indent="0" marL="0">
              <a:buNone/>
            </a:pPr>
            <a:r>
              <a:rPr lang="en-US" sz="1100" b="1" dirty="0">
                <a:solidFill>
                  <a:schemeClr val="bg1"/>
                </a:solidFill>
              </a:rPr>
              <a:t>2</a:t>
            </a:r>
            <a:endParaRPr lang="en-US" sz="1100" dirty="0"/>
          </a:p>
        </p:txBody>
      </p:sp>
      <p:sp>
        <p:nvSpPr>
          <p:cNvPr id="23" name="Text-513"/>
          <p:cNvSpPr txBox="1"/>
          <p:nvPr/>
        </p:nvSpPr>
        <p:spPr>
          <a:xfrm>
            <a:off x="2542032" y="3200400"/>
            <a:ext cx="1389888" cy="868680"/>
          </a:xfrm>
          <a:prstGeom prst="rect">
            <a:avLst/>
          </a:prstGeom>
          <a:noFill/>
          <a:ln/>
        </p:spPr>
        <p:txBody>
          <a:bodyPr wrap="square" lIns="0" tIns="0" rIns="0" bIns="0" rtlCol="0" anchor="ctr"/>
          <a:lstStyle/>
          <a:p>
            <a:pPr algn="ctr" indent="0" marL="0">
              <a:buNone/>
            </a:pPr>
            <a:r>
              <a:rPr lang="en-US" sz="1300" b="1" dirty="0">
                <a:solidFill>
                  <a:schemeClr val="bg1"/>
                </a:solidFill>
              </a:rPr>
              <a:t>Pay APCs via prepayment</a:t>
            </a:r>
            <a:endParaRPr lang="en-US" sz="1300" dirty="0"/>
          </a:p>
        </p:txBody>
      </p:sp>
      <p:sp>
        <p:nvSpPr>
          <p:cNvPr id="24" name="Text-514"/>
          <p:cNvSpPr txBox="1"/>
          <p:nvPr/>
        </p:nvSpPr>
        <p:spPr>
          <a:xfrm>
            <a:off x="2450592" y="4169664"/>
            <a:ext cx="1572768" cy="274320"/>
          </a:xfrm>
          <a:prstGeom prst="rect">
            <a:avLst/>
          </a:prstGeom>
          <a:noFill/>
          <a:ln/>
        </p:spPr>
        <p:txBody>
          <a:bodyPr wrap="square" lIns="0" tIns="0" rIns="0" bIns="0" rtlCol="0" anchor="t"/>
          <a:lstStyle/>
          <a:p>
            <a:pPr algn="ctr" indent="0" marL="0">
              <a:buNone/>
            </a:pPr>
            <a:r>
              <a:rPr lang="en-US" sz="1000" dirty="0">
                <a:solidFill>
                  <a:schemeClr val="accent6"/>
                </a:solidFill>
              </a:rPr>
              <a:t>IPP team / library</a:t>
            </a:r>
            <a:endParaRPr lang="en-US" sz="1000" dirty="0"/>
          </a:p>
        </p:txBody>
      </p:sp>
      <p:sp>
        <p:nvSpPr>
          <p:cNvPr id="25" name="Line-515"/>
          <p:cNvSpPr/>
          <p:nvPr/>
        </p:nvSpPr>
        <p:spPr>
          <a:xfrm>
            <a:off x="4059936" y="3520440"/>
            <a:ext cx="256032" cy="0"/>
          </a:xfrm>
          <a:prstGeom prst="line">
            <a:avLst/>
          </a:prstGeom>
          <a:noFill/>
          <a:ln w="25400">
            <a:solidFill>
              <a:srgbClr val="0F3B45"/>
            </a:solidFill>
            <a:prstDash val="solid"/>
            <a:tailEnd type="triangle"/>
          </a:ln>
        </p:spPr>
        <p:txBody>
          <a:bodyPr/>
          <a:p/>
        </p:txBody>
      </p:sp>
      <p:sp>
        <p:nvSpPr>
          <p:cNvPr id="26" name="Step-516"/>
          <p:cNvSpPr/>
          <p:nvPr/>
        </p:nvSpPr>
        <p:spPr>
          <a:xfrm>
            <a:off x="4352544" y="2926080"/>
            <a:ext cx="1572768" cy="1188720"/>
          </a:xfrm>
          <a:prstGeom prst="roundRect">
            <a:avLst>
              <a:gd name="adj" fmla="val 6154"/>
            </a:avLst>
          </a:prstGeom>
          <a:solidFill>
            <a:schemeClr val="accent1"/>
          </a:solidFill>
          <a:ln/>
        </p:spPr>
        <p:txBody>
          <a:bodyPr/>
          <a:p/>
        </p:txBody>
      </p:sp>
      <p:sp>
        <p:nvSpPr>
          <p:cNvPr id="27" name="Text-517"/>
          <p:cNvSpPr txBox="1"/>
          <p:nvPr/>
        </p:nvSpPr>
        <p:spPr>
          <a:xfrm>
            <a:off x="4443984" y="2980944"/>
            <a:ext cx="365760" cy="274320"/>
          </a:xfrm>
          <a:prstGeom prst="rect">
            <a:avLst/>
          </a:prstGeom>
          <a:noFill/>
          <a:ln/>
        </p:spPr>
        <p:txBody>
          <a:bodyPr wrap="square" lIns="0" tIns="0" rIns="0" bIns="0" rtlCol="0" anchor="t"/>
          <a:lstStyle/>
          <a:p>
            <a:pPr indent="0" marL="0">
              <a:buNone/>
            </a:pPr>
            <a:r>
              <a:rPr lang="en-US" sz="1100" b="1" dirty="0">
                <a:solidFill>
                  <a:schemeClr val="bg1"/>
                </a:solidFill>
              </a:rPr>
              <a:t>3</a:t>
            </a:r>
            <a:endParaRPr lang="en-US" sz="1100" dirty="0"/>
          </a:p>
        </p:txBody>
      </p:sp>
      <p:sp>
        <p:nvSpPr>
          <p:cNvPr id="28" name="Text-518"/>
          <p:cNvSpPr txBox="1"/>
          <p:nvPr/>
        </p:nvSpPr>
        <p:spPr>
          <a:xfrm>
            <a:off x="4443984" y="3200400"/>
            <a:ext cx="1389888" cy="868680"/>
          </a:xfrm>
          <a:prstGeom prst="rect">
            <a:avLst/>
          </a:prstGeom>
          <a:noFill/>
          <a:ln/>
        </p:spPr>
        <p:txBody>
          <a:bodyPr wrap="square" lIns="0" tIns="0" rIns="0" bIns="0" rtlCol="0" anchor="ctr"/>
          <a:lstStyle/>
          <a:p>
            <a:pPr algn="ctr" indent="0" marL="0">
              <a:buNone/>
            </a:pPr>
            <a:r>
              <a:rPr lang="en-US" sz="1300" b="1" dirty="0">
                <a:solidFill>
                  <a:schemeClr val="bg1"/>
                </a:solidFill>
              </a:rPr>
              <a:t>Capture &amp; prepare value</a:t>
            </a:r>
            <a:endParaRPr lang="en-US" sz="1300" dirty="0"/>
          </a:p>
        </p:txBody>
      </p:sp>
      <p:sp>
        <p:nvSpPr>
          <p:cNvPr id="29" name="Text-519"/>
          <p:cNvSpPr txBox="1"/>
          <p:nvPr/>
        </p:nvSpPr>
        <p:spPr>
          <a:xfrm>
            <a:off x="4352544" y="4169664"/>
            <a:ext cx="1572768" cy="274320"/>
          </a:xfrm>
          <a:prstGeom prst="rect">
            <a:avLst/>
          </a:prstGeom>
          <a:noFill/>
          <a:ln/>
        </p:spPr>
        <p:txBody>
          <a:bodyPr wrap="square" lIns="0" tIns="0" rIns="0" bIns="0" rtlCol="0" anchor="t"/>
          <a:lstStyle/>
          <a:p>
            <a:pPr algn="ctr" indent="0" marL="0">
              <a:buNone/>
            </a:pPr>
            <a:r>
              <a:rPr lang="en-US" sz="1000" dirty="0">
                <a:solidFill>
                  <a:schemeClr val="accent6"/>
                </a:solidFill>
              </a:rPr>
              <a:t>Librarian</a:t>
            </a:r>
            <a:endParaRPr lang="en-US" sz="1000" dirty="0"/>
          </a:p>
        </p:txBody>
      </p:sp>
      <p:sp>
        <p:nvSpPr>
          <p:cNvPr id="30" name="Line-520"/>
          <p:cNvSpPr/>
          <p:nvPr/>
        </p:nvSpPr>
        <p:spPr>
          <a:xfrm>
            <a:off x="5961888" y="3520440"/>
            <a:ext cx="256032" cy="0"/>
          </a:xfrm>
          <a:prstGeom prst="line">
            <a:avLst/>
          </a:prstGeom>
          <a:noFill/>
          <a:ln w="25400">
            <a:solidFill>
              <a:srgbClr val="0F3B45"/>
            </a:solidFill>
            <a:prstDash val="solid"/>
            <a:tailEnd type="triangle"/>
          </a:ln>
        </p:spPr>
        <p:txBody>
          <a:bodyPr/>
          <a:p/>
        </p:txBody>
      </p:sp>
      <p:sp>
        <p:nvSpPr>
          <p:cNvPr id="31" name="Step-521"/>
          <p:cNvSpPr/>
          <p:nvPr/>
        </p:nvSpPr>
        <p:spPr>
          <a:xfrm>
            <a:off x="6254496" y="2926080"/>
            <a:ext cx="1572768" cy="1188720"/>
          </a:xfrm>
          <a:prstGeom prst="roundRect">
            <a:avLst>
              <a:gd name="adj" fmla="val 6154"/>
            </a:avLst>
          </a:prstGeom>
          <a:solidFill>
            <a:schemeClr val="accent1"/>
          </a:solidFill>
          <a:ln/>
        </p:spPr>
        <p:txBody>
          <a:bodyPr/>
          <a:p/>
        </p:txBody>
      </p:sp>
      <p:sp>
        <p:nvSpPr>
          <p:cNvPr id="32" name="Text-522"/>
          <p:cNvSpPr txBox="1"/>
          <p:nvPr/>
        </p:nvSpPr>
        <p:spPr>
          <a:xfrm>
            <a:off x="6345936" y="2980944"/>
            <a:ext cx="365760" cy="274320"/>
          </a:xfrm>
          <a:prstGeom prst="rect">
            <a:avLst/>
          </a:prstGeom>
          <a:noFill/>
          <a:ln/>
        </p:spPr>
        <p:txBody>
          <a:bodyPr wrap="square" lIns="0" tIns="0" rIns="0" bIns="0" rtlCol="0" anchor="t"/>
          <a:lstStyle/>
          <a:p>
            <a:pPr indent="0" marL="0">
              <a:buNone/>
            </a:pPr>
            <a:r>
              <a:rPr lang="en-US" sz="1100" b="1" dirty="0">
                <a:solidFill>
                  <a:schemeClr val="bg1"/>
                </a:solidFill>
              </a:rPr>
              <a:t>4</a:t>
            </a:r>
            <a:endParaRPr lang="en-US" sz="1100" dirty="0"/>
          </a:p>
        </p:txBody>
      </p:sp>
      <p:sp>
        <p:nvSpPr>
          <p:cNvPr id="33" name="Text-523"/>
          <p:cNvSpPr txBox="1"/>
          <p:nvPr/>
        </p:nvSpPr>
        <p:spPr>
          <a:xfrm>
            <a:off x="6345936" y="3200400"/>
            <a:ext cx="1389888" cy="868680"/>
          </a:xfrm>
          <a:prstGeom prst="rect">
            <a:avLst/>
          </a:prstGeom>
          <a:noFill/>
          <a:ln/>
        </p:spPr>
        <p:txBody>
          <a:bodyPr wrap="square" lIns="0" tIns="0" rIns="0" bIns="0" rtlCol="0" anchor="ctr"/>
          <a:lstStyle/>
          <a:p>
            <a:pPr algn="ctr" indent="0" marL="0">
              <a:buNone/>
            </a:pPr>
            <a:r>
              <a:rPr lang="en-US" sz="1300" b="1" dirty="0">
                <a:solidFill>
                  <a:schemeClr val="bg1"/>
                </a:solidFill>
              </a:rPr>
              <a:t>Present value internally</a:t>
            </a:r>
            <a:endParaRPr lang="en-US" sz="1300" dirty="0"/>
          </a:p>
        </p:txBody>
      </p:sp>
      <p:sp>
        <p:nvSpPr>
          <p:cNvPr id="34" name="Text-524"/>
          <p:cNvSpPr txBox="1"/>
          <p:nvPr/>
        </p:nvSpPr>
        <p:spPr>
          <a:xfrm>
            <a:off x="6254496" y="4169664"/>
            <a:ext cx="1572768" cy="274320"/>
          </a:xfrm>
          <a:prstGeom prst="rect">
            <a:avLst/>
          </a:prstGeom>
          <a:noFill/>
          <a:ln/>
        </p:spPr>
        <p:txBody>
          <a:bodyPr wrap="square" lIns="0" tIns="0" rIns="0" bIns="0" rtlCol="0" anchor="t"/>
          <a:lstStyle/>
          <a:p>
            <a:pPr algn="ctr" indent="0" marL="0">
              <a:buNone/>
            </a:pPr>
            <a:r>
              <a:rPr lang="en-US" sz="1000" dirty="0">
                <a:solidFill>
                  <a:schemeClr val="accent6"/>
                </a:solidFill>
              </a:rPr>
              <a:t>Librarian → budget</a:t>
            </a:r>
            <a:endParaRPr lang="en-US" sz="1000" dirty="0"/>
          </a:p>
        </p:txBody>
      </p:sp>
      <p:sp>
        <p:nvSpPr>
          <p:cNvPr id="35" name="Line-525"/>
          <p:cNvSpPr/>
          <p:nvPr/>
        </p:nvSpPr>
        <p:spPr>
          <a:xfrm>
            <a:off x="7863840" y="3520440"/>
            <a:ext cx="256032" cy="0"/>
          </a:xfrm>
          <a:prstGeom prst="line">
            <a:avLst/>
          </a:prstGeom>
          <a:noFill/>
          <a:ln w="25400">
            <a:solidFill>
              <a:srgbClr val="0F3B45"/>
            </a:solidFill>
            <a:prstDash val="solid"/>
            <a:tailEnd type="triangle"/>
          </a:ln>
        </p:spPr>
        <p:txBody>
          <a:bodyPr/>
          <a:p/>
        </p:txBody>
      </p:sp>
      <p:sp>
        <p:nvSpPr>
          <p:cNvPr id="36" name="Step-526"/>
          <p:cNvSpPr/>
          <p:nvPr/>
        </p:nvSpPr>
        <p:spPr>
          <a:xfrm>
            <a:off x="8156448" y="2926080"/>
            <a:ext cx="1572768" cy="1188720"/>
          </a:xfrm>
          <a:prstGeom prst="roundRect">
            <a:avLst>
              <a:gd name="adj" fmla="val 6154"/>
            </a:avLst>
          </a:prstGeom>
          <a:solidFill>
            <a:schemeClr val="accent3"/>
          </a:solidFill>
          <a:ln/>
        </p:spPr>
        <p:txBody>
          <a:bodyPr/>
          <a:p/>
        </p:txBody>
      </p:sp>
      <p:sp>
        <p:nvSpPr>
          <p:cNvPr id="37" name="Text-527"/>
          <p:cNvSpPr txBox="1"/>
          <p:nvPr/>
        </p:nvSpPr>
        <p:spPr>
          <a:xfrm>
            <a:off x="8247888" y="2980944"/>
            <a:ext cx="365760" cy="274320"/>
          </a:xfrm>
          <a:prstGeom prst="rect">
            <a:avLst/>
          </a:prstGeom>
          <a:noFill/>
          <a:ln/>
        </p:spPr>
        <p:txBody>
          <a:bodyPr wrap="square" lIns="0" tIns="0" rIns="0" bIns="0" rtlCol="0" anchor="t"/>
          <a:lstStyle/>
          <a:p>
            <a:pPr indent="0" marL="0">
              <a:buNone/>
            </a:pPr>
            <a:r>
              <a:rPr lang="en-US" sz="1100" b="1" dirty="0">
                <a:solidFill>
                  <a:schemeClr val="bg1"/>
                </a:solidFill>
              </a:rPr>
              <a:t>5</a:t>
            </a:r>
            <a:endParaRPr lang="en-US" sz="1100" dirty="0"/>
          </a:p>
        </p:txBody>
      </p:sp>
      <p:sp>
        <p:nvSpPr>
          <p:cNvPr id="38" name="Text-528"/>
          <p:cNvSpPr txBox="1"/>
          <p:nvPr/>
        </p:nvSpPr>
        <p:spPr>
          <a:xfrm>
            <a:off x="8247888" y="3200400"/>
            <a:ext cx="1389888" cy="868680"/>
          </a:xfrm>
          <a:prstGeom prst="rect">
            <a:avLst/>
          </a:prstGeom>
          <a:noFill/>
          <a:ln/>
        </p:spPr>
        <p:txBody>
          <a:bodyPr wrap="square" lIns="0" tIns="0" rIns="0" bIns="0" rtlCol="0" anchor="ctr"/>
          <a:lstStyle/>
          <a:p>
            <a:pPr algn="ctr" indent="0" marL="0">
              <a:buNone/>
            </a:pPr>
            <a:r>
              <a:rPr lang="en-US" sz="1300" b="1" dirty="0">
                <a:solidFill>
                  <a:schemeClr val="bg1"/>
                </a:solidFill>
              </a:rPr>
              <a:t>Decide on renewal</a:t>
            </a:r>
            <a:endParaRPr lang="en-US" sz="1300" dirty="0"/>
          </a:p>
        </p:txBody>
      </p:sp>
      <p:sp>
        <p:nvSpPr>
          <p:cNvPr id="39" name="Text-529"/>
          <p:cNvSpPr txBox="1"/>
          <p:nvPr/>
        </p:nvSpPr>
        <p:spPr>
          <a:xfrm>
            <a:off x="8156448" y="4169664"/>
            <a:ext cx="1572768" cy="274320"/>
          </a:xfrm>
          <a:prstGeom prst="rect">
            <a:avLst/>
          </a:prstGeom>
          <a:noFill/>
          <a:ln/>
        </p:spPr>
        <p:txBody>
          <a:bodyPr wrap="square" lIns="0" tIns="0" rIns="0" bIns="0" rtlCol="0" anchor="t"/>
          <a:lstStyle/>
          <a:p>
            <a:pPr algn="ctr" indent="0" marL="0">
              <a:buNone/>
            </a:pPr>
            <a:r>
              <a:rPr lang="en-US" sz="1000" dirty="0">
                <a:solidFill>
                  <a:schemeClr val="accent6"/>
                </a:solidFill>
              </a:rPr>
              <a:t>Budget holders</a:t>
            </a:r>
            <a:endParaRPr lang="en-US" sz="1000" dirty="0"/>
          </a:p>
        </p:txBody>
      </p:sp>
      <p:sp>
        <p:nvSpPr>
          <p:cNvPr id="40" name="Line-530"/>
          <p:cNvSpPr/>
          <p:nvPr/>
        </p:nvSpPr>
        <p:spPr>
          <a:xfrm>
            <a:off x="9765792" y="3520440"/>
            <a:ext cx="256032" cy="0"/>
          </a:xfrm>
          <a:prstGeom prst="line">
            <a:avLst/>
          </a:prstGeom>
          <a:noFill/>
          <a:ln w="25400">
            <a:solidFill>
              <a:srgbClr val="0F3B45"/>
            </a:solidFill>
            <a:prstDash val="solid"/>
            <a:tailEnd type="triangle"/>
          </a:ln>
        </p:spPr>
        <p:txBody>
          <a:bodyPr/>
          <a:p/>
        </p:txBody>
      </p:sp>
      <p:sp>
        <p:nvSpPr>
          <p:cNvPr id="41" name="Step-531"/>
          <p:cNvSpPr/>
          <p:nvPr/>
        </p:nvSpPr>
        <p:spPr>
          <a:xfrm>
            <a:off x="10058400" y="2926080"/>
            <a:ext cx="1572768" cy="1188720"/>
          </a:xfrm>
          <a:prstGeom prst="roundRect">
            <a:avLst>
              <a:gd name="adj" fmla="val 6154"/>
            </a:avLst>
          </a:prstGeom>
          <a:solidFill>
            <a:schemeClr val="tx2"/>
          </a:solidFill>
          <a:ln/>
        </p:spPr>
        <p:txBody>
          <a:bodyPr/>
          <a:p/>
        </p:txBody>
      </p:sp>
      <p:sp>
        <p:nvSpPr>
          <p:cNvPr id="42" name="Text-532"/>
          <p:cNvSpPr txBox="1"/>
          <p:nvPr/>
        </p:nvSpPr>
        <p:spPr>
          <a:xfrm>
            <a:off x="10149840" y="2980944"/>
            <a:ext cx="365760" cy="274320"/>
          </a:xfrm>
          <a:prstGeom prst="rect">
            <a:avLst/>
          </a:prstGeom>
          <a:noFill/>
          <a:ln/>
        </p:spPr>
        <p:txBody>
          <a:bodyPr wrap="square" lIns="0" tIns="0" rIns="0" bIns="0" rtlCol="0" anchor="t"/>
          <a:lstStyle/>
          <a:p>
            <a:pPr indent="0" marL="0">
              <a:buNone/>
            </a:pPr>
            <a:r>
              <a:rPr lang="en-US" sz="1100" b="1" dirty="0">
                <a:solidFill>
                  <a:schemeClr val="bg1"/>
                </a:solidFill>
              </a:rPr>
              <a:t>6</a:t>
            </a:r>
            <a:endParaRPr lang="en-US" sz="1100" dirty="0"/>
          </a:p>
        </p:txBody>
      </p:sp>
      <p:sp>
        <p:nvSpPr>
          <p:cNvPr id="43" name="Text-533"/>
          <p:cNvSpPr txBox="1"/>
          <p:nvPr/>
        </p:nvSpPr>
        <p:spPr>
          <a:xfrm>
            <a:off x="10149840" y="3200400"/>
            <a:ext cx="1389888" cy="868680"/>
          </a:xfrm>
          <a:prstGeom prst="rect">
            <a:avLst/>
          </a:prstGeom>
          <a:noFill/>
          <a:ln/>
        </p:spPr>
        <p:txBody>
          <a:bodyPr wrap="square" lIns="0" tIns="0" rIns="0" bIns="0" rtlCol="0" anchor="ctr"/>
          <a:lstStyle/>
          <a:p>
            <a:pPr algn="ctr" indent="0" marL="0">
              <a:buNone/>
            </a:pPr>
            <a:r>
              <a:rPr lang="en-US" sz="1300" b="1" dirty="0">
                <a:solidFill>
                  <a:schemeClr val="bg1"/>
                </a:solidFill>
              </a:rPr>
              <a:t>Expand partnership</a:t>
            </a:r>
            <a:endParaRPr lang="en-US" sz="1300" dirty="0"/>
          </a:p>
        </p:txBody>
      </p:sp>
      <p:sp>
        <p:nvSpPr>
          <p:cNvPr id="44" name="Text-534"/>
          <p:cNvSpPr txBox="1"/>
          <p:nvPr/>
        </p:nvSpPr>
        <p:spPr>
          <a:xfrm>
            <a:off x="10058400" y="4169664"/>
            <a:ext cx="1572768" cy="274320"/>
          </a:xfrm>
          <a:prstGeom prst="rect">
            <a:avLst/>
          </a:prstGeom>
          <a:noFill/>
          <a:ln/>
        </p:spPr>
        <p:txBody>
          <a:bodyPr wrap="square" lIns="0" tIns="0" rIns="0" bIns="0" rtlCol="0" anchor="t"/>
          <a:lstStyle/>
          <a:p>
            <a:pPr algn="ctr" indent="0" marL="0">
              <a:buNone/>
            </a:pPr>
            <a:r>
              <a:rPr lang="en-US" sz="1000" dirty="0">
                <a:solidFill>
                  <a:schemeClr val="accent6"/>
                </a:solidFill>
              </a:rPr>
              <a:t>Goal</a:t>
            </a:r>
            <a:endParaRPr lang="en-US" sz="1000" dirty="0"/>
          </a:p>
        </p:txBody>
      </p:sp>
      <p:sp>
        <p:nvSpPr>
          <p:cNvPr id="45" name="Sticky-535"/>
          <p:cNvSpPr/>
          <p:nvPr/>
        </p:nvSpPr>
        <p:spPr>
          <a:xfrm>
            <a:off x="4407408" y="2359152"/>
            <a:ext cx="1463040" cy="50292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46" name="Text-536"/>
          <p:cNvSpPr txBox="1"/>
          <p:nvPr/>
        </p:nvSpPr>
        <p:spPr>
          <a:xfrm>
            <a:off x="4480560" y="2423160"/>
            <a:ext cx="1316736" cy="374904"/>
          </a:xfrm>
          <a:prstGeom prst="rect">
            <a:avLst/>
          </a:prstGeom>
          <a:noFill/>
          <a:ln/>
        </p:spPr>
        <p:txBody>
          <a:bodyPr wrap="square" lIns="508" tIns="508" rIns="508" bIns="508" rtlCol="0" anchor="t"/>
          <a:lstStyle/>
          <a:p>
            <a:pPr indent="0" marL="0">
              <a:buNone/>
            </a:pPr>
            <a:r>
              <a:rPr lang="en-US" sz="1000" b="1" dirty="0">
                <a:solidFill>
                  <a:schemeClr val="tx1"/>
                </a:solidFill>
              </a:rPr>
              <a:t>Top 3: cost per article</a:t>
            </a:r>
            <a:endParaRPr lang="en-US" sz="1000" dirty="0"/>
          </a:p>
        </p:txBody>
      </p:sp>
      <p:sp>
        <p:nvSpPr>
          <p:cNvPr id="47" name="Sticky-537"/>
          <p:cNvSpPr/>
          <p:nvPr/>
        </p:nvSpPr>
        <p:spPr>
          <a:xfrm>
            <a:off x="6309360" y="2359152"/>
            <a:ext cx="1463040" cy="50292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48" name="Text-538"/>
          <p:cNvSpPr txBox="1"/>
          <p:nvPr/>
        </p:nvSpPr>
        <p:spPr>
          <a:xfrm>
            <a:off x="6382512" y="2423160"/>
            <a:ext cx="1316736" cy="374904"/>
          </a:xfrm>
          <a:prstGeom prst="rect">
            <a:avLst/>
          </a:prstGeom>
          <a:noFill/>
          <a:ln/>
        </p:spPr>
        <p:txBody>
          <a:bodyPr wrap="square" lIns="508" tIns="508" rIns="508" bIns="508" rtlCol="0" anchor="t"/>
          <a:lstStyle/>
          <a:p>
            <a:pPr indent="0" marL="0">
              <a:buNone/>
            </a:pPr>
            <a:r>
              <a:rPr lang="en-US" sz="1000" b="1" dirty="0">
                <a:solidFill>
                  <a:schemeClr val="tx1"/>
                </a:solidFill>
              </a:rPr>
              <a:t>Top 1: slide for the budget meeting</a:t>
            </a:r>
            <a:endParaRPr lang="en-US" sz="1000" dirty="0"/>
          </a:p>
        </p:txBody>
      </p:sp>
      <p:sp>
        <p:nvSpPr>
          <p:cNvPr id="49" name="Sticky-539"/>
          <p:cNvSpPr/>
          <p:nvPr/>
        </p:nvSpPr>
        <p:spPr>
          <a:xfrm>
            <a:off x="8211312" y="2359152"/>
            <a:ext cx="1463040" cy="50292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50" name="Text-540"/>
          <p:cNvSpPr txBox="1"/>
          <p:nvPr/>
        </p:nvSpPr>
        <p:spPr>
          <a:xfrm>
            <a:off x="8284464" y="2423160"/>
            <a:ext cx="1316736" cy="374904"/>
          </a:xfrm>
          <a:prstGeom prst="rect">
            <a:avLst/>
          </a:prstGeom>
          <a:noFill/>
          <a:ln/>
        </p:spPr>
        <p:txBody>
          <a:bodyPr wrap="square" lIns="508" tIns="508" rIns="508" bIns="508" rtlCol="0" anchor="t"/>
          <a:lstStyle/>
          <a:p>
            <a:pPr indent="0" marL="0">
              <a:buNone/>
            </a:pPr>
            <a:r>
              <a:rPr lang="en-US" sz="1000" b="1" dirty="0">
                <a:solidFill>
                  <a:schemeClr val="tx1"/>
                </a:solidFill>
              </a:rPr>
              <a:t>Top 2: disclose the method</a:t>
            </a:r>
            <a:endParaRPr lang="en-US" sz="1000" dirty="0"/>
          </a:p>
        </p:txBody>
      </p:sp>
      <p:sp>
        <p:nvSpPr>
          <p:cNvPr id="51" name="DeciderNote-541"/>
          <p:cNvSpPr/>
          <p:nvPr/>
        </p:nvSpPr>
        <p:spPr>
          <a:xfrm>
            <a:off x="548640" y="4892040"/>
            <a:ext cx="11091672" cy="1325880"/>
          </a:xfrm>
          <a:prstGeom prst="roundRect">
            <a:avLst>
              <a:gd name="adj" fmla="val 5517"/>
            </a:avLst>
          </a:prstGeom>
          <a:solidFill>
            <a:schemeClr val="bg2"/>
          </a:solidFill>
          <a:ln/>
        </p:spPr>
        <p:txBody>
          <a:bodyPr/>
          <a:p/>
        </p:txBody>
      </p:sp>
      <p:sp>
        <p:nvSpPr>
          <p:cNvPr id="52" name="Circle-542"/>
          <p:cNvSpPr/>
          <p:nvPr/>
        </p:nvSpPr>
        <p:spPr>
          <a:xfrm>
            <a:off x="749808" y="5074920"/>
            <a:ext cx="640080" cy="640080"/>
          </a:xfrm>
          <a:prstGeom prst="ellipse">
            <a:avLst/>
          </a:prstGeom>
          <a:solidFill>
            <a:schemeClr val="accent3"/>
          </a:solidFill>
          <a:ln/>
        </p:spPr>
        <p:txBody>
          <a:bodyPr/>
          <a:p/>
        </p:txBody>
      </p:sp>
      <p:sp>
        <p:nvSpPr>
          <p:cNvPr id="53" name="Text-543"/>
          <p:cNvSpPr txBox="1"/>
          <p:nvPr/>
        </p:nvSpPr>
        <p:spPr>
          <a:xfrm>
            <a:off x="749808" y="507492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CI</a:t>
            </a:r>
            <a:endParaRPr lang="en-US" sz="1500" dirty="0"/>
          </a:p>
        </p:txBody>
      </p:sp>
      <p:sp>
        <p:nvSpPr>
          <p:cNvPr id="54" name="Text-544"/>
          <p:cNvSpPr txBox="1"/>
          <p:nvPr/>
        </p:nvSpPr>
        <p:spPr>
          <a:xfrm>
            <a:off x="1600200" y="4892040"/>
            <a:ext cx="9875520" cy="1325880"/>
          </a:xfrm>
          <a:prstGeom prst="rect">
            <a:avLst/>
          </a:prstGeom>
          <a:noFill/>
          <a:ln/>
        </p:spPr>
        <p:txBody>
          <a:bodyPr wrap="square" lIns="0" tIns="0" rIns="0" bIns="0" rtlCol="0" anchor="ctr"/>
          <a:lstStyle/>
          <a:p>
            <a:pPr indent="0" marL="0">
              <a:buNone/>
            </a:pPr>
            <a:r>
              <a:rPr lang="en-US" sz="1500" b="1" dirty="0">
                <a:solidFill>
                  <a:schemeClr val="tx1"/>
                </a:solidFill>
              </a:rPr>
              <a:t>Decider's target choice: </a:t>
            </a:r>
            <a:pPr indent="0" marL="0">
              <a:buNone/>
            </a:pPr>
            <a:r>
              <a:rPr lang="en-US" sz="1500" dirty="0">
                <a:solidFill>
                  <a:schemeClr val="tx1"/>
                </a:solidFill>
              </a:rPr>
              <a:t>We focus on the moment the evidence of value travels from the library to the budget holders (steps 3–4). That's exactly where manual work and loss of credibility happen today.</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2 · STEP 2.6 · LONG-TERM GOAL &amp; SPRINT QUESTIONS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The goal and the questions we must answer</a:t>
            </a:r>
            <a:endParaRPr lang="en-US" sz="3200" dirty="0"/>
          </a:p>
        </p:txBody>
      </p:sp>
      <p:sp>
        <p:nvSpPr>
          <p:cNvPr id="4" name="LTG-545"/>
          <p:cNvSpPr/>
          <p:nvPr/>
        </p:nvSpPr>
        <p:spPr>
          <a:xfrm>
            <a:off x="548640" y="1508760"/>
            <a:ext cx="4480560" cy="4709160"/>
          </a:xfrm>
          <a:prstGeom prst="roundRect">
            <a:avLst>
              <a:gd name="adj" fmla="val 1633"/>
            </a:avLst>
          </a:prstGeom>
          <a:solidFill>
            <a:schemeClr val="tx2"/>
          </a:solidFill>
          <a:ln/>
        </p:spPr>
        <p:txBody>
          <a:bodyPr/>
          <a:p/>
        </p:txBody>
      </p:sp>
      <p:sp>
        <p:nvSpPr>
          <p:cNvPr id="5" name="IconBg-546"/>
          <p:cNvSpPr/>
          <p:nvPr/>
        </p:nvSpPr>
        <p:spPr>
          <a:xfrm>
            <a:off x="777240" y="1737360"/>
            <a:ext cx="594360" cy="594360"/>
          </a:xfrm>
          <a:prstGeom prst="ellipse">
            <a:avLst/>
          </a:prstGeom>
          <a:solidFill>
            <a:srgbClr val="F2C14E"/>
          </a:solidFill>
          <a:ln/>
        </p:spPr>
        <p:txBody>
          <a:bodyPr/>
          <a:p/>
        </p:txBody>
      </p:sp>
      <p:pic>
        <p:nvPicPr>
          <p:cNvPr id="6" name="Icon-547" descr="preencoded.png">    </p:cNvPr>
          <p:cNvPicPr>
            <a:picLocks noChangeAspect="1"/>
          </p:cNvPicPr>
          <p:nvPr/>
        </p:nvPicPr>
        <p:blipFill>
          <a:blip r:embed="rId1"/>
          <a:stretch>
            <a:fillRect/>
          </a:stretch>
        </p:blipFill>
        <p:spPr>
          <a:xfrm>
            <a:off x="925830" y="1885950"/>
            <a:ext cx="297180" cy="297180"/>
          </a:xfrm>
          <a:prstGeom prst="rect">
            <a:avLst/>
          </a:prstGeom>
        </p:spPr>
      </p:pic>
      <p:sp>
        <p:nvSpPr>
          <p:cNvPr id="7" name="Text-548"/>
          <p:cNvSpPr txBox="1"/>
          <p:nvPr/>
        </p:nvSpPr>
        <p:spPr>
          <a:xfrm>
            <a:off x="1508760" y="1737360"/>
            <a:ext cx="3200400" cy="594360"/>
          </a:xfrm>
          <a:prstGeom prst="rect">
            <a:avLst/>
          </a:prstGeom>
          <a:noFill/>
          <a:ln/>
        </p:spPr>
        <p:txBody>
          <a:bodyPr wrap="square" lIns="0" tIns="0" rIns="0" bIns="0" rtlCol="0" anchor="ctr"/>
          <a:lstStyle/>
          <a:p>
            <a:pPr indent="0" marL="0">
              <a:buNone/>
            </a:pPr>
            <a:r>
              <a:rPr lang="en-US" sz="1300" b="1" dirty="0">
                <a:solidFill>
                  <a:schemeClr val="accent2"/>
                </a:solidFill>
              </a:rPr>
              <a:t>LONG-TERM GOAL</a:t>
            </a:r>
            <a:endParaRPr lang="en-US" sz="1300" dirty="0"/>
          </a:p>
        </p:txBody>
      </p:sp>
      <p:sp>
        <p:nvSpPr>
          <p:cNvPr id="8" name="Text-549"/>
          <p:cNvSpPr txBox="1"/>
          <p:nvPr/>
        </p:nvSpPr>
        <p:spPr>
          <a:xfrm>
            <a:off x="777240" y="2514600"/>
            <a:ext cx="4023360" cy="2743200"/>
          </a:xfrm>
          <a:prstGeom prst="rect">
            <a:avLst/>
          </a:prstGeom>
          <a:noFill/>
          <a:ln/>
        </p:spPr>
        <p:txBody>
          <a:bodyPr wrap="square" lIns="0" tIns="0" rIns="0" bIns="0" rtlCol="0" anchor="t"/>
          <a:lstStyle/>
          <a:p>
            <a:pPr indent="0" marL="0">
              <a:buNone/>
            </a:pPr>
            <a:r>
              <a:rPr lang="en-US" sz="1900" b="1" dirty="0">
                <a:solidFill>
                  <a:schemeClr val="bg1"/>
                </a:solidFill>
              </a:rPr>
              <a:t>In two years, partner institutions renew their IPP agreement because credible evidence of value reaches decision-makers without manual effort – and a growing share expand the partnership.</a:t>
            </a:r>
            <a:endParaRPr lang="en-US" sz="1900" dirty="0"/>
          </a:p>
        </p:txBody>
      </p:sp>
      <p:sp>
        <p:nvSpPr>
          <p:cNvPr id="9" name="Text-550"/>
          <p:cNvSpPr txBox="1"/>
          <p:nvPr/>
        </p:nvSpPr>
        <p:spPr>
          <a:xfrm>
            <a:off x="777240" y="5623560"/>
            <a:ext cx="4023360" cy="411480"/>
          </a:xfrm>
          <a:prstGeom prst="rect">
            <a:avLst/>
          </a:prstGeom>
          <a:noFill/>
          <a:ln/>
        </p:spPr>
        <p:txBody>
          <a:bodyPr wrap="square" lIns="0" tIns="0" rIns="0" bIns="0" rtlCol="0" anchor="t"/>
          <a:lstStyle/>
          <a:p>
            <a:pPr indent="0" marL="0">
              <a:buNone/>
            </a:pPr>
            <a:r>
              <a:rPr lang="en-US" sz="1100" i="1" dirty="0">
                <a:solidFill>
                  <a:schemeClr val="bg2"/>
                </a:solidFill>
              </a:rPr>
              <a:t>Drafted by Clara, confirmed by the team by consensus</a:t>
            </a:r>
            <a:endParaRPr lang="en-US" sz="1100" dirty="0"/>
          </a:p>
        </p:txBody>
      </p:sp>
      <p:sp>
        <p:nvSpPr>
          <p:cNvPr id="10" name="Text-551"/>
          <p:cNvSpPr txBox="1"/>
          <p:nvPr/>
        </p:nvSpPr>
        <p:spPr>
          <a:xfrm>
            <a:off x="5303520" y="1463040"/>
            <a:ext cx="6309360" cy="292608"/>
          </a:xfrm>
          <a:prstGeom prst="rect">
            <a:avLst/>
          </a:prstGeom>
          <a:noFill/>
          <a:ln/>
        </p:spPr>
        <p:txBody>
          <a:bodyPr wrap="square" lIns="0" tIns="0" rIns="0" bIns="0" rtlCol="0" anchor="t"/>
          <a:lstStyle/>
          <a:p>
            <a:pPr indent="0" marL="0">
              <a:buNone/>
            </a:pPr>
            <a:r>
              <a:rPr lang="en-US" sz="1200" b="1" dirty="0">
                <a:solidFill>
                  <a:schemeClr val="accent6"/>
                </a:solidFill>
              </a:rPr>
              <a:t>SPRINT QUESTIONS · “What could make us fail?”</a:t>
            </a:r>
            <a:endParaRPr lang="en-US" sz="1200" dirty="0"/>
          </a:p>
        </p:txBody>
      </p:sp>
      <p:sp>
        <p:nvSpPr>
          <p:cNvPr id="11" name="SQ-552"/>
          <p:cNvSpPr/>
          <p:nvPr/>
        </p:nvSpPr>
        <p:spPr>
          <a:xfrm>
            <a:off x="5303520" y="1847088"/>
            <a:ext cx="6336792" cy="795528"/>
          </a:xfrm>
          <a:prstGeom prst="roundRect">
            <a:avLst>
              <a:gd name="adj" fmla="val 9195"/>
            </a:avLst>
          </a:prstGeom>
          <a:solidFill>
            <a:schemeClr val="bg2"/>
          </a:solidFill>
          <a:ln/>
        </p:spPr>
        <p:txBody>
          <a:bodyPr/>
          <a:p/>
        </p:txBody>
      </p:sp>
      <p:sp>
        <p:nvSpPr>
          <p:cNvPr id="12" name="Circle-553"/>
          <p:cNvSpPr/>
          <p:nvPr/>
        </p:nvSpPr>
        <p:spPr>
          <a:xfrm>
            <a:off x="5468112" y="2011680"/>
            <a:ext cx="457200" cy="457200"/>
          </a:xfrm>
          <a:prstGeom prst="ellipse">
            <a:avLst/>
          </a:prstGeom>
          <a:solidFill>
            <a:schemeClr val="accent1"/>
          </a:solidFill>
          <a:ln/>
        </p:spPr>
        <p:txBody>
          <a:bodyPr/>
          <a:p/>
        </p:txBody>
      </p:sp>
      <p:sp>
        <p:nvSpPr>
          <p:cNvPr id="13" name="Text-554"/>
          <p:cNvSpPr txBox="1"/>
          <p:nvPr/>
        </p:nvSpPr>
        <p:spPr>
          <a:xfrm>
            <a:off x="5468112" y="201168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SQ1</a:t>
            </a:r>
            <a:endParaRPr lang="en-US" sz="1100" dirty="0"/>
          </a:p>
        </p:txBody>
      </p:sp>
      <p:sp>
        <p:nvSpPr>
          <p:cNvPr id="14" name="Text-555"/>
          <p:cNvSpPr txBox="1"/>
          <p:nvPr/>
        </p:nvSpPr>
        <p:spPr>
          <a:xfrm>
            <a:off x="6080760" y="1847088"/>
            <a:ext cx="5440680" cy="795528"/>
          </a:xfrm>
          <a:prstGeom prst="rect">
            <a:avLst/>
          </a:prstGeom>
          <a:noFill/>
          <a:ln/>
        </p:spPr>
        <p:txBody>
          <a:bodyPr wrap="square" lIns="0" tIns="0" rIns="0" bIns="0" rtlCol="0" anchor="ctr"/>
          <a:lstStyle/>
          <a:p>
            <a:pPr indent="0" marL="0">
              <a:buNone/>
            </a:pPr>
            <a:r>
              <a:rPr lang="en-US" sz="1500" dirty="0">
                <a:solidFill>
                  <a:schemeClr val="tx1"/>
                </a:solidFill>
              </a:rPr>
              <a:t>Do we deliver evidence of value that librarians forward without changes?</a:t>
            </a:r>
            <a:endParaRPr lang="en-US" sz="1500" dirty="0"/>
          </a:p>
        </p:txBody>
      </p:sp>
      <p:sp>
        <p:nvSpPr>
          <p:cNvPr id="15" name="SQ-556"/>
          <p:cNvSpPr/>
          <p:nvPr/>
        </p:nvSpPr>
        <p:spPr>
          <a:xfrm>
            <a:off x="5303520" y="2734056"/>
            <a:ext cx="6336792" cy="795528"/>
          </a:xfrm>
          <a:prstGeom prst="roundRect">
            <a:avLst>
              <a:gd name="adj" fmla="val 9195"/>
            </a:avLst>
          </a:prstGeom>
          <a:solidFill>
            <a:schemeClr val="bg2"/>
          </a:solidFill>
          <a:ln/>
        </p:spPr>
        <p:txBody>
          <a:bodyPr/>
          <a:p/>
        </p:txBody>
      </p:sp>
      <p:sp>
        <p:nvSpPr>
          <p:cNvPr id="16" name="Circle-557"/>
          <p:cNvSpPr/>
          <p:nvPr/>
        </p:nvSpPr>
        <p:spPr>
          <a:xfrm>
            <a:off x="5468112" y="2898648"/>
            <a:ext cx="457200" cy="457200"/>
          </a:xfrm>
          <a:prstGeom prst="ellipse">
            <a:avLst/>
          </a:prstGeom>
          <a:solidFill>
            <a:schemeClr val="accent1"/>
          </a:solidFill>
          <a:ln/>
        </p:spPr>
        <p:txBody>
          <a:bodyPr/>
          <a:p/>
        </p:txBody>
      </p:sp>
      <p:sp>
        <p:nvSpPr>
          <p:cNvPr id="17" name="Text-558"/>
          <p:cNvSpPr txBox="1"/>
          <p:nvPr/>
        </p:nvSpPr>
        <p:spPr>
          <a:xfrm>
            <a:off x="5468112" y="2898648"/>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SQ2</a:t>
            </a:r>
            <a:endParaRPr lang="en-US" sz="1100" dirty="0"/>
          </a:p>
        </p:txBody>
      </p:sp>
      <p:sp>
        <p:nvSpPr>
          <p:cNvPr id="18" name="Text-559"/>
          <p:cNvSpPr txBox="1"/>
          <p:nvPr/>
        </p:nvSpPr>
        <p:spPr>
          <a:xfrm>
            <a:off x="6080760" y="2734056"/>
            <a:ext cx="5440680" cy="795528"/>
          </a:xfrm>
          <a:prstGeom prst="rect">
            <a:avLst/>
          </a:prstGeom>
          <a:noFill/>
          <a:ln/>
        </p:spPr>
        <p:txBody>
          <a:bodyPr wrap="square" lIns="0" tIns="0" rIns="0" bIns="0" rtlCol="0" anchor="ctr"/>
          <a:lstStyle/>
          <a:p>
            <a:pPr indent="0" marL="0">
              <a:buNone/>
            </a:pPr>
            <a:r>
              <a:rPr lang="en-US" sz="1500" dirty="0">
                <a:solidFill>
                  <a:schemeClr val="tx1"/>
                </a:solidFill>
              </a:rPr>
              <a:t>Do budget holders trust figures that come from the publisher itself?</a:t>
            </a:r>
            <a:endParaRPr lang="en-US" sz="1500" dirty="0"/>
          </a:p>
        </p:txBody>
      </p:sp>
      <p:sp>
        <p:nvSpPr>
          <p:cNvPr id="19" name="SQ-560"/>
          <p:cNvSpPr/>
          <p:nvPr/>
        </p:nvSpPr>
        <p:spPr>
          <a:xfrm>
            <a:off x="5303520" y="3621024"/>
            <a:ext cx="6336792" cy="795528"/>
          </a:xfrm>
          <a:prstGeom prst="roundRect">
            <a:avLst>
              <a:gd name="adj" fmla="val 9195"/>
            </a:avLst>
          </a:prstGeom>
          <a:solidFill>
            <a:schemeClr val="bg2"/>
          </a:solidFill>
          <a:ln/>
        </p:spPr>
        <p:txBody>
          <a:bodyPr/>
          <a:p/>
        </p:txBody>
      </p:sp>
      <p:sp>
        <p:nvSpPr>
          <p:cNvPr id="20" name="Circle-561"/>
          <p:cNvSpPr/>
          <p:nvPr/>
        </p:nvSpPr>
        <p:spPr>
          <a:xfrm>
            <a:off x="5468112" y="3785616"/>
            <a:ext cx="457200" cy="457200"/>
          </a:xfrm>
          <a:prstGeom prst="ellipse">
            <a:avLst/>
          </a:prstGeom>
          <a:solidFill>
            <a:schemeClr val="accent1"/>
          </a:solidFill>
          <a:ln/>
        </p:spPr>
        <p:txBody>
          <a:bodyPr/>
          <a:p/>
        </p:txBody>
      </p:sp>
      <p:sp>
        <p:nvSpPr>
          <p:cNvPr id="21" name="Text-562"/>
          <p:cNvSpPr txBox="1"/>
          <p:nvPr/>
        </p:nvSpPr>
        <p:spPr>
          <a:xfrm>
            <a:off x="5468112" y="3785616"/>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SQ3</a:t>
            </a:r>
            <a:endParaRPr lang="en-US" sz="1100" dirty="0"/>
          </a:p>
        </p:txBody>
      </p:sp>
      <p:sp>
        <p:nvSpPr>
          <p:cNvPr id="22" name="Text-563"/>
          <p:cNvSpPr txBox="1"/>
          <p:nvPr/>
        </p:nvSpPr>
        <p:spPr>
          <a:xfrm>
            <a:off x="6080760" y="3621024"/>
            <a:ext cx="5440680" cy="795528"/>
          </a:xfrm>
          <a:prstGeom prst="rect">
            <a:avLst/>
          </a:prstGeom>
          <a:noFill/>
          <a:ln/>
        </p:spPr>
        <p:txBody>
          <a:bodyPr wrap="square" lIns="0" tIns="0" rIns="0" bIns="0" rtlCol="0" anchor="ctr"/>
          <a:lstStyle/>
          <a:p>
            <a:pPr indent="0" marL="0">
              <a:buNone/>
            </a:pPr>
            <a:r>
              <a:rPr lang="en-US" sz="1500" dirty="0">
                <a:solidFill>
                  <a:schemeClr val="tx1"/>
                </a:solidFill>
              </a:rPr>
              <a:t>Which kind of value tips the renewal decision?</a:t>
            </a:r>
            <a:endParaRPr lang="en-US" sz="1500" dirty="0"/>
          </a:p>
        </p:txBody>
      </p:sp>
      <p:sp>
        <p:nvSpPr>
          <p:cNvPr id="23" name="SQ-564"/>
          <p:cNvSpPr/>
          <p:nvPr/>
        </p:nvSpPr>
        <p:spPr>
          <a:xfrm>
            <a:off x="5303520" y="4507992"/>
            <a:ext cx="6336792" cy="795528"/>
          </a:xfrm>
          <a:prstGeom prst="roundRect">
            <a:avLst>
              <a:gd name="adj" fmla="val 9195"/>
            </a:avLst>
          </a:prstGeom>
          <a:solidFill>
            <a:schemeClr val="bg2"/>
          </a:solidFill>
          <a:ln/>
        </p:spPr>
        <p:txBody>
          <a:bodyPr/>
          <a:p/>
        </p:txBody>
      </p:sp>
      <p:sp>
        <p:nvSpPr>
          <p:cNvPr id="24" name="Circle-565"/>
          <p:cNvSpPr/>
          <p:nvPr/>
        </p:nvSpPr>
        <p:spPr>
          <a:xfrm>
            <a:off x="5468112" y="4672584"/>
            <a:ext cx="457200" cy="457200"/>
          </a:xfrm>
          <a:prstGeom prst="ellipse">
            <a:avLst/>
          </a:prstGeom>
          <a:solidFill>
            <a:schemeClr val="accent1"/>
          </a:solidFill>
          <a:ln/>
        </p:spPr>
        <p:txBody>
          <a:bodyPr/>
          <a:p/>
        </p:txBody>
      </p:sp>
      <p:sp>
        <p:nvSpPr>
          <p:cNvPr id="25" name="Text-566"/>
          <p:cNvSpPr txBox="1"/>
          <p:nvPr/>
        </p:nvSpPr>
        <p:spPr>
          <a:xfrm>
            <a:off x="5468112" y="4672584"/>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SQ4</a:t>
            </a:r>
            <a:endParaRPr lang="en-US" sz="1100" dirty="0"/>
          </a:p>
        </p:txBody>
      </p:sp>
      <p:sp>
        <p:nvSpPr>
          <p:cNvPr id="26" name="Text-567"/>
          <p:cNvSpPr txBox="1"/>
          <p:nvPr/>
        </p:nvSpPr>
        <p:spPr>
          <a:xfrm>
            <a:off x="6080760" y="4507992"/>
            <a:ext cx="5440680" cy="795528"/>
          </a:xfrm>
          <a:prstGeom prst="rect">
            <a:avLst/>
          </a:prstGeom>
          <a:noFill/>
          <a:ln/>
        </p:spPr>
        <p:txBody>
          <a:bodyPr wrap="square" lIns="0" tIns="0" rIns="0" bIns="0" rtlCol="0" anchor="ctr"/>
          <a:lstStyle/>
          <a:p>
            <a:pPr indent="0" marL="0">
              <a:buNone/>
            </a:pPr>
            <a:r>
              <a:rPr lang="en-US" sz="1500" dirty="0">
                <a:solidFill>
                  <a:schemeClr val="tx1"/>
                </a:solidFill>
              </a:rPr>
              <a:t>Can the evidence be generated fully automatically from Manuscripta data?</a:t>
            </a:r>
            <a:endParaRPr lang="en-US" sz="1500" dirty="0"/>
          </a:p>
        </p:txBody>
      </p:sp>
      <p:sp>
        <p:nvSpPr>
          <p:cNvPr id="27" name="SQ-568"/>
          <p:cNvSpPr/>
          <p:nvPr/>
        </p:nvSpPr>
        <p:spPr>
          <a:xfrm>
            <a:off x="5303520" y="5394960"/>
            <a:ext cx="6336792" cy="795528"/>
          </a:xfrm>
          <a:prstGeom prst="roundRect">
            <a:avLst>
              <a:gd name="adj" fmla="val 9195"/>
            </a:avLst>
          </a:prstGeom>
          <a:solidFill>
            <a:schemeClr val="bg2"/>
          </a:solidFill>
          <a:ln/>
        </p:spPr>
        <p:txBody>
          <a:bodyPr/>
          <a:p/>
        </p:txBody>
      </p:sp>
      <p:sp>
        <p:nvSpPr>
          <p:cNvPr id="28" name="Circle-569"/>
          <p:cNvSpPr/>
          <p:nvPr/>
        </p:nvSpPr>
        <p:spPr>
          <a:xfrm>
            <a:off x="5468112" y="5559552"/>
            <a:ext cx="457200" cy="457200"/>
          </a:xfrm>
          <a:prstGeom prst="ellipse">
            <a:avLst/>
          </a:prstGeom>
          <a:solidFill>
            <a:schemeClr val="accent1"/>
          </a:solidFill>
          <a:ln/>
        </p:spPr>
        <p:txBody>
          <a:bodyPr/>
          <a:p/>
        </p:txBody>
      </p:sp>
      <p:sp>
        <p:nvSpPr>
          <p:cNvPr id="29" name="Text-570"/>
          <p:cNvSpPr txBox="1"/>
          <p:nvPr/>
        </p:nvSpPr>
        <p:spPr>
          <a:xfrm>
            <a:off x="5468112" y="5559552"/>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SQ5</a:t>
            </a:r>
            <a:endParaRPr lang="en-US" sz="1100" dirty="0"/>
          </a:p>
        </p:txBody>
      </p:sp>
      <p:sp>
        <p:nvSpPr>
          <p:cNvPr id="30" name="Text-571"/>
          <p:cNvSpPr txBox="1"/>
          <p:nvPr/>
        </p:nvSpPr>
        <p:spPr>
          <a:xfrm>
            <a:off x="6080760" y="5394960"/>
            <a:ext cx="5440680" cy="795528"/>
          </a:xfrm>
          <a:prstGeom prst="rect">
            <a:avLst/>
          </a:prstGeom>
          <a:noFill/>
          <a:ln/>
        </p:spPr>
        <p:txBody>
          <a:bodyPr wrap="square" lIns="0" tIns="0" rIns="0" bIns="0" rtlCol="0" anchor="ctr"/>
          <a:lstStyle/>
          <a:p>
            <a:pPr indent="0" marL="0">
              <a:buNone/>
            </a:pPr>
            <a:r>
              <a:rPr lang="en-US" sz="1500" dirty="0">
                <a:solidFill>
                  <a:schemeClr val="tx1"/>
                </a:solidFill>
              </a:rPr>
              <a:t>Does the evidence spark interest in expanding, e.g. more prepayment?</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6858000" cy="457200"/>
          </a:xfrm>
          <a:prstGeom prst="rect">
            <a:avLst/>
          </a:prstGeom>
          <a:noFill/>
          <a:ln/>
        </p:spPr>
        <p:txBody>
          <a:bodyPr wrap="square" lIns="0" tIns="0" rIns="0" bIns="0" rtlCol="0" anchor="b"/>
          <a:lstStyle/>
          <a:p>
            <a:pPr indent="0" marL="0">
              <a:buNone/>
            </a:pPr>
            <a:r>
              <a:rPr lang="en-US" sz="1600" b="1" dirty="0">
                <a:solidFill>
                  <a:schemeClr val="accent2"/>
                </a:solidFill>
              </a:rPr>
              <a:t>PHASE 3</a:t>
            </a:r>
            <a:endParaRPr lang="en-US" sz="1600" dirty="0"/>
          </a:p>
        </p:txBody>
      </p:sp>
      <p:sp>
        <p:nvSpPr>
          <p:cNvPr id="3" name="Text 0"/>
          <p:cNvSpPr/>
          <p:nvPr>
            <p:ph idx="101" type="title" hasCustomPrompt="1"/>
          </p:nvPr>
        </p:nvSpPr>
        <p:spPr>
          <a:xfrm>
            <a:off x="731520" y="1874520"/>
            <a:ext cx="68580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Ideate &amp; Explore</a:t>
            </a:r>
            <a:endParaRPr lang="en-US" sz="4400" dirty="0"/>
          </a:p>
        </p:txBody>
      </p:sp>
      <p:sp>
        <p:nvSpPr>
          <p:cNvPr id="4" name="Text 0"/>
          <p:cNvSpPr/>
          <p:nvPr>
            <p:ph idx="102" type="body" hasCustomPrompt="1"/>
          </p:nvPr>
        </p:nvSpPr>
        <p:spPr>
          <a:xfrm>
            <a:off x="731520" y="3200400"/>
            <a:ext cx="6858000" cy="2926080"/>
          </a:xfrm>
          <a:prstGeom prst="rect">
            <a:avLst/>
          </a:prstGeom>
          <a:noFill/>
          <a:ln/>
        </p:spPr>
        <p:txBody>
          <a:bodyPr wrap="square" lIns="0" tIns="0" rIns="0" bIns="0" rtlCol="0" anchor="t"/>
          <a:lstStyle/>
          <a:p>
            <a:pPr indent="0" marL="0">
              <a:spcAft>
                <a:spcPts val="600"/>
              </a:spcAft>
              <a:buNone/>
            </a:pPr>
            <a:r>
              <a:rPr lang="en-US" sz="1800" dirty="0">
                <a:solidFill>
                  <a:schemeClr val="bg2"/>
                </a:solidFill>
              </a:rPr>
              <a:t>3.1  Lightning demos (team + AI)</a:t>
            </a:r>
            <a:endParaRPr lang="en-US" sz="1800" dirty="0"/>
          </a:p>
          <a:p>
            <a:pPr indent="0" marL="0">
              <a:spcAft>
                <a:spcPts val="600"/>
              </a:spcAft>
              <a:buNone/>
            </a:pPr>
            <a:r>
              <a:rPr lang="en-US" sz="1800" dirty="0">
                <a:solidFill>
                  <a:schemeClr val="bg2"/>
                </a:solidFill>
              </a:rPr>
              <a:t>3.2  4-part sketching: process</a:t>
            </a:r>
            <a:endParaRPr lang="en-US" sz="1800" dirty="0"/>
          </a:p>
          <a:p>
            <a:pPr indent="0" marL="0">
              <a:spcAft>
                <a:spcPts val="600"/>
              </a:spcAft>
              <a:buNone/>
            </a:pPr>
            <a:r>
              <a:rPr lang="en-US" sz="1800" dirty="0">
                <a:solidFill>
                  <a:schemeClr val="bg2"/>
                </a:solidFill>
              </a:rPr>
              <a:t>3.3  Notes</a:t>
            </a:r>
            <a:endParaRPr lang="en-US" sz="1800" dirty="0"/>
          </a:p>
          <a:p>
            <a:pPr indent="0" marL="0">
              <a:spcAft>
                <a:spcPts val="600"/>
              </a:spcAft>
              <a:buNone/>
            </a:pPr>
            <a:r>
              <a:rPr lang="en-US" sz="1800" dirty="0">
                <a:solidFill>
                  <a:schemeClr val="bg2"/>
                </a:solidFill>
              </a:rPr>
              <a:t>3.4  Doodles</a:t>
            </a:r>
            <a:endParaRPr lang="en-US" sz="1800" dirty="0"/>
          </a:p>
          <a:p>
            <a:pPr indent="0" marL="0">
              <a:spcAft>
                <a:spcPts val="600"/>
              </a:spcAft>
              <a:buNone/>
            </a:pPr>
            <a:r>
              <a:rPr lang="en-US" sz="1800" dirty="0">
                <a:solidFill>
                  <a:schemeClr val="bg2"/>
                </a:solidFill>
              </a:rPr>
              <a:t>3.5  Crazy 8s</a:t>
            </a:r>
            <a:endParaRPr lang="en-US" sz="1800" dirty="0"/>
          </a:p>
          <a:p>
            <a:pPr indent="0" marL="0">
              <a:spcAft>
                <a:spcPts val="600"/>
              </a:spcAft>
              <a:buNone/>
            </a:pPr>
            <a:r>
              <a:rPr lang="en-US" sz="1800" dirty="0">
                <a:solidFill>
                  <a:schemeClr val="bg2"/>
                </a:solidFill>
              </a:rPr>
              <a:t>3.6  Solution sketches (4×)</a:t>
            </a:r>
            <a:endParaRPr lang="en-US" sz="1800" dirty="0"/>
          </a:p>
          <a:p>
            <a:pPr indent="0" marL="0">
              <a:spcAft>
                <a:spcPts val="600"/>
              </a:spcAft>
              <a:buNone/>
            </a:pPr>
            <a:r>
              <a:rPr lang="en-US" sz="1800" dirty="0">
                <a:solidFill>
                  <a:schemeClr val="bg2"/>
                </a:solidFill>
              </a:rPr>
              <a:t>3.7  Additional AI concepts &amp; gallery</a:t>
            </a:r>
            <a:endParaRPr lang="en-US" sz="1800" dirty="0"/>
          </a:p>
        </p:txBody>
      </p:sp>
      <p:sp>
        <p:nvSpPr>
          <p:cNvPr id="5" name="Text-572"/>
          <p:cNvSpPr txBox="1"/>
          <p:nvPr/>
        </p:nvSpPr>
        <p:spPr>
          <a:xfrm>
            <a:off x="7680960" y="822960"/>
            <a:ext cx="3931920" cy="2743200"/>
          </a:xfrm>
          <a:prstGeom prst="rect">
            <a:avLst/>
          </a:prstGeom>
          <a:noFill/>
          <a:ln/>
        </p:spPr>
        <p:txBody>
          <a:bodyPr wrap="square" lIns="0" tIns="0" rIns="0" bIns="0" rtlCol="0" anchor="t"/>
          <a:lstStyle/>
          <a:p>
            <a:pPr algn="r" indent="0" marL="0">
              <a:buNone/>
            </a:pPr>
            <a:r>
              <a:rPr lang="en-US" sz="19000" b="1" dirty="0">
                <a:solidFill>
                  <a:schemeClr val="accent1"/>
                </a:solidFill>
                <a:latin typeface="Arial" pitchFamily="34" charset="0"/>
                <a:ea typeface="Arial" pitchFamily="34" charset="-122"/>
                <a:cs typeface="Arial" pitchFamily="34" charset="-120"/>
              </a:rPr>
              <a:t>03</a:t>
            </a:r>
            <a:endParaRPr lang="en-US" sz="19000" dirty="0"/>
          </a:p>
        </p:txBody>
      </p:sp>
      <p:sp>
        <p:nvSpPr>
          <p:cNvPr id="6" name="IconBg-573"/>
          <p:cNvSpPr/>
          <p:nvPr/>
        </p:nvSpPr>
        <p:spPr>
          <a:xfrm>
            <a:off x="10195560" y="4343400"/>
            <a:ext cx="1417320" cy="1417320"/>
          </a:xfrm>
          <a:prstGeom prst="ellipse">
            <a:avLst/>
          </a:prstGeom>
          <a:solidFill>
            <a:srgbClr val="F2C14E"/>
          </a:solidFill>
          <a:ln/>
        </p:spPr>
        <p:txBody>
          <a:bodyPr/>
          <a:p/>
        </p:txBody>
      </p:sp>
      <p:pic>
        <p:nvPicPr>
          <p:cNvPr id="7" name="Icon-574" descr="preencoded.png">    </p:cNvPr>
          <p:cNvPicPr>
            <a:picLocks noChangeAspect="1"/>
          </p:cNvPicPr>
          <p:nvPr/>
        </p:nvPicPr>
        <p:blipFill>
          <a:blip r:embed="rId1"/>
          <a:stretch>
            <a:fillRect/>
          </a:stretch>
        </p:blipFill>
        <p:spPr>
          <a:xfrm>
            <a:off x="10549890" y="4697730"/>
            <a:ext cx="708660" cy="7086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3.1 · LIGHTNING DEMOS (TEAM)</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Inspiration from other industries</a:t>
            </a:r>
            <a:endParaRPr lang="en-US" sz="3200" dirty="0"/>
          </a:p>
        </p:txBody>
      </p:sp>
      <p:sp>
        <p:nvSpPr>
          <p:cNvPr id="4" name="Demo-575"/>
          <p:cNvSpPr/>
          <p:nvPr/>
        </p:nvSpPr>
        <p:spPr>
          <a:xfrm>
            <a:off x="548640" y="1508760"/>
            <a:ext cx="2651760" cy="4709160"/>
          </a:xfrm>
          <a:prstGeom prst="roundRect">
            <a:avLst>
              <a:gd name="adj" fmla="val 2759"/>
            </a:avLst>
          </a:prstGeom>
          <a:solidFill>
            <a:schemeClr val="bg2"/>
          </a:solidFill>
          <a:ln/>
        </p:spPr>
        <p:txBody>
          <a:bodyPr/>
          <a:p/>
        </p:txBody>
      </p:sp>
      <p:sp>
        <p:nvSpPr>
          <p:cNvPr id="5" name="IconBg-576"/>
          <p:cNvSpPr/>
          <p:nvPr/>
        </p:nvSpPr>
        <p:spPr>
          <a:xfrm>
            <a:off x="731520" y="1691640"/>
            <a:ext cx="566928" cy="566928"/>
          </a:xfrm>
          <a:prstGeom prst="ellipse">
            <a:avLst/>
          </a:prstGeom>
          <a:solidFill>
            <a:srgbClr val="1F7A8C"/>
          </a:solidFill>
          <a:ln/>
        </p:spPr>
        <p:txBody>
          <a:bodyPr/>
          <a:p/>
        </p:txBody>
      </p:sp>
      <p:pic>
        <p:nvPicPr>
          <p:cNvPr id="6" name="Icon-577" descr="preencoded.png">    </p:cNvPr>
          <p:cNvPicPr>
            <a:picLocks noChangeAspect="1"/>
          </p:cNvPicPr>
          <p:nvPr/>
        </p:nvPicPr>
        <p:blipFill>
          <a:blip r:embed="rId1"/>
          <a:stretch>
            <a:fillRect/>
          </a:stretch>
        </p:blipFill>
        <p:spPr>
          <a:xfrm>
            <a:off x="873252" y="1833372"/>
            <a:ext cx="283464" cy="283464"/>
          </a:xfrm>
          <a:prstGeom prst="rect">
            <a:avLst/>
          </a:prstGeom>
        </p:spPr>
      </p:pic>
      <p:sp>
        <p:nvSpPr>
          <p:cNvPr id="7" name="Text-578"/>
          <p:cNvSpPr txBox="1"/>
          <p:nvPr/>
        </p:nvSpPr>
        <p:spPr>
          <a:xfrm>
            <a:off x="1417320" y="1691640"/>
            <a:ext cx="1691640" cy="566928"/>
          </a:xfrm>
          <a:prstGeom prst="rect">
            <a:avLst/>
          </a:prstGeom>
          <a:noFill/>
          <a:ln/>
        </p:spPr>
        <p:txBody>
          <a:bodyPr wrap="square" lIns="0" tIns="0" rIns="0" bIns="0" rtlCol="0" anchor="ctr"/>
          <a:lstStyle/>
          <a:p>
            <a:pPr indent="0" marL="0">
              <a:buNone/>
            </a:pPr>
            <a:r>
              <a:rPr lang="en-US" sz="1100" b="1" dirty="0">
                <a:solidFill>
                  <a:schemeClr val="accent6"/>
                </a:solidFill>
              </a:rPr>
              <a:t>by Tobias</a:t>
            </a:r>
            <a:endParaRPr lang="en-US" sz="1100" dirty="0"/>
          </a:p>
        </p:txBody>
      </p:sp>
      <p:sp>
        <p:nvSpPr>
          <p:cNvPr id="8" name="Text-579"/>
          <p:cNvSpPr txBox="1"/>
          <p:nvPr/>
        </p:nvSpPr>
        <p:spPr>
          <a:xfrm>
            <a:off x="731520" y="2404872"/>
            <a:ext cx="2286000" cy="685800"/>
          </a:xfrm>
          <a:prstGeom prst="rect">
            <a:avLst/>
          </a:prstGeom>
          <a:noFill/>
          <a:ln/>
        </p:spPr>
        <p:txBody>
          <a:bodyPr wrap="square" lIns="0" tIns="0" rIns="0" bIns="0" rtlCol="0" anchor="t"/>
          <a:lstStyle/>
          <a:p>
            <a:pPr indent="0" marL="0">
              <a:buNone/>
            </a:pPr>
            <a:r>
              <a:rPr lang="en-US" sz="1500" b="1" dirty="0">
                <a:solidFill>
                  <a:schemeClr val="tx2"/>
                </a:solidFill>
              </a:rPr>
              <a:t>A music app's year in review</a:t>
            </a:r>
            <a:endParaRPr lang="en-US" sz="1500" dirty="0"/>
          </a:p>
        </p:txBody>
      </p:sp>
      <p:sp>
        <p:nvSpPr>
          <p:cNvPr id="9" name="Text-580"/>
          <p:cNvSpPr txBox="1"/>
          <p:nvPr/>
        </p:nvSpPr>
        <p:spPr>
          <a:xfrm>
            <a:off x="731520" y="3108960"/>
            <a:ext cx="2286000" cy="1463040"/>
          </a:xfrm>
          <a:prstGeom prst="rect">
            <a:avLst/>
          </a:prstGeom>
          <a:noFill/>
          <a:ln/>
        </p:spPr>
        <p:txBody>
          <a:bodyPr wrap="square" lIns="0" tIns="0" rIns="0" bIns="0" rtlCol="0" anchor="t"/>
          <a:lstStyle/>
          <a:p>
            <a:pPr indent="0" marL="0">
              <a:buNone/>
            </a:pPr>
            <a:r>
              <a:rPr lang="en-US" sz="1400" dirty="0">
                <a:solidFill>
                  <a:schemeClr val="tx1"/>
                </a:solidFill>
              </a:rPr>
              <a:t>A personal review, told with emotion and made for sharing.</a:t>
            </a:r>
            <a:endParaRPr lang="en-US" sz="1400" dirty="0"/>
          </a:p>
        </p:txBody>
      </p:sp>
      <p:sp>
        <p:nvSpPr>
          <p:cNvPr id="10" name="Sticky-581"/>
          <p:cNvSpPr/>
          <p:nvPr/>
        </p:nvSpPr>
        <p:spPr>
          <a:xfrm>
            <a:off x="731520" y="4663440"/>
            <a:ext cx="2286000" cy="137160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11" name="Text-582"/>
          <p:cNvSpPr txBox="1"/>
          <p:nvPr/>
        </p:nvSpPr>
        <p:spPr>
          <a:xfrm>
            <a:off x="804672" y="4727448"/>
            <a:ext cx="2139696" cy="1243584"/>
          </a:xfrm>
          <a:prstGeom prst="rect">
            <a:avLst/>
          </a:prstGeom>
          <a:noFill/>
          <a:ln/>
        </p:spPr>
        <p:txBody>
          <a:bodyPr wrap="square" lIns="508" tIns="508" rIns="508" bIns="508" rtlCol="0" anchor="t"/>
          <a:lstStyle/>
          <a:p>
            <a:pPr indent="0" marL="0">
              <a:buNone/>
            </a:pPr>
            <a:r>
              <a:rPr lang="en-US" sz="1000" b="1" dirty="0">
                <a:solidFill>
                  <a:schemeClr val="tx1"/>
                </a:solidFill>
              </a:rPr>
              <a:t>BIG IDEA</a:t>
            </a:r>
            <a:endParaRPr lang="en-US" sz="1200" dirty="0"/>
          </a:p>
          <a:p>
            <a:pPr indent="0" marL="0">
              <a:buNone/>
            </a:pPr>
            <a:r>
              <a:rPr lang="en-US" sz="1300" b="1" dirty="0">
                <a:solidFill>
                  <a:schemeClr val="tx1"/>
                </a:solidFill>
              </a:rPr>
              <a:t>An institutional year in review people proudly pass on</a:t>
            </a:r>
            <a:endParaRPr lang="en-US" sz="1200" dirty="0"/>
          </a:p>
        </p:txBody>
      </p:sp>
      <p:sp>
        <p:nvSpPr>
          <p:cNvPr id="12" name="Demo-583"/>
          <p:cNvSpPr/>
          <p:nvPr/>
        </p:nvSpPr>
        <p:spPr>
          <a:xfrm>
            <a:off x="3353105" y="1508760"/>
            <a:ext cx="2651760" cy="4709160"/>
          </a:xfrm>
          <a:prstGeom prst="roundRect">
            <a:avLst>
              <a:gd name="adj" fmla="val 2759"/>
            </a:avLst>
          </a:prstGeom>
          <a:solidFill>
            <a:schemeClr val="bg2"/>
          </a:solidFill>
          <a:ln/>
        </p:spPr>
        <p:txBody>
          <a:bodyPr/>
          <a:p/>
        </p:txBody>
      </p:sp>
      <p:sp>
        <p:nvSpPr>
          <p:cNvPr id="13" name="IconBg-584"/>
          <p:cNvSpPr/>
          <p:nvPr/>
        </p:nvSpPr>
        <p:spPr>
          <a:xfrm>
            <a:off x="3535985" y="1691640"/>
            <a:ext cx="566928" cy="566928"/>
          </a:xfrm>
          <a:prstGeom prst="ellipse">
            <a:avLst/>
          </a:prstGeom>
          <a:solidFill>
            <a:srgbClr val="1F7A8C"/>
          </a:solidFill>
          <a:ln/>
        </p:spPr>
        <p:txBody>
          <a:bodyPr/>
          <a:p/>
        </p:txBody>
      </p:sp>
      <p:pic>
        <p:nvPicPr>
          <p:cNvPr id="14" name="Icon-585" descr="preencoded.png">    </p:cNvPr>
          <p:cNvPicPr>
            <a:picLocks noChangeAspect="1"/>
          </p:cNvPicPr>
          <p:nvPr/>
        </p:nvPicPr>
        <p:blipFill>
          <a:blip r:embed="rId2"/>
          <a:stretch>
            <a:fillRect/>
          </a:stretch>
        </p:blipFill>
        <p:spPr>
          <a:xfrm>
            <a:off x="3677717" y="1833372"/>
            <a:ext cx="283464" cy="283464"/>
          </a:xfrm>
          <a:prstGeom prst="rect">
            <a:avLst/>
          </a:prstGeom>
        </p:spPr>
      </p:pic>
      <p:sp>
        <p:nvSpPr>
          <p:cNvPr id="15" name="Text-586"/>
          <p:cNvSpPr txBox="1"/>
          <p:nvPr/>
        </p:nvSpPr>
        <p:spPr>
          <a:xfrm>
            <a:off x="4221785" y="1691640"/>
            <a:ext cx="1691640" cy="566928"/>
          </a:xfrm>
          <a:prstGeom prst="rect">
            <a:avLst/>
          </a:prstGeom>
          <a:noFill/>
          <a:ln/>
        </p:spPr>
        <p:txBody>
          <a:bodyPr wrap="square" lIns="0" tIns="0" rIns="0" bIns="0" rtlCol="0" anchor="ctr"/>
          <a:lstStyle/>
          <a:p>
            <a:pPr indent="0" marL="0">
              <a:buNone/>
            </a:pPr>
            <a:r>
              <a:rPr lang="en-US" sz="1100" b="1" dirty="0">
                <a:solidFill>
                  <a:schemeClr val="accent6"/>
                </a:solidFill>
              </a:rPr>
              <a:t>by Nina</a:t>
            </a:r>
            <a:endParaRPr lang="en-US" sz="1100" dirty="0"/>
          </a:p>
        </p:txBody>
      </p:sp>
      <p:sp>
        <p:nvSpPr>
          <p:cNvPr id="16" name="Text-587"/>
          <p:cNvSpPr txBox="1"/>
          <p:nvPr/>
        </p:nvSpPr>
        <p:spPr>
          <a:xfrm>
            <a:off x="3535985" y="2404872"/>
            <a:ext cx="2286000" cy="685800"/>
          </a:xfrm>
          <a:prstGeom prst="rect">
            <a:avLst/>
          </a:prstGeom>
          <a:noFill/>
          <a:ln/>
        </p:spPr>
        <p:txBody>
          <a:bodyPr wrap="square" lIns="0" tIns="0" rIns="0" bIns="0" rtlCol="0" anchor="t"/>
          <a:lstStyle/>
          <a:p>
            <a:pPr indent="0" marL="0">
              <a:buNone/>
            </a:pPr>
            <a:r>
              <a:rPr lang="en-US" sz="1500" b="1" dirty="0">
                <a:solidFill>
                  <a:schemeClr val="tx2"/>
                </a:solidFill>
              </a:rPr>
              <a:t>Electricity bill with neighbourhood comparison</a:t>
            </a:r>
            <a:endParaRPr lang="en-US" sz="1500" dirty="0"/>
          </a:p>
        </p:txBody>
      </p:sp>
      <p:sp>
        <p:nvSpPr>
          <p:cNvPr id="17" name="Text-588"/>
          <p:cNvSpPr txBox="1"/>
          <p:nvPr/>
        </p:nvSpPr>
        <p:spPr>
          <a:xfrm>
            <a:off x="3535985" y="3108960"/>
            <a:ext cx="2286000" cy="1463040"/>
          </a:xfrm>
          <a:prstGeom prst="rect">
            <a:avLst/>
          </a:prstGeom>
          <a:noFill/>
          <a:ln/>
        </p:spPr>
        <p:txBody>
          <a:bodyPr wrap="square" lIns="0" tIns="0" rIns="0" bIns="0" rtlCol="0" anchor="t"/>
          <a:lstStyle/>
          <a:p>
            <a:pPr indent="0" marL="0">
              <a:buNone/>
            </a:pPr>
            <a:r>
              <a:rPr lang="en-US" sz="1400" dirty="0">
                <a:solidFill>
                  <a:schemeClr val="tx1"/>
                </a:solidFill>
              </a:rPr>
              <a:t>“You use 12% less than similar households” – the comparison gives context.</a:t>
            </a:r>
            <a:endParaRPr lang="en-US" sz="1400" dirty="0"/>
          </a:p>
        </p:txBody>
      </p:sp>
      <p:sp>
        <p:nvSpPr>
          <p:cNvPr id="18" name="Sticky-589"/>
          <p:cNvSpPr/>
          <p:nvPr/>
        </p:nvSpPr>
        <p:spPr>
          <a:xfrm>
            <a:off x="3535985" y="4663440"/>
            <a:ext cx="2286000" cy="137160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19" name="Text-590"/>
          <p:cNvSpPr txBox="1"/>
          <p:nvPr/>
        </p:nvSpPr>
        <p:spPr>
          <a:xfrm>
            <a:off x="3609137" y="4727448"/>
            <a:ext cx="2139696" cy="1243584"/>
          </a:xfrm>
          <a:prstGeom prst="rect">
            <a:avLst/>
          </a:prstGeom>
          <a:noFill/>
          <a:ln/>
        </p:spPr>
        <p:txBody>
          <a:bodyPr wrap="square" lIns="508" tIns="508" rIns="508" bIns="508" rtlCol="0" anchor="t"/>
          <a:lstStyle/>
          <a:p>
            <a:pPr indent="0" marL="0">
              <a:buNone/>
            </a:pPr>
            <a:r>
              <a:rPr lang="en-US" sz="1000" b="1" dirty="0">
                <a:solidFill>
                  <a:schemeClr val="tx1"/>
                </a:solidFill>
              </a:rPr>
              <a:t>BIG IDEA</a:t>
            </a:r>
            <a:endParaRPr lang="en-US" sz="1200" dirty="0"/>
          </a:p>
          <a:p>
            <a:pPr indent="0" marL="0">
              <a:buNone/>
            </a:pPr>
            <a:r>
              <a:rPr lang="en-US" sz="1300" b="1" dirty="0">
                <a:solidFill>
                  <a:schemeClr val="tx1"/>
                </a:solidFill>
              </a:rPr>
              <a:t>Peer benchmark with comparable institutions</a:t>
            </a:r>
            <a:endParaRPr lang="en-US" sz="1200" dirty="0"/>
          </a:p>
        </p:txBody>
      </p:sp>
      <p:sp>
        <p:nvSpPr>
          <p:cNvPr id="20" name="Demo-591"/>
          <p:cNvSpPr/>
          <p:nvPr/>
        </p:nvSpPr>
        <p:spPr>
          <a:xfrm>
            <a:off x="6157570" y="1508760"/>
            <a:ext cx="2651760" cy="4709160"/>
          </a:xfrm>
          <a:prstGeom prst="roundRect">
            <a:avLst>
              <a:gd name="adj" fmla="val 2759"/>
            </a:avLst>
          </a:prstGeom>
          <a:solidFill>
            <a:schemeClr val="bg2"/>
          </a:solidFill>
          <a:ln/>
        </p:spPr>
        <p:txBody>
          <a:bodyPr/>
          <a:p/>
        </p:txBody>
      </p:sp>
      <p:sp>
        <p:nvSpPr>
          <p:cNvPr id="21" name="IconBg-592"/>
          <p:cNvSpPr/>
          <p:nvPr/>
        </p:nvSpPr>
        <p:spPr>
          <a:xfrm>
            <a:off x="6340450" y="1691640"/>
            <a:ext cx="566928" cy="566928"/>
          </a:xfrm>
          <a:prstGeom prst="ellipse">
            <a:avLst/>
          </a:prstGeom>
          <a:solidFill>
            <a:srgbClr val="1F7A8C"/>
          </a:solidFill>
          <a:ln/>
        </p:spPr>
        <p:txBody>
          <a:bodyPr/>
          <a:p/>
        </p:txBody>
      </p:sp>
      <p:pic>
        <p:nvPicPr>
          <p:cNvPr id="22" name="Icon-593" descr="preencoded.png">    </p:cNvPr>
          <p:cNvPicPr>
            <a:picLocks noChangeAspect="1"/>
          </p:cNvPicPr>
          <p:nvPr/>
        </p:nvPicPr>
        <p:blipFill>
          <a:blip r:embed="rId3"/>
          <a:stretch>
            <a:fillRect/>
          </a:stretch>
        </p:blipFill>
        <p:spPr>
          <a:xfrm>
            <a:off x="6482182" y="1833372"/>
            <a:ext cx="283464" cy="283464"/>
          </a:xfrm>
          <a:prstGeom prst="rect">
            <a:avLst/>
          </a:prstGeom>
        </p:spPr>
      </p:pic>
      <p:sp>
        <p:nvSpPr>
          <p:cNvPr id="23" name="Text-594"/>
          <p:cNvSpPr txBox="1"/>
          <p:nvPr/>
        </p:nvSpPr>
        <p:spPr>
          <a:xfrm>
            <a:off x="7026250" y="1691640"/>
            <a:ext cx="1691640" cy="566928"/>
          </a:xfrm>
          <a:prstGeom prst="rect">
            <a:avLst/>
          </a:prstGeom>
          <a:noFill/>
          <a:ln/>
        </p:spPr>
        <p:txBody>
          <a:bodyPr wrap="square" lIns="0" tIns="0" rIns="0" bIns="0" rtlCol="0" anchor="ctr"/>
          <a:lstStyle/>
          <a:p>
            <a:pPr indent="0" marL="0">
              <a:buNone/>
            </a:pPr>
            <a:r>
              <a:rPr lang="en-US" sz="1100" b="1" dirty="0">
                <a:solidFill>
                  <a:schemeClr val="accent6"/>
                </a:solidFill>
              </a:rPr>
              <a:t>by Clara</a:t>
            </a:r>
            <a:endParaRPr lang="en-US" sz="1100" dirty="0"/>
          </a:p>
        </p:txBody>
      </p:sp>
      <p:sp>
        <p:nvSpPr>
          <p:cNvPr id="24" name="Text-595"/>
          <p:cNvSpPr txBox="1"/>
          <p:nvPr/>
        </p:nvSpPr>
        <p:spPr>
          <a:xfrm>
            <a:off x="6340450" y="2404872"/>
            <a:ext cx="2286000" cy="685800"/>
          </a:xfrm>
          <a:prstGeom prst="rect">
            <a:avLst/>
          </a:prstGeom>
          <a:noFill/>
          <a:ln/>
        </p:spPr>
        <p:txBody>
          <a:bodyPr wrap="square" lIns="0" tIns="0" rIns="0" bIns="0" rtlCol="0" anchor="t"/>
          <a:lstStyle/>
          <a:p>
            <a:pPr indent="0" marL="0">
              <a:buNone/>
            </a:pPr>
            <a:r>
              <a:rPr lang="en-US" sz="1500" b="1" dirty="0">
                <a:solidFill>
                  <a:schemeClr val="tx2"/>
                </a:solidFill>
              </a:rPr>
              <a:t>Annual bank statement</a:t>
            </a:r>
            <a:endParaRPr lang="en-US" sz="1500" dirty="0"/>
          </a:p>
        </p:txBody>
      </p:sp>
      <p:sp>
        <p:nvSpPr>
          <p:cNvPr id="25" name="Text-596"/>
          <p:cNvSpPr txBox="1"/>
          <p:nvPr/>
        </p:nvSpPr>
        <p:spPr>
          <a:xfrm>
            <a:off x="6340450" y="3108960"/>
            <a:ext cx="2286000" cy="1463040"/>
          </a:xfrm>
          <a:prstGeom prst="rect">
            <a:avLst/>
          </a:prstGeom>
          <a:noFill/>
          <a:ln/>
        </p:spPr>
        <p:txBody>
          <a:bodyPr wrap="square" lIns="0" tIns="0" rIns="0" bIns="0" rtlCol="0" anchor="t"/>
          <a:lstStyle/>
          <a:p>
            <a:pPr indent="0" marL="0">
              <a:buNone/>
            </a:pPr>
            <a:r>
              <a:rPr lang="en-US" sz="1400" dirty="0">
                <a:solidFill>
                  <a:schemeClr val="tx1"/>
                </a:solidFill>
              </a:rPr>
              <a:t>Fees, interest, balance: sober, trustworthy, every line verifiable.</a:t>
            </a:r>
            <a:endParaRPr lang="en-US" sz="1400" dirty="0"/>
          </a:p>
        </p:txBody>
      </p:sp>
      <p:sp>
        <p:nvSpPr>
          <p:cNvPr id="26" name="Sticky-597"/>
          <p:cNvSpPr/>
          <p:nvPr/>
        </p:nvSpPr>
        <p:spPr>
          <a:xfrm>
            <a:off x="6340450" y="4663440"/>
            <a:ext cx="2286000" cy="137160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7" name="Text-598"/>
          <p:cNvSpPr txBox="1"/>
          <p:nvPr/>
        </p:nvSpPr>
        <p:spPr>
          <a:xfrm>
            <a:off x="6413602" y="4727448"/>
            <a:ext cx="2139696" cy="1243584"/>
          </a:xfrm>
          <a:prstGeom prst="rect">
            <a:avLst/>
          </a:prstGeom>
          <a:noFill/>
          <a:ln/>
        </p:spPr>
        <p:txBody>
          <a:bodyPr wrap="square" lIns="508" tIns="508" rIns="508" bIns="508" rtlCol="0" anchor="t"/>
          <a:lstStyle/>
          <a:p>
            <a:pPr indent="0" marL="0">
              <a:buNone/>
            </a:pPr>
            <a:r>
              <a:rPr lang="en-US" sz="1000" b="1" dirty="0">
                <a:solidFill>
                  <a:schemeClr val="tx1"/>
                </a:solidFill>
              </a:rPr>
              <a:t>BIG IDEA</a:t>
            </a:r>
            <a:endParaRPr lang="en-US" sz="1200" dirty="0"/>
          </a:p>
          <a:p>
            <a:pPr indent="0" marL="0">
              <a:buNone/>
            </a:pPr>
            <a:r>
              <a:rPr lang="en-US" sz="1300" b="1" dirty="0">
                <a:solidFill>
                  <a:schemeClr val="tx1"/>
                </a:solidFill>
              </a:rPr>
              <a:t>A statement: list price, paid, saved</a:t>
            </a:r>
            <a:endParaRPr lang="en-US" sz="1200" dirty="0"/>
          </a:p>
        </p:txBody>
      </p:sp>
      <p:sp>
        <p:nvSpPr>
          <p:cNvPr id="28" name="Demo-599"/>
          <p:cNvSpPr/>
          <p:nvPr/>
        </p:nvSpPr>
        <p:spPr>
          <a:xfrm>
            <a:off x="8962034" y="1508760"/>
            <a:ext cx="2651760" cy="4709160"/>
          </a:xfrm>
          <a:prstGeom prst="roundRect">
            <a:avLst>
              <a:gd name="adj" fmla="val 2759"/>
            </a:avLst>
          </a:prstGeom>
          <a:solidFill>
            <a:schemeClr val="bg2"/>
          </a:solidFill>
          <a:ln/>
        </p:spPr>
        <p:txBody>
          <a:bodyPr/>
          <a:p/>
        </p:txBody>
      </p:sp>
      <p:sp>
        <p:nvSpPr>
          <p:cNvPr id="29" name="IconBg-600"/>
          <p:cNvSpPr/>
          <p:nvPr/>
        </p:nvSpPr>
        <p:spPr>
          <a:xfrm>
            <a:off x="9144914" y="1691640"/>
            <a:ext cx="566928" cy="566928"/>
          </a:xfrm>
          <a:prstGeom prst="ellipse">
            <a:avLst/>
          </a:prstGeom>
          <a:solidFill>
            <a:srgbClr val="1F7A8C"/>
          </a:solidFill>
          <a:ln/>
        </p:spPr>
        <p:txBody>
          <a:bodyPr/>
          <a:p/>
        </p:txBody>
      </p:sp>
      <p:pic>
        <p:nvPicPr>
          <p:cNvPr id="30" name="Icon-601" descr="preencoded.png">    </p:cNvPr>
          <p:cNvPicPr>
            <a:picLocks noChangeAspect="1"/>
          </p:cNvPicPr>
          <p:nvPr/>
        </p:nvPicPr>
        <p:blipFill>
          <a:blip r:embed="rId4"/>
          <a:stretch>
            <a:fillRect/>
          </a:stretch>
        </p:blipFill>
        <p:spPr>
          <a:xfrm>
            <a:off x="9286646" y="1833372"/>
            <a:ext cx="283464" cy="283464"/>
          </a:xfrm>
          <a:prstGeom prst="rect">
            <a:avLst/>
          </a:prstGeom>
        </p:spPr>
      </p:pic>
      <p:sp>
        <p:nvSpPr>
          <p:cNvPr id="31" name="Text-602"/>
          <p:cNvSpPr txBox="1"/>
          <p:nvPr/>
        </p:nvSpPr>
        <p:spPr>
          <a:xfrm>
            <a:off x="9830714" y="1691640"/>
            <a:ext cx="1691640" cy="566928"/>
          </a:xfrm>
          <a:prstGeom prst="rect">
            <a:avLst/>
          </a:prstGeom>
          <a:noFill/>
          <a:ln/>
        </p:spPr>
        <p:txBody>
          <a:bodyPr wrap="square" lIns="0" tIns="0" rIns="0" bIns="0" rtlCol="0" anchor="ctr"/>
          <a:lstStyle/>
          <a:p>
            <a:pPr indent="0" marL="0">
              <a:buNone/>
            </a:pPr>
            <a:r>
              <a:rPr lang="en-US" sz="1100" b="1" dirty="0">
                <a:solidFill>
                  <a:schemeClr val="accent6"/>
                </a:solidFill>
              </a:rPr>
              <a:t>by Samuel</a:t>
            </a:r>
            <a:endParaRPr lang="en-US" sz="1100" dirty="0"/>
          </a:p>
        </p:txBody>
      </p:sp>
      <p:sp>
        <p:nvSpPr>
          <p:cNvPr id="32" name="Text-603"/>
          <p:cNvSpPr txBox="1"/>
          <p:nvPr/>
        </p:nvSpPr>
        <p:spPr>
          <a:xfrm>
            <a:off x="9144914" y="2404872"/>
            <a:ext cx="2286000" cy="685800"/>
          </a:xfrm>
          <a:prstGeom prst="rect">
            <a:avLst/>
          </a:prstGeom>
          <a:noFill/>
          <a:ln/>
        </p:spPr>
        <p:txBody>
          <a:bodyPr wrap="square" lIns="0" tIns="0" rIns="0" bIns="0" rtlCol="0" anchor="t"/>
          <a:lstStyle/>
          <a:p>
            <a:pPr indent="0" marL="0">
              <a:buNone/>
            </a:pPr>
            <a:r>
              <a:rPr lang="en-US" sz="1500" b="1" dirty="0">
                <a:solidFill>
                  <a:schemeClr val="tx2"/>
                </a:solidFill>
              </a:rPr>
              <a:t>Energy label</a:t>
            </a:r>
            <a:endParaRPr lang="en-US" sz="1500" dirty="0"/>
          </a:p>
        </p:txBody>
      </p:sp>
      <p:sp>
        <p:nvSpPr>
          <p:cNvPr id="33" name="Text-604"/>
          <p:cNvSpPr txBox="1"/>
          <p:nvPr/>
        </p:nvSpPr>
        <p:spPr>
          <a:xfrm>
            <a:off x="9144914" y="3108960"/>
            <a:ext cx="2286000" cy="1463040"/>
          </a:xfrm>
          <a:prstGeom prst="rect">
            <a:avLst/>
          </a:prstGeom>
          <a:noFill/>
          <a:ln/>
        </p:spPr>
        <p:txBody>
          <a:bodyPr wrap="square" lIns="0" tIns="0" rIns="0" bIns="0" rtlCol="0" anchor="t"/>
          <a:lstStyle/>
          <a:p>
            <a:pPr indent="0" marL="0">
              <a:buNone/>
            </a:pPr>
            <a:r>
              <a:rPr lang="en-US" sz="1400" dirty="0">
                <a:solidFill>
                  <a:schemeClr val="tx1"/>
                </a:solidFill>
              </a:rPr>
              <a:t>A standardised scale at a glance; the calculation method is public.</a:t>
            </a:r>
            <a:endParaRPr lang="en-US" sz="1400" dirty="0"/>
          </a:p>
        </p:txBody>
      </p:sp>
      <p:sp>
        <p:nvSpPr>
          <p:cNvPr id="34" name="Sticky-605"/>
          <p:cNvSpPr/>
          <p:nvPr/>
        </p:nvSpPr>
        <p:spPr>
          <a:xfrm>
            <a:off x="9144914" y="4663440"/>
            <a:ext cx="2286000" cy="137160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35" name="Text-606"/>
          <p:cNvSpPr txBox="1"/>
          <p:nvPr/>
        </p:nvSpPr>
        <p:spPr>
          <a:xfrm>
            <a:off x="9218066" y="4727448"/>
            <a:ext cx="2139696" cy="1243584"/>
          </a:xfrm>
          <a:prstGeom prst="rect">
            <a:avLst/>
          </a:prstGeom>
          <a:noFill/>
          <a:ln/>
        </p:spPr>
        <p:txBody>
          <a:bodyPr wrap="square" lIns="508" tIns="508" rIns="508" bIns="508" rtlCol="0" anchor="t"/>
          <a:lstStyle/>
          <a:p>
            <a:pPr indent="0" marL="0">
              <a:buNone/>
            </a:pPr>
            <a:r>
              <a:rPr lang="en-US" sz="1000" b="1" dirty="0">
                <a:solidFill>
                  <a:schemeClr val="tx1"/>
                </a:solidFill>
              </a:rPr>
              <a:t>BIG IDEA</a:t>
            </a:r>
            <a:endParaRPr lang="en-US" sz="1200" dirty="0"/>
          </a:p>
          <a:p>
            <a:pPr indent="0" marL="0">
              <a:buNone/>
            </a:pPr>
            <a:r>
              <a:rPr lang="en-US" sz="1300" b="1" dirty="0">
                <a:solidFill>
                  <a:schemeClr val="tx1"/>
                </a:solidFill>
              </a:rPr>
              <a:t>A value label with a disclosed method</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3.1 · LIGHTNING DEMOS (AI)</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What the AI agent contributed</a:t>
            </a:r>
            <a:endParaRPr lang="en-US" sz="3200" dirty="0"/>
          </a:p>
        </p:txBody>
      </p:sp>
      <p:sp>
        <p:nvSpPr>
          <p:cNvPr id="4" name="Box-607"/>
          <p:cNvSpPr/>
          <p:nvPr/>
        </p:nvSpPr>
        <p:spPr>
          <a:xfrm>
            <a:off x="11183112" y="329184"/>
            <a:ext cx="457200" cy="256032"/>
          </a:xfrm>
          <a:prstGeom prst="roundRect">
            <a:avLst>
              <a:gd name="adj" fmla="val 50000"/>
            </a:avLst>
          </a:prstGeom>
          <a:solidFill>
            <a:schemeClr val="accent5"/>
          </a:solidFill>
          <a:ln/>
        </p:spPr>
        <p:txBody>
          <a:bodyPr/>
          <a:p/>
        </p:txBody>
      </p:sp>
      <p:sp>
        <p:nvSpPr>
          <p:cNvPr id="5" name="Text-608"/>
          <p:cNvSpPr txBox="1"/>
          <p:nvPr/>
        </p:nvSpPr>
        <p:spPr>
          <a:xfrm>
            <a:off x="11183112" y="329184"/>
            <a:ext cx="457200" cy="256032"/>
          </a:xfrm>
          <a:prstGeom prst="rect">
            <a:avLst/>
          </a:prstGeom>
          <a:noFill/>
          <a:ln/>
        </p:spPr>
        <p:txBody>
          <a:bodyPr wrap="square" lIns="0" tIns="0" rIns="0" bIns="0" rtlCol="0" anchor="ctr"/>
          <a:lstStyle/>
          <a:p>
            <a:pPr algn="ctr" indent="0" marL="0">
              <a:buNone/>
            </a:pPr>
            <a:r>
              <a:rPr lang="en-US" sz="1000" b="1" dirty="0">
                <a:solidFill>
                  <a:schemeClr val="bg1"/>
                </a:solidFill>
              </a:rPr>
              <a:t>AI</a:t>
            </a:r>
            <a:endParaRPr lang="en-US" sz="1000" dirty="0"/>
          </a:p>
        </p:txBody>
      </p:sp>
      <p:sp>
        <p:nvSpPr>
          <p:cNvPr id="6" name="Demo-609"/>
          <p:cNvSpPr/>
          <p:nvPr/>
        </p:nvSpPr>
        <p:spPr>
          <a:xfrm>
            <a:off x="548640" y="1508760"/>
            <a:ext cx="2651760" cy="4709160"/>
          </a:xfrm>
          <a:prstGeom prst="roundRect">
            <a:avLst>
              <a:gd name="adj" fmla="val 2759"/>
            </a:avLst>
          </a:prstGeom>
          <a:solidFill>
            <a:schemeClr val="accent5">
              <a:alpha val="12000"/>
            </a:schemeClr>
          </a:solidFill>
          <a:ln/>
        </p:spPr>
        <p:txBody>
          <a:bodyPr/>
          <a:p/>
        </p:txBody>
      </p:sp>
      <p:sp>
        <p:nvSpPr>
          <p:cNvPr id="7" name="IconBg-610"/>
          <p:cNvSpPr/>
          <p:nvPr/>
        </p:nvSpPr>
        <p:spPr>
          <a:xfrm>
            <a:off x="731520" y="1691640"/>
            <a:ext cx="566928" cy="566928"/>
          </a:xfrm>
          <a:prstGeom prst="ellipse">
            <a:avLst/>
          </a:prstGeom>
          <a:solidFill>
            <a:srgbClr val="6E5BB0"/>
          </a:solidFill>
          <a:ln/>
        </p:spPr>
        <p:txBody>
          <a:bodyPr/>
          <a:p/>
        </p:txBody>
      </p:sp>
      <p:pic>
        <p:nvPicPr>
          <p:cNvPr id="8" name="Icon-611" descr="preencoded.png">    </p:cNvPr>
          <p:cNvPicPr>
            <a:picLocks noChangeAspect="1"/>
          </p:cNvPicPr>
          <p:nvPr/>
        </p:nvPicPr>
        <p:blipFill>
          <a:blip r:embed="rId1"/>
          <a:stretch>
            <a:fillRect/>
          </a:stretch>
        </p:blipFill>
        <p:spPr>
          <a:xfrm>
            <a:off x="873252" y="1833372"/>
            <a:ext cx="283464" cy="283464"/>
          </a:xfrm>
          <a:prstGeom prst="rect">
            <a:avLst/>
          </a:prstGeom>
        </p:spPr>
      </p:pic>
      <p:sp>
        <p:nvSpPr>
          <p:cNvPr id="9" name="Text-612"/>
          <p:cNvSpPr txBox="1"/>
          <p:nvPr/>
        </p:nvSpPr>
        <p:spPr>
          <a:xfrm>
            <a:off x="1417320" y="1691640"/>
            <a:ext cx="1691640" cy="566928"/>
          </a:xfrm>
          <a:prstGeom prst="rect">
            <a:avLst/>
          </a:prstGeom>
          <a:noFill/>
          <a:ln/>
        </p:spPr>
        <p:txBody>
          <a:bodyPr wrap="square" lIns="0" tIns="0" rIns="0" bIns="0" rtlCol="0" anchor="ctr"/>
          <a:lstStyle/>
          <a:p>
            <a:pPr indent="0" marL="0">
              <a:buNone/>
            </a:pPr>
            <a:r>
              <a:rPr lang="en-US" sz="1100" b="1" dirty="0">
                <a:solidFill>
                  <a:schemeClr val="accent6"/>
                </a:solidFill>
              </a:rPr>
              <a:t>by the AI agent</a:t>
            </a:r>
            <a:endParaRPr lang="en-US" sz="1100" dirty="0"/>
          </a:p>
        </p:txBody>
      </p:sp>
      <p:sp>
        <p:nvSpPr>
          <p:cNvPr id="10" name="Text-613"/>
          <p:cNvSpPr txBox="1"/>
          <p:nvPr/>
        </p:nvSpPr>
        <p:spPr>
          <a:xfrm>
            <a:off x="731520" y="2404872"/>
            <a:ext cx="2286000" cy="685800"/>
          </a:xfrm>
          <a:prstGeom prst="rect">
            <a:avLst/>
          </a:prstGeom>
          <a:noFill/>
          <a:ln/>
        </p:spPr>
        <p:txBody>
          <a:bodyPr wrap="square" lIns="0" tIns="0" rIns="0" bIns="0" rtlCol="0" anchor="t"/>
          <a:lstStyle/>
          <a:p>
            <a:pPr indent="0" marL="0">
              <a:buNone/>
            </a:pPr>
            <a:r>
              <a:rPr lang="en-US" sz="1500" b="1" dirty="0">
                <a:solidFill>
                  <a:schemeClr val="tx2"/>
                </a:solidFill>
              </a:rPr>
              <a:t>Scheduled PDF reports from analytics tools</a:t>
            </a:r>
            <a:endParaRPr lang="en-US" sz="1500" dirty="0"/>
          </a:p>
        </p:txBody>
      </p:sp>
      <p:sp>
        <p:nvSpPr>
          <p:cNvPr id="11" name="Text-614"/>
          <p:cNvSpPr txBox="1"/>
          <p:nvPr/>
        </p:nvSpPr>
        <p:spPr>
          <a:xfrm>
            <a:off x="731520" y="3108960"/>
            <a:ext cx="2286000" cy="1463040"/>
          </a:xfrm>
          <a:prstGeom prst="rect">
            <a:avLst/>
          </a:prstGeom>
          <a:noFill/>
          <a:ln/>
        </p:spPr>
        <p:txBody>
          <a:bodyPr wrap="square" lIns="0" tIns="0" rIns="0" bIns="0" rtlCol="0" anchor="t"/>
          <a:lstStyle/>
          <a:p>
            <a:pPr indent="0" marL="0">
              <a:buNone/>
            </a:pPr>
            <a:r>
              <a:rPr lang="en-US" sz="1400" dirty="0">
                <a:solidFill>
                  <a:schemeClr val="tx1"/>
                </a:solidFill>
              </a:rPr>
              <a:t>The report arrives by email automatically on a set schedule – no login needed.</a:t>
            </a:r>
            <a:endParaRPr lang="en-US" sz="1400" dirty="0"/>
          </a:p>
        </p:txBody>
      </p:sp>
      <p:sp>
        <p:nvSpPr>
          <p:cNvPr id="12" name="Sticky-615"/>
          <p:cNvSpPr/>
          <p:nvPr/>
        </p:nvSpPr>
        <p:spPr>
          <a:xfrm>
            <a:off x="731520" y="4663440"/>
            <a:ext cx="2286000" cy="137160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13" name="Text-616"/>
          <p:cNvSpPr txBox="1"/>
          <p:nvPr/>
        </p:nvSpPr>
        <p:spPr>
          <a:xfrm>
            <a:off x="804672" y="4727448"/>
            <a:ext cx="2139696" cy="1243584"/>
          </a:xfrm>
          <a:prstGeom prst="rect">
            <a:avLst/>
          </a:prstGeom>
          <a:noFill/>
          <a:ln/>
        </p:spPr>
        <p:txBody>
          <a:bodyPr wrap="square" lIns="508" tIns="508" rIns="508" bIns="508" rtlCol="0" anchor="t"/>
          <a:lstStyle/>
          <a:p>
            <a:pPr indent="0" marL="0">
              <a:buNone/>
            </a:pPr>
            <a:r>
              <a:rPr lang="en-US" sz="1000" b="1" dirty="0">
                <a:solidFill>
                  <a:schemeClr val="tx1"/>
                </a:solidFill>
              </a:rPr>
              <a:t>BIG IDEA</a:t>
            </a:r>
            <a:endParaRPr lang="en-US" sz="1200" dirty="0"/>
          </a:p>
          <a:p>
            <a:pPr indent="0" marL="0">
              <a:buNone/>
            </a:pPr>
            <a:r>
              <a:rPr lang="en-US" sz="1300" b="1" dirty="0">
                <a:solidFill>
                  <a:schemeClr val="tx1"/>
                </a:solidFill>
              </a:rPr>
              <a:t>Push, not pull: value report in the inbox</a:t>
            </a:r>
            <a:endParaRPr lang="en-US" sz="1200" dirty="0"/>
          </a:p>
        </p:txBody>
      </p:sp>
      <p:sp>
        <p:nvSpPr>
          <p:cNvPr id="14" name="Demo-617"/>
          <p:cNvSpPr/>
          <p:nvPr/>
        </p:nvSpPr>
        <p:spPr>
          <a:xfrm>
            <a:off x="3353105" y="1508760"/>
            <a:ext cx="2651760" cy="4709160"/>
          </a:xfrm>
          <a:prstGeom prst="roundRect">
            <a:avLst>
              <a:gd name="adj" fmla="val 2759"/>
            </a:avLst>
          </a:prstGeom>
          <a:solidFill>
            <a:schemeClr val="accent5">
              <a:alpha val="12000"/>
            </a:schemeClr>
          </a:solidFill>
          <a:ln/>
        </p:spPr>
        <p:txBody>
          <a:bodyPr/>
          <a:p/>
        </p:txBody>
      </p:sp>
      <p:sp>
        <p:nvSpPr>
          <p:cNvPr id="15" name="IconBg-618"/>
          <p:cNvSpPr/>
          <p:nvPr/>
        </p:nvSpPr>
        <p:spPr>
          <a:xfrm>
            <a:off x="3535985" y="1691640"/>
            <a:ext cx="566928" cy="566928"/>
          </a:xfrm>
          <a:prstGeom prst="ellipse">
            <a:avLst/>
          </a:prstGeom>
          <a:solidFill>
            <a:srgbClr val="6E5BB0"/>
          </a:solidFill>
          <a:ln/>
        </p:spPr>
        <p:txBody>
          <a:bodyPr/>
          <a:p/>
        </p:txBody>
      </p:sp>
      <p:pic>
        <p:nvPicPr>
          <p:cNvPr id="16" name="Icon-619" descr="preencoded.png">    </p:cNvPr>
          <p:cNvPicPr>
            <a:picLocks noChangeAspect="1"/>
          </p:cNvPicPr>
          <p:nvPr/>
        </p:nvPicPr>
        <p:blipFill>
          <a:blip r:embed="rId2"/>
          <a:stretch>
            <a:fillRect/>
          </a:stretch>
        </p:blipFill>
        <p:spPr>
          <a:xfrm>
            <a:off x="3677717" y="1833372"/>
            <a:ext cx="283464" cy="283464"/>
          </a:xfrm>
          <a:prstGeom prst="rect">
            <a:avLst/>
          </a:prstGeom>
        </p:spPr>
      </p:pic>
      <p:sp>
        <p:nvSpPr>
          <p:cNvPr id="17" name="Text-620"/>
          <p:cNvSpPr txBox="1"/>
          <p:nvPr/>
        </p:nvSpPr>
        <p:spPr>
          <a:xfrm>
            <a:off x="4221785" y="1691640"/>
            <a:ext cx="1691640" cy="566928"/>
          </a:xfrm>
          <a:prstGeom prst="rect">
            <a:avLst/>
          </a:prstGeom>
          <a:noFill/>
          <a:ln/>
        </p:spPr>
        <p:txBody>
          <a:bodyPr wrap="square" lIns="0" tIns="0" rIns="0" bIns="0" rtlCol="0" anchor="ctr"/>
          <a:lstStyle/>
          <a:p>
            <a:pPr indent="0" marL="0">
              <a:buNone/>
            </a:pPr>
            <a:r>
              <a:rPr lang="en-US" sz="1100" b="1" dirty="0">
                <a:solidFill>
                  <a:schemeClr val="accent6"/>
                </a:solidFill>
              </a:rPr>
              <a:t>by the AI agent</a:t>
            </a:r>
            <a:endParaRPr lang="en-US" sz="1100" dirty="0"/>
          </a:p>
        </p:txBody>
      </p:sp>
      <p:sp>
        <p:nvSpPr>
          <p:cNvPr id="18" name="Text-621"/>
          <p:cNvSpPr txBox="1"/>
          <p:nvPr/>
        </p:nvSpPr>
        <p:spPr>
          <a:xfrm>
            <a:off x="3535985" y="2404872"/>
            <a:ext cx="2286000" cy="685800"/>
          </a:xfrm>
          <a:prstGeom prst="rect">
            <a:avLst/>
          </a:prstGeom>
          <a:noFill/>
          <a:ln/>
        </p:spPr>
        <p:txBody>
          <a:bodyPr wrap="square" lIns="0" tIns="0" rIns="0" bIns="0" rtlCol="0" anchor="t"/>
          <a:lstStyle/>
          <a:p>
            <a:pPr indent="0" marL="0">
              <a:buNone/>
            </a:pPr>
            <a:r>
              <a:rPr lang="en-US" sz="1500" b="1" dirty="0">
                <a:solidFill>
                  <a:schemeClr val="tx2"/>
                </a:solidFill>
              </a:rPr>
              <a:t>Weekly insight emails from writing apps</a:t>
            </a:r>
            <a:endParaRPr lang="en-US" sz="1500" dirty="0"/>
          </a:p>
        </p:txBody>
      </p:sp>
      <p:sp>
        <p:nvSpPr>
          <p:cNvPr id="19" name="Text-622"/>
          <p:cNvSpPr txBox="1"/>
          <p:nvPr/>
        </p:nvSpPr>
        <p:spPr>
          <a:xfrm>
            <a:off x="3535985" y="3108960"/>
            <a:ext cx="2286000" cy="1463040"/>
          </a:xfrm>
          <a:prstGeom prst="rect">
            <a:avLst/>
          </a:prstGeom>
          <a:noFill/>
          <a:ln/>
        </p:spPr>
        <p:txBody>
          <a:bodyPr wrap="square" lIns="0" tIns="0" rIns="0" bIns="0" rtlCol="0" anchor="t"/>
          <a:lstStyle/>
          <a:p>
            <a:pPr indent="0" marL="0">
              <a:buNone/>
            </a:pPr>
            <a:r>
              <a:rPr lang="en-US" sz="1400" dirty="0">
                <a:solidFill>
                  <a:schemeClr val="tx1"/>
                </a:solidFill>
              </a:rPr>
              <a:t>One headline number, one comparison, one tip – read in ten seconds.</a:t>
            </a:r>
            <a:endParaRPr lang="en-US" sz="1400" dirty="0"/>
          </a:p>
        </p:txBody>
      </p:sp>
      <p:sp>
        <p:nvSpPr>
          <p:cNvPr id="20" name="Sticky-623"/>
          <p:cNvSpPr/>
          <p:nvPr/>
        </p:nvSpPr>
        <p:spPr>
          <a:xfrm>
            <a:off x="3535985" y="4663440"/>
            <a:ext cx="2286000" cy="137160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1" name="Text-624"/>
          <p:cNvSpPr txBox="1"/>
          <p:nvPr/>
        </p:nvSpPr>
        <p:spPr>
          <a:xfrm>
            <a:off x="3609137" y="4727448"/>
            <a:ext cx="2139696" cy="1243584"/>
          </a:xfrm>
          <a:prstGeom prst="rect">
            <a:avLst/>
          </a:prstGeom>
          <a:noFill/>
          <a:ln/>
        </p:spPr>
        <p:txBody>
          <a:bodyPr wrap="square" lIns="508" tIns="508" rIns="508" bIns="508" rtlCol="0" anchor="t"/>
          <a:lstStyle/>
          <a:p>
            <a:pPr indent="0" marL="0">
              <a:buNone/>
            </a:pPr>
            <a:r>
              <a:rPr lang="en-US" sz="1000" b="1" dirty="0">
                <a:solidFill>
                  <a:schemeClr val="tx1"/>
                </a:solidFill>
              </a:rPr>
              <a:t>BIG IDEA</a:t>
            </a:r>
            <a:endParaRPr lang="en-US" sz="1200" dirty="0"/>
          </a:p>
          <a:p>
            <a:pPr indent="0" marL="0">
              <a:buNone/>
            </a:pPr>
            <a:r>
              <a:rPr lang="en-US" sz="1300" b="1" dirty="0">
                <a:solidFill>
                  <a:schemeClr val="tx1"/>
                </a:solidFill>
              </a:rPr>
              <a:t>Short and regular, with one headline number</a:t>
            </a:r>
            <a:endParaRPr lang="en-US" sz="1200" dirty="0"/>
          </a:p>
        </p:txBody>
      </p:sp>
      <p:sp>
        <p:nvSpPr>
          <p:cNvPr id="22" name="Demo-625"/>
          <p:cNvSpPr/>
          <p:nvPr/>
        </p:nvSpPr>
        <p:spPr>
          <a:xfrm>
            <a:off x="6157570" y="1508760"/>
            <a:ext cx="2651760" cy="4709160"/>
          </a:xfrm>
          <a:prstGeom prst="roundRect">
            <a:avLst>
              <a:gd name="adj" fmla="val 2759"/>
            </a:avLst>
          </a:prstGeom>
          <a:solidFill>
            <a:schemeClr val="accent5">
              <a:alpha val="12000"/>
            </a:schemeClr>
          </a:solidFill>
          <a:ln/>
        </p:spPr>
        <p:txBody>
          <a:bodyPr/>
          <a:p/>
        </p:txBody>
      </p:sp>
      <p:sp>
        <p:nvSpPr>
          <p:cNvPr id="23" name="IconBg-626"/>
          <p:cNvSpPr/>
          <p:nvPr/>
        </p:nvSpPr>
        <p:spPr>
          <a:xfrm>
            <a:off x="6340450" y="1691640"/>
            <a:ext cx="566928" cy="566928"/>
          </a:xfrm>
          <a:prstGeom prst="ellipse">
            <a:avLst/>
          </a:prstGeom>
          <a:solidFill>
            <a:srgbClr val="6E5BB0"/>
          </a:solidFill>
          <a:ln/>
        </p:spPr>
        <p:txBody>
          <a:bodyPr/>
          <a:p/>
        </p:txBody>
      </p:sp>
      <p:pic>
        <p:nvPicPr>
          <p:cNvPr id="24" name="Icon-627" descr="preencoded.png">    </p:cNvPr>
          <p:cNvPicPr>
            <a:picLocks noChangeAspect="1"/>
          </p:cNvPicPr>
          <p:nvPr/>
        </p:nvPicPr>
        <p:blipFill>
          <a:blip r:embed="rId3"/>
          <a:stretch>
            <a:fillRect/>
          </a:stretch>
        </p:blipFill>
        <p:spPr>
          <a:xfrm>
            <a:off x="6482182" y="1833372"/>
            <a:ext cx="283464" cy="283464"/>
          </a:xfrm>
          <a:prstGeom prst="rect">
            <a:avLst/>
          </a:prstGeom>
        </p:spPr>
      </p:pic>
      <p:sp>
        <p:nvSpPr>
          <p:cNvPr id="25" name="Text-628"/>
          <p:cNvSpPr txBox="1"/>
          <p:nvPr/>
        </p:nvSpPr>
        <p:spPr>
          <a:xfrm>
            <a:off x="7026250" y="1691640"/>
            <a:ext cx="1691640" cy="566928"/>
          </a:xfrm>
          <a:prstGeom prst="rect">
            <a:avLst/>
          </a:prstGeom>
          <a:noFill/>
          <a:ln/>
        </p:spPr>
        <p:txBody>
          <a:bodyPr wrap="square" lIns="0" tIns="0" rIns="0" bIns="0" rtlCol="0" anchor="ctr"/>
          <a:lstStyle/>
          <a:p>
            <a:pPr indent="0" marL="0">
              <a:buNone/>
            </a:pPr>
            <a:r>
              <a:rPr lang="en-US" sz="1100" b="1" dirty="0">
                <a:solidFill>
                  <a:schemeClr val="accent6"/>
                </a:solidFill>
              </a:rPr>
              <a:t>by the AI agent</a:t>
            </a:r>
            <a:endParaRPr lang="en-US" sz="1100" dirty="0"/>
          </a:p>
        </p:txBody>
      </p:sp>
      <p:sp>
        <p:nvSpPr>
          <p:cNvPr id="26" name="Text-629"/>
          <p:cNvSpPr txBox="1"/>
          <p:nvPr/>
        </p:nvSpPr>
        <p:spPr>
          <a:xfrm>
            <a:off x="6340450" y="2404872"/>
            <a:ext cx="2286000" cy="685800"/>
          </a:xfrm>
          <a:prstGeom prst="rect">
            <a:avLst/>
          </a:prstGeom>
          <a:noFill/>
          <a:ln/>
        </p:spPr>
        <p:txBody>
          <a:bodyPr wrap="square" lIns="0" tIns="0" rIns="0" bIns="0" rtlCol="0" anchor="t"/>
          <a:lstStyle/>
          <a:p>
            <a:pPr indent="0" marL="0">
              <a:buNone/>
            </a:pPr>
            <a:r>
              <a:rPr lang="en-US" sz="1500" b="1" dirty="0">
                <a:solidFill>
                  <a:schemeClr val="tx2"/>
                </a:solidFill>
              </a:rPr>
              <a:t>National OA monitoring platforms</a:t>
            </a:r>
            <a:endParaRPr lang="en-US" sz="1500" dirty="0"/>
          </a:p>
        </p:txBody>
      </p:sp>
      <p:sp>
        <p:nvSpPr>
          <p:cNvPr id="27" name="Text-630"/>
          <p:cNvSpPr txBox="1"/>
          <p:nvPr/>
        </p:nvSpPr>
        <p:spPr>
          <a:xfrm>
            <a:off x="6340450" y="3108960"/>
            <a:ext cx="2286000" cy="1463040"/>
          </a:xfrm>
          <a:prstGeom prst="rect">
            <a:avLst/>
          </a:prstGeom>
          <a:noFill/>
          <a:ln/>
        </p:spPr>
        <p:txBody>
          <a:bodyPr wrap="square" lIns="0" tIns="0" rIns="0" bIns="0" rtlCol="0" anchor="t"/>
          <a:lstStyle/>
          <a:p>
            <a:pPr indent="0" marL="0">
              <a:buNone/>
            </a:pPr>
            <a:r>
              <a:rPr lang="en-US" sz="1400" dirty="0">
                <a:solidFill>
                  <a:schemeClr val="tx1"/>
                </a:solidFill>
              </a:rPr>
              <a:t>Cross-publisher, with standardised data fields and an open method.</a:t>
            </a:r>
            <a:endParaRPr lang="en-US" sz="1400" dirty="0"/>
          </a:p>
        </p:txBody>
      </p:sp>
      <p:sp>
        <p:nvSpPr>
          <p:cNvPr id="28" name="Sticky-631"/>
          <p:cNvSpPr/>
          <p:nvPr/>
        </p:nvSpPr>
        <p:spPr>
          <a:xfrm>
            <a:off x="6340450" y="4663440"/>
            <a:ext cx="2286000" cy="137160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29" name="Text-632"/>
          <p:cNvSpPr txBox="1"/>
          <p:nvPr/>
        </p:nvSpPr>
        <p:spPr>
          <a:xfrm>
            <a:off x="6413602" y="4727448"/>
            <a:ext cx="2139696" cy="1243584"/>
          </a:xfrm>
          <a:prstGeom prst="rect">
            <a:avLst/>
          </a:prstGeom>
          <a:noFill/>
          <a:ln/>
        </p:spPr>
        <p:txBody>
          <a:bodyPr wrap="square" lIns="508" tIns="508" rIns="508" bIns="508" rtlCol="0" anchor="t"/>
          <a:lstStyle/>
          <a:p>
            <a:pPr indent="0" marL="0">
              <a:buNone/>
            </a:pPr>
            <a:r>
              <a:rPr lang="en-US" sz="1000" b="1" dirty="0">
                <a:solidFill>
                  <a:schemeClr val="tx1"/>
                </a:solidFill>
              </a:rPr>
              <a:t>BIG IDEA</a:t>
            </a:r>
            <a:endParaRPr lang="en-US" sz="1200" dirty="0"/>
          </a:p>
          <a:p>
            <a:pPr indent="0" marL="0">
              <a:buNone/>
            </a:pPr>
            <a:r>
              <a:rPr lang="en-US" sz="1300" b="1" dirty="0">
                <a:solidFill>
                  <a:schemeClr val="tx1"/>
                </a:solidFill>
              </a:rPr>
              <a:t>Export in the monitoring standard</a:t>
            </a:r>
            <a:endParaRPr lang="en-US" sz="1200" dirty="0"/>
          </a:p>
        </p:txBody>
      </p:sp>
      <p:sp>
        <p:nvSpPr>
          <p:cNvPr id="30" name="Demo-633"/>
          <p:cNvSpPr/>
          <p:nvPr/>
        </p:nvSpPr>
        <p:spPr>
          <a:xfrm>
            <a:off x="8962034" y="1508760"/>
            <a:ext cx="2651760" cy="4709160"/>
          </a:xfrm>
          <a:prstGeom prst="roundRect">
            <a:avLst>
              <a:gd name="adj" fmla="val 2759"/>
            </a:avLst>
          </a:prstGeom>
          <a:solidFill>
            <a:schemeClr val="accent5">
              <a:alpha val="12000"/>
            </a:schemeClr>
          </a:solidFill>
          <a:ln/>
        </p:spPr>
        <p:txBody>
          <a:bodyPr/>
          <a:p/>
        </p:txBody>
      </p:sp>
      <p:sp>
        <p:nvSpPr>
          <p:cNvPr id="31" name="IconBg-634"/>
          <p:cNvSpPr/>
          <p:nvPr/>
        </p:nvSpPr>
        <p:spPr>
          <a:xfrm>
            <a:off x="9144914" y="1691640"/>
            <a:ext cx="566928" cy="566928"/>
          </a:xfrm>
          <a:prstGeom prst="ellipse">
            <a:avLst/>
          </a:prstGeom>
          <a:solidFill>
            <a:srgbClr val="6E5BB0"/>
          </a:solidFill>
          <a:ln/>
        </p:spPr>
        <p:txBody>
          <a:bodyPr/>
          <a:p/>
        </p:txBody>
      </p:sp>
      <p:pic>
        <p:nvPicPr>
          <p:cNvPr id="32" name="Icon-635" descr="preencoded.png">    </p:cNvPr>
          <p:cNvPicPr>
            <a:picLocks noChangeAspect="1"/>
          </p:cNvPicPr>
          <p:nvPr/>
        </p:nvPicPr>
        <p:blipFill>
          <a:blip r:embed="rId4"/>
          <a:stretch>
            <a:fillRect/>
          </a:stretch>
        </p:blipFill>
        <p:spPr>
          <a:xfrm>
            <a:off x="9286646" y="1833372"/>
            <a:ext cx="283464" cy="283464"/>
          </a:xfrm>
          <a:prstGeom prst="rect">
            <a:avLst/>
          </a:prstGeom>
        </p:spPr>
      </p:pic>
      <p:sp>
        <p:nvSpPr>
          <p:cNvPr id="33" name="Text-636"/>
          <p:cNvSpPr txBox="1"/>
          <p:nvPr/>
        </p:nvSpPr>
        <p:spPr>
          <a:xfrm>
            <a:off x="9830714" y="1691640"/>
            <a:ext cx="1691640" cy="566928"/>
          </a:xfrm>
          <a:prstGeom prst="rect">
            <a:avLst/>
          </a:prstGeom>
          <a:noFill/>
          <a:ln/>
        </p:spPr>
        <p:txBody>
          <a:bodyPr wrap="square" lIns="0" tIns="0" rIns="0" bIns="0" rtlCol="0" anchor="ctr"/>
          <a:lstStyle/>
          <a:p>
            <a:pPr indent="0" marL="0">
              <a:buNone/>
            </a:pPr>
            <a:r>
              <a:rPr lang="en-US" sz="1100" b="1" dirty="0">
                <a:solidFill>
                  <a:schemeClr val="accent6"/>
                </a:solidFill>
              </a:rPr>
              <a:t>by the AI agent</a:t>
            </a:r>
            <a:endParaRPr lang="en-US" sz="1100" dirty="0"/>
          </a:p>
        </p:txBody>
      </p:sp>
      <p:sp>
        <p:nvSpPr>
          <p:cNvPr id="34" name="Text-637"/>
          <p:cNvSpPr txBox="1"/>
          <p:nvPr/>
        </p:nvSpPr>
        <p:spPr>
          <a:xfrm>
            <a:off x="9144914" y="2404872"/>
            <a:ext cx="2286000" cy="685800"/>
          </a:xfrm>
          <a:prstGeom prst="rect">
            <a:avLst/>
          </a:prstGeom>
          <a:noFill/>
          <a:ln/>
        </p:spPr>
        <p:txBody>
          <a:bodyPr wrap="square" lIns="0" tIns="0" rIns="0" bIns="0" rtlCol="0" anchor="t"/>
          <a:lstStyle/>
          <a:p>
            <a:pPr indent="0" marL="0">
              <a:buNone/>
            </a:pPr>
            <a:r>
              <a:rPr lang="en-US" sz="1500" b="1" dirty="0">
                <a:solidFill>
                  <a:schemeClr val="tx2"/>
                </a:solidFill>
              </a:rPr>
              <a:t>Board pack generators for committees</a:t>
            </a:r>
            <a:endParaRPr lang="en-US" sz="1500" dirty="0"/>
          </a:p>
        </p:txBody>
      </p:sp>
      <p:sp>
        <p:nvSpPr>
          <p:cNvPr id="35" name="Text-638"/>
          <p:cNvSpPr txBox="1"/>
          <p:nvPr/>
        </p:nvSpPr>
        <p:spPr>
          <a:xfrm>
            <a:off x="9144914" y="3108960"/>
            <a:ext cx="2286000" cy="1463040"/>
          </a:xfrm>
          <a:prstGeom prst="rect">
            <a:avLst/>
          </a:prstGeom>
          <a:noFill/>
          <a:ln/>
        </p:spPr>
        <p:txBody>
          <a:bodyPr wrap="square" lIns="0" tIns="0" rIns="0" bIns="0" rtlCol="0" anchor="t"/>
          <a:lstStyle/>
          <a:p>
            <a:pPr indent="0" marL="0">
              <a:buNone/>
            </a:pPr>
            <a:r>
              <a:rPr lang="en-US" sz="1400" dirty="0">
                <a:solidFill>
                  <a:schemeClr val="tx1"/>
                </a:solidFill>
              </a:rPr>
              <a:t>Live data becomes finished slides in the organisation's own design.</a:t>
            </a:r>
            <a:endParaRPr lang="en-US" sz="1400" dirty="0"/>
          </a:p>
        </p:txBody>
      </p:sp>
      <p:sp>
        <p:nvSpPr>
          <p:cNvPr id="36" name="Sticky-639"/>
          <p:cNvSpPr/>
          <p:nvPr/>
        </p:nvSpPr>
        <p:spPr>
          <a:xfrm>
            <a:off x="9144914" y="4663440"/>
            <a:ext cx="2286000" cy="1371600"/>
          </a:xfrm>
          <a:prstGeom prst="rect">
            <a:avLst/>
          </a:prstGeom>
          <a:solidFill>
            <a:schemeClr val="accent2"/>
          </a:solidFill>
          <a:ln/>
          <a:effectLst>
            <a:outerShdw sx="100000" sy="100000" kx="0" ky="0" algn="bl" rotWithShape="0" blurRad="63500" dist="25400" dir="5400000">
              <a:srgbClr val="000000">
                <a:alpha val="13000"/>
              </a:srgbClr>
            </a:outerShdw>
          </a:effectLst>
        </p:spPr>
        <p:txBody>
          <a:bodyPr/>
          <a:p/>
        </p:txBody>
      </p:sp>
      <p:sp>
        <p:nvSpPr>
          <p:cNvPr id="37" name="Text-640"/>
          <p:cNvSpPr txBox="1"/>
          <p:nvPr/>
        </p:nvSpPr>
        <p:spPr>
          <a:xfrm>
            <a:off x="9218066" y="4727448"/>
            <a:ext cx="2139696" cy="1243584"/>
          </a:xfrm>
          <a:prstGeom prst="rect">
            <a:avLst/>
          </a:prstGeom>
          <a:noFill/>
          <a:ln/>
        </p:spPr>
        <p:txBody>
          <a:bodyPr wrap="square" lIns="508" tIns="508" rIns="508" bIns="508" rtlCol="0" anchor="t"/>
          <a:lstStyle/>
          <a:p>
            <a:pPr indent="0" marL="0">
              <a:buNone/>
            </a:pPr>
            <a:r>
              <a:rPr lang="en-US" sz="1000" b="1" dirty="0">
                <a:solidFill>
                  <a:schemeClr val="tx1"/>
                </a:solidFill>
              </a:rPr>
              <a:t>BIG IDEA</a:t>
            </a:r>
            <a:endParaRPr lang="en-US" sz="1200" dirty="0"/>
          </a:p>
          <a:p>
            <a:pPr indent="0" marL="0">
              <a:buNone/>
            </a:pPr>
            <a:r>
              <a:rPr lang="en-US" sz="1300" b="1" dirty="0">
                <a:solidFill>
                  <a:schemeClr val="tx1"/>
                </a:solidFill>
              </a:rPr>
              <a:t>Slide in the institution's branding in one click</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3.2 · 4-PART SKETCHING</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Four steps, alone together</a:t>
            </a:r>
            <a:endParaRPr lang="en-US" sz="3200" dirty="0"/>
          </a:p>
        </p:txBody>
      </p:sp>
      <p:sp>
        <p:nvSpPr>
          <p:cNvPr id="4" name="PartCard-641"/>
          <p:cNvSpPr/>
          <p:nvPr/>
        </p:nvSpPr>
        <p:spPr>
          <a:xfrm>
            <a:off x="548640" y="1554480"/>
            <a:ext cx="2514600" cy="3337560"/>
          </a:xfrm>
          <a:prstGeom prst="roundRect">
            <a:avLst>
              <a:gd name="adj" fmla="val 2909"/>
            </a:avLst>
          </a:prstGeom>
          <a:solidFill>
            <a:schemeClr val="bg2"/>
          </a:solidFill>
          <a:ln/>
        </p:spPr>
        <p:txBody>
          <a:bodyPr/>
          <a:p/>
        </p:txBody>
      </p:sp>
      <p:sp>
        <p:nvSpPr>
          <p:cNvPr id="5" name="IconBg-642"/>
          <p:cNvSpPr/>
          <p:nvPr/>
        </p:nvSpPr>
        <p:spPr>
          <a:xfrm>
            <a:off x="749808" y="1755648"/>
            <a:ext cx="640080" cy="640080"/>
          </a:xfrm>
          <a:prstGeom prst="ellipse">
            <a:avLst/>
          </a:prstGeom>
          <a:solidFill>
            <a:srgbClr val="1F7A8C"/>
          </a:solidFill>
          <a:ln/>
        </p:spPr>
        <p:txBody>
          <a:bodyPr/>
          <a:p/>
        </p:txBody>
      </p:sp>
      <p:pic>
        <p:nvPicPr>
          <p:cNvPr id="6" name="Icon-643" descr="preencoded.png">    </p:cNvPr>
          <p:cNvPicPr>
            <a:picLocks noChangeAspect="1"/>
          </p:cNvPicPr>
          <p:nvPr/>
        </p:nvPicPr>
        <p:blipFill>
          <a:blip r:embed="rId1"/>
          <a:stretch>
            <a:fillRect/>
          </a:stretch>
        </p:blipFill>
        <p:spPr>
          <a:xfrm>
            <a:off x="909828" y="1915668"/>
            <a:ext cx="320040" cy="320040"/>
          </a:xfrm>
          <a:prstGeom prst="rect">
            <a:avLst/>
          </a:prstGeom>
        </p:spPr>
      </p:pic>
      <p:sp>
        <p:nvSpPr>
          <p:cNvPr id="7" name="Text-644"/>
          <p:cNvSpPr txBox="1"/>
          <p:nvPr/>
        </p:nvSpPr>
        <p:spPr>
          <a:xfrm>
            <a:off x="1874520" y="1783080"/>
            <a:ext cx="1005840" cy="548640"/>
          </a:xfrm>
          <a:prstGeom prst="rect">
            <a:avLst/>
          </a:prstGeom>
          <a:noFill/>
          <a:ln/>
        </p:spPr>
        <p:txBody>
          <a:bodyPr wrap="square" lIns="0" tIns="0" rIns="0" bIns="0" rtlCol="0" anchor="t"/>
          <a:lstStyle/>
          <a:p>
            <a:pPr algn="r" indent="0" marL="0">
              <a:buNone/>
            </a:pPr>
            <a:r>
              <a:rPr lang="en-US" sz="2200" b="1" dirty="0">
                <a:solidFill>
                  <a:schemeClr val="accent1"/>
                </a:solidFill>
                <a:latin typeface="Arial" pitchFamily="34" charset="0"/>
                <a:ea typeface="Arial" pitchFamily="34" charset="-122"/>
                <a:cs typeface="Arial" pitchFamily="34" charset="-120"/>
              </a:rPr>
              <a:t>20 min</a:t>
            </a:r>
            <a:endParaRPr lang="en-US" sz="2200" dirty="0"/>
          </a:p>
        </p:txBody>
      </p:sp>
      <p:sp>
        <p:nvSpPr>
          <p:cNvPr id="8" name="Text-645"/>
          <p:cNvSpPr txBox="1"/>
          <p:nvPr/>
        </p:nvSpPr>
        <p:spPr>
          <a:xfrm>
            <a:off x="749808" y="25603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1. Notes</a:t>
            </a:r>
            <a:endParaRPr lang="en-US" sz="1800" dirty="0"/>
          </a:p>
        </p:txBody>
      </p:sp>
      <p:sp>
        <p:nvSpPr>
          <p:cNvPr id="9" name="Text-646"/>
          <p:cNvSpPr txBox="1"/>
          <p:nvPr/>
        </p:nvSpPr>
        <p:spPr>
          <a:xfrm>
            <a:off x="749808" y="3017520"/>
            <a:ext cx="2112264" cy="1737360"/>
          </a:xfrm>
          <a:prstGeom prst="rect">
            <a:avLst/>
          </a:prstGeom>
          <a:noFill/>
          <a:ln/>
        </p:spPr>
        <p:txBody>
          <a:bodyPr wrap="square" lIns="0" tIns="0" rIns="0" bIns="0" rtlCol="0" anchor="t"/>
          <a:lstStyle/>
          <a:p>
            <a:pPr indent="0" marL="0">
              <a:buNone/>
            </a:pPr>
            <a:r>
              <a:rPr lang="en-US" sz="1400" dirty="0">
                <a:solidFill>
                  <a:schemeClr val="tx1"/>
                </a:solidFill>
              </a:rPr>
              <a:t>Note the key points from the map, interviews, HMWs and demos.</a:t>
            </a:r>
            <a:endParaRPr lang="en-US" sz="1400" dirty="0"/>
          </a:p>
        </p:txBody>
      </p:sp>
      <p:sp>
        <p:nvSpPr>
          <p:cNvPr id="10" name="Line-647"/>
          <p:cNvSpPr/>
          <p:nvPr/>
        </p:nvSpPr>
        <p:spPr>
          <a:xfrm>
            <a:off x="3108960" y="3200400"/>
            <a:ext cx="253289" cy="0"/>
          </a:xfrm>
          <a:prstGeom prst="line">
            <a:avLst/>
          </a:prstGeom>
          <a:noFill/>
          <a:ln w="25400">
            <a:solidFill>
              <a:srgbClr val="0F3B45"/>
            </a:solidFill>
            <a:prstDash val="solid"/>
            <a:tailEnd type="triangle"/>
          </a:ln>
        </p:spPr>
        <p:txBody>
          <a:bodyPr/>
          <a:p/>
        </p:txBody>
      </p:sp>
      <p:sp>
        <p:nvSpPr>
          <p:cNvPr id="11" name="PartCard-648"/>
          <p:cNvSpPr/>
          <p:nvPr/>
        </p:nvSpPr>
        <p:spPr>
          <a:xfrm>
            <a:off x="3407969" y="1554480"/>
            <a:ext cx="2514600" cy="3337560"/>
          </a:xfrm>
          <a:prstGeom prst="roundRect">
            <a:avLst>
              <a:gd name="adj" fmla="val 2909"/>
            </a:avLst>
          </a:prstGeom>
          <a:solidFill>
            <a:schemeClr val="bg2"/>
          </a:solidFill>
          <a:ln/>
        </p:spPr>
        <p:txBody>
          <a:bodyPr/>
          <a:p/>
        </p:txBody>
      </p:sp>
      <p:sp>
        <p:nvSpPr>
          <p:cNvPr id="12" name="IconBg-649"/>
          <p:cNvSpPr/>
          <p:nvPr/>
        </p:nvSpPr>
        <p:spPr>
          <a:xfrm>
            <a:off x="3609137" y="1755648"/>
            <a:ext cx="640080" cy="640080"/>
          </a:xfrm>
          <a:prstGeom prst="ellipse">
            <a:avLst/>
          </a:prstGeom>
          <a:solidFill>
            <a:srgbClr val="1F7A8C"/>
          </a:solidFill>
          <a:ln/>
        </p:spPr>
        <p:txBody>
          <a:bodyPr/>
          <a:p/>
        </p:txBody>
      </p:sp>
      <p:pic>
        <p:nvPicPr>
          <p:cNvPr id="13" name="Icon-650" descr="preencoded.png">    </p:cNvPr>
          <p:cNvPicPr>
            <a:picLocks noChangeAspect="1"/>
          </p:cNvPicPr>
          <p:nvPr/>
        </p:nvPicPr>
        <p:blipFill>
          <a:blip r:embed="rId2"/>
          <a:stretch>
            <a:fillRect/>
          </a:stretch>
        </p:blipFill>
        <p:spPr>
          <a:xfrm>
            <a:off x="3769157" y="1915668"/>
            <a:ext cx="320040" cy="320040"/>
          </a:xfrm>
          <a:prstGeom prst="rect">
            <a:avLst/>
          </a:prstGeom>
        </p:spPr>
      </p:pic>
      <p:sp>
        <p:nvSpPr>
          <p:cNvPr id="14" name="Text-651"/>
          <p:cNvSpPr txBox="1"/>
          <p:nvPr/>
        </p:nvSpPr>
        <p:spPr>
          <a:xfrm>
            <a:off x="4733849" y="1783080"/>
            <a:ext cx="1005840" cy="548640"/>
          </a:xfrm>
          <a:prstGeom prst="rect">
            <a:avLst/>
          </a:prstGeom>
          <a:noFill/>
          <a:ln/>
        </p:spPr>
        <p:txBody>
          <a:bodyPr wrap="square" lIns="0" tIns="0" rIns="0" bIns="0" rtlCol="0" anchor="t"/>
          <a:lstStyle/>
          <a:p>
            <a:pPr algn="r" indent="0" marL="0">
              <a:buNone/>
            </a:pPr>
            <a:r>
              <a:rPr lang="en-US" sz="2200" b="1" dirty="0">
                <a:solidFill>
                  <a:schemeClr val="accent1"/>
                </a:solidFill>
                <a:latin typeface="Arial" pitchFamily="34" charset="0"/>
                <a:ea typeface="Arial" pitchFamily="34" charset="-122"/>
                <a:cs typeface="Arial" pitchFamily="34" charset="-120"/>
              </a:rPr>
              <a:t>20 min</a:t>
            </a:r>
            <a:endParaRPr lang="en-US" sz="2200" dirty="0"/>
          </a:p>
        </p:txBody>
      </p:sp>
      <p:sp>
        <p:nvSpPr>
          <p:cNvPr id="15" name="Text-652"/>
          <p:cNvSpPr txBox="1"/>
          <p:nvPr/>
        </p:nvSpPr>
        <p:spPr>
          <a:xfrm>
            <a:off x="3609137" y="25603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2. Doodles</a:t>
            </a:r>
            <a:endParaRPr lang="en-US" sz="1800" dirty="0"/>
          </a:p>
        </p:txBody>
      </p:sp>
      <p:sp>
        <p:nvSpPr>
          <p:cNvPr id="16" name="Text-653"/>
          <p:cNvSpPr txBox="1"/>
          <p:nvPr/>
        </p:nvSpPr>
        <p:spPr>
          <a:xfrm>
            <a:off x="3609137" y="3017520"/>
            <a:ext cx="2112264" cy="1737360"/>
          </a:xfrm>
          <a:prstGeom prst="rect">
            <a:avLst/>
          </a:prstGeom>
          <a:noFill/>
          <a:ln/>
        </p:spPr>
        <p:txBody>
          <a:bodyPr wrap="square" lIns="0" tIns="0" rIns="0" bIns="0" rtlCol="0" anchor="t"/>
          <a:lstStyle/>
          <a:p>
            <a:pPr indent="0" marL="0">
              <a:buNone/>
            </a:pPr>
            <a:r>
              <a:rPr lang="en-US" sz="1400" dirty="0">
                <a:solidFill>
                  <a:schemeClr val="tx1"/>
                </a:solidFill>
              </a:rPr>
              <a:t>Rough out first ideas: screens, diagrams, words.</a:t>
            </a:r>
            <a:endParaRPr lang="en-US" sz="1400" dirty="0"/>
          </a:p>
        </p:txBody>
      </p:sp>
      <p:sp>
        <p:nvSpPr>
          <p:cNvPr id="17" name="Line-654"/>
          <p:cNvSpPr/>
          <p:nvPr/>
        </p:nvSpPr>
        <p:spPr>
          <a:xfrm>
            <a:off x="5968289" y="3200400"/>
            <a:ext cx="253289" cy="0"/>
          </a:xfrm>
          <a:prstGeom prst="line">
            <a:avLst/>
          </a:prstGeom>
          <a:noFill/>
          <a:ln w="25400">
            <a:solidFill>
              <a:srgbClr val="0F3B45"/>
            </a:solidFill>
            <a:prstDash val="solid"/>
            <a:tailEnd type="triangle"/>
          </a:ln>
        </p:spPr>
        <p:txBody>
          <a:bodyPr/>
          <a:p/>
        </p:txBody>
      </p:sp>
      <p:sp>
        <p:nvSpPr>
          <p:cNvPr id="18" name="PartCard-655"/>
          <p:cNvSpPr/>
          <p:nvPr/>
        </p:nvSpPr>
        <p:spPr>
          <a:xfrm>
            <a:off x="6267298" y="1554480"/>
            <a:ext cx="2514600" cy="3337560"/>
          </a:xfrm>
          <a:prstGeom prst="roundRect">
            <a:avLst>
              <a:gd name="adj" fmla="val 2909"/>
            </a:avLst>
          </a:prstGeom>
          <a:solidFill>
            <a:schemeClr val="bg2"/>
          </a:solidFill>
          <a:ln/>
        </p:spPr>
        <p:txBody>
          <a:bodyPr/>
          <a:p/>
        </p:txBody>
      </p:sp>
      <p:sp>
        <p:nvSpPr>
          <p:cNvPr id="19" name="IconBg-656"/>
          <p:cNvSpPr/>
          <p:nvPr/>
        </p:nvSpPr>
        <p:spPr>
          <a:xfrm>
            <a:off x="6468466" y="1755648"/>
            <a:ext cx="640080" cy="640080"/>
          </a:xfrm>
          <a:prstGeom prst="ellipse">
            <a:avLst/>
          </a:prstGeom>
          <a:solidFill>
            <a:srgbClr val="1F7A8C"/>
          </a:solidFill>
          <a:ln/>
        </p:spPr>
        <p:txBody>
          <a:bodyPr/>
          <a:p/>
        </p:txBody>
      </p:sp>
      <p:pic>
        <p:nvPicPr>
          <p:cNvPr id="20" name="Icon-657" descr="preencoded.png">    </p:cNvPr>
          <p:cNvPicPr>
            <a:picLocks noChangeAspect="1"/>
          </p:cNvPicPr>
          <p:nvPr/>
        </p:nvPicPr>
        <p:blipFill>
          <a:blip r:embed="rId3"/>
          <a:stretch>
            <a:fillRect/>
          </a:stretch>
        </p:blipFill>
        <p:spPr>
          <a:xfrm>
            <a:off x="6628486" y="1915668"/>
            <a:ext cx="320040" cy="320040"/>
          </a:xfrm>
          <a:prstGeom prst="rect">
            <a:avLst/>
          </a:prstGeom>
        </p:spPr>
      </p:pic>
      <p:sp>
        <p:nvSpPr>
          <p:cNvPr id="21" name="Text-658"/>
          <p:cNvSpPr txBox="1"/>
          <p:nvPr/>
        </p:nvSpPr>
        <p:spPr>
          <a:xfrm>
            <a:off x="7593178" y="1783080"/>
            <a:ext cx="1005840" cy="548640"/>
          </a:xfrm>
          <a:prstGeom prst="rect">
            <a:avLst/>
          </a:prstGeom>
          <a:noFill/>
          <a:ln/>
        </p:spPr>
        <p:txBody>
          <a:bodyPr wrap="square" lIns="0" tIns="0" rIns="0" bIns="0" rtlCol="0" anchor="t"/>
          <a:lstStyle/>
          <a:p>
            <a:pPr algn="r" indent="0" marL="0">
              <a:buNone/>
            </a:pPr>
            <a:r>
              <a:rPr lang="en-US" sz="2200" b="1" dirty="0">
                <a:solidFill>
                  <a:schemeClr val="accent1"/>
                </a:solidFill>
                <a:latin typeface="Arial" pitchFamily="34" charset="0"/>
                <a:ea typeface="Arial" pitchFamily="34" charset="-122"/>
                <a:cs typeface="Arial" pitchFamily="34" charset="-120"/>
              </a:rPr>
              <a:t>8 min</a:t>
            </a:r>
            <a:endParaRPr lang="en-US" sz="2200" dirty="0"/>
          </a:p>
        </p:txBody>
      </p:sp>
      <p:sp>
        <p:nvSpPr>
          <p:cNvPr id="22" name="Text-659"/>
          <p:cNvSpPr txBox="1"/>
          <p:nvPr/>
        </p:nvSpPr>
        <p:spPr>
          <a:xfrm>
            <a:off x="6468466" y="25603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3. Crazy 8s</a:t>
            </a:r>
            <a:endParaRPr lang="en-US" sz="1800" dirty="0"/>
          </a:p>
        </p:txBody>
      </p:sp>
      <p:sp>
        <p:nvSpPr>
          <p:cNvPr id="23" name="Text-660"/>
          <p:cNvSpPr txBox="1"/>
          <p:nvPr/>
        </p:nvSpPr>
        <p:spPr>
          <a:xfrm>
            <a:off x="6468466" y="3017520"/>
            <a:ext cx="2112264" cy="1737360"/>
          </a:xfrm>
          <a:prstGeom prst="rect">
            <a:avLst/>
          </a:prstGeom>
          <a:noFill/>
          <a:ln/>
        </p:spPr>
        <p:txBody>
          <a:bodyPr wrap="square" lIns="0" tIns="0" rIns="0" bIns="0" rtlCol="0" anchor="t"/>
          <a:lstStyle/>
          <a:p>
            <a:pPr indent="0" marL="0">
              <a:buNone/>
            </a:pPr>
            <a:r>
              <a:rPr lang="en-US" sz="1400" dirty="0">
                <a:solidFill>
                  <a:schemeClr val="tx1"/>
                </a:solidFill>
              </a:rPr>
              <a:t>Eight variations of the strongest ideas, one minute per frame.</a:t>
            </a:r>
            <a:endParaRPr lang="en-US" sz="1400" dirty="0"/>
          </a:p>
        </p:txBody>
      </p:sp>
      <p:sp>
        <p:nvSpPr>
          <p:cNvPr id="24" name="Line-661"/>
          <p:cNvSpPr/>
          <p:nvPr/>
        </p:nvSpPr>
        <p:spPr>
          <a:xfrm>
            <a:off x="8827618" y="3200400"/>
            <a:ext cx="253289" cy="0"/>
          </a:xfrm>
          <a:prstGeom prst="line">
            <a:avLst/>
          </a:prstGeom>
          <a:noFill/>
          <a:ln w="25400">
            <a:solidFill>
              <a:srgbClr val="0F3B45"/>
            </a:solidFill>
            <a:prstDash val="solid"/>
            <a:tailEnd type="triangle"/>
          </a:ln>
        </p:spPr>
        <p:txBody>
          <a:bodyPr/>
          <a:p/>
        </p:txBody>
      </p:sp>
      <p:sp>
        <p:nvSpPr>
          <p:cNvPr id="25" name="PartCard-662"/>
          <p:cNvSpPr/>
          <p:nvPr/>
        </p:nvSpPr>
        <p:spPr>
          <a:xfrm>
            <a:off x="9126626" y="1554480"/>
            <a:ext cx="2514600" cy="3337560"/>
          </a:xfrm>
          <a:prstGeom prst="roundRect">
            <a:avLst>
              <a:gd name="adj" fmla="val 2909"/>
            </a:avLst>
          </a:prstGeom>
          <a:solidFill>
            <a:schemeClr val="bg2"/>
          </a:solidFill>
          <a:ln/>
        </p:spPr>
        <p:txBody>
          <a:bodyPr/>
          <a:p/>
        </p:txBody>
      </p:sp>
      <p:sp>
        <p:nvSpPr>
          <p:cNvPr id="26" name="IconBg-663"/>
          <p:cNvSpPr/>
          <p:nvPr/>
        </p:nvSpPr>
        <p:spPr>
          <a:xfrm>
            <a:off x="9327794" y="1755648"/>
            <a:ext cx="640080" cy="640080"/>
          </a:xfrm>
          <a:prstGeom prst="ellipse">
            <a:avLst/>
          </a:prstGeom>
          <a:solidFill>
            <a:srgbClr val="E4572E"/>
          </a:solidFill>
          <a:ln/>
        </p:spPr>
        <p:txBody>
          <a:bodyPr/>
          <a:p/>
        </p:txBody>
      </p:sp>
      <p:pic>
        <p:nvPicPr>
          <p:cNvPr id="27" name="Icon-664" descr="preencoded.png">    </p:cNvPr>
          <p:cNvPicPr>
            <a:picLocks noChangeAspect="1"/>
          </p:cNvPicPr>
          <p:nvPr/>
        </p:nvPicPr>
        <p:blipFill>
          <a:blip r:embed="rId4"/>
          <a:stretch>
            <a:fillRect/>
          </a:stretch>
        </p:blipFill>
        <p:spPr>
          <a:xfrm>
            <a:off x="9487814" y="1915668"/>
            <a:ext cx="320040" cy="320040"/>
          </a:xfrm>
          <a:prstGeom prst="rect">
            <a:avLst/>
          </a:prstGeom>
        </p:spPr>
      </p:pic>
      <p:sp>
        <p:nvSpPr>
          <p:cNvPr id="28" name="Text-665"/>
          <p:cNvSpPr txBox="1"/>
          <p:nvPr/>
        </p:nvSpPr>
        <p:spPr>
          <a:xfrm>
            <a:off x="10452506" y="1783080"/>
            <a:ext cx="1005840" cy="548640"/>
          </a:xfrm>
          <a:prstGeom prst="rect">
            <a:avLst/>
          </a:prstGeom>
          <a:noFill/>
          <a:ln/>
        </p:spPr>
        <p:txBody>
          <a:bodyPr wrap="square" lIns="0" tIns="0" rIns="0" bIns="0" rtlCol="0" anchor="t"/>
          <a:lstStyle/>
          <a:p>
            <a:pPr algn="r" indent="0" marL="0">
              <a:buNone/>
            </a:pPr>
            <a:r>
              <a:rPr lang="en-US" sz="2200" b="1" dirty="0">
                <a:solidFill>
                  <a:schemeClr val="accent1"/>
                </a:solidFill>
                <a:latin typeface="Arial" pitchFamily="34" charset="0"/>
                <a:ea typeface="Arial" pitchFamily="34" charset="-122"/>
                <a:cs typeface="Arial" pitchFamily="34" charset="-120"/>
              </a:rPr>
              <a:t>45 min</a:t>
            </a:r>
            <a:endParaRPr lang="en-US" sz="2200" dirty="0"/>
          </a:p>
        </p:txBody>
      </p:sp>
      <p:sp>
        <p:nvSpPr>
          <p:cNvPr id="29" name="Text-666"/>
          <p:cNvSpPr txBox="1"/>
          <p:nvPr/>
        </p:nvSpPr>
        <p:spPr>
          <a:xfrm>
            <a:off x="9327794" y="25603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4. Solution Sketch</a:t>
            </a:r>
            <a:endParaRPr lang="en-US" sz="1800" dirty="0"/>
          </a:p>
        </p:txBody>
      </p:sp>
      <p:sp>
        <p:nvSpPr>
          <p:cNvPr id="30" name="Text-667"/>
          <p:cNvSpPr txBox="1"/>
          <p:nvPr/>
        </p:nvSpPr>
        <p:spPr>
          <a:xfrm>
            <a:off x="9327794" y="3017520"/>
            <a:ext cx="2112264" cy="1737360"/>
          </a:xfrm>
          <a:prstGeom prst="rect">
            <a:avLst/>
          </a:prstGeom>
          <a:noFill/>
          <a:ln/>
        </p:spPr>
        <p:txBody>
          <a:bodyPr wrap="square" lIns="0" tIns="0" rIns="0" bIns="0" rtlCol="0" anchor="t"/>
          <a:lstStyle/>
          <a:p>
            <a:pPr indent="0" marL="0">
              <a:buNone/>
            </a:pPr>
            <a:r>
              <a:rPr lang="en-US" sz="1400" dirty="0">
                <a:solidFill>
                  <a:schemeClr val="tx1"/>
                </a:solidFill>
              </a:rPr>
              <a:t>A self-explanatory three-panel storyboard, with a title.</a:t>
            </a:r>
            <a:endParaRPr lang="en-US" sz="1400" dirty="0"/>
          </a:p>
        </p:txBody>
      </p:sp>
      <p:sp>
        <p:nvSpPr>
          <p:cNvPr id="31" name="Text-668"/>
          <p:cNvSpPr txBox="1"/>
          <p:nvPr/>
        </p:nvSpPr>
        <p:spPr>
          <a:xfrm>
            <a:off x="548640" y="5120640"/>
            <a:ext cx="3657600" cy="274320"/>
          </a:xfrm>
          <a:prstGeom prst="rect">
            <a:avLst/>
          </a:prstGeom>
          <a:noFill/>
          <a:ln/>
        </p:spPr>
        <p:txBody>
          <a:bodyPr wrap="square" lIns="0" tIns="0" rIns="0" bIns="0" rtlCol="0" anchor="t"/>
          <a:lstStyle/>
          <a:p>
            <a:pPr indent="0" marL="0">
              <a:buNone/>
            </a:pPr>
            <a:r>
              <a:rPr lang="en-US" sz="1100" b="1" dirty="0">
                <a:solidFill>
                  <a:schemeClr val="accent6"/>
                </a:solidFill>
              </a:rPr>
              <a:t>GROUND RULES</a:t>
            </a:r>
            <a:endParaRPr lang="en-US" sz="1100" dirty="0"/>
          </a:p>
        </p:txBody>
      </p:sp>
      <p:sp>
        <p:nvSpPr>
          <p:cNvPr id="32" name="Box-669"/>
          <p:cNvSpPr/>
          <p:nvPr/>
        </p:nvSpPr>
        <p:spPr>
          <a:xfrm>
            <a:off x="548640" y="5440680"/>
            <a:ext cx="2697480" cy="640080"/>
          </a:xfrm>
          <a:prstGeom prst="roundRect">
            <a:avLst>
              <a:gd name="adj" fmla="val 28571"/>
            </a:avLst>
          </a:prstGeom>
          <a:solidFill>
            <a:schemeClr val="accent2">
              <a:alpha val="60000"/>
            </a:schemeClr>
          </a:solidFill>
          <a:ln/>
        </p:spPr>
        <p:txBody>
          <a:bodyPr/>
          <a:p/>
        </p:txBody>
      </p:sp>
      <p:sp>
        <p:nvSpPr>
          <p:cNvPr id="33" name="Text-670"/>
          <p:cNvSpPr txBox="1"/>
          <p:nvPr/>
        </p:nvSpPr>
        <p:spPr>
          <a:xfrm>
            <a:off x="548640" y="5440680"/>
            <a:ext cx="2697480" cy="640080"/>
          </a:xfrm>
          <a:prstGeom prst="rect">
            <a:avLst/>
          </a:prstGeom>
          <a:noFill/>
          <a:ln/>
        </p:spPr>
        <p:txBody>
          <a:bodyPr wrap="square" lIns="0" tIns="0" rIns="0" bIns="0" rtlCol="0" anchor="ctr"/>
          <a:lstStyle/>
          <a:p>
            <a:pPr algn="ctr" indent="0" marL="0">
              <a:buNone/>
            </a:pPr>
            <a:r>
              <a:rPr lang="en-US" sz="1400" b="1" dirty="0">
                <a:solidFill>
                  <a:schemeClr val="tx2"/>
                </a:solidFill>
              </a:rPr>
              <a:t>Everyone works alone</a:t>
            </a:r>
            <a:endParaRPr lang="en-US" sz="1400" dirty="0"/>
          </a:p>
        </p:txBody>
      </p:sp>
      <p:sp>
        <p:nvSpPr>
          <p:cNvPr id="34" name="Box-671"/>
          <p:cNvSpPr/>
          <p:nvPr/>
        </p:nvSpPr>
        <p:spPr>
          <a:xfrm>
            <a:off x="3364992" y="5440680"/>
            <a:ext cx="2697480" cy="640080"/>
          </a:xfrm>
          <a:prstGeom prst="roundRect">
            <a:avLst>
              <a:gd name="adj" fmla="val 28571"/>
            </a:avLst>
          </a:prstGeom>
          <a:solidFill>
            <a:schemeClr val="accent2">
              <a:alpha val="60000"/>
            </a:schemeClr>
          </a:solidFill>
          <a:ln/>
        </p:spPr>
        <p:txBody>
          <a:bodyPr/>
          <a:p/>
        </p:txBody>
      </p:sp>
      <p:sp>
        <p:nvSpPr>
          <p:cNvPr id="35" name="Text-672"/>
          <p:cNvSpPr txBox="1"/>
          <p:nvPr/>
        </p:nvSpPr>
        <p:spPr>
          <a:xfrm>
            <a:off x="3364992" y="5440680"/>
            <a:ext cx="2697480" cy="640080"/>
          </a:xfrm>
          <a:prstGeom prst="rect">
            <a:avLst/>
          </a:prstGeom>
          <a:noFill/>
          <a:ln/>
        </p:spPr>
        <p:txBody>
          <a:bodyPr wrap="square" lIns="0" tIns="0" rIns="0" bIns="0" rtlCol="0" anchor="ctr"/>
          <a:lstStyle/>
          <a:p>
            <a:pPr algn="ctr" indent="0" marL="0">
              <a:buNone/>
            </a:pPr>
            <a:r>
              <a:rPr lang="en-US" sz="1400" b="1" dirty="0">
                <a:solidFill>
                  <a:schemeClr val="tx2"/>
                </a:solidFill>
              </a:rPr>
              <a:t>Sketches stay anonymous</a:t>
            </a:r>
            <a:endParaRPr lang="en-US" sz="1400" dirty="0"/>
          </a:p>
        </p:txBody>
      </p:sp>
      <p:sp>
        <p:nvSpPr>
          <p:cNvPr id="36" name="Box-673"/>
          <p:cNvSpPr/>
          <p:nvPr/>
        </p:nvSpPr>
        <p:spPr>
          <a:xfrm>
            <a:off x="6181344" y="5440680"/>
            <a:ext cx="2697480" cy="640080"/>
          </a:xfrm>
          <a:prstGeom prst="roundRect">
            <a:avLst>
              <a:gd name="adj" fmla="val 28571"/>
            </a:avLst>
          </a:prstGeom>
          <a:solidFill>
            <a:schemeClr val="accent2">
              <a:alpha val="60000"/>
            </a:schemeClr>
          </a:solidFill>
          <a:ln/>
        </p:spPr>
        <p:txBody>
          <a:bodyPr/>
          <a:p/>
        </p:txBody>
      </p:sp>
      <p:sp>
        <p:nvSpPr>
          <p:cNvPr id="37" name="Text-674"/>
          <p:cNvSpPr txBox="1"/>
          <p:nvPr/>
        </p:nvSpPr>
        <p:spPr>
          <a:xfrm>
            <a:off x="6181344" y="5440680"/>
            <a:ext cx="2697480" cy="640080"/>
          </a:xfrm>
          <a:prstGeom prst="rect">
            <a:avLst/>
          </a:prstGeom>
          <a:noFill/>
          <a:ln/>
        </p:spPr>
        <p:txBody>
          <a:bodyPr wrap="square" lIns="0" tIns="0" rIns="0" bIns="0" rtlCol="0" anchor="ctr"/>
          <a:lstStyle/>
          <a:p>
            <a:pPr algn="ctr" indent="0" marL="0">
              <a:buNone/>
            </a:pPr>
            <a:r>
              <a:rPr lang="en-US" sz="1400" b="1" dirty="0">
                <a:solidFill>
                  <a:schemeClr val="tx2"/>
                </a:solidFill>
              </a:rPr>
              <a:t>Ugly is OK</a:t>
            </a:r>
            <a:endParaRPr lang="en-US" sz="1400" dirty="0"/>
          </a:p>
        </p:txBody>
      </p:sp>
      <p:sp>
        <p:nvSpPr>
          <p:cNvPr id="38" name="Box-675"/>
          <p:cNvSpPr/>
          <p:nvPr/>
        </p:nvSpPr>
        <p:spPr>
          <a:xfrm>
            <a:off x="8997696" y="5440680"/>
            <a:ext cx="2697480" cy="640080"/>
          </a:xfrm>
          <a:prstGeom prst="roundRect">
            <a:avLst>
              <a:gd name="adj" fmla="val 28571"/>
            </a:avLst>
          </a:prstGeom>
          <a:solidFill>
            <a:schemeClr val="accent2">
              <a:alpha val="60000"/>
            </a:schemeClr>
          </a:solidFill>
          <a:ln/>
        </p:spPr>
        <p:txBody>
          <a:bodyPr/>
          <a:p/>
        </p:txBody>
      </p:sp>
      <p:sp>
        <p:nvSpPr>
          <p:cNvPr id="39" name="Text-676"/>
          <p:cNvSpPr txBox="1"/>
          <p:nvPr/>
        </p:nvSpPr>
        <p:spPr>
          <a:xfrm>
            <a:off x="8997696" y="5440680"/>
            <a:ext cx="2697480" cy="640080"/>
          </a:xfrm>
          <a:prstGeom prst="rect">
            <a:avLst/>
          </a:prstGeom>
          <a:noFill/>
          <a:ln/>
        </p:spPr>
        <p:txBody>
          <a:bodyPr wrap="square" lIns="0" tIns="0" rIns="0" bIns="0" rtlCol="0" anchor="ctr"/>
          <a:lstStyle/>
          <a:p>
            <a:pPr algn="ctr" indent="0" marL="0">
              <a:buNone/>
            </a:pPr>
            <a:r>
              <a:rPr lang="en-US" sz="1400" b="1" dirty="0">
                <a:solidFill>
                  <a:schemeClr val="tx2"/>
                </a:solidFill>
              </a:rPr>
              <a:t>Words matter – write clearly</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3.3 · NOTES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What each person takes from the walls</a:t>
            </a:r>
            <a:endParaRPr lang="en-US" sz="3200" dirty="0"/>
          </a:p>
        </p:txBody>
      </p:sp>
      <p:sp>
        <p:nvSpPr>
          <p:cNvPr id="4" name="Notebook-677"/>
          <p:cNvSpPr/>
          <p:nvPr/>
        </p:nvSpPr>
        <p:spPr>
          <a:xfrm>
            <a:off x="548640" y="1508760"/>
            <a:ext cx="2651760" cy="4709160"/>
          </a:xfrm>
          <a:prstGeom prst="roundRect">
            <a:avLst>
              <a:gd name="adj" fmla="val 2759"/>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5" name="Circle-678"/>
          <p:cNvSpPr/>
          <p:nvPr/>
        </p:nvSpPr>
        <p:spPr>
          <a:xfrm>
            <a:off x="731520" y="1691640"/>
            <a:ext cx="457200" cy="457200"/>
          </a:xfrm>
          <a:prstGeom prst="ellipse">
            <a:avLst/>
          </a:prstGeom>
          <a:solidFill>
            <a:schemeClr val="accent3"/>
          </a:solidFill>
          <a:ln/>
        </p:spPr>
        <p:txBody>
          <a:bodyPr/>
          <a:p/>
        </p:txBody>
      </p:sp>
      <p:sp>
        <p:nvSpPr>
          <p:cNvPr id="6" name="Text-679"/>
          <p:cNvSpPr txBox="1"/>
          <p:nvPr/>
        </p:nvSpPr>
        <p:spPr>
          <a:xfrm>
            <a:off x="731520" y="16916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CI</a:t>
            </a:r>
            <a:endParaRPr lang="en-US" sz="1200" dirty="0"/>
          </a:p>
        </p:txBody>
      </p:sp>
      <p:sp>
        <p:nvSpPr>
          <p:cNvPr id="7" name="Text-680"/>
          <p:cNvSpPr txBox="1"/>
          <p:nvPr/>
        </p:nvSpPr>
        <p:spPr>
          <a:xfrm>
            <a:off x="1298448" y="1691640"/>
            <a:ext cx="1828800" cy="457200"/>
          </a:xfrm>
          <a:prstGeom prst="rect">
            <a:avLst/>
          </a:prstGeom>
          <a:noFill/>
          <a:ln/>
        </p:spPr>
        <p:txBody>
          <a:bodyPr wrap="square" lIns="0" tIns="0" rIns="0" bIns="0" rtlCol="0" anchor="ctr"/>
          <a:lstStyle/>
          <a:p>
            <a:pPr indent="0" marL="0">
              <a:buNone/>
            </a:pPr>
            <a:r>
              <a:rPr lang="en-US" sz="1400" b="1" dirty="0">
                <a:solidFill>
                  <a:schemeClr val="tx2"/>
                </a:solidFill>
              </a:rPr>
              <a:t>Clara Imhof</a:t>
            </a:r>
            <a:endParaRPr lang="en-US" sz="1400" dirty="0"/>
          </a:p>
        </p:txBody>
      </p:sp>
      <p:sp>
        <p:nvSpPr>
          <p:cNvPr id="8" name="Line-681"/>
          <p:cNvSpPr/>
          <p:nvPr/>
        </p:nvSpPr>
        <p:spPr>
          <a:xfrm>
            <a:off x="731520" y="3054096"/>
            <a:ext cx="2286000" cy="0"/>
          </a:xfrm>
          <a:prstGeom prst="line">
            <a:avLst/>
          </a:prstGeom>
          <a:noFill/>
          <a:ln w="9525">
            <a:solidFill>
              <a:srgbClr val="C9D5D8"/>
            </a:solidFill>
            <a:prstDash val="solid"/>
          </a:ln>
        </p:spPr>
        <p:txBody>
          <a:bodyPr/>
          <a:p/>
        </p:txBody>
      </p:sp>
      <p:sp>
        <p:nvSpPr>
          <p:cNvPr id="9" name="Text-682"/>
          <p:cNvSpPr txBox="1"/>
          <p:nvPr/>
        </p:nvSpPr>
        <p:spPr>
          <a:xfrm>
            <a:off x="731520" y="2377440"/>
            <a:ext cx="2286000" cy="658368"/>
          </a:xfrm>
          <a:prstGeom prst="rect">
            <a:avLst/>
          </a:prstGeom>
          <a:noFill/>
          <a:ln/>
        </p:spPr>
        <p:txBody>
          <a:bodyPr wrap="square" lIns="0" tIns="0" rIns="0" bIns="0" rtlCol="0" anchor="b"/>
          <a:lstStyle/>
          <a:p>
            <a:pPr indent="0" marL="0">
              <a:buNone/>
            </a:pPr>
            <a:r>
              <a:rPr lang="en-US" sz="1400" dirty="0">
                <a:solidFill>
                  <a:schemeClr val="tx1"/>
                </a:solidFill>
              </a:rPr>
              <a:t>LTG: renewal without manual work</a:t>
            </a:r>
            <a:endParaRPr lang="en-US" sz="1400" dirty="0"/>
          </a:p>
        </p:txBody>
      </p:sp>
      <p:sp>
        <p:nvSpPr>
          <p:cNvPr id="10" name="Line-683"/>
          <p:cNvSpPr/>
          <p:nvPr/>
        </p:nvSpPr>
        <p:spPr>
          <a:xfrm>
            <a:off x="731520" y="3803904"/>
            <a:ext cx="2286000" cy="0"/>
          </a:xfrm>
          <a:prstGeom prst="line">
            <a:avLst/>
          </a:prstGeom>
          <a:noFill/>
          <a:ln w="9525">
            <a:solidFill>
              <a:srgbClr val="C9D5D8"/>
            </a:solidFill>
            <a:prstDash val="solid"/>
          </a:ln>
        </p:spPr>
        <p:txBody>
          <a:bodyPr/>
          <a:p/>
        </p:txBody>
      </p:sp>
      <p:sp>
        <p:nvSpPr>
          <p:cNvPr id="11" name="Text-684"/>
          <p:cNvSpPr txBox="1"/>
          <p:nvPr/>
        </p:nvSpPr>
        <p:spPr>
          <a:xfrm>
            <a:off x="731520" y="3127248"/>
            <a:ext cx="2286000" cy="658368"/>
          </a:xfrm>
          <a:prstGeom prst="rect">
            <a:avLst/>
          </a:prstGeom>
          <a:noFill/>
          <a:ln/>
        </p:spPr>
        <p:txBody>
          <a:bodyPr wrap="square" lIns="0" tIns="0" rIns="0" bIns="0" rtlCol="0" anchor="b"/>
          <a:lstStyle/>
          <a:p>
            <a:pPr indent="0" marL="0">
              <a:buNone/>
            </a:pPr>
            <a:r>
              <a:rPr lang="en-US" sz="1400" dirty="0">
                <a:solidFill>
                  <a:schemeClr val="tx1"/>
                </a:solidFill>
              </a:rPr>
              <a:t>SQ2: trust in publisher figures</a:t>
            </a:r>
            <a:endParaRPr lang="en-US" sz="1400" dirty="0"/>
          </a:p>
        </p:txBody>
      </p:sp>
      <p:sp>
        <p:nvSpPr>
          <p:cNvPr id="12" name="Line-685"/>
          <p:cNvSpPr/>
          <p:nvPr/>
        </p:nvSpPr>
        <p:spPr>
          <a:xfrm>
            <a:off x="731520" y="4553712"/>
            <a:ext cx="2286000" cy="0"/>
          </a:xfrm>
          <a:prstGeom prst="line">
            <a:avLst/>
          </a:prstGeom>
          <a:noFill/>
          <a:ln w="9525">
            <a:solidFill>
              <a:srgbClr val="C9D5D8"/>
            </a:solidFill>
            <a:prstDash val="solid"/>
          </a:ln>
        </p:spPr>
        <p:txBody>
          <a:bodyPr/>
          <a:p/>
        </p:txBody>
      </p:sp>
      <p:sp>
        <p:nvSpPr>
          <p:cNvPr id="13" name="Text-686"/>
          <p:cNvSpPr txBox="1"/>
          <p:nvPr/>
        </p:nvSpPr>
        <p:spPr>
          <a:xfrm>
            <a:off x="731520" y="3877056"/>
            <a:ext cx="2286000" cy="658368"/>
          </a:xfrm>
          <a:prstGeom prst="rect">
            <a:avLst/>
          </a:prstGeom>
          <a:noFill/>
          <a:ln/>
        </p:spPr>
        <p:txBody>
          <a:bodyPr wrap="square" lIns="0" tIns="0" rIns="0" bIns="0" rtlCol="0" anchor="b"/>
          <a:lstStyle/>
          <a:p>
            <a:pPr indent="0" marL="0">
              <a:buNone/>
            </a:pPr>
            <a:r>
              <a:rPr lang="en-US" sz="1400" dirty="0">
                <a:solidFill>
                  <a:schemeClr val="tx1"/>
                </a:solidFill>
              </a:rPr>
              <a:t>Cost per article vs. list price</a:t>
            </a:r>
            <a:endParaRPr lang="en-US" sz="1400" dirty="0"/>
          </a:p>
        </p:txBody>
      </p:sp>
      <p:sp>
        <p:nvSpPr>
          <p:cNvPr id="14" name="Line-687"/>
          <p:cNvSpPr/>
          <p:nvPr/>
        </p:nvSpPr>
        <p:spPr>
          <a:xfrm>
            <a:off x="731520" y="5303520"/>
            <a:ext cx="2286000" cy="0"/>
          </a:xfrm>
          <a:prstGeom prst="line">
            <a:avLst/>
          </a:prstGeom>
          <a:noFill/>
          <a:ln w="9525">
            <a:solidFill>
              <a:srgbClr val="C9D5D8"/>
            </a:solidFill>
            <a:prstDash val="solid"/>
          </a:ln>
        </p:spPr>
        <p:txBody>
          <a:bodyPr/>
          <a:p/>
        </p:txBody>
      </p:sp>
      <p:sp>
        <p:nvSpPr>
          <p:cNvPr id="15" name="Text-688"/>
          <p:cNvSpPr txBox="1"/>
          <p:nvPr/>
        </p:nvSpPr>
        <p:spPr>
          <a:xfrm>
            <a:off x="731520" y="4626864"/>
            <a:ext cx="2286000" cy="658368"/>
          </a:xfrm>
          <a:prstGeom prst="rect">
            <a:avLst/>
          </a:prstGeom>
          <a:noFill/>
          <a:ln/>
        </p:spPr>
        <p:txBody>
          <a:bodyPr wrap="square" lIns="0" tIns="0" rIns="0" bIns="0" rtlCol="0" anchor="b"/>
          <a:lstStyle/>
          <a:p>
            <a:pPr indent="0" marL="0">
              <a:buNone/>
            </a:pPr>
            <a:r>
              <a:rPr lang="en-US" sz="1400" dirty="0">
                <a:solidFill>
                  <a:schemeClr val="tx1"/>
                </a:solidFill>
              </a:rPr>
              <a:t>Demo: annual bank statement</a:t>
            </a:r>
            <a:endParaRPr lang="en-US" sz="1400" dirty="0"/>
          </a:p>
        </p:txBody>
      </p:sp>
      <p:sp>
        <p:nvSpPr>
          <p:cNvPr id="16" name="Line-689"/>
          <p:cNvSpPr/>
          <p:nvPr/>
        </p:nvSpPr>
        <p:spPr>
          <a:xfrm>
            <a:off x="731520" y="6053328"/>
            <a:ext cx="2286000" cy="0"/>
          </a:xfrm>
          <a:prstGeom prst="line">
            <a:avLst/>
          </a:prstGeom>
          <a:noFill/>
          <a:ln w="9525">
            <a:solidFill>
              <a:srgbClr val="C9D5D8"/>
            </a:solidFill>
            <a:prstDash val="solid"/>
          </a:ln>
        </p:spPr>
        <p:txBody>
          <a:bodyPr/>
          <a:p/>
        </p:txBody>
      </p:sp>
      <p:sp>
        <p:nvSpPr>
          <p:cNvPr id="17" name="Text-690"/>
          <p:cNvSpPr txBox="1"/>
          <p:nvPr/>
        </p:nvSpPr>
        <p:spPr>
          <a:xfrm>
            <a:off x="731520" y="5376672"/>
            <a:ext cx="2286000" cy="658368"/>
          </a:xfrm>
          <a:prstGeom prst="rect">
            <a:avLst/>
          </a:prstGeom>
          <a:noFill/>
          <a:ln/>
        </p:spPr>
        <p:txBody>
          <a:bodyPr wrap="square" lIns="0" tIns="0" rIns="0" bIns="0" rtlCol="0" anchor="b"/>
          <a:lstStyle/>
          <a:p>
            <a:pPr indent="0" marL="0">
              <a:buNone/>
            </a:pPr>
            <a:r>
              <a:rPr lang="en-US" sz="1400" dirty="0">
                <a:solidFill>
                  <a:schemeClr val="tx1"/>
                </a:solidFill>
              </a:rPr>
              <a:t>Expansion = more prepayment</a:t>
            </a:r>
            <a:endParaRPr lang="en-US" sz="1400" dirty="0"/>
          </a:p>
        </p:txBody>
      </p:sp>
      <p:sp>
        <p:nvSpPr>
          <p:cNvPr id="18" name="Notebook-691"/>
          <p:cNvSpPr/>
          <p:nvPr/>
        </p:nvSpPr>
        <p:spPr>
          <a:xfrm>
            <a:off x="3353105" y="1508760"/>
            <a:ext cx="2651760" cy="4709160"/>
          </a:xfrm>
          <a:prstGeom prst="roundRect">
            <a:avLst>
              <a:gd name="adj" fmla="val 2759"/>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19" name="Circle-692"/>
          <p:cNvSpPr/>
          <p:nvPr/>
        </p:nvSpPr>
        <p:spPr>
          <a:xfrm>
            <a:off x="3535985" y="1691640"/>
            <a:ext cx="457200" cy="457200"/>
          </a:xfrm>
          <a:prstGeom prst="ellipse">
            <a:avLst/>
          </a:prstGeom>
          <a:solidFill>
            <a:schemeClr val="accent1"/>
          </a:solidFill>
          <a:ln/>
        </p:spPr>
        <p:txBody>
          <a:bodyPr/>
          <a:p/>
        </p:txBody>
      </p:sp>
      <p:sp>
        <p:nvSpPr>
          <p:cNvPr id="20" name="Text-693"/>
          <p:cNvSpPr txBox="1"/>
          <p:nvPr/>
        </p:nvSpPr>
        <p:spPr>
          <a:xfrm>
            <a:off x="3535985" y="16916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TF</a:t>
            </a:r>
            <a:endParaRPr lang="en-US" sz="1200" dirty="0"/>
          </a:p>
        </p:txBody>
      </p:sp>
      <p:sp>
        <p:nvSpPr>
          <p:cNvPr id="21" name="Text-694"/>
          <p:cNvSpPr txBox="1"/>
          <p:nvPr/>
        </p:nvSpPr>
        <p:spPr>
          <a:xfrm>
            <a:off x="4102913" y="1691640"/>
            <a:ext cx="1828800" cy="457200"/>
          </a:xfrm>
          <a:prstGeom prst="rect">
            <a:avLst/>
          </a:prstGeom>
          <a:noFill/>
          <a:ln/>
        </p:spPr>
        <p:txBody>
          <a:bodyPr wrap="square" lIns="0" tIns="0" rIns="0" bIns="0" rtlCol="0" anchor="ctr"/>
          <a:lstStyle/>
          <a:p>
            <a:pPr indent="0" marL="0">
              <a:buNone/>
            </a:pPr>
            <a:r>
              <a:rPr lang="en-US" sz="1400" b="1" dirty="0">
                <a:solidFill>
                  <a:schemeClr val="tx2"/>
                </a:solidFill>
              </a:rPr>
              <a:t>Tobias Frei</a:t>
            </a:r>
            <a:endParaRPr lang="en-US" sz="1400" dirty="0"/>
          </a:p>
        </p:txBody>
      </p:sp>
      <p:sp>
        <p:nvSpPr>
          <p:cNvPr id="22" name="Line-695"/>
          <p:cNvSpPr/>
          <p:nvPr/>
        </p:nvSpPr>
        <p:spPr>
          <a:xfrm>
            <a:off x="3535985" y="3054096"/>
            <a:ext cx="2286000" cy="0"/>
          </a:xfrm>
          <a:prstGeom prst="line">
            <a:avLst/>
          </a:prstGeom>
          <a:noFill/>
          <a:ln w="9525">
            <a:solidFill>
              <a:srgbClr val="C9D5D8"/>
            </a:solidFill>
            <a:prstDash val="solid"/>
          </a:ln>
        </p:spPr>
        <p:txBody>
          <a:bodyPr/>
          <a:p/>
        </p:txBody>
      </p:sp>
      <p:sp>
        <p:nvSpPr>
          <p:cNvPr id="23" name="Text-696"/>
          <p:cNvSpPr txBox="1"/>
          <p:nvPr/>
        </p:nvSpPr>
        <p:spPr>
          <a:xfrm>
            <a:off x="3535985" y="2377440"/>
            <a:ext cx="2286000" cy="658368"/>
          </a:xfrm>
          <a:prstGeom prst="rect">
            <a:avLst/>
          </a:prstGeom>
          <a:noFill/>
          <a:ln/>
        </p:spPr>
        <p:txBody>
          <a:bodyPr wrap="square" lIns="0" tIns="0" rIns="0" bIns="0" rtlCol="0" anchor="b"/>
          <a:lstStyle/>
          <a:p>
            <a:pPr indent="0" marL="0">
              <a:buNone/>
            </a:pPr>
            <a:r>
              <a:rPr lang="en-US" sz="1400" dirty="0">
                <a:solidFill>
                  <a:schemeClr val="tx1"/>
                </a:solidFill>
              </a:rPr>
              <a:t>“One page for the board”</a:t>
            </a:r>
            <a:endParaRPr lang="en-US" sz="1400" dirty="0"/>
          </a:p>
        </p:txBody>
      </p:sp>
      <p:sp>
        <p:nvSpPr>
          <p:cNvPr id="24" name="Line-697"/>
          <p:cNvSpPr/>
          <p:nvPr/>
        </p:nvSpPr>
        <p:spPr>
          <a:xfrm>
            <a:off x="3535985" y="3803904"/>
            <a:ext cx="2286000" cy="0"/>
          </a:xfrm>
          <a:prstGeom prst="line">
            <a:avLst/>
          </a:prstGeom>
          <a:noFill/>
          <a:ln w="9525">
            <a:solidFill>
              <a:srgbClr val="C9D5D8"/>
            </a:solidFill>
            <a:prstDash val="solid"/>
          </a:ln>
        </p:spPr>
        <p:txBody>
          <a:bodyPr/>
          <a:p/>
        </p:txBody>
      </p:sp>
      <p:sp>
        <p:nvSpPr>
          <p:cNvPr id="25" name="Text-698"/>
          <p:cNvSpPr txBox="1"/>
          <p:nvPr/>
        </p:nvSpPr>
        <p:spPr>
          <a:xfrm>
            <a:off x="3535985" y="3127248"/>
            <a:ext cx="2286000" cy="658368"/>
          </a:xfrm>
          <a:prstGeom prst="rect">
            <a:avLst/>
          </a:prstGeom>
          <a:noFill/>
          <a:ln/>
        </p:spPr>
        <p:txBody>
          <a:bodyPr wrap="square" lIns="0" tIns="0" rIns="0" bIns="0" rtlCol="0" anchor="b"/>
          <a:lstStyle/>
          <a:p>
            <a:pPr indent="0" marL="0">
              <a:buNone/>
            </a:pPr>
            <a:r>
              <a:rPr lang="en-US" sz="1400" dirty="0">
                <a:solidFill>
                  <a:schemeClr val="tx1"/>
                </a:solidFill>
              </a:rPr>
              <a:t>Nobody knew the guest editor</a:t>
            </a:r>
            <a:endParaRPr lang="en-US" sz="1400" dirty="0"/>
          </a:p>
        </p:txBody>
      </p:sp>
      <p:sp>
        <p:nvSpPr>
          <p:cNvPr id="26" name="Line-699"/>
          <p:cNvSpPr/>
          <p:nvPr/>
        </p:nvSpPr>
        <p:spPr>
          <a:xfrm>
            <a:off x="3535985" y="4553712"/>
            <a:ext cx="2286000" cy="0"/>
          </a:xfrm>
          <a:prstGeom prst="line">
            <a:avLst/>
          </a:prstGeom>
          <a:noFill/>
          <a:ln w="9525">
            <a:solidFill>
              <a:srgbClr val="C9D5D8"/>
            </a:solidFill>
            <a:prstDash val="solid"/>
          </a:ln>
        </p:spPr>
        <p:txBody>
          <a:bodyPr/>
          <a:p/>
        </p:txBody>
      </p:sp>
      <p:sp>
        <p:nvSpPr>
          <p:cNvPr id="27" name="Text-700"/>
          <p:cNvSpPr txBox="1"/>
          <p:nvPr/>
        </p:nvSpPr>
        <p:spPr>
          <a:xfrm>
            <a:off x="3535985" y="3877056"/>
            <a:ext cx="2286000" cy="658368"/>
          </a:xfrm>
          <a:prstGeom prst="rect">
            <a:avLst/>
          </a:prstGeom>
          <a:noFill/>
          <a:ln/>
        </p:spPr>
        <p:txBody>
          <a:bodyPr wrap="square" lIns="0" tIns="0" rIns="0" bIns="0" rtlCol="0" anchor="b"/>
          <a:lstStyle/>
          <a:p>
            <a:pPr indent="0" marL="0">
              <a:buNone/>
            </a:pPr>
            <a:r>
              <a:rPr lang="en-US" sz="1400" dirty="0">
                <a:solidFill>
                  <a:schemeClr val="tx1"/>
                </a:solidFill>
              </a:rPr>
              <a:t>Timing: before the renewal</a:t>
            </a:r>
            <a:endParaRPr lang="en-US" sz="1400" dirty="0"/>
          </a:p>
        </p:txBody>
      </p:sp>
      <p:sp>
        <p:nvSpPr>
          <p:cNvPr id="28" name="Line-701"/>
          <p:cNvSpPr/>
          <p:nvPr/>
        </p:nvSpPr>
        <p:spPr>
          <a:xfrm>
            <a:off x="3535985" y="5303520"/>
            <a:ext cx="2286000" cy="0"/>
          </a:xfrm>
          <a:prstGeom prst="line">
            <a:avLst/>
          </a:prstGeom>
          <a:noFill/>
          <a:ln w="9525">
            <a:solidFill>
              <a:srgbClr val="C9D5D8"/>
            </a:solidFill>
            <a:prstDash val="solid"/>
          </a:ln>
        </p:spPr>
        <p:txBody>
          <a:bodyPr/>
          <a:p/>
        </p:txBody>
      </p:sp>
      <p:sp>
        <p:nvSpPr>
          <p:cNvPr id="29" name="Text-702"/>
          <p:cNvSpPr txBox="1"/>
          <p:nvPr/>
        </p:nvSpPr>
        <p:spPr>
          <a:xfrm>
            <a:off x="3535985" y="4626864"/>
            <a:ext cx="2286000" cy="658368"/>
          </a:xfrm>
          <a:prstGeom prst="rect">
            <a:avLst/>
          </a:prstGeom>
          <a:noFill/>
          <a:ln/>
        </p:spPr>
        <p:txBody>
          <a:bodyPr wrap="square" lIns="0" tIns="0" rIns="0" bIns="0" rtlCol="0" anchor="b"/>
          <a:lstStyle/>
          <a:p>
            <a:pPr indent="0" marL="0">
              <a:buNone/>
            </a:pPr>
            <a:r>
              <a:rPr lang="en-US" sz="1400" dirty="0">
                <a:solidFill>
                  <a:schemeClr val="tx1"/>
                </a:solidFill>
              </a:rPr>
              <a:t>Demo: year in review</a:t>
            </a:r>
            <a:endParaRPr lang="en-US" sz="1400" dirty="0"/>
          </a:p>
        </p:txBody>
      </p:sp>
      <p:sp>
        <p:nvSpPr>
          <p:cNvPr id="30" name="Line-703"/>
          <p:cNvSpPr/>
          <p:nvPr/>
        </p:nvSpPr>
        <p:spPr>
          <a:xfrm>
            <a:off x="3535985" y="6053328"/>
            <a:ext cx="2286000" cy="0"/>
          </a:xfrm>
          <a:prstGeom prst="line">
            <a:avLst/>
          </a:prstGeom>
          <a:noFill/>
          <a:ln w="9525">
            <a:solidFill>
              <a:srgbClr val="C9D5D8"/>
            </a:solidFill>
            <a:prstDash val="solid"/>
          </a:ln>
        </p:spPr>
        <p:txBody>
          <a:bodyPr/>
          <a:p/>
        </p:txBody>
      </p:sp>
      <p:sp>
        <p:nvSpPr>
          <p:cNvPr id="31" name="Text-704"/>
          <p:cNvSpPr txBox="1"/>
          <p:nvPr/>
        </p:nvSpPr>
        <p:spPr>
          <a:xfrm>
            <a:off x="3535985" y="5376672"/>
            <a:ext cx="2286000" cy="658368"/>
          </a:xfrm>
          <a:prstGeom prst="rect">
            <a:avLst/>
          </a:prstGeom>
          <a:noFill/>
          <a:ln/>
        </p:spPr>
        <p:txBody>
          <a:bodyPr wrap="square" lIns="0" tIns="0" rIns="0" bIns="0" rtlCol="0" anchor="b"/>
          <a:lstStyle/>
          <a:p>
            <a:pPr indent="0" marL="0">
              <a:buNone/>
            </a:pPr>
            <a:r>
              <a:rPr lang="en-US" sz="1400" dirty="0">
                <a:solidFill>
                  <a:schemeClr val="tx1"/>
                </a:solidFill>
              </a:rPr>
              <a:t>Forward to the director</a:t>
            </a:r>
            <a:endParaRPr lang="en-US" sz="1400" dirty="0"/>
          </a:p>
        </p:txBody>
      </p:sp>
      <p:sp>
        <p:nvSpPr>
          <p:cNvPr id="32" name="Notebook-705"/>
          <p:cNvSpPr/>
          <p:nvPr/>
        </p:nvSpPr>
        <p:spPr>
          <a:xfrm>
            <a:off x="6157570" y="1508760"/>
            <a:ext cx="2651760" cy="4709160"/>
          </a:xfrm>
          <a:prstGeom prst="roundRect">
            <a:avLst>
              <a:gd name="adj" fmla="val 2759"/>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33" name="Circle-706"/>
          <p:cNvSpPr/>
          <p:nvPr/>
        </p:nvSpPr>
        <p:spPr>
          <a:xfrm>
            <a:off x="6340450" y="1691640"/>
            <a:ext cx="457200" cy="457200"/>
          </a:xfrm>
          <a:prstGeom prst="ellipse">
            <a:avLst/>
          </a:prstGeom>
          <a:solidFill>
            <a:schemeClr val="accent1"/>
          </a:solidFill>
          <a:ln/>
        </p:spPr>
        <p:txBody>
          <a:bodyPr/>
          <a:p/>
        </p:txBody>
      </p:sp>
      <p:sp>
        <p:nvSpPr>
          <p:cNvPr id="34" name="Text-707"/>
          <p:cNvSpPr txBox="1"/>
          <p:nvPr/>
        </p:nvSpPr>
        <p:spPr>
          <a:xfrm>
            <a:off x="6340450" y="16916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NK</a:t>
            </a:r>
            <a:endParaRPr lang="en-US" sz="1200" dirty="0"/>
          </a:p>
        </p:txBody>
      </p:sp>
      <p:sp>
        <p:nvSpPr>
          <p:cNvPr id="35" name="Text-708"/>
          <p:cNvSpPr txBox="1"/>
          <p:nvPr/>
        </p:nvSpPr>
        <p:spPr>
          <a:xfrm>
            <a:off x="6907378" y="1691640"/>
            <a:ext cx="1828800" cy="457200"/>
          </a:xfrm>
          <a:prstGeom prst="rect">
            <a:avLst/>
          </a:prstGeom>
          <a:noFill/>
          <a:ln/>
        </p:spPr>
        <p:txBody>
          <a:bodyPr wrap="square" lIns="0" tIns="0" rIns="0" bIns="0" rtlCol="0" anchor="ctr"/>
          <a:lstStyle/>
          <a:p>
            <a:pPr indent="0" marL="0">
              <a:buNone/>
            </a:pPr>
            <a:r>
              <a:rPr lang="en-US" sz="1400" b="1" dirty="0">
                <a:solidFill>
                  <a:schemeClr val="tx2"/>
                </a:solidFill>
              </a:rPr>
              <a:t>Nina Kovač</a:t>
            </a:r>
            <a:endParaRPr lang="en-US" sz="1400" dirty="0"/>
          </a:p>
        </p:txBody>
      </p:sp>
      <p:sp>
        <p:nvSpPr>
          <p:cNvPr id="36" name="Line-709"/>
          <p:cNvSpPr/>
          <p:nvPr/>
        </p:nvSpPr>
        <p:spPr>
          <a:xfrm>
            <a:off x="6340450" y="3054096"/>
            <a:ext cx="2286000" cy="0"/>
          </a:xfrm>
          <a:prstGeom prst="line">
            <a:avLst/>
          </a:prstGeom>
          <a:noFill/>
          <a:ln w="9525">
            <a:solidFill>
              <a:srgbClr val="C9D5D8"/>
            </a:solidFill>
            <a:prstDash val="solid"/>
          </a:ln>
        </p:spPr>
        <p:txBody>
          <a:bodyPr/>
          <a:p/>
        </p:txBody>
      </p:sp>
      <p:sp>
        <p:nvSpPr>
          <p:cNvPr id="37" name="Text-710"/>
          <p:cNvSpPr txBox="1"/>
          <p:nvPr/>
        </p:nvSpPr>
        <p:spPr>
          <a:xfrm>
            <a:off x="6340450" y="2377440"/>
            <a:ext cx="2286000" cy="658368"/>
          </a:xfrm>
          <a:prstGeom prst="rect">
            <a:avLst/>
          </a:prstGeom>
          <a:noFill/>
          <a:ln/>
        </p:spPr>
        <p:txBody>
          <a:bodyPr wrap="square" lIns="0" tIns="0" rIns="0" bIns="0" rtlCol="0" anchor="b"/>
          <a:lstStyle/>
          <a:p>
            <a:pPr indent="0" marL="0">
              <a:buNone/>
            </a:pPr>
            <a:r>
              <a:rPr lang="en-US" sz="1400" dirty="0">
                <a:solidFill>
                  <a:schemeClr val="tx1"/>
                </a:solidFill>
              </a:rPr>
              <a:t>Hardly any logins → push</a:t>
            </a:r>
            <a:endParaRPr lang="en-US" sz="1400" dirty="0"/>
          </a:p>
        </p:txBody>
      </p:sp>
      <p:sp>
        <p:nvSpPr>
          <p:cNvPr id="38" name="Line-711"/>
          <p:cNvSpPr/>
          <p:nvPr/>
        </p:nvSpPr>
        <p:spPr>
          <a:xfrm>
            <a:off x="6340450" y="3803904"/>
            <a:ext cx="2286000" cy="0"/>
          </a:xfrm>
          <a:prstGeom prst="line">
            <a:avLst/>
          </a:prstGeom>
          <a:noFill/>
          <a:ln w="9525">
            <a:solidFill>
              <a:srgbClr val="C9D5D8"/>
            </a:solidFill>
            <a:prstDash val="solid"/>
          </a:ln>
        </p:spPr>
        <p:txBody>
          <a:bodyPr/>
          <a:p/>
        </p:txBody>
      </p:sp>
      <p:sp>
        <p:nvSpPr>
          <p:cNvPr id="39" name="Text-712"/>
          <p:cNvSpPr txBox="1"/>
          <p:nvPr/>
        </p:nvSpPr>
        <p:spPr>
          <a:xfrm>
            <a:off x="6340450" y="3127248"/>
            <a:ext cx="2286000" cy="658368"/>
          </a:xfrm>
          <a:prstGeom prst="rect">
            <a:avLst/>
          </a:prstGeom>
          <a:noFill/>
          <a:ln/>
        </p:spPr>
        <p:txBody>
          <a:bodyPr wrap="square" lIns="0" tIns="0" rIns="0" bIns="0" rtlCol="0" anchor="b"/>
          <a:lstStyle/>
          <a:p>
            <a:pPr indent="0" marL="0">
              <a:buNone/>
            </a:pPr>
            <a:r>
              <a:rPr lang="en-US" sz="1400" dirty="0">
                <a:solidFill>
                  <a:schemeClr val="tx1"/>
                </a:solidFill>
              </a:rPr>
              <a:t>Manuscripta data covers the basics</a:t>
            </a:r>
            <a:endParaRPr lang="en-US" sz="1400" dirty="0"/>
          </a:p>
        </p:txBody>
      </p:sp>
      <p:sp>
        <p:nvSpPr>
          <p:cNvPr id="40" name="Line-713"/>
          <p:cNvSpPr/>
          <p:nvPr/>
        </p:nvSpPr>
        <p:spPr>
          <a:xfrm>
            <a:off x="6340450" y="4553712"/>
            <a:ext cx="2286000" cy="0"/>
          </a:xfrm>
          <a:prstGeom prst="line">
            <a:avLst/>
          </a:prstGeom>
          <a:noFill/>
          <a:ln w="9525">
            <a:solidFill>
              <a:srgbClr val="C9D5D8"/>
            </a:solidFill>
            <a:prstDash val="solid"/>
          </a:ln>
        </p:spPr>
        <p:txBody>
          <a:bodyPr/>
          <a:p/>
        </p:txBody>
      </p:sp>
      <p:sp>
        <p:nvSpPr>
          <p:cNvPr id="41" name="Text-714"/>
          <p:cNvSpPr txBox="1"/>
          <p:nvPr/>
        </p:nvSpPr>
        <p:spPr>
          <a:xfrm>
            <a:off x="6340450" y="3877056"/>
            <a:ext cx="2286000" cy="658368"/>
          </a:xfrm>
          <a:prstGeom prst="rect">
            <a:avLst/>
          </a:prstGeom>
          <a:noFill/>
          <a:ln/>
        </p:spPr>
        <p:txBody>
          <a:bodyPr wrap="square" lIns="0" tIns="0" rIns="0" bIns="0" rtlCol="0" anchor="b"/>
          <a:lstStyle/>
          <a:p>
            <a:pPr indent="0" marL="0">
              <a:buNone/>
            </a:pPr>
            <a:r>
              <a:rPr lang="en-US" sz="1400" dirty="0">
                <a:solidFill>
                  <a:schemeClr val="tx1"/>
                </a:solidFill>
              </a:rPr>
              <a:t>Peer benchmark</a:t>
            </a:r>
            <a:endParaRPr lang="en-US" sz="1400" dirty="0"/>
          </a:p>
        </p:txBody>
      </p:sp>
      <p:sp>
        <p:nvSpPr>
          <p:cNvPr id="42" name="Line-715"/>
          <p:cNvSpPr/>
          <p:nvPr/>
        </p:nvSpPr>
        <p:spPr>
          <a:xfrm>
            <a:off x="6340450" y="5303520"/>
            <a:ext cx="2286000" cy="0"/>
          </a:xfrm>
          <a:prstGeom prst="line">
            <a:avLst/>
          </a:prstGeom>
          <a:noFill/>
          <a:ln w="9525">
            <a:solidFill>
              <a:srgbClr val="C9D5D8"/>
            </a:solidFill>
            <a:prstDash val="solid"/>
          </a:ln>
        </p:spPr>
        <p:txBody>
          <a:bodyPr/>
          <a:p/>
        </p:txBody>
      </p:sp>
      <p:sp>
        <p:nvSpPr>
          <p:cNvPr id="43" name="Text-716"/>
          <p:cNvSpPr txBox="1"/>
          <p:nvPr/>
        </p:nvSpPr>
        <p:spPr>
          <a:xfrm>
            <a:off x="6340450" y="4626864"/>
            <a:ext cx="2286000" cy="658368"/>
          </a:xfrm>
          <a:prstGeom prst="rect">
            <a:avLst/>
          </a:prstGeom>
          <a:noFill/>
          <a:ln/>
        </p:spPr>
        <p:txBody>
          <a:bodyPr wrap="square" lIns="0" tIns="0" rIns="0" bIns="0" rtlCol="0" anchor="b"/>
          <a:lstStyle/>
          <a:p>
            <a:pPr indent="0" marL="0">
              <a:buNone/>
            </a:pPr>
            <a:r>
              <a:rPr lang="en-US" sz="1400" dirty="0">
                <a:solidFill>
                  <a:schemeClr val="tx1"/>
                </a:solidFill>
              </a:rPr>
              <a:t>Demo: insights email</a:t>
            </a:r>
            <a:endParaRPr lang="en-US" sz="1400" dirty="0"/>
          </a:p>
        </p:txBody>
      </p:sp>
      <p:sp>
        <p:nvSpPr>
          <p:cNvPr id="44" name="Line-717"/>
          <p:cNvSpPr/>
          <p:nvPr/>
        </p:nvSpPr>
        <p:spPr>
          <a:xfrm>
            <a:off x="6340450" y="6053328"/>
            <a:ext cx="2286000" cy="0"/>
          </a:xfrm>
          <a:prstGeom prst="line">
            <a:avLst/>
          </a:prstGeom>
          <a:noFill/>
          <a:ln w="9525">
            <a:solidFill>
              <a:srgbClr val="C9D5D8"/>
            </a:solidFill>
            <a:prstDash val="solid"/>
          </a:ln>
        </p:spPr>
        <p:txBody>
          <a:bodyPr/>
          <a:p/>
        </p:txBody>
      </p:sp>
      <p:sp>
        <p:nvSpPr>
          <p:cNvPr id="45" name="Text-718"/>
          <p:cNvSpPr txBox="1"/>
          <p:nvPr/>
        </p:nvSpPr>
        <p:spPr>
          <a:xfrm>
            <a:off x="6340450" y="5376672"/>
            <a:ext cx="2286000" cy="658368"/>
          </a:xfrm>
          <a:prstGeom prst="rect">
            <a:avLst/>
          </a:prstGeom>
          <a:noFill/>
          <a:ln/>
        </p:spPr>
        <p:txBody>
          <a:bodyPr wrap="square" lIns="0" tIns="0" rIns="0" bIns="0" rtlCol="0" anchor="b"/>
          <a:lstStyle/>
          <a:p>
            <a:pPr indent="0" marL="0">
              <a:buNone/>
            </a:pPr>
            <a:r>
              <a:rPr lang="en-US" sz="1400" dirty="0">
                <a:solidFill>
                  <a:schemeClr val="tx1"/>
                </a:solidFill>
              </a:rPr>
              <a:t>Choose recipients yourself</a:t>
            </a:r>
            <a:endParaRPr lang="en-US" sz="1400" dirty="0"/>
          </a:p>
        </p:txBody>
      </p:sp>
      <p:sp>
        <p:nvSpPr>
          <p:cNvPr id="46" name="Notebook-719"/>
          <p:cNvSpPr/>
          <p:nvPr/>
        </p:nvSpPr>
        <p:spPr>
          <a:xfrm>
            <a:off x="8962034" y="1508760"/>
            <a:ext cx="2651760" cy="4709160"/>
          </a:xfrm>
          <a:prstGeom prst="roundRect">
            <a:avLst>
              <a:gd name="adj" fmla="val 2759"/>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47" name="Circle-720"/>
          <p:cNvSpPr/>
          <p:nvPr/>
        </p:nvSpPr>
        <p:spPr>
          <a:xfrm>
            <a:off x="9144914" y="1691640"/>
            <a:ext cx="457200" cy="457200"/>
          </a:xfrm>
          <a:prstGeom prst="ellipse">
            <a:avLst/>
          </a:prstGeom>
          <a:solidFill>
            <a:schemeClr val="accent1"/>
          </a:solidFill>
          <a:ln/>
        </p:spPr>
        <p:txBody>
          <a:bodyPr/>
          <a:p/>
        </p:txBody>
      </p:sp>
      <p:sp>
        <p:nvSpPr>
          <p:cNvPr id="48" name="Text-721"/>
          <p:cNvSpPr txBox="1"/>
          <p:nvPr/>
        </p:nvSpPr>
        <p:spPr>
          <a:xfrm>
            <a:off x="9144914" y="16916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SO</a:t>
            </a:r>
            <a:endParaRPr lang="en-US" sz="1200" dirty="0"/>
          </a:p>
        </p:txBody>
      </p:sp>
      <p:sp>
        <p:nvSpPr>
          <p:cNvPr id="49" name="Text-722"/>
          <p:cNvSpPr txBox="1"/>
          <p:nvPr/>
        </p:nvSpPr>
        <p:spPr>
          <a:xfrm>
            <a:off x="9711842" y="1691640"/>
            <a:ext cx="1828800" cy="457200"/>
          </a:xfrm>
          <a:prstGeom prst="rect">
            <a:avLst/>
          </a:prstGeom>
          <a:noFill/>
          <a:ln/>
        </p:spPr>
        <p:txBody>
          <a:bodyPr wrap="square" lIns="0" tIns="0" rIns="0" bIns="0" rtlCol="0" anchor="ctr"/>
          <a:lstStyle/>
          <a:p>
            <a:pPr indent="0" marL="0">
              <a:buNone/>
            </a:pPr>
            <a:r>
              <a:rPr lang="en-US" sz="1400" b="1" dirty="0">
                <a:solidFill>
                  <a:schemeClr val="tx2"/>
                </a:solidFill>
              </a:rPr>
              <a:t>Samuel Ott</a:t>
            </a:r>
            <a:endParaRPr lang="en-US" sz="1400" dirty="0"/>
          </a:p>
        </p:txBody>
      </p:sp>
      <p:sp>
        <p:nvSpPr>
          <p:cNvPr id="50" name="Line-723"/>
          <p:cNvSpPr/>
          <p:nvPr/>
        </p:nvSpPr>
        <p:spPr>
          <a:xfrm>
            <a:off x="9144914" y="3054096"/>
            <a:ext cx="2286000" cy="0"/>
          </a:xfrm>
          <a:prstGeom prst="line">
            <a:avLst/>
          </a:prstGeom>
          <a:noFill/>
          <a:ln w="9525">
            <a:solidFill>
              <a:srgbClr val="C9D5D8"/>
            </a:solidFill>
            <a:prstDash val="solid"/>
          </a:ln>
        </p:spPr>
        <p:txBody>
          <a:bodyPr/>
          <a:p/>
        </p:txBody>
      </p:sp>
      <p:sp>
        <p:nvSpPr>
          <p:cNvPr id="51" name="Text-724"/>
          <p:cNvSpPr txBox="1"/>
          <p:nvPr/>
        </p:nvSpPr>
        <p:spPr>
          <a:xfrm>
            <a:off x="9144914" y="2377440"/>
            <a:ext cx="2286000" cy="658368"/>
          </a:xfrm>
          <a:prstGeom prst="rect">
            <a:avLst/>
          </a:prstGeom>
          <a:noFill/>
          <a:ln/>
        </p:spPr>
        <p:txBody>
          <a:bodyPr wrap="square" lIns="0" tIns="0" rIns="0" bIns="0" rtlCol="0" anchor="b"/>
          <a:lstStyle/>
          <a:p>
            <a:pPr indent="0" marL="0">
              <a:buNone/>
            </a:pPr>
            <a:r>
              <a:rPr lang="en-US" sz="1400" dirty="0">
                <a:solidFill>
                  <a:schemeClr val="tx1"/>
                </a:solidFill>
              </a:rPr>
              <a:t>Disclose the method</a:t>
            </a:r>
            <a:endParaRPr lang="en-US" sz="1400" dirty="0"/>
          </a:p>
        </p:txBody>
      </p:sp>
      <p:sp>
        <p:nvSpPr>
          <p:cNvPr id="52" name="Line-725"/>
          <p:cNvSpPr/>
          <p:nvPr/>
        </p:nvSpPr>
        <p:spPr>
          <a:xfrm>
            <a:off x="9144914" y="3803904"/>
            <a:ext cx="2286000" cy="0"/>
          </a:xfrm>
          <a:prstGeom prst="line">
            <a:avLst/>
          </a:prstGeom>
          <a:noFill/>
          <a:ln w="9525">
            <a:solidFill>
              <a:srgbClr val="C9D5D8"/>
            </a:solidFill>
            <a:prstDash val="solid"/>
          </a:ln>
        </p:spPr>
        <p:txBody>
          <a:bodyPr/>
          <a:p/>
        </p:txBody>
      </p:sp>
      <p:sp>
        <p:nvSpPr>
          <p:cNvPr id="53" name="Text-726"/>
          <p:cNvSpPr txBox="1"/>
          <p:nvPr/>
        </p:nvSpPr>
        <p:spPr>
          <a:xfrm>
            <a:off x="9144914" y="3127248"/>
            <a:ext cx="2286000" cy="658368"/>
          </a:xfrm>
          <a:prstGeom prst="rect">
            <a:avLst/>
          </a:prstGeom>
          <a:noFill/>
          <a:ln/>
        </p:spPr>
        <p:txBody>
          <a:bodyPr wrap="square" lIns="0" tIns="0" rIns="0" bIns="0" rtlCol="0" anchor="b"/>
          <a:lstStyle/>
          <a:p>
            <a:pPr indent="0" marL="0">
              <a:buNone/>
            </a:pPr>
            <a:r>
              <a:rPr lang="en-US" sz="1400" dirty="0">
                <a:solidFill>
                  <a:schemeClr val="tx1"/>
                </a:solidFill>
              </a:rPr>
              <a:t>Compliance beats impact</a:t>
            </a:r>
            <a:endParaRPr lang="en-US" sz="1400" dirty="0"/>
          </a:p>
        </p:txBody>
      </p:sp>
      <p:sp>
        <p:nvSpPr>
          <p:cNvPr id="54" name="Line-727"/>
          <p:cNvSpPr/>
          <p:nvPr/>
        </p:nvSpPr>
        <p:spPr>
          <a:xfrm>
            <a:off x="9144914" y="4553712"/>
            <a:ext cx="2286000" cy="0"/>
          </a:xfrm>
          <a:prstGeom prst="line">
            <a:avLst/>
          </a:prstGeom>
          <a:noFill/>
          <a:ln w="9525">
            <a:solidFill>
              <a:srgbClr val="C9D5D8"/>
            </a:solidFill>
            <a:prstDash val="solid"/>
          </a:ln>
        </p:spPr>
        <p:txBody>
          <a:bodyPr/>
          <a:p/>
        </p:txBody>
      </p:sp>
      <p:sp>
        <p:nvSpPr>
          <p:cNvPr id="55" name="Text-728"/>
          <p:cNvSpPr txBox="1"/>
          <p:nvPr/>
        </p:nvSpPr>
        <p:spPr>
          <a:xfrm>
            <a:off x="9144914" y="3877056"/>
            <a:ext cx="2286000" cy="658368"/>
          </a:xfrm>
          <a:prstGeom prst="rect">
            <a:avLst/>
          </a:prstGeom>
          <a:noFill/>
          <a:ln/>
        </p:spPr>
        <p:txBody>
          <a:bodyPr wrap="square" lIns="0" tIns="0" rIns="0" bIns="0" rtlCol="0" anchor="b"/>
          <a:lstStyle/>
          <a:p>
            <a:pPr indent="0" marL="0">
              <a:buNone/>
            </a:pPr>
            <a:r>
              <a:rPr lang="en-US" sz="1400" dirty="0">
                <a:solidFill>
                  <a:schemeClr val="tx1"/>
                </a:solidFill>
              </a:rPr>
              <a:t>Prove funder compliance</a:t>
            </a:r>
            <a:endParaRPr lang="en-US" sz="1400" dirty="0"/>
          </a:p>
        </p:txBody>
      </p:sp>
      <p:sp>
        <p:nvSpPr>
          <p:cNvPr id="56" name="Line-729"/>
          <p:cNvSpPr/>
          <p:nvPr/>
        </p:nvSpPr>
        <p:spPr>
          <a:xfrm>
            <a:off x="9144914" y="5303520"/>
            <a:ext cx="2286000" cy="0"/>
          </a:xfrm>
          <a:prstGeom prst="line">
            <a:avLst/>
          </a:prstGeom>
          <a:noFill/>
          <a:ln w="9525">
            <a:solidFill>
              <a:srgbClr val="C9D5D8"/>
            </a:solidFill>
            <a:prstDash val="solid"/>
          </a:ln>
        </p:spPr>
        <p:txBody>
          <a:bodyPr/>
          <a:p/>
        </p:txBody>
      </p:sp>
      <p:sp>
        <p:nvSpPr>
          <p:cNvPr id="57" name="Text-730"/>
          <p:cNvSpPr txBox="1"/>
          <p:nvPr/>
        </p:nvSpPr>
        <p:spPr>
          <a:xfrm>
            <a:off x="9144914" y="4626864"/>
            <a:ext cx="2286000" cy="658368"/>
          </a:xfrm>
          <a:prstGeom prst="rect">
            <a:avLst/>
          </a:prstGeom>
          <a:noFill/>
          <a:ln/>
        </p:spPr>
        <p:txBody>
          <a:bodyPr wrap="square" lIns="0" tIns="0" rIns="0" bIns="0" rtlCol="0" anchor="b"/>
          <a:lstStyle/>
          <a:p>
            <a:pPr indent="0" marL="0">
              <a:buNone/>
            </a:pPr>
            <a:r>
              <a:rPr lang="en-US" sz="1400" dirty="0">
                <a:solidFill>
                  <a:schemeClr val="tx1"/>
                </a:solidFill>
              </a:rPr>
              <a:t>Demo: energy label</a:t>
            </a:r>
            <a:endParaRPr lang="en-US" sz="1400" dirty="0"/>
          </a:p>
        </p:txBody>
      </p:sp>
      <p:sp>
        <p:nvSpPr>
          <p:cNvPr id="58" name="Line-731"/>
          <p:cNvSpPr/>
          <p:nvPr/>
        </p:nvSpPr>
        <p:spPr>
          <a:xfrm>
            <a:off x="9144914" y="6053328"/>
            <a:ext cx="2286000" cy="0"/>
          </a:xfrm>
          <a:prstGeom prst="line">
            <a:avLst/>
          </a:prstGeom>
          <a:noFill/>
          <a:ln w="9525">
            <a:solidFill>
              <a:srgbClr val="C9D5D8"/>
            </a:solidFill>
            <a:prstDash val="solid"/>
          </a:ln>
        </p:spPr>
        <p:txBody>
          <a:bodyPr/>
          <a:p/>
        </p:txBody>
      </p:sp>
      <p:sp>
        <p:nvSpPr>
          <p:cNvPr id="59" name="Text-732"/>
          <p:cNvSpPr txBox="1"/>
          <p:nvPr/>
        </p:nvSpPr>
        <p:spPr>
          <a:xfrm>
            <a:off x="9144914" y="5376672"/>
            <a:ext cx="2286000" cy="658368"/>
          </a:xfrm>
          <a:prstGeom prst="rect">
            <a:avLst/>
          </a:prstGeom>
          <a:noFill/>
          <a:ln/>
        </p:spPr>
        <p:txBody>
          <a:bodyPr wrap="square" lIns="0" tIns="0" rIns="0" bIns="0" rtlCol="0" anchor="b"/>
          <a:lstStyle/>
          <a:p>
            <a:pPr indent="0" marL="0">
              <a:buNone/>
            </a:pPr>
            <a:r>
              <a:rPr lang="en-US" sz="1400" dirty="0">
                <a:solidFill>
                  <a:schemeClr val="tx1"/>
                </a:solidFill>
              </a:rPr>
              <a:t>Export in the monitoring standard</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3.4 · DOODLES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First ideas, roughly drawn</a:t>
            </a:r>
            <a:endParaRPr lang="en-US" sz="3200" dirty="0"/>
          </a:p>
        </p:txBody>
      </p:sp>
      <p:sp>
        <p:nvSpPr>
          <p:cNvPr id="4" name="Circle-733"/>
          <p:cNvSpPr/>
          <p:nvPr/>
        </p:nvSpPr>
        <p:spPr>
          <a:xfrm>
            <a:off x="548640" y="1463040"/>
            <a:ext cx="411480" cy="411480"/>
          </a:xfrm>
          <a:prstGeom prst="ellipse">
            <a:avLst/>
          </a:prstGeom>
          <a:solidFill>
            <a:schemeClr val="accent3"/>
          </a:solidFill>
          <a:ln/>
        </p:spPr>
        <p:txBody>
          <a:bodyPr/>
          <a:p/>
        </p:txBody>
      </p:sp>
      <p:sp>
        <p:nvSpPr>
          <p:cNvPr id="5" name="Text-734"/>
          <p:cNvSpPr txBox="1"/>
          <p:nvPr/>
        </p:nvSpPr>
        <p:spPr>
          <a:xfrm>
            <a:off x="548640" y="146304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CI</a:t>
            </a:r>
            <a:endParaRPr lang="en-US" sz="1100" dirty="0"/>
          </a:p>
        </p:txBody>
      </p:sp>
      <p:sp>
        <p:nvSpPr>
          <p:cNvPr id="6" name="Text-735"/>
          <p:cNvSpPr txBox="1"/>
          <p:nvPr/>
        </p:nvSpPr>
        <p:spPr>
          <a:xfrm>
            <a:off x="1051560" y="1463040"/>
            <a:ext cx="2103120" cy="411480"/>
          </a:xfrm>
          <a:prstGeom prst="rect">
            <a:avLst/>
          </a:prstGeom>
          <a:noFill/>
          <a:ln/>
        </p:spPr>
        <p:txBody>
          <a:bodyPr wrap="square" lIns="0" tIns="0" rIns="0" bIns="0" rtlCol="0" anchor="ctr"/>
          <a:lstStyle/>
          <a:p>
            <a:pPr indent="0" marL="0">
              <a:buNone/>
            </a:pPr>
            <a:r>
              <a:rPr lang="en-US" sz="1400" b="1" dirty="0">
                <a:solidFill>
                  <a:schemeClr val="tx2"/>
                </a:solidFill>
              </a:rPr>
              <a:t>Clara Imhof</a:t>
            </a:r>
            <a:endParaRPr lang="en-US" sz="1400" dirty="0"/>
          </a:p>
        </p:txBody>
      </p:sp>
      <p:sp>
        <p:nvSpPr>
          <p:cNvPr id="7" name="Panel-736"/>
          <p:cNvSpPr/>
          <p:nvPr/>
        </p:nvSpPr>
        <p:spPr>
          <a:xfrm>
            <a:off x="548640" y="2057400"/>
            <a:ext cx="2651760" cy="1965960"/>
          </a:xfrm>
          <a:prstGeom prst="roundRect">
            <a:avLst>
              <a:gd name="adj" fmla="val 1860"/>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8" name="PanelBar-737"/>
          <p:cNvSpPr/>
          <p:nvPr/>
        </p:nvSpPr>
        <p:spPr>
          <a:xfrm>
            <a:off x="576072" y="2084832"/>
            <a:ext cx="2596896" cy="237744"/>
          </a:xfrm>
          <a:prstGeom prst="rect">
            <a:avLst/>
          </a:prstGeom>
          <a:solidFill>
            <a:schemeClr val="bg2"/>
          </a:solidFill>
          <a:ln/>
        </p:spPr>
        <p:txBody>
          <a:bodyPr/>
          <a:p/>
        </p:txBody>
      </p:sp>
      <p:sp>
        <p:nvSpPr>
          <p:cNvPr id="9" name="Circle-738"/>
          <p:cNvSpPr/>
          <p:nvPr/>
        </p:nvSpPr>
        <p:spPr>
          <a:xfrm>
            <a:off x="2633472" y="2157984"/>
            <a:ext cx="82296" cy="82296"/>
          </a:xfrm>
          <a:prstGeom prst="ellipse">
            <a:avLst/>
          </a:prstGeom>
          <a:solidFill>
            <a:schemeClr val="accent3"/>
          </a:solidFill>
          <a:ln/>
        </p:spPr>
        <p:txBody>
          <a:bodyPr/>
          <a:p/>
        </p:txBody>
      </p:sp>
      <p:sp>
        <p:nvSpPr>
          <p:cNvPr id="10" name="Circle-739"/>
          <p:cNvSpPr/>
          <p:nvPr/>
        </p:nvSpPr>
        <p:spPr>
          <a:xfrm>
            <a:off x="2779776" y="2157984"/>
            <a:ext cx="82296" cy="82296"/>
          </a:xfrm>
          <a:prstGeom prst="ellipse">
            <a:avLst/>
          </a:prstGeom>
          <a:solidFill>
            <a:schemeClr val="accent6"/>
          </a:solidFill>
          <a:ln/>
        </p:spPr>
        <p:txBody>
          <a:bodyPr/>
          <a:p/>
        </p:txBody>
      </p:sp>
      <p:sp>
        <p:nvSpPr>
          <p:cNvPr id="11" name="Circle-740"/>
          <p:cNvSpPr/>
          <p:nvPr/>
        </p:nvSpPr>
        <p:spPr>
          <a:xfrm>
            <a:off x="2926080" y="2157984"/>
            <a:ext cx="82296" cy="82296"/>
          </a:xfrm>
          <a:prstGeom prst="ellipse">
            <a:avLst/>
          </a:prstGeom>
          <a:solidFill>
            <a:schemeClr val="accent6"/>
          </a:solidFill>
          <a:ln/>
        </p:spPr>
        <p:txBody>
          <a:bodyPr/>
          <a:p/>
        </p:txBody>
      </p:sp>
      <p:sp>
        <p:nvSpPr>
          <p:cNvPr id="12" name="Text-741"/>
          <p:cNvSpPr txBox="1"/>
          <p:nvPr/>
        </p:nvSpPr>
        <p:spPr>
          <a:xfrm>
            <a:off x="713232" y="2441448"/>
            <a:ext cx="2322576" cy="329184"/>
          </a:xfrm>
          <a:prstGeom prst="rect">
            <a:avLst/>
          </a:prstGeom>
          <a:noFill/>
          <a:ln/>
        </p:spPr>
        <p:txBody>
          <a:bodyPr wrap="square" lIns="0" tIns="0" rIns="0" bIns="0" rtlCol="0" anchor="t"/>
          <a:lstStyle/>
          <a:p>
            <a:pPr indent="0" marL="0">
              <a:buNone/>
            </a:pPr>
            <a:r>
              <a:rPr lang="en-US" sz="1100" b="1" dirty="0">
                <a:solidFill>
                  <a:schemeClr val="tx2"/>
                </a:solidFill>
              </a:rPr>
              <a:t>Statement Q3</a:t>
            </a:r>
            <a:endParaRPr lang="en-US" sz="1100" dirty="0"/>
          </a:p>
        </p:txBody>
      </p:sp>
      <p:sp>
        <p:nvSpPr>
          <p:cNvPr id="13" name="Text-742"/>
          <p:cNvSpPr txBox="1"/>
          <p:nvPr/>
        </p:nvSpPr>
        <p:spPr>
          <a:xfrm>
            <a:off x="713232" y="2734056"/>
            <a:ext cx="1532900" cy="256032"/>
          </a:xfrm>
          <a:prstGeom prst="rect">
            <a:avLst/>
          </a:prstGeom>
          <a:noFill/>
          <a:ln/>
        </p:spPr>
        <p:txBody>
          <a:bodyPr wrap="square" lIns="0" tIns="0" rIns="0" bIns="0" rtlCol="0" anchor="ctr"/>
          <a:lstStyle/>
          <a:p>
            <a:pPr indent="0" marL="0">
              <a:buNone/>
            </a:pPr>
            <a:r>
              <a:rPr lang="en-US" sz="1000" dirty="0">
                <a:solidFill>
                  <a:schemeClr val="tx1"/>
                </a:solidFill>
              </a:rPr>
              <a:t>List price</a:t>
            </a:r>
            <a:endParaRPr lang="en-US" sz="1000" dirty="0"/>
          </a:p>
        </p:txBody>
      </p:sp>
      <p:sp>
        <p:nvSpPr>
          <p:cNvPr id="14" name="Text-743"/>
          <p:cNvSpPr txBox="1"/>
          <p:nvPr/>
        </p:nvSpPr>
        <p:spPr>
          <a:xfrm>
            <a:off x="2106778" y="2734056"/>
            <a:ext cx="929030" cy="256032"/>
          </a:xfrm>
          <a:prstGeom prst="rect">
            <a:avLst/>
          </a:prstGeom>
          <a:noFill/>
          <a:ln/>
        </p:spPr>
        <p:txBody>
          <a:bodyPr wrap="square" lIns="0" tIns="0" rIns="0" bIns="0" rtlCol="0" anchor="ctr"/>
          <a:lstStyle/>
          <a:p>
            <a:pPr algn="r" indent="0" marL="0">
              <a:buNone/>
            </a:pPr>
            <a:r>
              <a:rPr lang="en-US" sz="1000" b="1" dirty="0">
                <a:solidFill>
                  <a:schemeClr val="tx2"/>
                </a:solidFill>
              </a:rPr>
              <a:t>EUR 338,100</a:t>
            </a:r>
            <a:endParaRPr lang="en-US" sz="1000" dirty="0"/>
          </a:p>
        </p:txBody>
      </p:sp>
      <p:sp>
        <p:nvSpPr>
          <p:cNvPr id="15" name="Line-744"/>
          <p:cNvSpPr/>
          <p:nvPr/>
        </p:nvSpPr>
        <p:spPr>
          <a:xfrm>
            <a:off x="713232" y="2990088"/>
            <a:ext cx="2322576" cy="0"/>
          </a:xfrm>
          <a:prstGeom prst="line">
            <a:avLst/>
          </a:prstGeom>
          <a:noFill/>
          <a:ln w="9525">
            <a:solidFill>
              <a:srgbClr val="D5E0E2"/>
            </a:solidFill>
            <a:prstDash val="solid"/>
          </a:ln>
        </p:spPr>
        <p:txBody>
          <a:bodyPr/>
          <a:p/>
        </p:txBody>
      </p:sp>
      <p:sp>
        <p:nvSpPr>
          <p:cNvPr id="16" name="Text-745"/>
          <p:cNvSpPr txBox="1"/>
          <p:nvPr/>
        </p:nvSpPr>
        <p:spPr>
          <a:xfrm>
            <a:off x="713232" y="3017520"/>
            <a:ext cx="1532900" cy="256032"/>
          </a:xfrm>
          <a:prstGeom prst="rect">
            <a:avLst/>
          </a:prstGeom>
          <a:noFill/>
          <a:ln/>
        </p:spPr>
        <p:txBody>
          <a:bodyPr wrap="square" lIns="0" tIns="0" rIns="0" bIns="0" rtlCol="0" anchor="ctr"/>
          <a:lstStyle/>
          <a:p>
            <a:pPr indent="0" marL="0">
              <a:buNone/>
            </a:pPr>
            <a:r>
              <a:rPr lang="en-US" sz="1000" dirty="0">
                <a:solidFill>
                  <a:schemeClr val="tx1"/>
                </a:solidFill>
              </a:rPr>
              <a:t>Paid</a:t>
            </a:r>
            <a:endParaRPr lang="en-US" sz="1000" dirty="0"/>
          </a:p>
        </p:txBody>
      </p:sp>
      <p:sp>
        <p:nvSpPr>
          <p:cNvPr id="17" name="Text-746"/>
          <p:cNvSpPr txBox="1"/>
          <p:nvPr/>
        </p:nvSpPr>
        <p:spPr>
          <a:xfrm>
            <a:off x="2106778" y="3017520"/>
            <a:ext cx="929030" cy="256032"/>
          </a:xfrm>
          <a:prstGeom prst="rect">
            <a:avLst/>
          </a:prstGeom>
          <a:noFill/>
          <a:ln/>
        </p:spPr>
        <p:txBody>
          <a:bodyPr wrap="square" lIns="0" tIns="0" rIns="0" bIns="0" rtlCol="0" anchor="ctr"/>
          <a:lstStyle/>
          <a:p>
            <a:pPr algn="r" indent="0" marL="0">
              <a:buNone/>
            </a:pPr>
            <a:r>
              <a:rPr lang="en-US" sz="1000" b="1" dirty="0">
                <a:solidFill>
                  <a:schemeClr val="tx2"/>
                </a:solidFill>
              </a:rPr>
              <a:t>EUR 287,040</a:t>
            </a:r>
            <a:endParaRPr lang="en-US" sz="1000" dirty="0"/>
          </a:p>
        </p:txBody>
      </p:sp>
      <p:sp>
        <p:nvSpPr>
          <p:cNvPr id="18" name="Line-747"/>
          <p:cNvSpPr/>
          <p:nvPr/>
        </p:nvSpPr>
        <p:spPr>
          <a:xfrm>
            <a:off x="713232" y="3273552"/>
            <a:ext cx="2322576" cy="0"/>
          </a:xfrm>
          <a:prstGeom prst="line">
            <a:avLst/>
          </a:prstGeom>
          <a:noFill/>
          <a:ln w="9525">
            <a:solidFill>
              <a:srgbClr val="D5E0E2"/>
            </a:solidFill>
            <a:prstDash val="solid"/>
          </a:ln>
        </p:spPr>
        <p:txBody>
          <a:bodyPr/>
          <a:p/>
        </p:txBody>
      </p:sp>
      <p:sp>
        <p:nvSpPr>
          <p:cNvPr id="19" name="Text-748"/>
          <p:cNvSpPr txBox="1"/>
          <p:nvPr/>
        </p:nvSpPr>
        <p:spPr>
          <a:xfrm>
            <a:off x="713232" y="3300984"/>
            <a:ext cx="1532900" cy="256032"/>
          </a:xfrm>
          <a:prstGeom prst="rect">
            <a:avLst/>
          </a:prstGeom>
          <a:noFill/>
          <a:ln/>
        </p:spPr>
        <p:txBody>
          <a:bodyPr wrap="square" lIns="0" tIns="0" rIns="0" bIns="0" rtlCol="0" anchor="ctr"/>
          <a:lstStyle/>
          <a:p>
            <a:pPr indent="0" marL="0">
              <a:buNone/>
            </a:pPr>
            <a:r>
              <a:rPr lang="en-US" sz="1000" dirty="0">
                <a:solidFill>
                  <a:schemeClr val="tx1"/>
                </a:solidFill>
              </a:rPr>
              <a:t>Saved</a:t>
            </a:r>
            <a:endParaRPr lang="en-US" sz="1000" dirty="0"/>
          </a:p>
        </p:txBody>
      </p:sp>
      <p:sp>
        <p:nvSpPr>
          <p:cNvPr id="20" name="Text-749"/>
          <p:cNvSpPr txBox="1"/>
          <p:nvPr/>
        </p:nvSpPr>
        <p:spPr>
          <a:xfrm>
            <a:off x="2106778" y="3300984"/>
            <a:ext cx="929030" cy="256032"/>
          </a:xfrm>
          <a:prstGeom prst="rect">
            <a:avLst/>
          </a:prstGeom>
          <a:noFill/>
          <a:ln/>
        </p:spPr>
        <p:txBody>
          <a:bodyPr wrap="square" lIns="0" tIns="0" rIns="0" bIns="0" rtlCol="0" anchor="ctr"/>
          <a:lstStyle/>
          <a:p>
            <a:pPr algn="r" indent="0" marL="0">
              <a:buNone/>
            </a:pPr>
            <a:r>
              <a:rPr lang="en-US" sz="1000" b="1" dirty="0">
                <a:solidFill>
                  <a:schemeClr val="tx2"/>
                </a:solidFill>
              </a:rPr>
              <a:t>EUR 51,060</a:t>
            </a:r>
            <a:endParaRPr lang="en-US" sz="1000" dirty="0"/>
          </a:p>
        </p:txBody>
      </p:sp>
      <p:sp>
        <p:nvSpPr>
          <p:cNvPr id="21" name="Line-750"/>
          <p:cNvSpPr/>
          <p:nvPr/>
        </p:nvSpPr>
        <p:spPr>
          <a:xfrm>
            <a:off x="713232" y="3557016"/>
            <a:ext cx="2322576" cy="0"/>
          </a:xfrm>
          <a:prstGeom prst="line">
            <a:avLst/>
          </a:prstGeom>
          <a:noFill/>
          <a:ln w="9525">
            <a:solidFill>
              <a:srgbClr val="D5E0E2"/>
            </a:solidFill>
            <a:prstDash val="solid"/>
          </a:ln>
        </p:spPr>
        <p:txBody>
          <a:bodyPr/>
          <a:p/>
        </p:txBody>
      </p:sp>
      <p:sp>
        <p:nvSpPr>
          <p:cNvPr id="22" name="Panel-751"/>
          <p:cNvSpPr/>
          <p:nvPr/>
        </p:nvSpPr>
        <p:spPr>
          <a:xfrm>
            <a:off x="548640" y="4206240"/>
            <a:ext cx="2651760" cy="1965960"/>
          </a:xfrm>
          <a:prstGeom prst="roundRect">
            <a:avLst>
              <a:gd name="adj" fmla="val 1860"/>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23" name="PanelBar-752"/>
          <p:cNvSpPr/>
          <p:nvPr/>
        </p:nvSpPr>
        <p:spPr>
          <a:xfrm>
            <a:off x="576072" y="4233672"/>
            <a:ext cx="2596896" cy="237744"/>
          </a:xfrm>
          <a:prstGeom prst="rect">
            <a:avLst/>
          </a:prstGeom>
          <a:solidFill>
            <a:schemeClr val="bg2"/>
          </a:solidFill>
          <a:ln/>
        </p:spPr>
        <p:txBody>
          <a:bodyPr/>
          <a:p/>
        </p:txBody>
      </p:sp>
      <p:sp>
        <p:nvSpPr>
          <p:cNvPr id="24" name="Circle-753"/>
          <p:cNvSpPr/>
          <p:nvPr/>
        </p:nvSpPr>
        <p:spPr>
          <a:xfrm>
            <a:off x="2633472" y="4306824"/>
            <a:ext cx="82296" cy="82296"/>
          </a:xfrm>
          <a:prstGeom prst="ellipse">
            <a:avLst/>
          </a:prstGeom>
          <a:solidFill>
            <a:schemeClr val="accent3"/>
          </a:solidFill>
          <a:ln/>
        </p:spPr>
        <p:txBody>
          <a:bodyPr/>
          <a:p/>
        </p:txBody>
      </p:sp>
      <p:sp>
        <p:nvSpPr>
          <p:cNvPr id="25" name="Circle-754"/>
          <p:cNvSpPr/>
          <p:nvPr/>
        </p:nvSpPr>
        <p:spPr>
          <a:xfrm>
            <a:off x="2779776" y="4306824"/>
            <a:ext cx="82296" cy="82296"/>
          </a:xfrm>
          <a:prstGeom prst="ellipse">
            <a:avLst/>
          </a:prstGeom>
          <a:solidFill>
            <a:schemeClr val="accent6"/>
          </a:solidFill>
          <a:ln/>
        </p:spPr>
        <p:txBody>
          <a:bodyPr/>
          <a:p/>
        </p:txBody>
      </p:sp>
      <p:sp>
        <p:nvSpPr>
          <p:cNvPr id="26" name="Circle-755"/>
          <p:cNvSpPr/>
          <p:nvPr/>
        </p:nvSpPr>
        <p:spPr>
          <a:xfrm>
            <a:off x="2926080" y="4306824"/>
            <a:ext cx="82296" cy="82296"/>
          </a:xfrm>
          <a:prstGeom prst="ellipse">
            <a:avLst/>
          </a:prstGeom>
          <a:solidFill>
            <a:schemeClr val="accent6"/>
          </a:solidFill>
          <a:ln/>
        </p:spPr>
        <p:txBody>
          <a:bodyPr/>
          <a:p/>
        </p:txBody>
      </p:sp>
      <p:sp>
        <p:nvSpPr>
          <p:cNvPr id="27" name="Text-756"/>
          <p:cNvSpPr txBox="1"/>
          <p:nvPr/>
        </p:nvSpPr>
        <p:spPr>
          <a:xfrm>
            <a:off x="713232" y="4590288"/>
            <a:ext cx="2322576" cy="329184"/>
          </a:xfrm>
          <a:prstGeom prst="rect">
            <a:avLst/>
          </a:prstGeom>
          <a:noFill/>
          <a:ln/>
        </p:spPr>
        <p:txBody>
          <a:bodyPr wrap="square" lIns="0" tIns="0" rIns="0" bIns="0" rtlCol="0" anchor="t"/>
          <a:lstStyle/>
          <a:p>
            <a:pPr indent="0" marL="0">
              <a:buNone/>
            </a:pPr>
            <a:r>
              <a:rPr lang="en-US" sz="1100" b="1" dirty="0">
                <a:solidFill>
                  <a:schemeClr val="tx2"/>
                </a:solidFill>
              </a:rPr>
              <a:t>Value label</a:t>
            </a:r>
            <a:endParaRPr lang="en-US" sz="1100" dirty="0"/>
          </a:p>
        </p:txBody>
      </p:sp>
      <p:sp>
        <p:nvSpPr>
          <p:cNvPr id="28" name="Chip-757"/>
          <p:cNvSpPr/>
          <p:nvPr/>
        </p:nvSpPr>
        <p:spPr>
          <a:xfrm>
            <a:off x="713232" y="4882896"/>
            <a:ext cx="525780" cy="384048"/>
          </a:xfrm>
          <a:prstGeom prst="roundRect">
            <a:avLst>
              <a:gd name="adj" fmla="val 14286"/>
            </a:avLst>
          </a:prstGeom>
          <a:solidFill>
            <a:schemeClr val="accent4"/>
          </a:solidFill>
          <a:ln/>
        </p:spPr>
        <p:txBody>
          <a:bodyPr/>
          <a:p/>
        </p:txBody>
      </p:sp>
      <p:sp>
        <p:nvSpPr>
          <p:cNvPr id="29" name="Text-758"/>
          <p:cNvSpPr txBox="1"/>
          <p:nvPr/>
        </p:nvSpPr>
        <p:spPr>
          <a:xfrm>
            <a:off x="713232" y="4882896"/>
            <a:ext cx="525780" cy="384048"/>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30" name="Chip-759"/>
          <p:cNvSpPr/>
          <p:nvPr/>
        </p:nvSpPr>
        <p:spPr>
          <a:xfrm>
            <a:off x="1312164" y="4882896"/>
            <a:ext cx="525780" cy="384048"/>
          </a:xfrm>
          <a:prstGeom prst="roundRect">
            <a:avLst>
              <a:gd name="adj" fmla="val 14286"/>
            </a:avLst>
          </a:prstGeom>
          <a:solidFill>
            <a:schemeClr val="accent4">
              <a:alpha val="35000"/>
            </a:schemeClr>
          </a:solidFill>
          <a:ln/>
        </p:spPr>
        <p:txBody>
          <a:bodyPr/>
          <a:p/>
        </p:txBody>
      </p:sp>
      <p:sp>
        <p:nvSpPr>
          <p:cNvPr id="31" name="Text-760"/>
          <p:cNvSpPr txBox="1"/>
          <p:nvPr/>
        </p:nvSpPr>
        <p:spPr>
          <a:xfrm>
            <a:off x="1312164" y="4882896"/>
            <a:ext cx="525780" cy="384048"/>
          </a:xfrm>
          <a:prstGeom prst="rect">
            <a:avLst/>
          </a:prstGeom>
          <a:noFill/>
          <a:ln/>
        </p:spPr>
        <p:txBody>
          <a:bodyPr wrap="square" lIns="0" tIns="0" rIns="0" bIns="0" rtlCol="0" anchor="ctr"/>
          <a:lstStyle/>
          <a:p>
            <a:pPr algn="ctr" indent="0" marL="0">
              <a:buNone/>
            </a:pPr>
            <a:r>
              <a:rPr lang="en-US" sz="1200" b="1" dirty="0">
                <a:solidFill>
                  <a:schemeClr val="tx2"/>
                </a:solidFill>
              </a:rPr>
              <a:t>B</a:t>
            </a:r>
            <a:endParaRPr lang="en-US" sz="1200" dirty="0"/>
          </a:p>
        </p:txBody>
      </p:sp>
      <p:sp>
        <p:nvSpPr>
          <p:cNvPr id="32" name="Chip-761"/>
          <p:cNvSpPr/>
          <p:nvPr/>
        </p:nvSpPr>
        <p:spPr>
          <a:xfrm>
            <a:off x="1911096" y="4882896"/>
            <a:ext cx="525780" cy="384048"/>
          </a:xfrm>
          <a:prstGeom prst="roundRect">
            <a:avLst>
              <a:gd name="adj" fmla="val 14286"/>
            </a:avLst>
          </a:prstGeom>
          <a:solidFill>
            <a:schemeClr val="accent2">
              <a:alpha val="35000"/>
            </a:schemeClr>
          </a:solidFill>
          <a:ln/>
        </p:spPr>
        <p:txBody>
          <a:bodyPr/>
          <a:p/>
        </p:txBody>
      </p:sp>
      <p:sp>
        <p:nvSpPr>
          <p:cNvPr id="33" name="Text-762"/>
          <p:cNvSpPr txBox="1"/>
          <p:nvPr/>
        </p:nvSpPr>
        <p:spPr>
          <a:xfrm>
            <a:off x="1911096" y="4882896"/>
            <a:ext cx="525780" cy="384048"/>
          </a:xfrm>
          <a:prstGeom prst="rect">
            <a:avLst/>
          </a:prstGeom>
          <a:noFill/>
          <a:ln/>
        </p:spPr>
        <p:txBody>
          <a:bodyPr wrap="square" lIns="0" tIns="0" rIns="0" bIns="0" rtlCol="0" anchor="ctr"/>
          <a:lstStyle/>
          <a:p>
            <a:pPr algn="ctr" indent="0" marL="0">
              <a:buNone/>
            </a:pPr>
            <a:r>
              <a:rPr lang="en-US" sz="1200" b="1" dirty="0">
                <a:solidFill>
                  <a:schemeClr val="tx2"/>
                </a:solidFill>
              </a:rPr>
              <a:t>C</a:t>
            </a:r>
            <a:endParaRPr lang="en-US" sz="1200" dirty="0"/>
          </a:p>
        </p:txBody>
      </p:sp>
      <p:sp>
        <p:nvSpPr>
          <p:cNvPr id="34" name="Chip-763"/>
          <p:cNvSpPr/>
          <p:nvPr/>
        </p:nvSpPr>
        <p:spPr>
          <a:xfrm>
            <a:off x="2510028" y="4882896"/>
            <a:ext cx="525780" cy="384048"/>
          </a:xfrm>
          <a:prstGeom prst="roundRect">
            <a:avLst>
              <a:gd name="adj" fmla="val 14286"/>
            </a:avLst>
          </a:prstGeom>
          <a:solidFill>
            <a:schemeClr val="accent3">
              <a:alpha val="35000"/>
            </a:schemeClr>
          </a:solidFill>
          <a:ln/>
        </p:spPr>
        <p:txBody>
          <a:bodyPr/>
          <a:p/>
        </p:txBody>
      </p:sp>
      <p:sp>
        <p:nvSpPr>
          <p:cNvPr id="35" name="Text-764"/>
          <p:cNvSpPr txBox="1"/>
          <p:nvPr/>
        </p:nvSpPr>
        <p:spPr>
          <a:xfrm>
            <a:off x="2510028" y="4882896"/>
            <a:ext cx="525780" cy="384048"/>
          </a:xfrm>
          <a:prstGeom prst="rect">
            <a:avLst/>
          </a:prstGeom>
          <a:noFill/>
          <a:ln/>
        </p:spPr>
        <p:txBody>
          <a:bodyPr wrap="square" lIns="0" tIns="0" rIns="0" bIns="0" rtlCol="0" anchor="ctr"/>
          <a:lstStyle/>
          <a:p>
            <a:pPr algn="ctr" indent="0" marL="0">
              <a:buNone/>
            </a:pPr>
            <a:r>
              <a:rPr lang="en-US" sz="1200" b="1" dirty="0">
                <a:solidFill>
                  <a:schemeClr val="tx2"/>
                </a:solidFill>
              </a:rPr>
              <a:t>D</a:t>
            </a:r>
            <a:endParaRPr lang="en-US" sz="1200" dirty="0"/>
          </a:p>
        </p:txBody>
      </p:sp>
      <p:sp>
        <p:nvSpPr>
          <p:cNvPr id="36" name="Text-765"/>
          <p:cNvSpPr txBox="1"/>
          <p:nvPr/>
        </p:nvSpPr>
        <p:spPr>
          <a:xfrm>
            <a:off x="713232" y="5358384"/>
            <a:ext cx="2322576" cy="274320"/>
          </a:xfrm>
          <a:prstGeom prst="rect">
            <a:avLst/>
          </a:prstGeom>
          <a:noFill/>
          <a:ln/>
        </p:spPr>
        <p:txBody>
          <a:bodyPr wrap="square" lIns="0" tIns="0" rIns="0" bIns="0" rtlCol="0" anchor="t"/>
          <a:lstStyle/>
          <a:p>
            <a:pPr indent="0" marL="0">
              <a:buNone/>
            </a:pPr>
            <a:r>
              <a:rPr lang="en-US" sz="1000" i="1" dirty="0">
                <a:solidFill>
                  <a:schemeClr val="accent6"/>
                </a:solidFill>
              </a:rPr>
              <a:t>Method in one click</a:t>
            </a:r>
            <a:endParaRPr lang="en-US" sz="1000" dirty="0"/>
          </a:p>
        </p:txBody>
      </p:sp>
      <p:sp>
        <p:nvSpPr>
          <p:cNvPr id="37" name="Circle-766"/>
          <p:cNvSpPr/>
          <p:nvPr/>
        </p:nvSpPr>
        <p:spPr>
          <a:xfrm>
            <a:off x="3353105" y="1463040"/>
            <a:ext cx="411480" cy="411480"/>
          </a:xfrm>
          <a:prstGeom prst="ellipse">
            <a:avLst/>
          </a:prstGeom>
          <a:solidFill>
            <a:schemeClr val="accent1"/>
          </a:solidFill>
          <a:ln/>
        </p:spPr>
        <p:txBody>
          <a:bodyPr/>
          <a:p/>
        </p:txBody>
      </p:sp>
      <p:sp>
        <p:nvSpPr>
          <p:cNvPr id="38" name="Text-767"/>
          <p:cNvSpPr txBox="1"/>
          <p:nvPr/>
        </p:nvSpPr>
        <p:spPr>
          <a:xfrm>
            <a:off x="3353105" y="146304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TF</a:t>
            </a:r>
            <a:endParaRPr lang="en-US" sz="1100" dirty="0"/>
          </a:p>
        </p:txBody>
      </p:sp>
      <p:sp>
        <p:nvSpPr>
          <p:cNvPr id="39" name="Text-768"/>
          <p:cNvSpPr txBox="1"/>
          <p:nvPr/>
        </p:nvSpPr>
        <p:spPr>
          <a:xfrm>
            <a:off x="3856025" y="1463040"/>
            <a:ext cx="2103120" cy="411480"/>
          </a:xfrm>
          <a:prstGeom prst="rect">
            <a:avLst/>
          </a:prstGeom>
          <a:noFill/>
          <a:ln/>
        </p:spPr>
        <p:txBody>
          <a:bodyPr wrap="square" lIns="0" tIns="0" rIns="0" bIns="0" rtlCol="0" anchor="ctr"/>
          <a:lstStyle/>
          <a:p>
            <a:pPr indent="0" marL="0">
              <a:buNone/>
            </a:pPr>
            <a:r>
              <a:rPr lang="en-US" sz="1400" b="1" dirty="0">
                <a:solidFill>
                  <a:schemeClr val="tx2"/>
                </a:solidFill>
              </a:rPr>
              <a:t>Tobias Frei</a:t>
            </a:r>
            <a:endParaRPr lang="en-US" sz="1400" dirty="0"/>
          </a:p>
        </p:txBody>
      </p:sp>
      <p:sp>
        <p:nvSpPr>
          <p:cNvPr id="40" name="Panel-769"/>
          <p:cNvSpPr/>
          <p:nvPr/>
        </p:nvSpPr>
        <p:spPr>
          <a:xfrm>
            <a:off x="3353105" y="2057400"/>
            <a:ext cx="2651760" cy="1965960"/>
          </a:xfrm>
          <a:prstGeom prst="roundRect">
            <a:avLst>
              <a:gd name="adj" fmla="val 1860"/>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41" name="PanelBar-770"/>
          <p:cNvSpPr/>
          <p:nvPr/>
        </p:nvSpPr>
        <p:spPr>
          <a:xfrm>
            <a:off x="3380537" y="2084832"/>
            <a:ext cx="2596896" cy="237744"/>
          </a:xfrm>
          <a:prstGeom prst="rect">
            <a:avLst/>
          </a:prstGeom>
          <a:solidFill>
            <a:schemeClr val="bg2"/>
          </a:solidFill>
          <a:ln/>
        </p:spPr>
        <p:txBody>
          <a:bodyPr/>
          <a:p/>
        </p:txBody>
      </p:sp>
      <p:sp>
        <p:nvSpPr>
          <p:cNvPr id="42" name="Circle-771"/>
          <p:cNvSpPr/>
          <p:nvPr/>
        </p:nvSpPr>
        <p:spPr>
          <a:xfrm>
            <a:off x="5437937" y="2157984"/>
            <a:ext cx="82296" cy="82296"/>
          </a:xfrm>
          <a:prstGeom prst="ellipse">
            <a:avLst/>
          </a:prstGeom>
          <a:solidFill>
            <a:schemeClr val="accent3"/>
          </a:solidFill>
          <a:ln/>
        </p:spPr>
        <p:txBody>
          <a:bodyPr/>
          <a:p/>
        </p:txBody>
      </p:sp>
      <p:sp>
        <p:nvSpPr>
          <p:cNvPr id="43" name="Circle-772"/>
          <p:cNvSpPr/>
          <p:nvPr/>
        </p:nvSpPr>
        <p:spPr>
          <a:xfrm>
            <a:off x="5584241" y="2157984"/>
            <a:ext cx="82296" cy="82296"/>
          </a:xfrm>
          <a:prstGeom prst="ellipse">
            <a:avLst/>
          </a:prstGeom>
          <a:solidFill>
            <a:schemeClr val="accent6"/>
          </a:solidFill>
          <a:ln/>
        </p:spPr>
        <p:txBody>
          <a:bodyPr/>
          <a:p/>
        </p:txBody>
      </p:sp>
      <p:sp>
        <p:nvSpPr>
          <p:cNvPr id="44" name="Circle-773"/>
          <p:cNvSpPr/>
          <p:nvPr/>
        </p:nvSpPr>
        <p:spPr>
          <a:xfrm>
            <a:off x="5730545" y="2157984"/>
            <a:ext cx="82296" cy="82296"/>
          </a:xfrm>
          <a:prstGeom prst="ellipse">
            <a:avLst/>
          </a:prstGeom>
          <a:solidFill>
            <a:schemeClr val="accent6"/>
          </a:solidFill>
          <a:ln/>
        </p:spPr>
        <p:txBody>
          <a:bodyPr/>
          <a:p/>
        </p:txBody>
      </p:sp>
      <p:sp>
        <p:nvSpPr>
          <p:cNvPr id="45" name="Text-774"/>
          <p:cNvSpPr txBox="1"/>
          <p:nvPr/>
        </p:nvSpPr>
        <p:spPr>
          <a:xfrm>
            <a:off x="3517697" y="2441448"/>
            <a:ext cx="2322576" cy="329184"/>
          </a:xfrm>
          <a:prstGeom prst="rect">
            <a:avLst/>
          </a:prstGeom>
          <a:noFill/>
          <a:ln/>
        </p:spPr>
        <p:txBody>
          <a:bodyPr wrap="square" lIns="0" tIns="0" rIns="0" bIns="0" rtlCol="0" anchor="t"/>
          <a:lstStyle/>
          <a:p>
            <a:pPr indent="0" marL="0">
              <a:buNone/>
            </a:pPr>
            <a:r>
              <a:rPr lang="en-US" sz="1100" b="1" dirty="0">
                <a:solidFill>
                  <a:schemeClr val="tx2"/>
                </a:solidFill>
              </a:rPr>
              <a:t>Your year with Lumen</a:t>
            </a:r>
            <a:endParaRPr lang="en-US" sz="1100" dirty="0"/>
          </a:p>
        </p:txBody>
      </p:sp>
      <p:sp>
        <p:nvSpPr>
          <p:cNvPr id="46" name="Text-775"/>
          <p:cNvSpPr txBox="1"/>
          <p:nvPr/>
        </p:nvSpPr>
        <p:spPr>
          <a:xfrm>
            <a:off x="3517697" y="2734056"/>
            <a:ext cx="2322576" cy="438912"/>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138 articles</a:t>
            </a:r>
            <a:endParaRPr lang="en-US" sz="1800" dirty="0"/>
          </a:p>
        </p:txBody>
      </p:sp>
      <p:sp>
        <p:nvSpPr>
          <p:cNvPr id="47" name="Text-776"/>
          <p:cNvSpPr txBox="1"/>
          <p:nvPr/>
        </p:nvSpPr>
        <p:spPr>
          <a:xfrm>
            <a:off x="3517697" y="3063240"/>
            <a:ext cx="2322576" cy="384048"/>
          </a:xfrm>
          <a:prstGeom prst="rect">
            <a:avLst/>
          </a:prstGeom>
          <a:noFill/>
          <a:ln/>
        </p:spPr>
        <p:txBody>
          <a:bodyPr wrap="square" lIns="0" tIns="0" rIns="0" bIns="0" rtlCol="0" anchor="t"/>
          <a:lstStyle/>
          <a:p>
            <a:pPr indent="0" marL="0">
              <a:buNone/>
            </a:pPr>
            <a:r>
              <a:rPr lang="en-US" sz="1000" dirty="0">
                <a:solidFill>
                  <a:schemeClr val="accent6"/>
                </a:solidFill>
              </a:rPr>
              <a:t>+17% on last year</a:t>
            </a:r>
            <a:endParaRPr lang="en-US" sz="1000" dirty="0"/>
          </a:p>
        </p:txBody>
      </p:sp>
      <p:sp>
        <p:nvSpPr>
          <p:cNvPr id="48" name="Panel-777"/>
          <p:cNvSpPr/>
          <p:nvPr/>
        </p:nvSpPr>
        <p:spPr>
          <a:xfrm>
            <a:off x="3353105" y="4206240"/>
            <a:ext cx="2651760" cy="1965960"/>
          </a:xfrm>
          <a:prstGeom prst="roundRect">
            <a:avLst>
              <a:gd name="adj" fmla="val 1860"/>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49" name="PanelBar-778"/>
          <p:cNvSpPr/>
          <p:nvPr/>
        </p:nvSpPr>
        <p:spPr>
          <a:xfrm>
            <a:off x="3380537" y="4233672"/>
            <a:ext cx="2596896" cy="237744"/>
          </a:xfrm>
          <a:prstGeom prst="rect">
            <a:avLst/>
          </a:prstGeom>
          <a:solidFill>
            <a:schemeClr val="bg2"/>
          </a:solidFill>
          <a:ln/>
        </p:spPr>
        <p:txBody>
          <a:bodyPr/>
          <a:p/>
        </p:txBody>
      </p:sp>
      <p:sp>
        <p:nvSpPr>
          <p:cNvPr id="50" name="Circle-779"/>
          <p:cNvSpPr/>
          <p:nvPr/>
        </p:nvSpPr>
        <p:spPr>
          <a:xfrm>
            <a:off x="5437937" y="4306824"/>
            <a:ext cx="82296" cy="82296"/>
          </a:xfrm>
          <a:prstGeom prst="ellipse">
            <a:avLst/>
          </a:prstGeom>
          <a:solidFill>
            <a:schemeClr val="accent3"/>
          </a:solidFill>
          <a:ln/>
        </p:spPr>
        <p:txBody>
          <a:bodyPr/>
          <a:p/>
        </p:txBody>
      </p:sp>
      <p:sp>
        <p:nvSpPr>
          <p:cNvPr id="51" name="Circle-780"/>
          <p:cNvSpPr/>
          <p:nvPr/>
        </p:nvSpPr>
        <p:spPr>
          <a:xfrm>
            <a:off x="5584241" y="4306824"/>
            <a:ext cx="82296" cy="82296"/>
          </a:xfrm>
          <a:prstGeom prst="ellipse">
            <a:avLst/>
          </a:prstGeom>
          <a:solidFill>
            <a:schemeClr val="accent6"/>
          </a:solidFill>
          <a:ln/>
        </p:spPr>
        <p:txBody>
          <a:bodyPr/>
          <a:p/>
        </p:txBody>
      </p:sp>
      <p:sp>
        <p:nvSpPr>
          <p:cNvPr id="52" name="Circle-781"/>
          <p:cNvSpPr/>
          <p:nvPr/>
        </p:nvSpPr>
        <p:spPr>
          <a:xfrm>
            <a:off x="5730545" y="4306824"/>
            <a:ext cx="82296" cy="82296"/>
          </a:xfrm>
          <a:prstGeom prst="ellipse">
            <a:avLst/>
          </a:prstGeom>
          <a:solidFill>
            <a:schemeClr val="accent6"/>
          </a:solidFill>
          <a:ln/>
        </p:spPr>
        <p:txBody>
          <a:bodyPr/>
          <a:p/>
        </p:txBody>
      </p:sp>
      <p:sp>
        <p:nvSpPr>
          <p:cNvPr id="53" name="Text-782"/>
          <p:cNvSpPr txBox="1"/>
          <p:nvPr/>
        </p:nvSpPr>
        <p:spPr>
          <a:xfrm>
            <a:off x="3517697" y="4590288"/>
            <a:ext cx="2322576" cy="329184"/>
          </a:xfrm>
          <a:prstGeom prst="rect">
            <a:avLst/>
          </a:prstGeom>
          <a:noFill/>
          <a:ln/>
        </p:spPr>
        <p:txBody>
          <a:bodyPr wrap="square" lIns="0" tIns="0" rIns="0" bIns="0" rtlCol="0" anchor="t"/>
          <a:lstStyle/>
          <a:p>
            <a:pPr indent="0" marL="0">
              <a:buNone/>
            </a:pPr>
            <a:r>
              <a:rPr lang="en-US" sz="1100" b="1" dirty="0">
                <a:solidFill>
                  <a:schemeClr val="tx2"/>
                </a:solidFill>
              </a:rPr>
              <a:t>Slide in university branding</a:t>
            </a:r>
            <a:endParaRPr lang="en-US" sz="1100" dirty="0"/>
          </a:p>
        </p:txBody>
      </p:sp>
      <p:sp>
        <p:nvSpPr>
          <p:cNvPr id="54" name="Line-783"/>
          <p:cNvSpPr/>
          <p:nvPr/>
        </p:nvSpPr>
        <p:spPr>
          <a:xfrm>
            <a:off x="3517697" y="4928616"/>
            <a:ext cx="2206447" cy="54864"/>
          </a:xfrm>
          <a:prstGeom prst="rect">
            <a:avLst/>
          </a:prstGeom>
          <a:solidFill>
            <a:srgbClr val="C9D5D8"/>
          </a:solidFill>
          <a:ln/>
        </p:spPr>
        <p:txBody>
          <a:bodyPr/>
          <a:p/>
        </p:txBody>
      </p:sp>
      <p:sp>
        <p:nvSpPr>
          <p:cNvPr id="55" name="Line-784"/>
          <p:cNvSpPr/>
          <p:nvPr/>
        </p:nvSpPr>
        <p:spPr>
          <a:xfrm>
            <a:off x="3517697" y="5065776"/>
            <a:ext cx="1858061" cy="54864"/>
          </a:xfrm>
          <a:prstGeom prst="rect">
            <a:avLst/>
          </a:prstGeom>
          <a:solidFill>
            <a:srgbClr val="C9D5D8"/>
          </a:solidFill>
          <a:ln/>
        </p:spPr>
        <p:txBody>
          <a:bodyPr/>
          <a:p/>
        </p:txBody>
      </p:sp>
      <p:sp>
        <p:nvSpPr>
          <p:cNvPr id="56" name="Line-785"/>
          <p:cNvSpPr/>
          <p:nvPr/>
        </p:nvSpPr>
        <p:spPr>
          <a:xfrm>
            <a:off x="3517697" y="5202936"/>
            <a:ext cx="2090318" cy="54864"/>
          </a:xfrm>
          <a:prstGeom prst="rect">
            <a:avLst/>
          </a:prstGeom>
          <a:solidFill>
            <a:srgbClr val="C9D5D8"/>
          </a:solidFill>
          <a:ln/>
        </p:spPr>
        <p:txBody>
          <a:bodyPr/>
          <a:p/>
        </p:txBody>
      </p:sp>
      <p:sp>
        <p:nvSpPr>
          <p:cNvPr id="57" name="Button-786"/>
          <p:cNvSpPr/>
          <p:nvPr/>
        </p:nvSpPr>
        <p:spPr>
          <a:xfrm>
            <a:off x="3517697" y="5404104"/>
            <a:ext cx="2322576" cy="274320"/>
          </a:xfrm>
          <a:prstGeom prst="roundRect">
            <a:avLst>
              <a:gd name="adj" fmla="val 33333"/>
            </a:avLst>
          </a:prstGeom>
          <a:solidFill>
            <a:schemeClr val="accent1"/>
          </a:solidFill>
          <a:ln/>
        </p:spPr>
        <p:txBody>
          <a:bodyPr/>
          <a:p/>
        </p:txBody>
      </p:sp>
      <p:sp>
        <p:nvSpPr>
          <p:cNvPr id="58" name="Text-787"/>
          <p:cNvSpPr txBox="1"/>
          <p:nvPr/>
        </p:nvSpPr>
        <p:spPr>
          <a:xfrm>
            <a:off x="3517697" y="5404104"/>
            <a:ext cx="2322576" cy="274320"/>
          </a:xfrm>
          <a:prstGeom prst="rect">
            <a:avLst/>
          </a:prstGeom>
          <a:noFill/>
          <a:ln/>
        </p:spPr>
        <p:txBody>
          <a:bodyPr wrap="square" lIns="0" tIns="0" rIns="0" bIns="0" rtlCol="0" anchor="ctr"/>
          <a:lstStyle/>
          <a:p>
            <a:pPr algn="ctr" indent="0" marL="0">
              <a:buNone/>
            </a:pPr>
            <a:r>
              <a:rPr lang="en-US" sz="1000" b="1" dirty="0">
                <a:solidFill>
                  <a:schemeClr val="bg1"/>
                </a:solidFill>
              </a:rPr>
              <a:t>Download as PPTX</a:t>
            </a:r>
            <a:endParaRPr lang="en-US" sz="1000" dirty="0"/>
          </a:p>
        </p:txBody>
      </p:sp>
      <p:sp>
        <p:nvSpPr>
          <p:cNvPr id="59" name="Circle-788"/>
          <p:cNvSpPr/>
          <p:nvPr/>
        </p:nvSpPr>
        <p:spPr>
          <a:xfrm>
            <a:off x="6157570" y="1463040"/>
            <a:ext cx="411480" cy="411480"/>
          </a:xfrm>
          <a:prstGeom prst="ellipse">
            <a:avLst/>
          </a:prstGeom>
          <a:solidFill>
            <a:schemeClr val="accent1"/>
          </a:solidFill>
          <a:ln/>
        </p:spPr>
        <p:txBody>
          <a:bodyPr/>
          <a:p/>
        </p:txBody>
      </p:sp>
      <p:sp>
        <p:nvSpPr>
          <p:cNvPr id="60" name="Text-789"/>
          <p:cNvSpPr txBox="1"/>
          <p:nvPr/>
        </p:nvSpPr>
        <p:spPr>
          <a:xfrm>
            <a:off x="6157570" y="146304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NK</a:t>
            </a:r>
            <a:endParaRPr lang="en-US" sz="1100" dirty="0"/>
          </a:p>
        </p:txBody>
      </p:sp>
      <p:sp>
        <p:nvSpPr>
          <p:cNvPr id="61" name="Text-790"/>
          <p:cNvSpPr txBox="1"/>
          <p:nvPr/>
        </p:nvSpPr>
        <p:spPr>
          <a:xfrm>
            <a:off x="6660490" y="1463040"/>
            <a:ext cx="2103120" cy="411480"/>
          </a:xfrm>
          <a:prstGeom prst="rect">
            <a:avLst/>
          </a:prstGeom>
          <a:noFill/>
          <a:ln/>
        </p:spPr>
        <p:txBody>
          <a:bodyPr wrap="square" lIns="0" tIns="0" rIns="0" bIns="0" rtlCol="0" anchor="ctr"/>
          <a:lstStyle/>
          <a:p>
            <a:pPr indent="0" marL="0">
              <a:buNone/>
            </a:pPr>
            <a:r>
              <a:rPr lang="en-US" sz="1400" b="1" dirty="0">
                <a:solidFill>
                  <a:schemeClr val="tx2"/>
                </a:solidFill>
              </a:rPr>
              <a:t>Nina Kovač</a:t>
            </a:r>
            <a:endParaRPr lang="en-US" sz="1400" dirty="0"/>
          </a:p>
        </p:txBody>
      </p:sp>
      <p:sp>
        <p:nvSpPr>
          <p:cNvPr id="62" name="Panel-791"/>
          <p:cNvSpPr/>
          <p:nvPr/>
        </p:nvSpPr>
        <p:spPr>
          <a:xfrm>
            <a:off x="6157570" y="2057400"/>
            <a:ext cx="2651760" cy="1965960"/>
          </a:xfrm>
          <a:prstGeom prst="roundRect">
            <a:avLst>
              <a:gd name="adj" fmla="val 1860"/>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63" name="PanelBar-792"/>
          <p:cNvSpPr/>
          <p:nvPr/>
        </p:nvSpPr>
        <p:spPr>
          <a:xfrm>
            <a:off x="6185002" y="2084832"/>
            <a:ext cx="2596896" cy="237744"/>
          </a:xfrm>
          <a:prstGeom prst="rect">
            <a:avLst/>
          </a:prstGeom>
          <a:solidFill>
            <a:schemeClr val="bg2"/>
          </a:solidFill>
          <a:ln/>
        </p:spPr>
        <p:txBody>
          <a:bodyPr/>
          <a:p/>
        </p:txBody>
      </p:sp>
      <p:sp>
        <p:nvSpPr>
          <p:cNvPr id="64" name="Circle-793"/>
          <p:cNvSpPr/>
          <p:nvPr/>
        </p:nvSpPr>
        <p:spPr>
          <a:xfrm>
            <a:off x="8242402" y="2157984"/>
            <a:ext cx="82296" cy="82296"/>
          </a:xfrm>
          <a:prstGeom prst="ellipse">
            <a:avLst/>
          </a:prstGeom>
          <a:solidFill>
            <a:schemeClr val="accent3"/>
          </a:solidFill>
          <a:ln/>
        </p:spPr>
        <p:txBody>
          <a:bodyPr/>
          <a:p/>
        </p:txBody>
      </p:sp>
      <p:sp>
        <p:nvSpPr>
          <p:cNvPr id="65" name="Circle-794"/>
          <p:cNvSpPr/>
          <p:nvPr/>
        </p:nvSpPr>
        <p:spPr>
          <a:xfrm>
            <a:off x="8388706" y="2157984"/>
            <a:ext cx="82296" cy="82296"/>
          </a:xfrm>
          <a:prstGeom prst="ellipse">
            <a:avLst/>
          </a:prstGeom>
          <a:solidFill>
            <a:schemeClr val="accent6"/>
          </a:solidFill>
          <a:ln/>
        </p:spPr>
        <p:txBody>
          <a:bodyPr/>
          <a:p/>
        </p:txBody>
      </p:sp>
      <p:sp>
        <p:nvSpPr>
          <p:cNvPr id="66" name="Circle-795"/>
          <p:cNvSpPr/>
          <p:nvPr/>
        </p:nvSpPr>
        <p:spPr>
          <a:xfrm>
            <a:off x="8535010" y="2157984"/>
            <a:ext cx="82296" cy="82296"/>
          </a:xfrm>
          <a:prstGeom prst="ellipse">
            <a:avLst/>
          </a:prstGeom>
          <a:solidFill>
            <a:schemeClr val="accent6"/>
          </a:solidFill>
          <a:ln/>
        </p:spPr>
        <p:txBody>
          <a:bodyPr/>
          <a:p/>
        </p:txBody>
      </p:sp>
      <p:sp>
        <p:nvSpPr>
          <p:cNvPr id="67" name="Text-796"/>
          <p:cNvSpPr txBox="1"/>
          <p:nvPr/>
        </p:nvSpPr>
        <p:spPr>
          <a:xfrm>
            <a:off x="6322162" y="2441448"/>
            <a:ext cx="2322576" cy="329184"/>
          </a:xfrm>
          <a:prstGeom prst="rect">
            <a:avLst/>
          </a:prstGeom>
          <a:noFill/>
          <a:ln/>
        </p:spPr>
        <p:txBody>
          <a:bodyPr wrap="square" lIns="0" tIns="0" rIns="0" bIns="0" rtlCol="0" anchor="t"/>
          <a:lstStyle/>
          <a:p>
            <a:pPr indent="0" marL="0">
              <a:buNone/>
            </a:pPr>
            <a:r>
              <a:rPr lang="en-US" sz="1100" b="1" dirty="0">
                <a:solidFill>
                  <a:schemeClr val="tx2"/>
                </a:solidFill>
              </a:rPr>
              <a:t>Inbox: your IPP month</a:t>
            </a:r>
            <a:endParaRPr lang="en-US" sz="1100" dirty="0"/>
          </a:p>
        </p:txBody>
      </p:sp>
      <p:sp>
        <p:nvSpPr>
          <p:cNvPr id="68" name="Line-797"/>
          <p:cNvSpPr/>
          <p:nvPr/>
        </p:nvSpPr>
        <p:spPr>
          <a:xfrm>
            <a:off x="6322162" y="2779776"/>
            <a:ext cx="2206447" cy="54864"/>
          </a:xfrm>
          <a:prstGeom prst="rect">
            <a:avLst/>
          </a:prstGeom>
          <a:solidFill>
            <a:srgbClr val="C9D5D8"/>
          </a:solidFill>
          <a:ln/>
        </p:spPr>
        <p:txBody>
          <a:bodyPr/>
          <a:p/>
        </p:txBody>
      </p:sp>
      <p:sp>
        <p:nvSpPr>
          <p:cNvPr id="69" name="Line-798"/>
          <p:cNvSpPr/>
          <p:nvPr/>
        </p:nvSpPr>
        <p:spPr>
          <a:xfrm>
            <a:off x="6322162" y="2916936"/>
            <a:ext cx="1858061" cy="54864"/>
          </a:xfrm>
          <a:prstGeom prst="rect">
            <a:avLst/>
          </a:prstGeom>
          <a:solidFill>
            <a:srgbClr val="C9D5D8"/>
          </a:solidFill>
          <a:ln/>
        </p:spPr>
        <p:txBody>
          <a:bodyPr/>
          <a:p/>
        </p:txBody>
      </p:sp>
      <p:sp>
        <p:nvSpPr>
          <p:cNvPr id="70" name="Line-799"/>
          <p:cNvSpPr/>
          <p:nvPr/>
        </p:nvSpPr>
        <p:spPr>
          <a:xfrm>
            <a:off x="6322162" y="3054096"/>
            <a:ext cx="2090318" cy="54864"/>
          </a:xfrm>
          <a:prstGeom prst="rect">
            <a:avLst/>
          </a:prstGeom>
          <a:solidFill>
            <a:srgbClr val="C9D5D8"/>
          </a:solidFill>
          <a:ln/>
        </p:spPr>
        <p:txBody>
          <a:bodyPr/>
          <a:p/>
        </p:txBody>
      </p:sp>
      <p:sp>
        <p:nvSpPr>
          <p:cNvPr id="71" name="Button-800"/>
          <p:cNvSpPr/>
          <p:nvPr/>
        </p:nvSpPr>
        <p:spPr>
          <a:xfrm>
            <a:off x="6322162" y="3255264"/>
            <a:ext cx="2322576" cy="274320"/>
          </a:xfrm>
          <a:prstGeom prst="roundRect">
            <a:avLst>
              <a:gd name="adj" fmla="val 33333"/>
            </a:avLst>
          </a:prstGeom>
          <a:solidFill>
            <a:schemeClr val="accent1"/>
          </a:solidFill>
          <a:ln/>
        </p:spPr>
        <p:txBody>
          <a:bodyPr/>
          <a:p/>
        </p:txBody>
      </p:sp>
      <p:sp>
        <p:nvSpPr>
          <p:cNvPr id="72" name="Text-801"/>
          <p:cNvSpPr txBox="1"/>
          <p:nvPr/>
        </p:nvSpPr>
        <p:spPr>
          <a:xfrm>
            <a:off x="6322162" y="3255264"/>
            <a:ext cx="2322576" cy="274320"/>
          </a:xfrm>
          <a:prstGeom prst="rect">
            <a:avLst/>
          </a:prstGeom>
          <a:noFill/>
          <a:ln/>
        </p:spPr>
        <p:txBody>
          <a:bodyPr wrap="square" lIns="0" tIns="0" rIns="0" bIns="0" rtlCol="0" anchor="ctr"/>
          <a:lstStyle/>
          <a:p>
            <a:pPr algn="ctr" indent="0" marL="0">
              <a:buNone/>
            </a:pPr>
            <a:r>
              <a:rPr lang="en-US" sz="1000" b="1" dirty="0">
                <a:solidFill>
                  <a:schemeClr val="bg1"/>
                </a:solidFill>
              </a:rPr>
              <a:t>View details</a:t>
            </a:r>
            <a:endParaRPr lang="en-US" sz="1000" dirty="0"/>
          </a:p>
        </p:txBody>
      </p:sp>
      <p:sp>
        <p:nvSpPr>
          <p:cNvPr id="73" name="Panel-802"/>
          <p:cNvSpPr/>
          <p:nvPr/>
        </p:nvSpPr>
        <p:spPr>
          <a:xfrm>
            <a:off x="6157570" y="4206240"/>
            <a:ext cx="2651760" cy="1965960"/>
          </a:xfrm>
          <a:prstGeom prst="roundRect">
            <a:avLst>
              <a:gd name="adj" fmla="val 1860"/>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74" name="PanelBar-803"/>
          <p:cNvSpPr/>
          <p:nvPr/>
        </p:nvSpPr>
        <p:spPr>
          <a:xfrm>
            <a:off x="6185002" y="4233672"/>
            <a:ext cx="2596896" cy="237744"/>
          </a:xfrm>
          <a:prstGeom prst="rect">
            <a:avLst/>
          </a:prstGeom>
          <a:solidFill>
            <a:schemeClr val="bg2"/>
          </a:solidFill>
          <a:ln/>
        </p:spPr>
        <p:txBody>
          <a:bodyPr/>
          <a:p/>
        </p:txBody>
      </p:sp>
      <p:sp>
        <p:nvSpPr>
          <p:cNvPr id="75" name="Circle-804"/>
          <p:cNvSpPr/>
          <p:nvPr/>
        </p:nvSpPr>
        <p:spPr>
          <a:xfrm>
            <a:off x="8242402" y="4306824"/>
            <a:ext cx="82296" cy="82296"/>
          </a:xfrm>
          <a:prstGeom prst="ellipse">
            <a:avLst/>
          </a:prstGeom>
          <a:solidFill>
            <a:schemeClr val="accent3"/>
          </a:solidFill>
          <a:ln/>
        </p:spPr>
        <p:txBody>
          <a:bodyPr/>
          <a:p/>
        </p:txBody>
      </p:sp>
      <p:sp>
        <p:nvSpPr>
          <p:cNvPr id="76" name="Circle-805"/>
          <p:cNvSpPr/>
          <p:nvPr/>
        </p:nvSpPr>
        <p:spPr>
          <a:xfrm>
            <a:off x="8388706" y="4306824"/>
            <a:ext cx="82296" cy="82296"/>
          </a:xfrm>
          <a:prstGeom prst="ellipse">
            <a:avLst/>
          </a:prstGeom>
          <a:solidFill>
            <a:schemeClr val="accent6"/>
          </a:solidFill>
          <a:ln/>
        </p:spPr>
        <p:txBody>
          <a:bodyPr/>
          <a:p/>
        </p:txBody>
      </p:sp>
      <p:sp>
        <p:nvSpPr>
          <p:cNvPr id="77" name="Circle-806"/>
          <p:cNvSpPr/>
          <p:nvPr/>
        </p:nvSpPr>
        <p:spPr>
          <a:xfrm>
            <a:off x="8535010" y="4306824"/>
            <a:ext cx="82296" cy="82296"/>
          </a:xfrm>
          <a:prstGeom prst="ellipse">
            <a:avLst/>
          </a:prstGeom>
          <a:solidFill>
            <a:schemeClr val="accent6"/>
          </a:solidFill>
          <a:ln/>
        </p:spPr>
        <p:txBody>
          <a:bodyPr/>
          <a:p/>
        </p:txBody>
      </p:sp>
      <p:sp>
        <p:nvSpPr>
          <p:cNvPr id="78" name="Text-807"/>
          <p:cNvSpPr txBox="1"/>
          <p:nvPr/>
        </p:nvSpPr>
        <p:spPr>
          <a:xfrm>
            <a:off x="6322162" y="4590288"/>
            <a:ext cx="2322576" cy="329184"/>
          </a:xfrm>
          <a:prstGeom prst="rect">
            <a:avLst/>
          </a:prstGeom>
          <a:noFill/>
          <a:ln/>
        </p:spPr>
        <p:txBody>
          <a:bodyPr wrap="square" lIns="0" tIns="0" rIns="0" bIns="0" rtlCol="0" anchor="t"/>
          <a:lstStyle/>
          <a:p>
            <a:pPr indent="0" marL="0">
              <a:buNone/>
            </a:pPr>
            <a:r>
              <a:rPr lang="en-US" sz="1100" b="1" dirty="0">
                <a:solidFill>
                  <a:schemeClr val="tx2"/>
                </a:solidFill>
              </a:rPr>
              <a:t>Renewal countdown</a:t>
            </a:r>
            <a:endParaRPr lang="en-US" sz="1100" dirty="0"/>
          </a:p>
        </p:txBody>
      </p:sp>
      <p:sp>
        <p:nvSpPr>
          <p:cNvPr id="79" name="Text-808"/>
          <p:cNvSpPr txBox="1"/>
          <p:nvPr/>
        </p:nvSpPr>
        <p:spPr>
          <a:xfrm>
            <a:off x="6322162" y="4882896"/>
            <a:ext cx="2322576" cy="438912"/>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90 days</a:t>
            </a:r>
            <a:endParaRPr lang="en-US" sz="1800" dirty="0"/>
          </a:p>
        </p:txBody>
      </p:sp>
      <p:sp>
        <p:nvSpPr>
          <p:cNvPr id="80" name="Text-809"/>
          <p:cNvSpPr txBox="1"/>
          <p:nvPr/>
        </p:nvSpPr>
        <p:spPr>
          <a:xfrm>
            <a:off x="6322162" y="5212080"/>
            <a:ext cx="2322576" cy="384048"/>
          </a:xfrm>
          <a:prstGeom prst="rect">
            <a:avLst/>
          </a:prstGeom>
          <a:noFill/>
          <a:ln/>
        </p:spPr>
        <p:txBody>
          <a:bodyPr wrap="square" lIns="0" tIns="0" rIns="0" bIns="0" rtlCol="0" anchor="t"/>
          <a:lstStyle/>
          <a:p>
            <a:pPr indent="0" marL="0">
              <a:buNone/>
            </a:pPr>
            <a:r>
              <a:rPr lang="en-US" sz="1000" dirty="0">
                <a:solidFill>
                  <a:schemeClr val="accent6"/>
                </a:solidFill>
              </a:rPr>
              <a:t>until the agreement ends – send the kit?</a:t>
            </a:r>
            <a:endParaRPr lang="en-US" sz="1000" dirty="0"/>
          </a:p>
        </p:txBody>
      </p:sp>
      <p:sp>
        <p:nvSpPr>
          <p:cNvPr id="81" name="Circle-810"/>
          <p:cNvSpPr/>
          <p:nvPr/>
        </p:nvSpPr>
        <p:spPr>
          <a:xfrm>
            <a:off x="8962034" y="1463040"/>
            <a:ext cx="411480" cy="411480"/>
          </a:xfrm>
          <a:prstGeom prst="ellipse">
            <a:avLst/>
          </a:prstGeom>
          <a:solidFill>
            <a:schemeClr val="accent1"/>
          </a:solidFill>
          <a:ln/>
        </p:spPr>
        <p:txBody>
          <a:bodyPr/>
          <a:p/>
        </p:txBody>
      </p:sp>
      <p:sp>
        <p:nvSpPr>
          <p:cNvPr id="82" name="Text-811"/>
          <p:cNvSpPr txBox="1"/>
          <p:nvPr/>
        </p:nvSpPr>
        <p:spPr>
          <a:xfrm>
            <a:off x="8962034" y="146304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SO</a:t>
            </a:r>
            <a:endParaRPr lang="en-US" sz="1100" dirty="0"/>
          </a:p>
        </p:txBody>
      </p:sp>
      <p:sp>
        <p:nvSpPr>
          <p:cNvPr id="83" name="Text-812"/>
          <p:cNvSpPr txBox="1"/>
          <p:nvPr/>
        </p:nvSpPr>
        <p:spPr>
          <a:xfrm>
            <a:off x="9464954" y="1463040"/>
            <a:ext cx="2103120" cy="411480"/>
          </a:xfrm>
          <a:prstGeom prst="rect">
            <a:avLst/>
          </a:prstGeom>
          <a:noFill/>
          <a:ln/>
        </p:spPr>
        <p:txBody>
          <a:bodyPr wrap="square" lIns="0" tIns="0" rIns="0" bIns="0" rtlCol="0" anchor="ctr"/>
          <a:lstStyle/>
          <a:p>
            <a:pPr indent="0" marL="0">
              <a:buNone/>
            </a:pPr>
            <a:r>
              <a:rPr lang="en-US" sz="1400" b="1" dirty="0">
                <a:solidFill>
                  <a:schemeClr val="tx2"/>
                </a:solidFill>
              </a:rPr>
              <a:t>Samuel Ott</a:t>
            </a:r>
            <a:endParaRPr lang="en-US" sz="1400" dirty="0"/>
          </a:p>
        </p:txBody>
      </p:sp>
      <p:sp>
        <p:nvSpPr>
          <p:cNvPr id="84" name="Panel-813"/>
          <p:cNvSpPr/>
          <p:nvPr/>
        </p:nvSpPr>
        <p:spPr>
          <a:xfrm>
            <a:off x="8962034" y="2057400"/>
            <a:ext cx="2651760" cy="1965960"/>
          </a:xfrm>
          <a:prstGeom prst="roundRect">
            <a:avLst>
              <a:gd name="adj" fmla="val 1860"/>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85" name="PanelBar-814"/>
          <p:cNvSpPr/>
          <p:nvPr/>
        </p:nvSpPr>
        <p:spPr>
          <a:xfrm>
            <a:off x="8989466" y="2084832"/>
            <a:ext cx="2596896" cy="237744"/>
          </a:xfrm>
          <a:prstGeom prst="rect">
            <a:avLst/>
          </a:prstGeom>
          <a:solidFill>
            <a:schemeClr val="bg2"/>
          </a:solidFill>
          <a:ln/>
        </p:spPr>
        <p:txBody>
          <a:bodyPr/>
          <a:p/>
        </p:txBody>
      </p:sp>
      <p:sp>
        <p:nvSpPr>
          <p:cNvPr id="86" name="Circle-815"/>
          <p:cNvSpPr/>
          <p:nvPr/>
        </p:nvSpPr>
        <p:spPr>
          <a:xfrm>
            <a:off x="11046866" y="2157984"/>
            <a:ext cx="82296" cy="82296"/>
          </a:xfrm>
          <a:prstGeom prst="ellipse">
            <a:avLst/>
          </a:prstGeom>
          <a:solidFill>
            <a:schemeClr val="accent3"/>
          </a:solidFill>
          <a:ln/>
        </p:spPr>
        <p:txBody>
          <a:bodyPr/>
          <a:p/>
        </p:txBody>
      </p:sp>
      <p:sp>
        <p:nvSpPr>
          <p:cNvPr id="87" name="Circle-816"/>
          <p:cNvSpPr/>
          <p:nvPr/>
        </p:nvSpPr>
        <p:spPr>
          <a:xfrm>
            <a:off x="11193170" y="2157984"/>
            <a:ext cx="82296" cy="82296"/>
          </a:xfrm>
          <a:prstGeom prst="ellipse">
            <a:avLst/>
          </a:prstGeom>
          <a:solidFill>
            <a:schemeClr val="accent6"/>
          </a:solidFill>
          <a:ln/>
        </p:spPr>
        <p:txBody>
          <a:bodyPr/>
          <a:p/>
        </p:txBody>
      </p:sp>
      <p:sp>
        <p:nvSpPr>
          <p:cNvPr id="88" name="Circle-817"/>
          <p:cNvSpPr/>
          <p:nvPr/>
        </p:nvSpPr>
        <p:spPr>
          <a:xfrm>
            <a:off x="11339474" y="2157984"/>
            <a:ext cx="82296" cy="82296"/>
          </a:xfrm>
          <a:prstGeom prst="ellipse">
            <a:avLst/>
          </a:prstGeom>
          <a:solidFill>
            <a:schemeClr val="accent6"/>
          </a:solidFill>
          <a:ln/>
        </p:spPr>
        <p:txBody>
          <a:bodyPr/>
          <a:p/>
        </p:txBody>
      </p:sp>
      <p:sp>
        <p:nvSpPr>
          <p:cNvPr id="89" name="Text-818"/>
          <p:cNvSpPr txBox="1"/>
          <p:nvPr/>
        </p:nvSpPr>
        <p:spPr>
          <a:xfrm>
            <a:off x="9126626" y="2441448"/>
            <a:ext cx="2322576" cy="329184"/>
          </a:xfrm>
          <a:prstGeom prst="rect">
            <a:avLst/>
          </a:prstGeom>
          <a:noFill/>
          <a:ln/>
        </p:spPr>
        <p:txBody>
          <a:bodyPr wrap="square" lIns="0" tIns="0" rIns="0" bIns="0" rtlCol="0" anchor="t"/>
          <a:lstStyle/>
          <a:p>
            <a:pPr indent="0" marL="0">
              <a:buNone/>
            </a:pPr>
            <a:r>
              <a:rPr lang="en-US" sz="1100" b="1" dirty="0">
                <a:solidFill>
                  <a:schemeClr val="tx2"/>
                </a:solidFill>
              </a:rPr>
              <a:t>Compliance traffic light</a:t>
            </a:r>
            <a:endParaRPr lang="en-US" sz="1100" dirty="0"/>
          </a:p>
        </p:txBody>
      </p:sp>
      <p:sp>
        <p:nvSpPr>
          <p:cNvPr id="90" name="Circle-819"/>
          <p:cNvSpPr/>
          <p:nvPr/>
        </p:nvSpPr>
        <p:spPr>
          <a:xfrm>
            <a:off x="9126626" y="2798064"/>
            <a:ext cx="182880" cy="182880"/>
          </a:xfrm>
          <a:prstGeom prst="ellipse">
            <a:avLst/>
          </a:prstGeom>
          <a:solidFill>
            <a:schemeClr val="accent4"/>
          </a:solidFill>
          <a:ln/>
        </p:spPr>
        <p:txBody>
          <a:bodyPr/>
          <a:p/>
        </p:txBody>
      </p:sp>
      <p:sp>
        <p:nvSpPr>
          <p:cNvPr id="91" name="Text-820"/>
          <p:cNvSpPr txBox="1"/>
          <p:nvPr/>
        </p:nvSpPr>
        <p:spPr>
          <a:xfrm>
            <a:off x="9400946" y="2734056"/>
            <a:ext cx="1439997" cy="310896"/>
          </a:xfrm>
          <a:prstGeom prst="rect">
            <a:avLst/>
          </a:prstGeom>
          <a:noFill/>
          <a:ln/>
        </p:spPr>
        <p:txBody>
          <a:bodyPr wrap="square" lIns="0" tIns="0" rIns="0" bIns="0" rtlCol="0" anchor="ctr"/>
          <a:lstStyle/>
          <a:p>
            <a:pPr indent="0" marL="0">
              <a:buNone/>
            </a:pPr>
            <a:r>
              <a:rPr lang="en-US" sz="1000" dirty="0">
                <a:solidFill>
                  <a:schemeClr val="tx1"/>
                </a:solidFill>
              </a:rPr>
              <a:t>OA strategy</a:t>
            </a:r>
            <a:endParaRPr lang="en-US" sz="1000" dirty="0"/>
          </a:p>
        </p:txBody>
      </p:sp>
      <p:sp>
        <p:nvSpPr>
          <p:cNvPr id="92" name="Text-821"/>
          <p:cNvSpPr txBox="1"/>
          <p:nvPr/>
        </p:nvSpPr>
        <p:spPr>
          <a:xfrm>
            <a:off x="10566624" y="2734056"/>
            <a:ext cx="882579" cy="310896"/>
          </a:xfrm>
          <a:prstGeom prst="rect">
            <a:avLst/>
          </a:prstGeom>
          <a:noFill/>
          <a:ln/>
        </p:spPr>
        <p:txBody>
          <a:bodyPr wrap="square" lIns="0" tIns="0" rIns="0" bIns="0" rtlCol="0" anchor="ctr"/>
          <a:lstStyle/>
          <a:p>
            <a:pPr algn="r" indent="0" marL="0">
              <a:buNone/>
            </a:pPr>
            <a:r>
              <a:rPr lang="en-US" sz="1000" b="1" dirty="0">
                <a:solidFill>
                  <a:schemeClr val="tx2"/>
                </a:solidFill>
              </a:rPr>
              <a:t>100%</a:t>
            </a:r>
            <a:endParaRPr lang="en-US" sz="1000" dirty="0"/>
          </a:p>
        </p:txBody>
      </p:sp>
      <p:sp>
        <p:nvSpPr>
          <p:cNvPr id="93" name="Circle-822"/>
          <p:cNvSpPr/>
          <p:nvPr/>
        </p:nvSpPr>
        <p:spPr>
          <a:xfrm>
            <a:off x="9126626" y="3145536"/>
            <a:ext cx="182880" cy="182880"/>
          </a:xfrm>
          <a:prstGeom prst="ellipse">
            <a:avLst/>
          </a:prstGeom>
          <a:solidFill>
            <a:schemeClr val="accent4"/>
          </a:solidFill>
          <a:ln/>
        </p:spPr>
        <p:txBody>
          <a:bodyPr/>
          <a:p/>
        </p:txBody>
      </p:sp>
      <p:sp>
        <p:nvSpPr>
          <p:cNvPr id="94" name="Text-823"/>
          <p:cNvSpPr txBox="1"/>
          <p:nvPr/>
        </p:nvSpPr>
        <p:spPr>
          <a:xfrm>
            <a:off x="9400946" y="3081528"/>
            <a:ext cx="1439997" cy="310896"/>
          </a:xfrm>
          <a:prstGeom prst="rect">
            <a:avLst/>
          </a:prstGeom>
          <a:noFill/>
          <a:ln/>
        </p:spPr>
        <p:txBody>
          <a:bodyPr wrap="square" lIns="0" tIns="0" rIns="0" bIns="0" rtlCol="0" anchor="ctr"/>
          <a:lstStyle/>
          <a:p>
            <a:pPr indent="0" marL="0">
              <a:buNone/>
            </a:pPr>
            <a:r>
              <a:rPr lang="en-US" sz="1000" dirty="0">
                <a:solidFill>
                  <a:schemeClr val="tx1"/>
                </a:solidFill>
              </a:rPr>
              <a:t>Funders</a:t>
            </a:r>
            <a:endParaRPr lang="en-US" sz="1000" dirty="0"/>
          </a:p>
        </p:txBody>
      </p:sp>
      <p:sp>
        <p:nvSpPr>
          <p:cNvPr id="95" name="Text-824"/>
          <p:cNvSpPr txBox="1"/>
          <p:nvPr/>
        </p:nvSpPr>
        <p:spPr>
          <a:xfrm>
            <a:off x="10566624" y="3081528"/>
            <a:ext cx="882579" cy="310896"/>
          </a:xfrm>
          <a:prstGeom prst="rect">
            <a:avLst/>
          </a:prstGeom>
          <a:noFill/>
          <a:ln/>
        </p:spPr>
        <p:txBody>
          <a:bodyPr wrap="square" lIns="0" tIns="0" rIns="0" bIns="0" rtlCol="0" anchor="ctr"/>
          <a:lstStyle/>
          <a:p>
            <a:pPr algn="r" indent="0" marL="0">
              <a:buNone/>
            </a:pPr>
            <a:r>
              <a:rPr lang="en-US" sz="1000" b="1" dirty="0">
                <a:solidFill>
                  <a:schemeClr val="tx2"/>
                </a:solidFill>
              </a:rPr>
              <a:t>93%</a:t>
            </a:r>
            <a:endParaRPr lang="en-US" sz="1000" dirty="0"/>
          </a:p>
        </p:txBody>
      </p:sp>
      <p:sp>
        <p:nvSpPr>
          <p:cNvPr id="96" name="Circle-825"/>
          <p:cNvSpPr/>
          <p:nvPr/>
        </p:nvSpPr>
        <p:spPr>
          <a:xfrm>
            <a:off x="9126626" y="3493008"/>
            <a:ext cx="182880" cy="182880"/>
          </a:xfrm>
          <a:prstGeom prst="ellipse">
            <a:avLst/>
          </a:prstGeom>
          <a:solidFill>
            <a:schemeClr val="accent2"/>
          </a:solidFill>
          <a:ln/>
        </p:spPr>
        <p:txBody>
          <a:bodyPr/>
          <a:p/>
        </p:txBody>
      </p:sp>
      <p:sp>
        <p:nvSpPr>
          <p:cNvPr id="97" name="Text-826"/>
          <p:cNvSpPr txBox="1"/>
          <p:nvPr/>
        </p:nvSpPr>
        <p:spPr>
          <a:xfrm>
            <a:off x="9400946" y="3429000"/>
            <a:ext cx="1439997" cy="310896"/>
          </a:xfrm>
          <a:prstGeom prst="rect">
            <a:avLst/>
          </a:prstGeom>
          <a:noFill/>
          <a:ln/>
        </p:spPr>
        <p:txBody>
          <a:bodyPr wrap="square" lIns="0" tIns="0" rIns="0" bIns="0" rtlCol="0" anchor="ctr"/>
          <a:lstStyle/>
          <a:p>
            <a:pPr indent="0" marL="0">
              <a:buNone/>
            </a:pPr>
            <a:r>
              <a:rPr lang="en-US" sz="1000" dirty="0">
                <a:solidFill>
                  <a:schemeClr val="tx1"/>
                </a:solidFill>
              </a:rPr>
              <a:t>Open Data</a:t>
            </a:r>
            <a:endParaRPr lang="en-US" sz="1000" dirty="0"/>
          </a:p>
        </p:txBody>
      </p:sp>
      <p:sp>
        <p:nvSpPr>
          <p:cNvPr id="98" name="Text-827"/>
          <p:cNvSpPr txBox="1"/>
          <p:nvPr/>
        </p:nvSpPr>
        <p:spPr>
          <a:xfrm>
            <a:off x="10566624" y="3429000"/>
            <a:ext cx="882579" cy="310896"/>
          </a:xfrm>
          <a:prstGeom prst="rect">
            <a:avLst/>
          </a:prstGeom>
          <a:noFill/>
          <a:ln/>
        </p:spPr>
        <p:txBody>
          <a:bodyPr wrap="square" lIns="0" tIns="0" rIns="0" bIns="0" rtlCol="0" anchor="ctr"/>
          <a:lstStyle/>
          <a:p>
            <a:pPr algn="r" indent="0" marL="0">
              <a:buNone/>
            </a:pPr>
            <a:r>
              <a:rPr lang="en-US" sz="1000" b="1" dirty="0">
                <a:solidFill>
                  <a:schemeClr val="tx2"/>
                </a:solidFill>
              </a:rPr>
              <a:t>58%</a:t>
            </a:r>
            <a:endParaRPr lang="en-US" sz="1000" dirty="0"/>
          </a:p>
        </p:txBody>
      </p:sp>
      <p:sp>
        <p:nvSpPr>
          <p:cNvPr id="99" name="Panel-828"/>
          <p:cNvSpPr/>
          <p:nvPr/>
        </p:nvSpPr>
        <p:spPr>
          <a:xfrm>
            <a:off x="8962034" y="4206240"/>
            <a:ext cx="2651760" cy="1965960"/>
          </a:xfrm>
          <a:prstGeom prst="roundRect">
            <a:avLst>
              <a:gd name="adj" fmla="val 1860"/>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100" name="PanelBar-829"/>
          <p:cNvSpPr/>
          <p:nvPr/>
        </p:nvSpPr>
        <p:spPr>
          <a:xfrm>
            <a:off x="8989466" y="4233672"/>
            <a:ext cx="2596896" cy="237744"/>
          </a:xfrm>
          <a:prstGeom prst="rect">
            <a:avLst/>
          </a:prstGeom>
          <a:solidFill>
            <a:schemeClr val="bg2"/>
          </a:solidFill>
          <a:ln/>
        </p:spPr>
        <p:txBody>
          <a:bodyPr/>
          <a:p/>
        </p:txBody>
      </p:sp>
      <p:sp>
        <p:nvSpPr>
          <p:cNvPr id="101" name="Circle-830"/>
          <p:cNvSpPr/>
          <p:nvPr/>
        </p:nvSpPr>
        <p:spPr>
          <a:xfrm>
            <a:off x="11046866" y="4306824"/>
            <a:ext cx="82296" cy="82296"/>
          </a:xfrm>
          <a:prstGeom prst="ellipse">
            <a:avLst/>
          </a:prstGeom>
          <a:solidFill>
            <a:schemeClr val="accent3"/>
          </a:solidFill>
          <a:ln/>
        </p:spPr>
        <p:txBody>
          <a:bodyPr/>
          <a:p/>
        </p:txBody>
      </p:sp>
      <p:sp>
        <p:nvSpPr>
          <p:cNvPr id="102" name="Circle-831"/>
          <p:cNvSpPr/>
          <p:nvPr/>
        </p:nvSpPr>
        <p:spPr>
          <a:xfrm>
            <a:off x="11193170" y="4306824"/>
            <a:ext cx="82296" cy="82296"/>
          </a:xfrm>
          <a:prstGeom prst="ellipse">
            <a:avLst/>
          </a:prstGeom>
          <a:solidFill>
            <a:schemeClr val="accent6"/>
          </a:solidFill>
          <a:ln/>
        </p:spPr>
        <p:txBody>
          <a:bodyPr/>
          <a:p/>
        </p:txBody>
      </p:sp>
      <p:sp>
        <p:nvSpPr>
          <p:cNvPr id="103" name="Circle-832"/>
          <p:cNvSpPr/>
          <p:nvPr/>
        </p:nvSpPr>
        <p:spPr>
          <a:xfrm>
            <a:off x="11339474" y="4306824"/>
            <a:ext cx="82296" cy="82296"/>
          </a:xfrm>
          <a:prstGeom prst="ellipse">
            <a:avLst/>
          </a:prstGeom>
          <a:solidFill>
            <a:schemeClr val="accent6"/>
          </a:solidFill>
          <a:ln/>
        </p:spPr>
        <p:txBody>
          <a:bodyPr/>
          <a:p/>
        </p:txBody>
      </p:sp>
      <p:sp>
        <p:nvSpPr>
          <p:cNvPr id="104" name="Text-833"/>
          <p:cNvSpPr txBox="1"/>
          <p:nvPr/>
        </p:nvSpPr>
        <p:spPr>
          <a:xfrm>
            <a:off x="9126626" y="4590288"/>
            <a:ext cx="2322576" cy="329184"/>
          </a:xfrm>
          <a:prstGeom prst="rect">
            <a:avLst/>
          </a:prstGeom>
          <a:noFill/>
          <a:ln/>
        </p:spPr>
        <p:txBody>
          <a:bodyPr wrap="square" lIns="0" tIns="0" rIns="0" bIns="0" rtlCol="0" anchor="t"/>
          <a:lstStyle/>
          <a:p>
            <a:pPr indent="0" marL="0">
              <a:buNone/>
            </a:pPr>
            <a:r>
              <a:rPr lang="en-US" sz="1100" b="1" dirty="0">
                <a:solidFill>
                  <a:schemeClr val="tx2"/>
                </a:solidFill>
              </a:rPr>
              <a:t>Method pop-up</a:t>
            </a:r>
            <a:endParaRPr lang="en-US" sz="1100" dirty="0"/>
          </a:p>
        </p:txBody>
      </p:sp>
      <p:sp>
        <p:nvSpPr>
          <p:cNvPr id="105" name="Text-834"/>
          <p:cNvSpPr txBox="1"/>
          <p:nvPr/>
        </p:nvSpPr>
        <p:spPr>
          <a:xfrm>
            <a:off x="9126626" y="4882896"/>
            <a:ext cx="2322576" cy="685800"/>
          </a:xfrm>
          <a:prstGeom prst="rect">
            <a:avLst/>
          </a:prstGeom>
          <a:noFill/>
          <a:ln/>
        </p:spPr>
        <p:txBody>
          <a:bodyPr wrap="square" lIns="0" tIns="0" rIns="0" bIns="0" rtlCol="0" anchor="t"/>
          <a:lstStyle/>
          <a:p>
            <a:pPr indent="0" marL="0">
              <a:buNone/>
            </a:pPr>
            <a:r>
              <a:rPr lang="en-US" sz="1000" i="1" dirty="0">
                <a:solidFill>
                  <a:schemeClr val="accent6"/>
                </a:solidFill>
              </a:rPr>
              <a:t>Savings = list price − paid. Source: Manuscripta invoices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3.5 · CRAZY 8S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Eight variations in eight minutes</a:t>
            </a:r>
            <a:endParaRPr lang="en-US" sz="3200" dirty="0"/>
          </a:p>
        </p:txBody>
      </p:sp>
      <p:sp>
        <p:nvSpPr>
          <p:cNvPr id="4" name="Circle-835"/>
          <p:cNvSpPr/>
          <p:nvPr/>
        </p:nvSpPr>
        <p:spPr>
          <a:xfrm>
            <a:off x="548640" y="1755648"/>
            <a:ext cx="502920" cy="502920"/>
          </a:xfrm>
          <a:prstGeom prst="ellipse">
            <a:avLst/>
          </a:prstGeom>
          <a:solidFill>
            <a:schemeClr val="accent3"/>
          </a:solidFill>
          <a:ln/>
        </p:spPr>
        <p:txBody>
          <a:bodyPr/>
          <a:p/>
        </p:txBody>
      </p:sp>
      <p:sp>
        <p:nvSpPr>
          <p:cNvPr id="5" name="Text-836"/>
          <p:cNvSpPr txBox="1"/>
          <p:nvPr/>
        </p:nvSpPr>
        <p:spPr>
          <a:xfrm>
            <a:off x="548640" y="1755648"/>
            <a:ext cx="502920" cy="502920"/>
          </a:xfrm>
          <a:prstGeom prst="rect">
            <a:avLst/>
          </a:prstGeom>
          <a:noFill/>
          <a:ln/>
        </p:spPr>
        <p:txBody>
          <a:bodyPr wrap="square" lIns="0" tIns="0" rIns="0" bIns="0" rtlCol="0" anchor="ctr"/>
          <a:lstStyle/>
          <a:p>
            <a:pPr algn="ctr" indent="0" marL="0">
              <a:buNone/>
            </a:pPr>
            <a:r>
              <a:rPr lang="en-US" sz="1200" b="1" dirty="0">
                <a:solidFill>
                  <a:schemeClr val="bg1"/>
                </a:solidFill>
              </a:rPr>
              <a:t>CI</a:t>
            </a:r>
            <a:endParaRPr lang="en-US" sz="1200" dirty="0"/>
          </a:p>
        </p:txBody>
      </p:sp>
      <p:sp>
        <p:nvSpPr>
          <p:cNvPr id="6" name="Text-837"/>
          <p:cNvSpPr txBox="1"/>
          <p:nvPr/>
        </p:nvSpPr>
        <p:spPr>
          <a:xfrm>
            <a:off x="548640" y="2286000"/>
            <a:ext cx="1188720" cy="274320"/>
          </a:xfrm>
          <a:prstGeom prst="rect">
            <a:avLst/>
          </a:prstGeom>
          <a:noFill/>
          <a:ln/>
        </p:spPr>
        <p:txBody>
          <a:bodyPr wrap="square" lIns="0" tIns="0" rIns="0" bIns="0" rtlCol="0" anchor="t"/>
          <a:lstStyle/>
          <a:p>
            <a:pPr indent="0" marL="0">
              <a:buNone/>
            </a:pPr>
            <a:r>
              <a:rPr lang="en-US" sz="1100" b="1" dirty="0">
                <a:solidFill>
                  <a:schemeClr val="tx2"/>
                </a:solidFill>
              </a:rPr>
              <a:t>Clara</a:t>
            </a:r>
            <a:endParaRPr lang="en-US" sz="1100" dirty="0"/>
          </a:p>
        </p:txBody>
      </p:sp>
      <p:sp>
        <p:nvSpPr>
          <p:cNvPr id="7" name="Frame-838"/>
          <p:cNvSpPr/>
          <p:nvPr/>
        </p:nvSpPr>
        <p:spPr>
          <a:xfrm>
            <a:off x="1938528" y="1481328"/>
            <a:ext cx="1143000" cy="1097280"/>
          </a:xfrm>
          <a:prstGeom prst="roundRect">
            <a:avLst>
              <a:gd name="adj" fmla="val 2500"/>
            </a:avLst>
          </a:prstGeom>
          <a:solidFill>
            <a:schemeClr val="bg1"/>
          </a:solidFill>
          <a:ln w="31750">
            <a:solidFill>
              <a:srgbClr val="E4572E"/>
            </a:solidFill>
            <a:prstDash val="solid"/>
          </a:ln>
        </p:spPr>
        <p:txBody>
          <a:bodyPr/>
          <a:p/>
        </p:txBody>
      </p:sp>
      <p:sp>
        <p:nvSpPr>
          <p:cNvPr id="8" name="Text-839"/>
          <p:cNvSpPr txBox="1"/>
          <p:nvPr/>
        </p:nvSpPr>
        <p:spPr>
          <a:xfrm>
            <a:off x="1993392" y="1517904"/>
            <a:ext cx="274320" cy="201168"/>
          </a:xfrm>
          <a:prstGeom prst="rect">
            <a:avLst/>
          </a:prstGeom>
          <a:noFill/>
          <a:ln/>
        </p:spPr>
        <p:txBody>
          <a:bodyPr wrap="square" lIns="0" tIns="0" rIns="0" bIns="0" rtlCol="0" anchor="t"/>
          <a:lstStyle/>
          <a:p>
            <a:pPr indent="0" marL="0">
              <a:buNone/>
            </a:pPr>
            <a:r>
              <a:rPr lang="en-US" sz="1000" b="1" dirty="0">
                <a:solidFill>
                  <a:schemeClr val="accent3"/>
                </a:solidFill>
              </a:rPr>
              <a:t>1</a:t>
            </a:r>
            <a:endParaRPr lang="en-US" sz="1000" dirty="0"/>
          </a:p>
        </p:txBody>
      </p:sp>
      <p:sp>
        <p:nvSpPr>
          <p:cNvPr id="9" name="Text-840"/>
          <p:cNvSpPr txBox="1"/>
          <p:nvPr/>
        </p:nvSpPr>
        <p:spPr>
          <a:xfrm>
            <a:off x="1993392" y="171907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Quarterly statement</a:t>
            </a:r>
            <a:endParaRPr lang="en-US" sz="1100" dirty="0"/>
          </a:p>
        </p:txBody>
      </p:sp>
      <p:sp>
        <p:nvSpPr>
          <p:cNvPr id="10" name="Frame-841"/>
          <p:cNvSpPr/>
          <p:nvPr/>
        </p:nvSpPr>
        <p:spPr>
          <a:xfrm>
            <a:off x="3154680" y="1481328"/>
            <a:ext cx="1143000" cy="1097280"/>
          </a:xfrm>
          <a:prstGeom prst="roundRect">
            <a:avLst>
              <a:gd name="adj" fmla="val 2500"/>
            </a:avLst>
          </a:prstGeom>
          <a:solidFill>
            <a:schemeClr val="bg1"/>
          </a:solidFill>
          <a:ln w="12700">
            <a:solidFill>
              <a:srgbClr val="0F3B45"/>
            </a:solidFill>
            <a:prstDash val="solid"/>
          </a:ln>
        </p:spPr>
        <p:txBody>
          <a:bodyPr/>
          <a:p/>
        </p:txBody>
      </p:sp>
      <p:sp>
        <p:nvSpPr>
          <p:cNvPr id="11" name="Text-842"/>
          <p:cNvSpPr txBox="1"/>
          <p:nvPr/>
        </p:nvSpPr>
        <p:spPr>
          <a:xfrm>
            <a:off x="3209544" y="151790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2</a:t>
            </a:r>
            <a:endParaRPr lang="en-US" sz="1000" dirty="0"/>
          </a:p>
        </p:txBody>
      </p:sp>
      <p:sp>
        <p:nvSpPr>
          <p:cNvPr id="12" name="Text-843"/>
          <p:cNvSpPr txBox="1"/>
          <p:nvPr/>
        </p:nvSpPr>
        <p:spPr>
          <a:xfrm>
            <a:off x="3209544" y="171907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Live savings counter</a:t>
            </a:r>
            <a:endParaRPr lang="en-US" sz="1100" dirty="0"/>
          </a:p>
        </p:txBody>
      </p:sp>
      <p:sp>
        <p:nvSpPr>
          <p:cNvPr id="13" name="Frame-844"/>
          <p:cNvSpPr/>
          <p:nvPr/>
        </p:nvSpPr>
        <p:spPr>
          <a:xfrm>
            <a:off x="4370832" y="1481328"/>
            <a:ext cx="1143000" cy="1097280"/>
          </a:xfrm>
          <a:prstGeom prst="roundRect">
            <a:avLst>
              <a:gd name="adj" fmla="val 2500"/>
            </a:avLst>
          </a:prstGeom>
          <a:solidFill>
            <a:schemeClr val="bg1"/>
          </a:solidFill>
          <a:ln w="12700">
            <a:solidFill>
              <a:srgbClr val="0F3B45"/>
            </a:solidFill>
            <a:prstDash val="solid"/>
          </a:ln>
        </p:spPr>
        <p:txBody>
          <a:bodyPr/>
          <a:p/>
        </p:txBody>
      </p:sp>
      <p:sp>
        <p:nvSpPr>
          <p:cNvPr id="14" name="Text-845"/>
          <p:cNvSpPr txBox="1"/>
          <p:nvPr/>
        </p:nvSpPr>
        <p:spPr>
          <a:xfrm>
            <a:off x="4425696" y="151790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3</a:t>
            </a:r>
            <a:endParaRPr lang="en-US" sz="1000" dirty="0"/>
          </a:p>
        </p:txBody>
      </p:sp>
      <p:sp>
        <p:nvSpPr>
          <p:cNvPr id="15" name="Text-846"/>
          <p:cNvSpPr txBox="1"/>
          <p:nvPr/>
        </p:nvSpPr>
        <p:spPr>
          <a:xfrm>
            <a:off x="4425696" y="171907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Cost/article vs. list price</a:t>
            </a:r>
            <a:endParaRPr lang="en-US" sz="1100" dirty="0"/>
          </a:p>
        </p:txBody>
      </p:sp>
      <p:sp>
        <p:nvSpPr>
          <p:cNvPr id="16" name="Frame-847"/>
          <p:cNvSpPr/>
          <p:nvPr/>
        </p:nvSpPr>
        <p:spPr>
          <a:xfrm>
            <a:off x="5586984" y="1481328"/>
            <a:ext cx="1143000" cy="1097280"/>
          </a:xfrm>
          <a:prstGeom prst="roundRect">
            <a:avLst>
              <a:gd name="adj" fmla="val 2500"/>
            </a:avLst>
          </a:prstGeom>
          <a:solidFill>
            <a:schemeClr val="bg1"/>
          </a:solidFill>
          <a:ln w="12700">
            <a:solidFill>
              <a:srgbClr val="0F3B45"/>
            </a:solidFill>
            <a:prstDash val="solid"/>
          </a:ln>
        </p:spPr>
        <p:txBody>
          <a:bodyPr/>
          <a:p/>
        </p:txBody>
      </p:sp>
      <p:sp>
        <p:nvSpPr>
          <p:cNvPr id="17" name="Text-848"/>
          <p:cNvSpPr txBox="1"/>
          <p:nvPr/>
        </p:nvSpPr>
        <p:spPr>
          <a:xfrm>
            <a:off x="5641848" y="151790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4</a:t>
            </a:r>
            <a:endParaRPr lang="en-US" sz="1000" dirty="0"/>
          </a:p>
        </p:txBody>
      </p:sp>
      <p:sp>
        <p:nvSpPr>
          <p:cNvPr id="18" name="Text-849"/>
          <p:cNvSpPr txBox="1"/>
          <p:nvPr/>
        </p:nvSpPr>
        <p:spPr>
          <a:xfrm>
            <a:off x="5641848" y="171907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Value label A–D</a:t>
            </a:r>
            <a:endParaRPr lang="en-US" sz="1100" dirty="0"/>
          </a:p>
        </p:txBody>
      </p:sp>
      <p:sp>
        <p:nvSpPr>
          <p:cNvPr id="19" name="Frame-850"/>
          <p:cNvSpPr/>
          <p:nvPr/>
        </p:nvSpPr>
        <p:spPr>
          <a:xfrm>
            <a:off x="6803136" y="1481328"/>
            <a:ext cx="1143000" cy="1097280"/>
          </a:xfrm>
          <a:prstGeom prst="roundRect">
            <a:avLst>
              <a:gd name="adj" fmla="val 2500"/>
            </a:avLst>
          </a:prstGeom>
          <a:solidFill>
            <a:schemeClr val="bg1"/>
          </a:solidFill>
          <a:ln w="12700">
            <a:solidFill>
              <a:srgbClr val="0F3B45"/>
            </a:solidFill>
            <a:prstDash val="solid"/>
          </a:ln>
        </p:spPr>
        <p:txBody>
          <a:bodyPr/>
          <a:p/>
        </p:txBody>
      </p:sp>
      <p:sp>
        <p:nvSpPr>
          <p:cNvPr id="20" name="Text-851"/>
          <p:cNvSpPr txBox="1"/>
          <p:nvPr/>
        </p:nvSpPr>
        <p:spPr>
          <a:xfrm>
            <a:off x="6858000" y="151790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5</a:t>
            </a:r>
            <a:endParaRPr lang="en-US" sz="1000" dirty="0"/>
          </a:p>
        </p:txBody>
      </p:sp>
      <p:sp>
        <p:nvSpPr>
          <p:cNvPr id="21" name="Text-852"/>
          <p:cNvSpPr txBox="1"/>
          <p:nvPr/>
        </p:nvSpPr>
        <p:spPr>
          <a:xfrm>
            <a:off x="6858000" y="171907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Method link</a:t>
            </a:r>
            <a:endParaRPr lang="en-US" sz="1100" dirty="0"/>
          </a:p>
        </p:txBody>
      </p:sp>
      <p:sp>
        <p:nvSpPr>
          <p:cNvPr id="22" name="Frame-853"/>
          <p:cNvSpPr/>
          <p:nvPr/>
        </p:nvSpPr>
        <p:spPr>
          <a:xfrm>
            <a:off x="8019288" y="1481328"/>
            <a:ext cx="1143000" cy="1097280"/>
          </a:xfrm>
          <a:prstGeom prst="roundRect">
            <a:avLst>
              <a:gd name="adj" fmla="val 2500"/>
            </a:avLst>
          </a:prstGeom>
          <a:solidFill>
            <a:schemeClr val="bg1"/>
          </a:solidFill>
          <a:ln w="12700">
            <a:solidFill>
              <a:srgbClr val="0F3B45"/>
            </a:solidFill>
            <a:prstDash val="solid"/>
          </a:ln>
        </p:spPr>
        <p:txBody>
          <a:bodyPr/>
          <a:p/>
        </p:txBody>
      </p:sp>
      <p:sp>
        <p:nvSpPr>
          <p:cNvPr id="23" name="Text-854"/>
          <p:cNvSpPr txBox="1"/>
          <p:nvPr/>
        </p:nvSpPr>
        <p:spPr>
          <a:xfrm>
            <a:off x="8074152" y="151790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6</a:t>
            </a:r>
            <a:endParaRPr lang="en-US" sz="1000" dirty="0"/>
          </a:p>
        </p:txBody>
      </p:sp>
      <p:sp>
        <p:nvSpPr>
          <p:cNvPr id="24" name="Text-855"/>
          <p:cNvSpPr txBox="1"/>
          <p:nvPr/>
        </p:nvSpPr>
        <p:spPr>
          <a:xfrm>
            <a:off x="8074152" y="171907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Prepayment forecast</a:t>
            </a:r>
            <a:endParaRPr lang="en-US" sz="1100" dirty="0"/>
          </a:p>
        </p:txBody>
      </p:sp>
      <p:sp>
        <p:nvSpPr>
          <p:cNvPr id="25" name="Frame-856"/>
          <p:cNvSpPr/>
          <p:nvPr/>
        </p:nvSpPr>
        <p:spPr>
          <a:xfrm>
            <a:off x="9235440" y="1481328"/>
            <a:ext cx="1143000" cy="1097280"/>
          </a:xfrm>
          <a:prstGeom prst="roundRect">
            <a:avLst>
              <a:gd name="adj" fmla="val 2500"/>
            </a:avLst>
          </a:prstGeom>
          <a:solidFill>
            <a:schemeClr val="bg1"/>
          </a:solidFill>
          <a:ln w="12700">
            <a:solidFill>
              <a:srgbClr val="0F3B45"/>
            </a:solidFill>
            <a:prstDash val="solid"/>
          </a:ln>
        </p:spPr>
        <p:txBody>
          <a:bodyPr/>
          <a:p/>
        </p:txBody>
      </p:sp>
      <p:sp>
        <p:nvSpPr>
          <p:cNvPr id="26" name="Text-857"/>
          <p:cNvSpPr txBox="1"/>
          <p:nvPr/>
        </p:nvSpPr>
        <p:spPr>
          <a:xfrm>
            <a:off x="9290304" y="151790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7</a:t>
            </a:r>
            <a:endParaRPr lang="en-US" sz="1000" dirty="0"/>
          </a:p>
        </p:txBody>
      </p:sp>
      <p:sp>
        <p:nvSpPr>
          <p:cNvPr id="27" name="Text-858"/>
          <p:cNvSpPr txBox="1"/>
          <p:nvPr/>
        </p:nvSpPr>
        <p:spPr>
          <a:xfrm>
            <a:off x="9290304" y="171907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Expansion offer</a:t>
            </a:r>
            <a:endParaRPr lang="en-US" sz="1100" dirty="0"/>
          </a:p>
        </p:txBody>
      </p:sp>
      <p:sp>
        <p:nvSpPr>
          <p:cNvPr id="28" name="Frame-859"/>
          <p:cNvSpPr/>
          <p:nvPr/>
        </p:nvSpPr>
        <p:spPr>
          <a:xfrm>
            <a:off x="10451592" y="1481328"/>
            <a:ext cx="1143000" cy="1097280"/>
          </a:xfrm>
          <a:prstGeom prst="roundRect">
            <a:avLst>
              <a:gd name="adj" fmla="val 2500"/>
            </a:avLst>
          </a:prstGeom>
          <a:solidFill>
            <a:schemeClr val="bg1"/>
          </a:solidFill>
          <a:ln w="12700">
            <a:solidFill>
              <a:srgbClr val="0F3B45"/>
            </a:solidFill>
            <a:prstDash val="solid"/>
          </a:ln>
        </p:spPr>
        <p:txBody>
          <a:bodyPr/>
          <a:p/>
        </p:txBody>
      </p:sp>
      <p:sp>
        <p:nvSpPr>
          <p:cNvPr id="29" name="Text-860"/>
          <p:cNvSpPr txBox="1"/>
          <p:nvPr/>
        </p:nvSpPr>
        <p:spPr>
          <a:xfrm>
            <a:off x="10506456" y="151790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8</a:t>
            </a:r>
            <a:endParaRPr lang="en-US" sz="1000" dirty="0"/>
          </a:p>
        </p:txBody>
      </p:sp>
      <p:sp>
        <p:nvSpPr>
          <p:cNvPr id="30" name="Text-861"/>
          <p:cNvSpPr txBox="1"/>
          <p:nvPr/>
        </p:nvSpPr>
        <p:spPr>
          <a:xfrm>
            <a:off x="10506456" y="171907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One-pager for deciders</a:t>
            </a:r>
            <a:endParaRPr lang="en-US" sz="1100" dirty="0"/>
          </a:p>
        </p:txBody>
      </p:sp>
      <p:sp>
        <p:nvSpPr>
          <p:cNvPr id="31" name="Circle-862"/>
          <p:cNvSpPr/>
          <p:nvPr/>
        </p:nvSpPr>
        <p:spPr>
          <a:xfrm>
            <a:off x="548640" y="2944368"/>
            <a:ext cx="502920" cy="502920"/>
          </a:xfrm>
          <a:prstGeom prst="ellipse">
            <a:avLst/>
          </a:prstGeom>
          <a:solidFill>
            <a:schemeClr val="accent1"/>
          </a:solidFill>
          <a:ln/>
        </p:spPr>
        <p:txBody>
          <a:bodyPr/>
          <a:p/>
        </p:txBody>
      </p:sp>
      <p:sp>
        <p:nvSpPr>
          <p:cNvPr id="32" name="Text-863"/>
          <p:cNvSpPr txBox="1"/>
          <p:nvPr/>
        </p:nvSpPr>
        <p:spPr>
          <a:xfrm>
            <a:off x="548640" y="2944368"/>
            <a:ext cx="502920" cy="502920"/>
          </a:xfrm>
          <a:prstGeom prst="rect">
            <a:avLst/>
          </a:prstGeom>
          <a:noFill/>
          <a:ln/>
        </p:spPr>
        <p:txBody>
          <a:bodyPr wrap="square" lIns="0" tIns="0" rIns="0" bIns="0" rtlCol="0" anchor="ctr"/>
          <a:lstStyle/>
          <a:p>
            <a:pPr algn="ctr" indent="0" marL="0">
              <a:buNone/>
            </a:pPr>
            <a:r>
              <a:rPr lang="en-US" sz="1200" b="1" dirty="0">
                <a:solidFill>
                  <a:schemeClr val="bg1"/>
                </a:solidFill>
              </a:rPr>
              <a:t>TF</a:t>
            </a:r>
            <a:endParaRPr lang="en-US" sz="1200" dirty="0"/>
          </a:p>
        </p:txBody>
      </p:sp>
      <p:sp>
        <p:nvSpPr>
          <p:cNvPr id="33" name="Text-864"/>
          <p:cNvSpPr txBox="1"/>
          <p:nvPr/>
        </p:nvSpPr>
        <p:spPr>
          <a:xfrm>
            <a:off x="548640" y="3474720"/>
            <a:ext cx="1188720" cy="274320"/>
          </a:xfrm>
          <a:prstGeom prst="rect">
            <a:avLst/>
          </a:prstGeom>
          <a:noFill/>
          <a:ln/>
        </p:spPr>
        <p:txBody>
          <a:bodyPr wrap="square" lIns="0" tIns="0" rIns="0" bIns="0" rtlCol="0" anchor="t"/>
          <a:lstStyle/>
          <a:p>
            <a:pPr indent="0" marL="0">
              <a:buNone/>
            </a:pPr>
            <a:r>
              <a:rPr lang="en-US" sz="1100" b="1" dirty="0">
                <a:solidFill>
                  <a:schemeClr val="tx2"/>
                </a:solidFill>
              </a:rPr>
              <a:t>Tobias</a:t>
            </a:r>
            <a:endParaRPr lang="en-US" sz="1100" dirty="0"/>
          </a:p>
        </p:txBody>
      </p:sp>
      <p:sp>
        <p:nvSpPr>
          <p:cNvPr id="34" name="Frame-865"/>
          <p:cNvSpPr/>
          <p:nvPr/>
        </p:nvSpPr>
        <p:spPr>
          <a:xfrm>
            <a:off x="1938528" y="2670048"/>
            <a:ext cx="1143000" cy="1097280"/>
          </a:xfrm>
          <a:prstGeom prst="roundRect">
            <a:avLst>
              <a:gd name="adj" fmla="val 2500"/>
            </a:avLst>
          </a:prstGeom>
          <a:solidFill>
            <a:schemeClr val="bg1"/>
          </a:solidFill>
          <a:ln w="12700">
            <a:solidFill>
              <a:srgbClr val="0F3B45"/>
            </a:solidFill>
            <a:prstDash val="solid"/>
          </a:ln>
        </p:spPr>
        <p:txBody>
          <a:bodyPr/>
          <a:p/>
        </p:txBody>
      </p:sp>
      <p:sp>
        <p:nvSpPr>
          <p:cNvPr id="35" name="Text-866"/>
          <p:cNvSpPr txBox="1"/>
          <p:nvPr/>
        </p:nvSpPr>
        <p:spPr>
          <a:xfrm>
            <a:off x="1993392" y="270662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1</a:t>
            </a:r>
            <a:endParaRPr lang="en-US" sz="1000" dirty="0"/>
          </a:p>
        </p:txBody>
      </p:sp>
      <p:sp>
        <p:nvSpPr>
          <p:cNvPr id="36" name="Text-867"/>
          <p:cNvSpPr txBox="1"/>
          <p:nvPr/>
        </p:nvSpPr>
        <p:spPr>
          <a:xfrm>
            <a:off x="1993392" y="290779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“Wrapped” review</a:t>
            </a:r>
            <a:endParaRPr lang="en-US" sz="1100" dirty="0"/>
          </a:p>
        </p:txBody>
      </p:sp>
      <p:sp>
        <p:nvSpPr>
          <p:cNvPr id="37" name="Frame-868"/>
          <p:cNvSpPr/>
          <p:nvPr/>
        </p:nvSpPr>
        <p:spPr>
          <a:xfrm>
            <a:off x="3154680" y="2670048"/>
            <a:ext cx="1143000" cy="1097280"/>
          </a:xfrm>
          <a:prstGeom prst="roundRect">
            <a:avLst>
              <a:gd name="adj" fmla="val 2500"/>
            </a:avLst>
          </a:prstGeom>
          <a:solidFill>
            <a:schemeClr val="bg1"/>
          </a:solidFill>
          <a:ln w="12700">
            <a:solidFill>
              <a:srgbClr val="0F3B45"/>
            </a:solidFill>
            <a:prstDash val="solid"/>
          </a:ln>
        </p:spPr>
        <p:txBody>
          <a:bodyPr/>
          <a:p/>
        </p:txBody>
      </p:sp>
      <p:sp>
        <p:nvSpPr>
          <p:cNvPr id="38" name="Text-869"/>
          <p:cNvSpPr txBox="1"/>
          <p:nvPr/>
        </p:nvSpPr>
        <p:spPr>
          <a:xfrm>
            <a:off x="3209544" y="270662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2</a:t>
            </a:r>
            <a:endParaRPr lang="en-US" sz="1000" dirty="0"/>
          </a:p>
        </p:txBody>
      </p:sp>
      <p:sp>
        <p:nvSpPr>
          <p:cNvPr id="39" name="Text-870"/>
          <p:cNvSpPr txBox="1"/>
          <p:nvPr/>
        </p:nvSpPr>
        <p:spPr>
          <a:xfrm>
            <a:off x="3209544" y="290779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Slide in university branding</a:t>
            </a:r>
            <a:endParaRPr lang="en-US" sz="1100" dirty="0"/>
          </a:p>
        </p:txBody>
      </p:sp>
      <p:sp>
        <p:nvSpPr>
          <p:cNvPr id="40" name="Frame-871"/>
          <p:cNvSpPr/>
          <p:nvPr/>
        </p:nvSpPr>
        <p:spPr>
          <a:xfrm>
            <a:off x="4370832" y="2670048"/>
            <a:ext cx="1143000" cy="1097280"/>
          </a:xfrm>
          <a:prstGeom prst="roundRect">
            <a:avLst>
              <a:gd name="adj" fmla="val 2500"/>
            </a:avLst>
          </a:prstGeom>
          <a:solidFill>
            <a:schemeClr val="bg1"/>
          </a:solidFill>
          <a:ln w="12700">
            <a:solidFill>
              <a:srgbClr val="0F3B45"/>
            </a:solidFill>
            <a:prstDash val="solid"/>
          </a:ln>
        </p:spPr>
        <p:txBody>
          <a:bodyPr/>
          <a:p/>
        </p:txBody>
      </p:sp>
      <p:sp>
        <p:nvSpPr>
          <p:cNvPr id="41" name="Text-872"/>
          <p:cNvSpPr txBox="1"/>
          <p:nvPr/>
        </p:nvSpPr>
        <p:spPr>
          <a:xfrm>
            <a:off x="4425696" y="270662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3</a:t>
            </a:r>
            <a:endParaRPr lang="en-US" sz="1000" dirty="0"/>
          </a:p>
        </p:txBody>
      </p:sp>
      <p:sp>
        <p:nvSpPr>
          <p:cNvPr id="42" name="Text-873"/>
          <p:cNvSpPr txBox="1"/>
          <p:nvPr/>
        </p:nvSpPr>
        <p:spPr>
          <a:xfrm>
            <a:off x="4425696" y="290779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Editor spotlight</a:t>
            </a:r>
            <a:endParaRPr lang="en-US" sz="1100" dirty="0"/>
          </a:p>
        </p:txBody>
      </p:sp>
      <p:sp>
        <p:nvSpPr>
          <p:cNvPr id="43" name="Frame-874"/>
          <p:cNvSpPr/>
          <p:nvPr/>
        </p:nvSpPr>
        <p:spPr>
          <a:xfrm>
            <a:off x="5586984" y="2670048"/>
            <a:ext cx="1143000" cy="1097280"/>
          </a:xfrm>
          <a:prstGeom prst="roundRect">
            <a:avLst>
              <a:gd name="adj" fmla="val 2500"/>
            </a:avLst>
          </a:prstGeom>
          <a:solidFill>
            <a:schemeClr val="bg1"/>
          </a:solidFill>
          <a:ln w="12700">
            <a:solidFill>
              <a:srgbClr val="0F3B45"/>
            </a:solidFill>
            <a:prstDash val="solid"/>
          </a:ln>
        </p:spPr>
        <p:txBody>
          <a:bodyPr/>
          <a:p/>
        </p:txBody>
      </p:sp>
      <p:sp>
        <p:nvSpPr>
          <p:cNvPr id="44" name="Text-875"/>
          <p:cNvSpPr txBox="1"/>
          <p:nvPr/>
        </p:nvSpPr>
        <p:spPr>
          <a:xfrm>
            <a:off x="5641848" y="270662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4</a:t>
            </a:r>
            <a:endParaRPr lang="en-US" sz="1000" dirty="0"/>
          </a:p>
        </p:txBody>
      </p:sp>
      <p:sp>
        <p:nvSpPr>
          <p:cNvPr id="45" name="Text-876"/>
          <p:cNvSpPr txBox="1"/>
          <p:nvPr/>
        </p:nvSpPr>
        <p:spPr>
          <a:xfrm>
            <a:off x="5641848" y="290779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Top 5 articles</a:t>
            </a:r>
            <a:endParaRPr lang="en-US" sz="1100" dirty="0"/>
          </a:p>
        </p:txBody>
      </p:sp>
      <p:sp>
        <p:nvSpPr>
          <p:cNvPr id="46" name="Frame-877"/>
          <p:cNvSpPr/>
          <p:nvPr/>
        </p:nvSpPr>
        <p:spPr>
          <a:xfrm>
            <a:off x="6803136" y="2670048"/>
            <a:ext cx="1143000" cy="1097280"/>
          </a:xfrm>
          <a:prstGeom prst="roundRect">
            <a:avLst>
              <a:gd name="adj" fmla="val 2500"/>
            </a:avLst>
          </a:prstGeom>
          <a:solidFill>
            <a:schemeClr val="bg1"/>
          </a:solidFill>
          <a:ln w="12700">
            <a:solidFill>
              <a:srgbClr val="0F3B45"/>
            </a:solidFill>
            <a:prstDash val="solid"/>
          </a:ln>
        </p:spPr>
        <p:txBody>
          <a:bodyPr/>
          <a:p/>
        </p:txBody>
      </p:sp>
      <p:sp>
        <p:nvSpPr>
          <p:cNvPr id="47" name="Text-878"/>
          <p:cNvSpPr txBox="1"/>
          <p:nvPr/>
        </p:nvSpPr>
        <p:spPr>
          <a:xfrm>
            <a:off x="6858000" y="270662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5</a:t>
            </a:r>
            <a:endParaRPr lang="en-US" sz="1000" dirty="0"/>
          </a:p>
        </p:txBody>
      </p:sp>
      <p:sp>
        <p:nvSpPr>
          <p:cNvPr id="48" name="Text-879"/>
          <p:cNvSpPr txBox="1"/>
          <p:nvPr/>
        </p:nvSpPr>
        <p:spPr>
          <a:xfrm>
            <a:off x="6858000" y="290779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Quote from researchers</a:t>
            </a:r>
            <a:endParaRPr lang="en-US" sz="1100" dirty="0"/>
          </a:p>
        </p:txBody>
      </p:sp>
      <p:sp>
        <p:nvSpPr>
          <p:cNvPr id="49" name="Frame-880"/>
          <p:cNvSpPr/>
          <p:nvPr/>
        </p:nvSpPr>
        <p:spPr>
          <a:xfrm>
            <a:off x="8019288" y="2670048"/>
            <a:ext cx="1143000" cy="1097280"/>
          </a:xfrm>
          <a:prstGeom prst="roundRect">
            <a:avLst>
              <a:gd name="adj" fmla="val 2500"/>
            </a:avLst>
          </a:prstGeom>
          <a:solidFill>
            <a:schemeClr val="bg1"/>
          </a:solidFill>
          <a:ln w="12700">
            <a:solidFill>
              <a:srgbClr val="0F3B45"/>
            </a:solidFill>
            <a:prstDash val="solid"/>
          </a:ln>
        </p:spPr>
        <p:txBody>
          <a:bodyPr/>
          <a:p/>
        </p:txBody>
      </p:sp>
      <p:sp>
        <p:nvSpPr>
          <p:cNvPr id="50" name="Text-881"/>
          <p:cNvSpPr txBox="1"/>
          <p:nvPr/>
        </p:nvSpPr>
        <p:spPr>
          <a:xfrm>
            <a:off x="8074152" y="270662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6</a:t>
            </a:r>
            <a:endParaRPr lang="en-US" sz="1000" dirty="0"/>
          </a:p>
        </p:txBody>
      </p:sp>
      <p:sp>
        <p:nvSpPr>
          <p:cNvPr id="51" name="Text-882"/>
          <p:cNvSpPr txBox="1"/>
          <p:nvPr/>
        </p:nvSpPr>
        <p:spPr>
          <a:xfrm>
            <a:off x="8074152" y="290779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Share button to director</a:t>
            </a:r>
            <a:endParaRPr lang="en-US" sz="1100" dirty="0"/>
          </a:p>
        </p:txBody>
      </p:sp>
      <p:sp>
        <p:nvSpPr>
          <p:cNvPr id="52" name="Frame-883"/>
          <p:cNvSpPr/>
          <p:nvPr/>
        </p:nvSpPr>
        <p:spPr>
          <a:xfrm>
            <a:off x="9235440" y="2670048"/>
            <a:ext cx="1143000" cy="1097280"/>
          </a:xfrm>
          <a:prstGeom prst="roundRect">
            <a:avLst>
              <a:gd name="adj" fmla="val 2500"/>
            </a:avLst>
          </a:prstGeom>
          <a:solidFill>
            <a:schemeClr val="bg1"/>
          </a:solidFill>
          <a:ln w="31750">
            <a:solidFill>
              <a:srgbClr val="E4572E"/>
            </a:solidFill>
            <a:prstDash val="solid"/>
          </a:ln>
        </p:spPr>
        <p:txBody>
          <a:bodyPr/>
          <a:p/>
        </p:txBody>
      </p:sp>
      <p:sp>
        <p:nvSpPr>
          <p:cNvPr id="53" name="Text-884"/>
          <p:cNvSpPr txBox="1"/>
          <p:nvPr/>
        </p:nvSpPr>
        <p:spPr>
          <a:xfrm>
            <a:off x="9290304" y="2706624"/>
            <a:ext cx="274320" cy="201168"/>
          </a:xfrm>
          <a:prstGeom prst="rect">
            <a:avLst/>
          </a:prstGeom>
          <a:noFill/>
          <a:ln/>
        </p:spPr>
        <p:txBody>
          <a:bodyPr wrap="square" lIns="0" tIns="0" rIns="0" bIns="0" rtlCol="0" anchor="t"/>
          <a:lstStyle/>
          <a:p>
            <a:pPr indent="0" marL="0">
              <a:buNone/>
            </a:pPr>
            <a:r>
              <a:rPr lang="en-US" sz="1000" b="1" dirty="0">
                <a:solidFill>
                  <a:schemeClr val="accent3"/>
                </a:solidFill>
              </a:rPr>
              <a:t>7</a:t>
            </a:r>
            <a:endParaRPr lang="en-US" sz="1000" dirty="0"/>
          </a:p>
        </p:txBody>
      </p:sp>
      <p:sp>
        <p:nvSpPr>
          <p:cNvPr id="54" name="Text-885"/>
          <p:cNvSpPr txBox="1"/>
          <p:nvPr/>
        </p:nvSpPr>
        <p:spPr>
          <a:xfrm>
            <a:off x="9290304" y="290779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Renewal kit 90 days before</a:t>
            </a:r>
            <a:endParaRPr lang="en-US" sz="1100" dirty="0"/>
          </a:p>
        </p:txBody>
      </p:sp>
      <p:sp>
        <p:nvSpPr>
          <p:cNvPr id="55" name="Frame-886"/>
          <p:cNvSpPr/>
          <p:nvPr/>
        </p:nvSpPr>
        <p:spPr>
          <a:xfrm>
            <a:off x="10451592" y="2670048"/>
            <a:ext cx="1143000" cy="1097280"/>
          </a:xfrm>
          <a:prstGeom prst="roundRect">
            <a:avLst>
              <a:gd name="adj" fmla="val 2500"/>
            </a:avLst>
          </a:prstGeom>
          <a:solidFill>
            <a:schemeClr val="bg1"/>
          </a:solidFill>
          <a:ln w="12700">
            <a:solidFill>
              <a:srgbClr val="0F3B45"/>
            </a:solidFill>
            <a:prstDash val="solid"/>
          </a:ln>
        </p:spPr>
        <p:txBody>
          <a:bodyPr/>
          <a:p/>
        </p:txBody>
      </p:sp>
      <p:sp>
        <p:nvSpPr>
          <p:cNvPr id="56" name="Text-887"/>
          <p:cNvSpPr txBox="1"/>
          <p:nvPr/>
        </p:nvSpPr>
        <p:spPr>
          <a:xfrm>
            <a:off x="10506456" y="270662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8</a:t>
            </a:r>
            <a:endParaRPr lang="en-US" sz="1000" dirty="0"/>
          </a:p>
        </p:txBody>
      </p:sp>
      <p:sp>
        <p:nvSpPr>
          <p:cNvPr id="57" name="Text-888"/>
          <p:cNvSpPr txBox="1"/>
          <p:nvPr/>
        </p:nvSpPr>
        <p:spPr>
          <a:xfrm>
            <a:off x="10506456" y="290779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60-second video</a:t>
            </a:r>
            <a:endParaRPr lang="en-US" sz="1100" dirty="0"/>
          </a:p>
        </p:txBody>
      </p:sp>
      <p:sp>
        <p:nvSpPr>
          <p:cNvPr id="58" name="Circle-889"/>
          <p:cNvSpPr/>
          <p:nvPr/>
        </p:nvSpPr>
        <p:spPr>
          <a:xfrm>
            <a:off x="548640" y="4133088"/>
            <a:ext cx="502920" cy="502920"/>
          </a:xfrm>
          <a:prstGeom prst="ellipse">
            <a:avLst/>
          </a:prstGeom>
          <a:solidFill>
            <a:schemeClr val="accent1"/>
          </a:solidFill>
          <a:ln/>
        </p:spPr>
        <p:txBody>
          <a:bodyPr/>
          <a:p/>
        </p:txBody>
      </p:sp>
      <p:sp>
        <p:nvSpPr>
          <p:cNvPr id="59" name="Text-890"/>
          <p:cNvSpPr txBox="1"/>
          <p:nvPr/>
        </p:nvSpPr>
        <p:spPr>
          <a:xfrm>
            <a:off x="548640" y="4133088"/>
            <a:ext cx="502920" cy="502920"/>
          </a:xfrm>
          <a:prstGeom prst="rect">
            <a:avLst/>
          </a:prstGeom>
          <a:noFill/>
          <a:ln/>
        </p:spPr>
        <p:txBody>
          <a:bodyPr wrap="square" lIns="0" tIns="0" rIns="0" bIns="0" rtlCol="0" anchor="ctr"/>
          <a:lstStyle/>
          <a:p>
            <a:pPr algn="ctr" indent="0" marL="0">
              <a:buNone/>
            </a:pPr>
            <a:r>
              <a:rPr lang="en-US" sz="1200" b="1" dirty="0">
                <a:solidFill>
                  <a:schemeClr val="bg1"/>
                </a:solidFill>
              </a:rPr>
              <a:t>NK</a:t>
            </a:r>
            <a:endParaRPr lang="en-US" sz="1200" dirty="0"/>
          </a:p>
        </p:txBody>
      </p:sp>
      <p:sp>
        <p:nvSpPr>
          <p:cNvPr id="60" name="Text-891"/>
          <p:cNvSpPr txBox="1"/>
          <p:nvPr/>
        </p:nvSpPr>
        <p:spPr>
          <a:xfrm>
            <a:off x="548640" y="4663440"/>
            <a:ext cx="1188720" cy="274320"/>
          </a:xfrm>
          <a:prstGeom prst="rect">
            <a:avLst/>
          </a:prstGeom>
          <a:noFill/>
          <a:ln/>
        </p:spPr>
        <p:txBody>
          <a:bodyPr wrap="square" lIns="0" tIns="0" rIns="0" bIns="0" rtlCol="0" anchor="t"/>
          <a:lstStyle/>
          <a:p>
            <a:pPr indent="0" marL="0">
              <a:buNone/>
            </a:pPr>
            <a:r>
              <a:rPr lang="en-US" sz="1100" b="1" dirty="0">
                <a:solidFill>
                  <a:schemeClr val="tx2"/>
                </a:solidFill>
              </a:rPr>
              <a:t>Nina</a:t>
            </a:r>
            <a:endParaRPr lang="en-US" sz="1100" dirty="0"/>
          </a:p>
        </p:txBody>
      </p:sp>
      <p:sp>
        <p:nvSpPr>
          <p:cNvPr id="61" name="Frame-892"/>
          <p:cNvSpPr/>
          <p:nvPr/>
        </p:nvSpPr>
        <p:spPr>
          <a:xfrm>
            <a:off x="1938528" y="3858768"/>
            <a:ext cx="1143000" cy="1097280"/>
          </a:xfrm>
          <a:prstGeom prst="roundRect">
            <a:avLst>
              <a:gd name="adj" fmla="val 2500"/>
            </a:avLst>
          </a:prstGeom>
          <a:solidFill>
            <a:schemeClr val="bg1"/>
          </a:solidFill>
          <a:ln w="31750">
            <a:solidFill>
              <a:srgbClr val="E4572E"/>
            </a:solidFill>
            <a:prstDash val="solid"/>
          </a:ln>
        </p:spPr>
        <p:txBody>
          <a:bodyPr/>
          <a:p/>
        </p:txBody>
      </p:sp>
      <p:sp>
        <p:nvSpPr>
          <p:cNvPr id="62" name="Text-893"/>
          <p:cNvSpPr txBox="1"/>
          <p:nvPr/>
        </p:nvSpPr>
        <p:spPr>
          <a:xfrm>
            <a:off x="1993392" y="3895344"/>
            <a:ext cx="274320" cy="201168"/>
          </a:xfrm>
          <a:prstGeom prst="rect">
            <a:avLst/>
          </a:prstGeom>
          <a:noFill/>
          <a:ln/>
        </p:spPr>
        <p:txBody>
          <a:bodyPr wrap="square" lIns="0" tIns="0" rIns="0" bIns="0" rtlCol="0" anchor="t"/>
          <a:lstStyle/>
          <a:p>
            <a:pPr indent="0" marL="0">
              <a:buNone/>
            </a:pPr>
            <a:r>
              <a:rPr lang="en-US" sz="1000" b="1" dirty="0">
                <a:solidFill>
                  <a:schemeClr val="accent3"/>
                </a:solidFill>
              </a:rPr>
              <a:t>1</a:t>
            </a:r>
            <a:endParaRPr lang="en-US" sz="1000" dirty="0"/>
          </a:p>
        </p:txBody>
      </p:sp>
      <p:sp>
        <p:nvSpPr>
          <p:cNvPr id="63" name="Text-894"/>
          <p:cNvSpPr txBox="1"/>
          <p:nvPr/>
        </p:nvSpPr>
        <p:spPr>
          <a:xfrm>
            <a:off x="1993392" y="409651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Monthly email with 3 figures</a:t>
            </a:r>
            <a:endParaRPr lang="en-US" sz="1100" dirty="0"/>
          </a:p>
        </p:txBody>
      </p:sp>
      <p:sp>
        <p:nvSpPr>
          <p:cNvPr id="64" name="Frame-895"/>
          <p:cNvSpPr/>
          <p:nvPr/>
        </p:nvSpPr>
        <p:spPr>
          <a:xfrm>
            <a:off x="3154680" y="3858768"/>
            <a:ext cx="1143000" cy="1097280"/>
          </a:xfrm>
          <a:prstGeom prst="roundRect">
            <a:avLst>
              <a:gd name="adj" fmla="val 2500"/>
            </a:avLst>
          </a:prstGeom>
          <a:solidFill>
            <a:schemeClr val="bg1"/>
          </a:solidFill>
          <a:ln w="12700">
            <a:solidFill>
              <a:srgbClr val="0F3B45"/>
            </a:solidFill>
            <a:prstDash val="solid"/>
          </a:ln>
        </p:spPr>
        <p:txBody>
          <a:bodyPr/>
          <a:p/>
        </p:txBody>
      </p:sp>
      <p:sp>
        <p:nvSpPr>
          <p:cNvPr id="65" name="Text-896"/>
          <p:cNvSpPr txBox="1"/>
          <p:nvPr/>
        </p:nvSpPr>
        <p:spPr>
          <a:xfrm>
            <a:off x="3209544" y="389534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2</a:t>
            </a:r>
            <a:endParaRPr lang="en-US" sz="1000" dirty="0"/>
          </a:p>
        </p:txBody>
      </p:sp>
      <p:sp>
        <p:nvSpPr>
          <p:cNvPr id="66" name="Text-897"/>
          <p:cNvSpPr txBox="1"/>
          <p:nvPr/>
        </p:nvSpPr>
        <p:spPr>
          <a:xfrm>
            <a:off x="3209544" y="409651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Link without login</a:t>
            </a:r>
            <a:endParaRPr lang="en-US" sz="1100" dirty="0"/>
          </a:p>
        </p:txBody>
      </p:sp>
      <p:sp>
        <p:nvSpPr>
          <p:cNvPr id="67" name="Frame-898"/>
          <p:cNvSpPr/>
          <p:nvPr/>
        </p:nvSpPr>
        <p:spPr>
          <a:xfrm>
            <a:off x="4370832" y="3858768"/>
            <a:ext cx="1143000" cy="1097280"/>
          </a:xfrm>
          <a:prstGeom prst="roundRect">
            <a:avLst>
              <a:gd name="adj" fmla="val 2500"/>
            </a:avLst>
          </a:prstGeom>
          <a:solidFill>
            <a:schemeClr val="bg1"/>
          </a:solidFill>
          <a:ln w="12700">
            <a:solidFill>
              <a:srgbClr val="0F3B45"/>
            </a:solidFill>
            <a:prstDash val="solid"/>
          </a:ln>
        </p:spPr>
        <p:txBody>
          <a:bodyPr/>
          <a:p/>
        </p:txBody>
      </p:sp>
      <p:sp>
        <p:nvSpPr>
          <p:cNvPr id="68" name="Text-899"/>
          <p:cNvSpPr txBox="1"/>
          <p:nvPr/>
        </p:nvSpPr>
        <p:spPr>
          <a:xfrm>
            <a:off x="4425696" y="389534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3</a:t>
            </a:r>
            <a:endParaRPr lang="en-US" sz="1000" dirty="0"/>
          </a:p>
        </p:txBody>
      </p:sp>
      <p:sp>
        <p:nvSpPr>
          <p:cNvPr id="69" name="Text-900"/>
          <p:cNvSpPr txBox="1"/>
          <p:nvPr/>
        </p:nvSpPr>
        <p:spPr>
          <a:xfrm>
            <a:off x="4425696" y="409651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Renewal countdown</a:t>
            </a:r>
            <a:endParaRPr lang="en-US" sz="1100" dirty="0"/>
          </a:p>
        </p:txBody>
      </p:sp>
      <p:sp>
        <p:nvSpPr>
          <p:cNvPr id="70" name="Frame-901"/>
          <p:cNvSpPr/>
          <p:nvPr/>
        </p:nvSpPr>
        <p:spPr>
          <a:xfrm>
            <a:off x="5586984" y="3858768"/>
            <a:ext cx="1143000" cy="1097280"/>
          </a:xfrm>
          <a:prstGeom prst="roundRect">
            <a:avLst>
              <a:gd name="adj" fmla="val 2500"/>
            </a:avLst>
          </a:prstGeom>
          <a:solidFill>
            <a:schemeClr val="bg1"/>
          </a:solidFill>
          <a:ln w="12700">
            <a:solidFill>
              <a:srgbClr val="0F3B45"/>
            </a:solidFill>
            <a:prstDash val="solid"/>
          </a:ln>
        </p:spPr>
        <p:txBody>
          <a:bodyPr/>
          <a:p/>
        </p:txBody>
      </p:sp>
      <p:sp>
        <p:nvSpPr>
          <p:cNvPr id="71" name="Text-902"/>
          <p:cNvSpPr txBox="1"/>
          <p:nvPr/>
        </p:nvSpPr>
        <p:spPr>
          <a:xfrm>
            <a:off x="5641848" y="389534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4</a:t>
            </a:r>
            <a:endParaRPr lang="en-US" sz="1000" dirty="0"/>
          </a:p>
        </p:txBody>
      </p:sp>
      <p:sp>
        <p:nvSpPr>
          <p:cNvPr id="72" name="Text-903"/>
          <p:cNvSpPr txBox="1"/>
          <p:nvPr/>
        </p:nvSpPr>
        <p:spPr>
          <a:xfrm>
            <a:off x="5641848" y="409651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Peer benchmark</a:t>
            </a:r>
            <a:endParaRPr lang="en-US" sz="1100" dirty="0"/>
          </a:p>
        </p:txBody>
      </p:sp>
      <p:sp>
        <p:nvSpPr>
          <p:cNvPr id="73" name="Frame-904"/>
          <p:cNvSpPr/>
          <p:nvPr/>
        </p:nvSpPr>
        <p:spPr>
          <a:xfrm>
            <a:off x="6803136" y="3858768"/>
            <a:ext cx="1143000" cy="1097280"/>
          </a:xfrm>
          <a:prstGeom prst="roundRect">
            <a:avLst>
              <a:gd name="adj" fmla="val 2500"/>
            </a:avLst>
          </a:prstGeom>
          <a:solidFill>
            <a:schemeClr val="bg1"/>
          </a:solidFill>
          <a:ln w="12700">
            <a:solidFill>
              <a:srgbClr val="0F3B45"/>
            </a:solidFill>
            <a:prstDash val="solid"/>
          </a:ln>
        </p:spPr>
        <p:txBody>
          <a:bodyPr/>
          <a:p/>
        </p:txBody>
      </p:sp>
      <p:sp>
        <p:nvSpPr>
          <p:cNvPr id="74" name="Text-905"/>
          <p:cNvSpPr txBox="1"/>
          <p:nvPr/>
        </p:nvSpPr>
        <p:spPr>
          <a:xfrm>
            <a:off x="6858000" y="389534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5</a:t>
            </a:r>
            <a:endParaRPr lang="en-US" sz="1000" dirty="0"/>
          </a:p>
        </p:txBody>
      </p:sp>
      <p:sp>
        <p:nvSpPr>
          <p:cNvPr id="75" name="Text-906"/>
          <p:cNvSpPr txBox="1"/>
          <p:nvPr/>
        </p:nvSpPr>
        <p:spPr>
          <a:xfrm>
            <a:off x="6858000" y="409651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Report in 3 clicks</a:t>
            </a:r>
            <a:endParaRPr lang="en-US" sz="1100" dirty="0"/>
          </a:p>
        </p:txBody>
      </p:sp>
      <p:sp>
        <p:nvSpPr>
          <p:cNvPr id="76" name="Frame-907"/>
          <p:cNvSpPr/>
          <p:nvPr/>
        </p:nvSpPr>
        <p:spPr>
          <a:xfrm>
            <a:off x="8019288" y="3858768"/>
            <a:ext cx="1143000" cy="1097280"/>
          </a:xfrm>
          <a:prstGeom prst="roundRect">
            <a:avLst>
              <a:gd name="adj" fmla="val 2500"/>
            </a:avLst>
          </a:prstGeom>
          <a:solidFill>
            <a:schemeClr val="bg1"/>
          </a:solidFill>
          <a:ln w="12700">
            <a:solidFill>
              <a:srgbClr val="0F3B45"/>
            </a:solidFill>
            <a:prstDash val="solid"/>
          </a:ln>
        </p:spPr>
        <p:txBody>
          <a:bodyPr/>
          <a:p/>
        </p:txBody>
      </p:sp>
      <p:sp>
        <p:nvSpPr>
          <p:cNvPr id="77" name="Text-908"/>
          <p:cNvSpPr txBox="1"/>
          <p:nvPr/>
        </p:nvSpPr>
        <p:spPr>
          <a:xfrm>
            <a:off x="8074152" y="389534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6</a:t>
            </a:r>
            <a:endParaRPr lang="en-US" sz="1000" dirty="0"/>
          </a:p>
        </p:txBody>
      </p:sp>
      <p:sp>
        <p:nvSpPr>
          <p:cNvPr id="78" name="Text-909"/>
          <p:cNvSpPr txBox="1"/>
          <p:nvPr/>
        </p:nvSpPr>
        <p:spPr>
          <a:xfrm>
            <a:off x="8074152" y="409651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Add recipients</a:t>
            </a:r>
            <a:endParaRPr lang="en-US" sz="1100" dirty="0"/>
          </a:p>
        </p:txBody>
      </p:sp>
      <p:sp>
        <p:nvSpPr>
          <p:cNvPr id="79" name="Frame-910"/>
          <p:cNvSpPr/>
          <p:nvPr/>
        </p:nvSpPr>
        <p:spPr>
          <a:xfrm>
            <a:off x="9235440" y="3858768"/>
            <a:ext cx="1143000" cy="1097280"/>
          </a:xfrm>
          <a:prstGeom prst="roundRect">
            <a:avLst>
              <a:gd name="adj" fmla="val 2500"/>
            </a:avLst>
          </a:prstGeom>
          <a:solidFill>
            <a:schemeClr val="bg1"/>
          </a:solidFill>
          <a:ln w="12700">
            <a:solidFill>
              <a:srgbClr val="0F3B45"/>
            </a:solidFill>
            <a:prstDash val="solid"/>
          </a:ln>
        </p:spPr>
        <p:txBody>
          <a:bodyPr/>
          <a:p/>
        </p:txBody>
      </p:sp>
      <p:sp>
        <p:nvSpPr>
          <p:cNvPr id="80" name="Text-911"/>
          <p:cNvSpPr txBox="1"/>
          <p:nvPr/>
        </p:nvSpPr>
        <p:spPr>
          <a:xfrm>
            <a:off x="9290304" y="389534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7</a:t>
            </a:r>
            <a:endParaRPr lang="en-US" sz="1000" dirty="0"/>
          </a:p>
        </p:txBody>
      </p:sp>
      <p:sp>
        <p:nvSpPr>
          <p:cNvPr id="81" name="Text-912"/>
          <p:cNvSpPr txBox="1"/>
          <p:nvPr/>
        </p:nvSpPr>
        <p:spPr>
          <a:xfrm>
            <a:off x="9290304" y="409651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Push to Teams/Slack</a:t>
            </a:r>
            <a:endParaRPr lang="en-US" sz="1100" dirty="0"/>
          </a:p>
        </p:txBody>
      </p:sp>
      <p:sp>
        <p:nvSpPr>
          <p:cNvPr id="82" name="Frame-913"/>
          <p:cNvSpPr/>
          <p:nvPr/>
        </p:nvSpPr>
        <p:spPr>
          <a:xfrm>
            <a:off x="10451592" y="3858768"/>
            <a:ext cx="1143000" cy="1097280"/>
          </a:xfrm>
          <a:prstGeom prst="roundRect">
            <a:avLst>
              <a:gd name="adj" fmla="val 2500"/>
            </a:avLst>
          </a:prstGeom>
          <a:solidFill>
            <a:schemeClr val="bg1"/>
          </a:solidFill>
          <a:ln w="12700">
            <a:solidFill>
              <a:srgbClr val="0F3B45"/>
            </a:solidFill>
            <a:prstDash val="solid"/>
          </a:ln>
        </p:spPr>
        <p:txBody>
          <a:bodyPr/>
          <a:p/>
        </p:txBody>
      </p:sp>
      <p:sp>
        <p:nvSpPr>
          <p:cNvPr id="83" name="Text-914"/>
          <p:cNvSpPr txBox="1"/>
          <p:nvPr/>
        </p:nvSpPr>
        <p:spPr>
          <a:xfrm>
            <a:off x="10506456" y="389534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8</a:t>
            </a:r>
            <a:endParaRPr lang="en-US" sz="1000" dirty="0"/>
          </a:p>
        </p:txBody>
      </p:sp>
      <p:sp>
        <p:nvSpPr>
          <p:cNvPr id="84" name="Text-915"/>
          <p:cNvSpPr txBox="1"/>
          <p:nvPr/>
        </p:nvSpPr>
        <p:spPr>
          <a:xfrm>
            <a:off x="10506456" y="409651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“Was this helpful?”</a:t>
            </a:r>
            <a:endParaRPr lang="en-US" sz="1100" dirty="0"/>
          </a:p>
        </p:txBody>
      </p:sp>
      <p:sp>
        <p:nvSpPr>
          <p:cNvPr id="85" name="Circle-916"/>
          <p:cNvSpPr/>
          <p:nvPr/>
        </p:nvSpPr>
        <p:spPr>
          <a:xfrm>
            <a:off x="548640" y="5321808"/>
            <a:ext cx="502920" cy="502920"/>
          </a:xfrm>
          <a:prstGeom prst="ellipse">
            <a:avLst/>
          </a:prstGeom>
          <a:solidFill>
            <a:schemeClr val="accent1"/>
          </a:solidFill>
          <a:ln/>
        </p:spPr>
        <p:txBody>
          <a:bodyPr/>
          <a:p/>
        </p:txBody>
      </p:sp>
      <p:sp>
        <p:nvSpPr>
          <p:cNvPr id="86" name="Text-917"/>
          <p:cNvSpPr txBox="1"/>
          <p:nvPr/>
        </p:nvSpPr>
        <p:spPr>
          <a:xfrm>
            <a:off x="548640" y="5321808"/>
            <a:ext cx="502920" cy="502920"/>
          </a:xfrm>
          <a:prstGeom prst="rect">
            <a:avLst/>
          </a:prstGeom>
          <a:noFill/>
          <a:ln/>
        </p:spPr>
        <p:txBody>
          <a:bodyPr wrap="square" lIns="0" tIns="0" rIns="0" bIns="0" rtlCol="0" anchor="ctr"/>
          <a:lstStyle/>
          <a:p>
            <a:pPr algn="ctr" indent="0" marL="0">
              <a:buNone/>
            </a:pPr>
            <a:r>
              <a:rPr lang="en-US" sz="1200" b="1" dirty="0">
                <a:solidFill>
                  <a:schemeClr val="bg1"/>
                </a:solidFill>
              </a:rPr>
              <a:t>SO</a:t>
            </a:r>
            <a:endParaRPr lang="en-US" sz="1200" dirty="0"/>
          </a:p>
        </p:txBody>
      </p:sp>
      <p:sp>
        <p:nvSpPr>
          <p:cNvPr id="87" name="Text-918"/>
          <p:cNvSpPr txBox="1"/>
          <p:nvPr/>
        </p:nvSpPr>
        <p:spPr>
          <a:xfrm>
            <a:off x="548640" y="5852160"/>
            <a:ext cx="1188720" cy="274320"/>
          </a:xfrm>
          <a:prstGeom prst="rect">
            <a:avLst/>
          </a:prstGeom>
          <a:noFill/>
          <a:ln/>
        </p:spPr>
        <p:txBody>
          <a:bodyPr wrap="square" lIns="0" tIns="0" rIns="0" bIns="0" rtlCol="0" anchor="t"/>
          <a:lstStyle/>
          <a:p>
            <a:pPr indent="0" marL="0">
              <a:buNone/>
            </a:pPr>
            <a:r>
              <a:rPr lang="en-US" sz="1100" b="1" dirty="0">
                <a:solidFill>
                  <a:schemeClr val="tx2"/>
                </a:solidFill>
              </a:rPr>
              <a:t>Samuel</a:t>
            </a:r>
            <a:endParaRPr lang="en-US" sz="1100" dirty="0"/>
          </a:p>
        </p:txBody>
      </p:sp>
      <p:sp>
        <p:nvSpPr>
          <p:cNvPr id="88" name="Frame-919"/>
          <p:cNvSpPr/>
          <p:nvPr/>
        </p:nvSpPr>
        <p:spPr>
          <a:xfrm>
            <a:off x="1938528" y="5047488"/>
            <a:ext cx="1143000" cy="1097280"/>
          </a:xfrm>
          <a:prstGeom prst="roundRect">
            <a:avLst>
              <a:gd name="adj" fmla="val 2500"/>
            </a:avLst>
          </a:prstGeom>
          <a:solidFill>
            <a:schemeClr val="bg1"/>
          </a:solidFill>
          <a:ln w="31750">
            <a:solidFill>
              <a:srgbClr val="E4572E"/>
            </a:solidFill>
            <a:prstDash val="solid"/>
          </a:ln>
        </p:spPr>
        <p:txBody>
          <a:bodyPr/>
          <a:p/>
        </p:txBody>
      </p:sp>
      <p:sp>
        <p:nvSpPr>
          <p:cNvPr id="89" name="Text-920"/>
          <p:cNvSpPr txBox="1"/>
          <p:nvPr/>
        </p:nvSpPr>
        <p:spPr>
          <a:xfrm>
            <a:off x="1993392" y="5084064"/>
            <a:ext cx="274320" cy="201168"/>
          </a:xfrm>
          <a:prstGeom prst="rect">
            <a:avLst/>
          </a:prstGeom>
          <a:noFill/>
          <a:ln/>
        </p:spPr>
        <p:txBody>
          <a:bodyPr wrap="square" lIns="0" tIns="0" rIns="0" bIns="0" rtlCol="0" anchor="t"/>
          <a:lstStyle/>
          <a:p>
            <a:pPr indent="0" marL="0">
              <a:buNone/>
            </a:pPr>
            <a:r>
              <a:rPr lang="en-US" sz="1000" b="1" dirty="0">
                <a:solidFill>
                  <a:schemeClr val="accent3"/>
                </a:solidFill>
              </a:rPr>
              <a:t>1</a:t>
            </a:r>
            <a:endParaRPr lang="en-US" sz="1000" dirty="0"/>
          </a:p>
        </p:txBody>
      </p:sp>
      <p:sp>
        <p:nvSpPr>
          <p:cNvPr id="90" name="Text-921"/>
          <p:cNvSpPr txBox="1"/>
          <p:nvPr/>
        </p:nvSpPr>
        <p:spPr>
          <a:xfrm>
            <a:off x="1993392" y="528523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Compliance traffic light</a:t>
            </a:r>
            <a:endParaRPr lang="en-US" sz="1100" dirty="0"/>
          </a:p>
        </p:txBody>
      </p:sp>
      <p:sp>
        <p:nvSpPr>
          <p:cNvPr id="91" name="Frame-922"/>
          <p:cNvSpPr/>
          <p:nvPr/>
        </p:nvSpPr>
        <p:spPr>
          <a:xfrm>
            <a:off x="3154680" y="5047488"/>
            <a:ext cx="1143000" cy="1097280"/>
          </a:xfrm>
          <a:prstGeom prst="roundRect">
            <a:avLst>
              <a:gd name="adj" fmla="val 2500"/>
            </a:avLst>
          </a:prstGeom>
          <a:solidFill>
            <a:schemeClr val="bg1"/>
          </a:solidFill>
          <a:ln w="12700">
            <a:solidFill>
              <a:srgbClr val="0F3B45"/>
            </a:solidFill>
            <a:prstDash val="solid"/>
          </a:ln>
        </p:spPr>
        <p:txBody>
          <a:bodyPr/>
          <a:p/>
        </p:txBody>
      </p:sp>
      <p:sp>
        <p:nvSpPr>
          <p:cNvPr id="92" name="Text-923"/>
          <p:cNvSpPr txBox="1"/>
          <p:nvPr/>
        </p:nvSpPr>
        <p:spPr>
          <a:xfrm>
            <a:off x="3209544" y="508406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2</a:t>
            </a:r>
            <a:endParaRPr lang="en-US" sz="1000" dirty="0"/>
          </a:p>
        </p:txBody>
      </p:sp>
      <p:sp>
        <p:nvSpPr>
          <p:cNvPr id="93" name="Text-924"/>
          <p:cNvSpPr txBox="1"/>
          <p:nvPr/>
        </p:nvSpPr>
        <p:spPr>
          <a:xfrm>
            <a:off x="3209544" y="528523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Funder compliance check</a:t>
            </a:r>
            <a:endParaRPr lang="en-US" sz="1100" dirty="0"/>
          </a:p>
        </p:txBody>
      </p:sp>
      <p:sp>
        <p:nvSpPr>
          <p:cNvPr id="94" name="Frame-925"/>
          <p:cNvSpPr/>
          <p:nvPr/>
        </p:nvSpPr>
        <p:spPr>
          <a:xfrm>
            <a:off x="4370832" y="5047488"/>
            <a:ext cx="1143000" cy="1097280"/>
          </a:xfrm>
          <a:prstGeom prst="roundRect">
            <a:avLst>
              <a:gd name="adj" fmla="val 2500"/>
            </a:avLst>
          </a:prstGeom>
          <a:solidFill>
            <a:schemeClr val="bg1"/>
          </a:solidFill>
          <a:ln w="12700">
            <a:solidFill>
              <a:srgbClr val="0F3B45"/>
            </a:solidFill>
            <a:prstDash val="solid"/>
          </a:ln>
        </p:spPr>
        <p:txBody>
          <a:bodyPr/>
          <a:p/>
        </p:txBody>
      </p:sp>
      <p:sp>
        <p:nvSpPr>
          <p:cNvPr id="95" name="Text-926"/>
          <p:cNvSpPr txBox="1"/>
          <p:nvPr/>
        </p:nvSpPr>
        <p:spPr>
          <a:xfrm>
            <a:off x="4425696" y="508406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3</a:t>
            </a:r>
            <a:endParaRPr lang="en-US" sz="1000" dirty="0"/>
          </a:p>
        </p:txBody>
      </p:sp>
      <p:sp>
        <p:nvSpPr>
          <p:cNvPr id="96" name="Text-927"/>
          <p:cNvSpPr txBox="1"/>
          <p:nvPr/>
        </p:nvSpPr>
        <p:spPr>
          <a:xfrm>
            <a:off x="4425696" y="528523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Open data rate</a:t>
            </a:r>
            <a:endParaRPr lang="en-US" sz="1100" dirty="0"/>
          </a:p>
        </p:txBody>
      </p:sp>
      <p:sp>
        <p:nvSpPr>
          <p:cNvPr id="97" name="Frame-928"/>
          <p:cNvSpPr/>
          <p:nvPr/>
        </p:nvSpPr>
        <p:spPr>
          <a:xfrm>
            <a:off x="5586984" y="5047488"/>
            <a:ext cx="1143000" cy="1097280"/>
          </a:xfrm>
          <a:prstGeom prst="roundRect">
            <a:avLst>
              <a:gd name="adj" fmla="val 2500"/>
            </a:avLst>
          </a:prstGeom>
          <a:solidFill>
            <a:schemeClr val="bg1"/>
          </a:solidFill>
          <a:ln w="12700">
            <a:solidFill>
              <a:srgbClr val="0F3B45"/>
            </a:solidFill>
            <a:prstDash val="solid"/>
          </a:ln>
        </p:spPr>
        <p:txBody>
          <a:bodyPr/>
          <a:p/>
        </p:txBody>
      </p:sp>
      <p:sp>
        <p:nvSpPr>
          <p:cNvPr id="98" name="Text-929"/>
          <p:cNvSpPr txBox="1"/>
          <p:nvPr/>
        </p:nvSpPr>
        <p:spPr>
          <a:xfrm>
            <a:off x="5641848" y="508406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4</a:t>
            </a:r>
            <a:endParaRPr lang="en-US" sz="1000" dirty="0"/>
          </a:p>
        </p:txBody>
      </p:sp>
      <p:sp>
        <p:nvSpPr>
          <p:cNvPr id="99" name="Text-930"/>
          <p:cNvSpPr txBox="1"/>
          <p:nvPr/>
        </p:nvSpPr>
        <p:spPr>
          <a:xfrm>
            <a:off x="5641848" y="528523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Policy mentions</a:t>
            </a:r>
            <a:endParaRPr lang="en-US" sz="1100" dirty="0"/>
          </a:p>
        </p:txBody>
      </p:sp>
      <p:sp>
        <p:nvSpPr>
          <p:cNvPr id="100" name="Frame-931"/>
          <p:cNvSpPr/>
          <p:nvPr/>
        </p:nvSpPr>
        <p:spPr>
          <a:xfrm>
            <a:off x="6803136" y="5047488"/>
            <a:ext cx="1143000" cy="1097280"/>
          </a:xfrm>
          <a:prstGeom prst="roundRect">
            <a:avLst>
              <a:gd name="adj" fmla="val 2500"/>
            </a:avLst>
          </a:prstGeom>
          <a:solidFill>
            <a:schemeClr val="bg1"/>
          </a:solidFill>
          <a:ln w="12700">
            <a:solidFill>
              <a:srgbClr val="0F3B45"/>
            </a:solidFill>
            <a:prstDash val="solid"/>
          </a:ln>
        </p:spPr>
        <p:txBody>
          <a:bodyPr/>
          <a:p/>
        </p:txBody>
      </p:sp>
      <p:sp>
        <p:nvSpPr>
          <p:cNvPr id="101" name="Text-932"/>
          <p:cNvSpPr txBox="1"/>
          <p:nvPr/>
        </p:nvSpPr>
        <p:spPr>
          <a:xfrm>
            <a:off x="6858000" y="508406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5</a:t>
            </a:r>
            <a:endParaRPr lang="en-US" sz="1000" dirty="0"/>
          </a:p>
        </p:txBody>
      </p:sp>
      <p:sp>
        <p:nvSpPr>
          <p:cNvPr id="102" name="Text-933"/>
          <p:cNvSpPr txBox="1"/>
          <p:nvPr/>
        </p:nvSpPr>
        <p:spPr>
          <a:xfrm>
            <a:off x="6858000" y="528523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Method sheet</a:t>
            </a:r>
            <a:endParaRPr lang="en-US" sz="1100" dirty="0"/>
          </a:p>
        </p:txBody>
      </p:sp>
      <p:sp>
        <p:nvSpPr>
          <p:cNvPr id="103" name="Frame-934"/>
          <p:cNvSpPr/>
          <p:nvPr/>
        </p:nvSpPr>
        <p:spPr>
          <a:xfrm>
            <a:off x="8019288" y="5047488"/>
            <a:ext cx="1143000" cy="1097280"/>
          </a:xfrm>
          <a:prstGeom prst="roundRect">
            <a:avLst>
              <a:gd name="adj" fmla="val 2500"/>
            </a:avLst>
          </a:prstGeom>
          <a:solidFill>
            <a:schemeClr val="bg1"/>
          </a:solidFill>
          <a:ln w="12700">
            <a:solidFill>
              <a:srgbClr val="0F3B45"/>
            </a:solidFill>
            <a:prstDash val="solid"/>
          </a:ln>
        </p:spPr>
        <p:txBody>
          <a:bodyPr/>
          <a:p/>
        </p:txBody>
      </p:sp>
      <p:sp>
        <p:nvSpPr>
          <p:cNvPr id="104" name="Text-935"/>
          <p:cNvSpPr txBox="1"/>
          <p:nvPr/>
        </p:nvSpPr>
        <p:spPr>
          <a:xfrm>
            <a:off x="8074152" y="508406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6</a:t>
            </a:r>
            <a:endParaRPr lang="en-US" sz="1000" dirty="0"/>
          </a:p>
        </p:txBody>
      </p:sp>
      <p:sp>
        <p:nvSpPr>
          <p:cNvPr id="105" name="Text-936"/>
          <p:cNvSpPr txBox="1"/>
          <p:nvPr/>
        </p:nvSpPr>
        <p:spPr>
          <a:xfrm>
            <a:off x="8074152" y="528523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CSV in monitoring format</a:t>
            </a:r>
            <a:endParaRPr lang="en-US" sz="1100" dirty="0"/>
          </a:p>
        </p:txBody>
      </p:sp>
      <p:sp>
        <p:nvSpPr>
          <p:cNvPr id="106" name="Frame-937"/>
          <p:cNvSpPr/>
          <p:nvPr/>
        </p:nvSpPr>
        <p:spPr>
          <a:xfrm>
            <a:off x="9235440" y="5047488"/>
            <a:ext cx="1143000" cy="1097280"/>
          </a:xfrm>
          <a:prstGeom prst="roundRect">
            <a:avLst>
              <a:gd name="adj" fmla="val 2500"/>
            </a:avLst>
          </a:prstGeom>
          <a:solidFill>
            <a:schemeClr val="bg1"/>
          </a:solidFill>
          <a:ln w="12700">
            <a:solidFill>
              <a:srgbClr val="0F3B45"/>
            </a:solidFill>
            <a:prstDash val="solid"/>
          </a:ln>
        </p:spPr>
        <p:txBody>
          <a:bodyPr/>
          <a:p/>
        </p:txBody>
      </p:sp>
      <p:sp>
        <p:nvSpPr>
          <p:cNvPr id="107" name="Text-938"/>
          <p:cNvSpPr txBox="1"/>
          <p:nvPr/>
        </p:nvSpPr>
        <p:spPr>
          <a:xfrm>
            <a:off x="9290304" y="508406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7</a:t>
            </a:r>
            <a:endParaRPr lang="en-US" sz="1000" dirty="0"/>
          </a:p>
        </p:txBody>
      </p:sp>
      <p:sp>
        <p:nvSpPr>
          <p:cNvPr id="108" name="Text-939"/>
          <p:cNvSpPr txBox="1"/>
          <p:nvPr/>
        </p:nvSpPr>
        <p:spPr>
          <a:xfrm>
            <a:off x="9290304" y="528523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Independent audit</a:t>
            </a:r>
            <a:endParaRPr lang="en-US" sz="1100" dirty="0"/>
          </a:p>
        </p:txBody>
      </p:sp>
      <p:sp>
        <p:nvSpPr>
          <p:cNvPr id="109" name="Frame-940"/>
          <p:cNvSpPr/>
          <p:nvPr/>
        </p:nvSpPr>
        <p:spPr>
          <a:xfrm>
            <a:off x="10451592" y="5047488"/>
            <a:ext cx="1143000" cy="1097280"/>
          </a:xfrm>
          <a:prstGeom prst="roundRect">
            <a:avLst>
              <a:gd name="adj" fmla="val 2500"/>
            </a:avLst>
          </a:prstGeom>
          <a:solidFill>
            <a:schemeClr val="bg1"/>
          </a:solidFill>
          <a:ln w="12700">
            <a:solidFill>
              <a:srgbClr val="0F3B45"/>
            </a:solidFill>
            <a:prstDash val="solid"/>
          </a:ln>
        </p:spPr>
        <p:txBody>
          <a:bodyPr/>
          <a:p/>
        </p:txBody>
      </p:sp>
      <p:sp>
        <p:nvSpPr>
          <p:cNvPr id="110" name="Text-941"/>
          <p:cNvSpPr txBox="1"/>
          <p:nvPr/>
        </p:nvSpPr>
        <p:spPr>
          <a:xfrm>
            <a:off x="10506456" y="5084064"/>
            <a:ext cx="274320" cy="201168"/>
          </a:xfrm>
          <a:prstGeom prst="rect">
            <a:avLst/>
          </a:prstGeom>
          <a:noFill/>
          <a:ln/>
        </p:spPr>
        <p:txBody>
          <a:bodyPr wrap="square" lIns="0" tIns="0" rIns="0" bIns="0" rtlCol="0" anchor="t"/>
          <a:lstStyle/>
          <a:p>
            <a:pPr indent="0" marL="0">
              <a:buNone/>
            </a:pPr>
            <a:r>
              <a:rPr lang="en-US" sz="1000" b="1" dirty="0">
                <a:solidFill>
                  <a:schemeClr val="accent6"/>
                </a:solidFill>
              </a:rPr>
              <a:t>8</a:t>
            </a:r>
            <a:endParaRPr lang="en-US" sz="1000" dirty="0"/>
          </a:p>
        </p:txBody>
      </p:sp>
      <p:sp>
        <p:nvSpPr>
          <p:cNvPr id="111" name="Text-942"/>
          <p:cNvSpPr txBox="1"/>
          <p:nvPr/>
        </p:nvSpPr>
        <p:spPr>
          <a:xfrm>
            <a:off x="10506456" y="5285232"/>
            <a:ext cx="1033272" cy="804672"/>
          </a:xfrm>
          <a:prstGeom prst="rect">
            <a:avLst/>
          </a:prstGeom>
          <a:noFill/>
          <a:ln/>
        </p:spPr>
        <p:txBody>
          <a:bodyPr wrap="square" lIns="0" tIns="0" rIns="0" bIns="0" rtlCol="0" anchor="ctr"/>
          <a:lstStyle/>
          <a:p>
            <a:pPr algn="ctr" indent="0" marL="0">
              <a:buNone/>
            </a:pPr>
            <a:r>
              <a:rPr lang="en-US" sz="1100" dirty="0">
                <a:solidFill>
                  <a:schemeClr val="tx1"/>
                </a:solidFill>
              </a:rPr>
              <a:t>Impact vs. field average</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3.6 · SOLUTION SKETCH 1/4</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The partnership statement</a:t>
            </a:r>
            <a:endParaRPr lang="en-US" sz="3200" dirty="0"/>
          </a:p>
        </p:txBody>
      </p:sp>
      <p:sp>
        <p:nvSpPr>
          <p:cNvPr id="4" name="Text-943"/>
          <p:cNvSpPr txBox="1"/>
          <p:nvPr/>
        </p:nvSpPr>
        <p:spPr>
          <a:xfrm>
            <a:off x="548640" y="1344168"/>
            <a:ext cx="11064240" cy="548640"/>
          </a:xfrm>
          <a:prstGeom prst="rect">
            <a:avLst/>
          </a:prstGeom>
          <a:noFill/>
          <a:ln/>
        </p:spPr>
        <p:txBody>
          <a:bodyPr wrap="square" lIns="0" tIns="0" rIns="0" bIns="0" rtlCol="0" anchor="t"/>
          <a:lstStyle/>
          <a:p>
            <a:pPr indent="0" marL="0">
              <a:buNone/>
            </a:pPr>
            <a:r>
              <a:rPr lang="en-US" sz="1500" i="1" dirty="0">
                <a:solidFill>
                  <a:schemeClr val="accent6"/>
                </a:solidFill>
              </a:rPr>
              <a:t>Every quarter, a sober, verifiable PDF statement – like one from your bank: list price, price paid, savings.</a:t>
            </a:r>
            <a:endParaRPr lang="en-US" sz="1500" dirty="0"/>
          </a:p>
        </p:txBody>
      </p:sp>
      <p:sp>
        <p:nvSpPr>
          <p:cNvPr id="5" name="Panel-944"/>
          <p:cNvSpPr/>
          <p:nvPr/>
        </p:nvSpPr>
        <p:spPr>
          <a:xfrm>
            <a:off x="685800"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6" name="PanelBar-945"/>
          <p:cNvSpPr/>
          <p:nvPr/>
        </p:nvSpPr>
        <p:spPr>
          <a:xfrm>
            <a:off x="713232" y="2130552"/>
            <a:ext cx="3383280" cy="237744"/>
          </a:xfrm>
          <a:prstGeom prst="rect">
            <a:avLst/>
          </a:prstGeom>
          <a:solidFill>
            <a:schemeClr val="bg2"/>
          </a:solidFill>
          <a:ln/>
        </p:spPr>
        <p:txBody>
          <a:bodyPr/>
          <a:p/>
        </p:txBody>
      </p:sp>
      <p:sp>
        <p:nvSpPr>
          <p:cNvPr id="7" name="Circle-946"/>
          <p:cNvSpPr/>
          <p:nvPr/>
        </p:nvSpPr>
        <p:spPr>
          <a:xfrm>
            <a:off x="3557016" y="2203704"/>
            <a:ext cx="82296" cy="82296"/>
          </a:xfrm>
          <a:prstGeom prst="ellipse">
            <a:avLst/>
          </a:prstGeom>
          <a:solidFill>
            <a:schemeClr val="accent3"/>
          </a:solidFill>
          <a:ln/>
        </p:spPr>
        <p:txBody>
          <a:bodyPr/>
          <a:p/>
        </p:txBody>
      </p:sp>
      <p:sp>
        <p:nvSpPr>
          <p:cNvPr id="8" name="Circle-947"/>
          <p:cNvSpPr/>
          <p:nvPr/>
        </p:nvSpPr>
        <p:spPr>
          <a:xfrm>
            <a:off x="3703320" y="2203704"/>
            <a:ext cx="82296" cy="82296"/>
          </a:xfrm>
          <a:prstGeom prst="ellipse">
            <a:avLst/>
          </a:prstGeom>
          <a:solidFill>
            <a:schemeClr val="accent6"/>
          </a:solidFill>
          <a:ln/>
        </p:spPr>
        <p:txBody>
          <a:bodyPr/>
          <a:p/>
        </p:txBody>
      </p:sp>
      <p:sp>
        <p:nvSpPr>
          <p:cNvPr id="9" name="Circle-948"/>
          <p:cNvSpPr/>
          <p:nvPr/>
        </p:nvSpPr>
        <p:spPr>
          <a:xfrm>
            <a:off x="3849624" y="2203704"/>
            <a:ext cx="82296" cy="82296"/>
          </a:xfrm>
          <a:prstGeom prst="ellipse">
            <a:avLst/>
          </a:prstGeom>
          <a:solidFill>
            <a:schemeClr val="accent6"/>
          </a:solidFill>
          <a:ln/>
        </p:spPr>
        <p:txBody>
          <a:bodyPr/>
          <a:p/>
        </p:txBody>
      </p:sp>
      <p:sp>
        <p:nvSpPr>
          <p:cNvPr id="10" name="Circle-949"/>
          <p:cNvSpPr/>
          <p:nvPr/>
        </p:nvSpPr>
        <p:spPr>
          <a:xfrm>
            <a:off x="539496" y="1956816"/>
            <a:ext cx="384048" cy="384048"/>
          </a:xfrm>
          <a:prstGeom prst="ellipse">
            <a:avLst/>
          </a:prstGeom>
          <a:solidFill>
            <a:schemeClr val="accent3"/>
          </a:solidFill>
          <a:ln/>
        </p:spPr>
        <p:txBody>
          <a:bodyPr/>
          <a:p/>
        </p:txBody>
      </p:sp>
      <p:sp>
        <p:nvSpPr>
          <p:cNvPr id="11" name="Text-950"/>
          <p:cNvSpPr txBox="1"/>
          <p:nvPr/>
        </p:nvSpPr>
        <p:spPr>
          <a:xfrm>
            <a:off x="539496"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951"/>
          <p:cNvSpPr txBox="1"/>
          <p:nvPr/>
        </p:nvSpPr>
        <p:spPr>
          <a:xfrm>
            <a:off x="850392"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Partnership statement Q3/2026</a:t>
            </a:r>
            <a:endParaRPr lang="en-US" sz="1300" dirty="0"/>
          </a:p>
        </p:txBody>
      </p:sp>
      <p:sp>
        <p:nvSpPr>
          <p:cNvPr id="13" name="Text-952"/>
          <p:cNvSpPr txBox="1"/>
          <p:nvPr/>
        </p:nvSpPr>
        <p:spPr>
          <a:xfrm>
            <a:off x="850392" y="2852928"/>
            <a:ext cx="3108960" cy="438912"/>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EUR 51,060</a:t>
            </a:r>
            <a:endParaRPr lang="en-US" sz="2400" dirty="0"/>
          </a:p>
        </p:txBody>
      </p:sp>
      <p:sp>
        <p:nvSpPr>
          <p:cNvPr id="14" name="Text-953"/>
          <p:cNvSpPr txBox="1"/>
          <p:nvPr/>
        </p:nvSpPr>
        <p:spPr>
          <a:xfrm>
            <a:off x="850392" y="3291840"/>
            <a:ext cx="3108960" cy="384048"/>
          </a:xfrm>
          <a:prstGeom prst="rect">
            <a:avLst/>
          </a:prstGeom>
          <a:noFill/>
          <a:ln/>
        </p:spPr>
        <p:txBody>
          <a:bodyPr wrap="square" lIns="0" tIns="0" rIns="0" bIns="0" rtlCol="0" anchor="t"/>
          <a:lstStyle/>
          <a:p>
            <a:pPr indent="0" marL="0">
              <a:buNone/>
            </a:pPr>
            <a:r>
              <a:rPr lang="en-US" sz="1100" dirty="0">
                <a:solidFill>
                  <a:schemeClr val="accent6"/>
                </a:solidFill>
              </a:rPr>
              <a:t>saved against list price (Jan–Sep)</a:t>
            </a:r>
            <a:endParaRPr lang="en-US" sz="1100" dirty="0"/>
          </a:p>
        </p:txBody>
      </p:sp>
      <p:sp>
        <p:nvSpPr>
          <p:cNvPr id="15" name="Text-954"/>
          <p:cNvSpPr txBox="1"/>
          <p:nvPr/>
        </p:nvSpPr>
        <p:spPr>
          <a:xfrm>
            <a:off x="850392" y="3675888"/>
            <a:ext cx="2051914" cy="301752"/>
          </a:xfrm>
          <a:prstGeom prst="rect">
            <a:avLst/>
          </a:prstGeom>
          <a:noFill/>
          <a:ln/>
        </p:spPr>
        <p:txBody>
          <a:bodyPr wrap="square" lIns="0" tIns="0" rIns="0" bIns="0" rtlCol="0" anchor="ctr"/>
          <a:lstStyle/>
          <a:p>
            <a:pPr indent="0" marL="0">
              <a:buNone/>
            </a:pPr>
            <a:r>
              <a:rPr lang="en-US" sz="1100" dirty="0">
                <a:solidFill>
                  <a:schemeClr val="tx1"/>
                </a:solidFill>
              </a:rPr>
              <a:t>Articles published</a:t>
            </a:r>
            <a:endParaRPr lang="en-US" sz="1100" dirty="0"/>
          </a:p>
        </p:txBody>
      </p:sp>
      <p:sp>
        <p:nvSpPr>
          <p:cNvPr id="16" name="Text-955"/>
          <p:cNvSpPr txBox="1"/>
          <p:nvPr/>
        </p:nvSpPr>
        <p:spPr>
          <a:xfrm>
            <a:off x="2715768" y="3675888"/>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138</a:t>
            </a:r>
            <a:endParaRPr lang="en-US" sz="1100" dirty="0"/>
          </a:p>
        </p:txBody>
      </p:sp>
      <p:sp>
        <p:nvSpPr>
          <p:cNvPr id="17" name="Line-956"/>
          <p:cNvSpPr/>
          <p:nvPr/>
        </p:nvSpPr>
        <p:spPr>
          <a:xfrm>
            <a:off x="850392" y="3977640"/>
            <a:ext cx="3108960" cy="0"/>
          </a:xfrm>
          <a:prstGeom prst="line">
            <a:avLst/>
          </a:prstGeom>
          <a:noFill/>
          <a:ln w="9525">
            <a:solidFill>
              <a:srgbClr val="D5E0E2"/>
            </a:solidFill>
            <a:prstDash val="solid"/>
          </a:ln>
        </p:spPr>
        <p:txBody>
          <a:bodyPr/>
          <a:p/>
        </p:txBody>
      </p:sp>
      <p:sp>
        <p:nvSpPr>
          <p:cNvPr id="18" name="Text-957"/>
          <p:cNvSpPr txBox="1"/>
          <p:nvPr/>
        </p:nvSpPr>
        <p:spPr>
          <a:xfrm>
            <a:off x="850392" y="4005072"/>
            <a:ext cx="2051914" cy="301752"/>
          </a:xfrm>
          <a:prstGeom prst="rect">
            <a:avLst/>
          </a:prstGeom>
          <a:noFill/>
          <a:ln/>
        </p:spPr>
        <p:txBody>
          <a:bodyPr wrap="square" lIns="0" tIns="0" rIns="0" bIns="0" rtlCol="0" anchor="ctr"/>
          <a:lstStyle/>
          <a:p>
            <a:pPr indent="0" marL="0">
              <a:buNone/>
            </a:pPr>
            <a:r>
              <a:rPr lang="en-US" sz="1100" dirty="0">
                <a:solidFill>
                  <a:schemeClr val="tx1"/>
                </a:solidFill>
              </a:rPr>
              <a:t>Avg. list price APC</a:t>
            </a:r>
            <a:endParaRPr lang="en-US" sz="1100" dirty="0"/>
          </a:p>
        </p:txBody>
      </p:sp>
      <p:sp>
        <p:nvSpPr>
          <p:cNvPr id="19" name="Text-958"/>
          <p:cNvSpPr txBox="1"/>
          <p:nvPr/>
        </p:nvSpPr>
        <p:spPr>
          <a:xfrm>
            <a:off x="2715768" y="4005072"/>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EUR 2,450</a:t>
            </a:r>
            <a:endParaRPr lang="en-US" sz="1100" dirty="0"/>
          </a:p>
        </p:txBody>
      </p:sp>
      <p:sp>
        <p:nvSpPr>
          <p:cNvPr id="20" name="Line-959"/>
          <p:cNvSpPr/>
          <p:nvPr/>
        </p:nvSpPr>
        <p:spPr>
          <a:xfrm>
            <a:off x="850392" y="4306824"/>
            <a:ext cx="3108960" cy="0"/>
          </a:xfrm>
          <a:prstGeom prst="line">
            <a:avLst/>
          </a:prstGeom>
          <a:noFill/>
          <a:ln w="9525">
            <a:solidFill>
              <a:srgbClr val="D5E0E2"/>
            </a:solidFill>
            <a:prstDash val="solid"/>
          </a:ln>
        </p:spPr>
        <p:txBody>
          <a:bodyPr/>
          <a:p/>
        </p:txBody>
      </p:sp>
      <p:sp>
        <p:nvSpPr>
          <p:cNvPr id="21" name="Text-960"/>
          <p:cNvSpPr txBox="1"/>
          <p:nvPr/>
        </p:nvSpPr>
        <p:spPr>
          <a:xfrm>
            <a:off x="850392" y="4334256"/>
            <a:ext cx="2051914" cy="301752"/>
          </a:xfrm>
          <a:prstGeom prst="rect">
            <a:avLst/>
          </a:prstGeom>
          <a:noFill/>
          <a:ln/>
        </p:spPr>
        <p:txBody>
          <a:bodyPr wrap="square" lIns="0" tIns="0" rIns="0" bIns="0" rtlCol="0" anchor="ctr"/>
          <a:lstStyle/>
          <a:p>
            <a:pPr indent="0" marL="0">
              <a:buNone/>
            </a:pPr>
            <a:r>
              <a:rPr lang="en-US" sz="1100" dirty="0">
                <a:solidFill>
                  <a:schemeClr val="tx1"/>
                </a:solidFill>
              </a:rPr>
              <a:t>Avg. paid</a:t>
            </a:r>
            <a:endParaRPr lang="en-US" sz="1100" dirty="0"/>
          </a:p>
        </p:txBody>
      </p:sp>
      <p:sp>
        <p:nvSpPr>
          <p:cNvPr id="22" name="Text-961"/>
          <p:cNvSpPr txBox="1"/>
          <p:nvPr/>
        </p:nvSpPr>
        <p:spPr>
          <a:xfrm>
            <a:off x="2715768" y="4334256"/>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EUR 2,080</a:t>
            </a:r>
            <a:endParaRPr lang="en-US" sz="1100" dirty="0"/>
          </a:p>
        </p:txBody>
      </p:sp>
      <p:sp>
        <p:nvSpPr>
          <p:cNvPr id="23" name="Line-962"/>
          <p:cNvSpPr/>
          <p:nvPr/>
        </p:nvSpPr>
        <p:spPr>
          <a:xfrm>
            <a:off x="850392" y="4636008"/>
            <a:ext cx="3108960" cy="0"/>
          </a:xfrm>
          <a:prstGeom prst="line">
            <a:avLst/>
          </a:prstGeom>
          <a:noFill/>
          <a:ln w="9525">
            <a:solidFill>
              <a:srgbClr val="D5E0E2"/>
            </a:solidFill>
            <a:prstDash val="solid"/>
          </a:ln>
        </p:spPr>
        <p:txBody>
          <a:bodyPr/>
          <a:p/>
        </p:txBody>
      </p:sp>
      <p:sp>
        <p:nvSpPr>
          <p:cNvPr id="24" name="Text-963"/>
          <p:cNvSpPr txBox="1"/>
          <p:nvPr/>
        </p:nvSpPr>
        <p:spPr>
          <a:xfrm>
            <a:off x="685800"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Quarterly statement lands in the inbox automatically</a:t>
            </a:r>
            <a:endParaRPr lang="en-US" sz="1200" dirty="0"/>
          </a:p>
        </p:txBody>
      </p:sp>
      <p:sp>
        <p:nvSpPr>
          <p:cNvPr id="25" name="Panel-964"/>
          <p:cNvSpPr/>
          <p:nvPr/>
        </p:nvSpPr>
        <p:spPr>
          <a:xfrm>
            <a:off x="4443984"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26" name="PanelBar-965"/>
          <p:cNvSpPr/>
          <p:nvPr/>
        </p:nvSpPr>
        <p:spPr>
          <a:xfrm>
            <a:off x="4471416" y="2130552"/>
            <a:ext cx="3383280" cy="237744"/>
          </a:xfrm>
          <a:prstGeom prst="rect">
            <a:avLst/>
          </a:prstGeom>
          <a:solidFill>
            <a:schemeClr val="bg2"/>
          </a:solidFill>
          <a:ln/>
        </p:spPr>
        <p:txBody>
          <a:bodyPr/>
          <a:p/>
        </p:txBody>
      </p:sp>
      <p:sp>
        <p:nvSpPr>
          <p:cNvPr id="27" name="Circle-966"/>
          <p:cNvSpPr/>
          <p:nvPr/>
        </p:nvSpPr>
        <p:spPr>
          <a:xfrm>
            <a:off x="7315200" y="2203704"/>
            <a:ext cx="82296" cy="82296"/>
          </a:xfrm>
          <a:prstGeom prst="ellipse">
            <a:avLst/>
          </a:prstGeom>
          <a:solidFill>
            <a:schemeClr val="accent3"/>
          </a:solidFill>
          <a:ln/>
        </p:spPr>
        <p:txBody>
          <a:bodyPr/>
          <a:p/>
        </p:txBody>
      </p:sp>
      <p:sp>
        <p:nvSpPr>
          <p:cNvPr id="28" name="Circle-967"/>
          <p:cNvSpPr/>
          <p:nvPr/>
        </p:nvSpPr>
        <p:spPr>
          <a:xfrm>
            <a:off x="7461504" y="2203704"/>
            <a:ext cx="82296" cy="82296"/>
          </a:xfrm>
          <a:prstGeom prst="ellipse">
            <a:avLst/>
          </a:prstGeom>
          <a:solidFill>
            <a:schemeClr val="accent6"/>
          </a:solidFill>
          <a:ln/>
        </p:spPr>
        <p:txBody>
          <a:bodyPr/>
          <a:p/>
        </p:txBody>
      </p:sp>
      <p:sp>
        <p:nvSpPr>
          <p:cNvPr id="29" name="Circle-968"/>
          <p:cNvSpPr/>
          <p:nvPr/>
        </p:nvSpPr>
        <p:spPr>
          <a:xfrm>
            <a:off x="7607808" y="2203704"/>
            <a:ext cx="82296" cy="82296"/>
          </a:xfrm>
          <a:prstGeom prst="ellipse">
            <a:avLst/>
          </a:prstGeom>
          <a:solidFill>
            <a:schemeClr val="accent6"/>
          </a:solidFill>
          <a:ln/>
        </p:spPr>
        <p:txBody>
          <a:bodyPr/>
          <a:p/>
        </p:txBody>
      </p:sp>
      <p:sp>
        <p:nvSpPr>
          <p:cNvPr id="30" name="Circle-969"/>
          <p:cNvSpPr/>
          <p:nvPr/>
        </p:nvSpPr>
        <p:spPr>
          <a:xfrm>
            <a:off x="4297680" y="1956816"/>
            <a:ext cx="384048" cy="384048"/>
          </a:xfrm>
          <a:prstGeom prst="ellipse">
            <a:avLst/>
          </a:prstGeom>
          <a:solidFill>
            <a:schemeClr val="accent3"/>
          </a:solidFill>
          <a:ln/>
        </p:spPr>
        <p:txBody>
          <a:bodyPr/>
          <a:p/>
        </p:txBody>
      </p:sp>
      <p:sp>
        <p:nvSpPr>
          <p:cNvPr id="31" name="Text-970"/>
          <p:cNvSpPr txBox="1"/>
          <p:nvPr/>
        </p:nvSpPr>
        <p:spPr>
          <a:xfrm>
            <a:off x="4297680"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2" name="Text-971"/>
          <p:cNvSpPr txBox="1"/>
          <p:nvPr/>
        </p:nvSpPr>
        <p:spPr>
          <a:xfrm>
            <a:off x="4608576"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How we calculate</a:t>
            </a:r>
            <a:endParaRPr lang="en-US" sz="1300" dirty="0"/>
          </a:p>
        </p:txBody>
      </p:sp>
      <p:sp>
        <p:nvSpPr>
          <p:cNvPr id="33" name="Text-972"/>
          <p:cNvSpPr txBox="1"/>
          <p:nvPr/>
        </p:nvSpPr>
        <p:spPr>
          <a:xfrm>
            <a:off x="4608576" y="2852928"/>
            <a:ext cx="3108960" cy="868680"/>
          </a:xfrm>
          <a:prstGeom prst="rect">
            <a:avLst/>
          </a:prstGeom>
          <a:noFill/>
          <a:ln/>
        </p:spPr>
        <p:txBody>
          <a:bodyPr wrap="square" lIns="0" tIns="0" rIns="0" bIns="0" rtlCol="0" anchor="t"/>
          <a:lstStyle/>
          <a:p>
            <a:pPr indent="0" marL="0">
              <a:buNone/>
            </a:pPr>
            <a:r>
              <a:rPr lang="en-US" sz="1100" i="1" dirty="0">
                <a:solidFill>
                  <a:schemeClr val="accent6"/>
                </a:solidFill>
              </a:rPr>
              <a:t>Savings = list price − price paid per article. Source: Manuscripta invoices, as of 30 Sep 2026.</a:t>
            </a:r>
            <a:endParaRPr lang="en-US" sz="1100" dirty="0"/>
          </a:p>
        </p:txBody>
      </p:sp>
      <p:sp>
        <p:nvSpPr>
          <p:cNvPr id="34" name="Line-973"/>
          <p:cNvSpPr/>
          <p:nvPr/>
        </p:nvSpPr>
        <p:spPr>
          <a:xfrm>
            <a:off x="4608576" y="3767328"/>
            <a:ext cx="2953512" cy="54864"/>
          </a:xfrm>
          <a:prstGeom prst="rect">
            <a:avLst/>
          </a:prstGeom>
          <a:solidFill>
            <a:srgbClr val="C9D5D8"/>
          </a:solidFill>
          <a:ln/>
        </p:spPr>
        <p:txBody>
          <a:bodyPr/>
          <a:p/>
        </p:txBody>
      </p:sp>
      <p:sp>
        <p:nvSpPr>
          <p:cNvPr id="35" name="Line-974"/>
          <p:cNvSpPr/>
          <p:nvPr/>
        </p:nvSpPr>
        <p:spPr>
          <a:xfrm>
            <a:off x="4608576" y="3904488"/>
            <a:ext cx="2487168" cy="54864"/>
          </a:xfrm>
          <a:prstGeom prst="rect">
            <a:avLst/>
          </a:prstGeom>
          <a:solidFill>
            <a:srgbClr val="C9D5D8"/>
          </a:solidFill>
          <a:ln/>
        </p:spPr>
        <p:txBody>
          <a:bodyPr/>
          <a:p/>
        </p:txBody>
      </p:sp>
      <p:sp>
        <p:nvSpPr>
          <p:cNvPr id="36" name="Line-975"/>
          <p:cNvSpPr/>
          <p:nvPr/>
        </p:nvSpPr>
        <p:spPr>
          <a:xfrm>
            <a:off x="4608576" y="4041648"/>
            <a:ext cx="2798064" cy="54864"/>
          </a:xfrm>
          <a:prstGeom prst="rect">
            <a:avLst/>
          </a:prstGeom>
          <a:solidFill>
            <a:srgbClr val="C9D5D8"/>
          </a:solidFill>
          <a:ln/>
        </p:spPr>
        <p:txBody>
          <a:bodyPr/>
          <a:p/>
        </p:txBody>
      </p:sp>
      <p:sp>
        <p:nvSpPr>
          <p:cNvPr id="37" name="Button-976"/>
          <p:cNvSpPr/>
          <p:nvPr/>
        </p:nvSpPr>
        <p:spPr>
          <a:xfrm>
            <a:off x="4608576" y="4242816"/>
            <a:ext cx="3108960" cy="329184"/>
          </a:xfrm>
          <a:prstGeom prst="roundRect">
            <a:avLst>
              <a:gd name="adj" fmla="val 27778"/>
            </a:avLst>
          </a:prstGeom>
          <a:solidFill>
            <a:schemeClr val="accent1"/>
          </a:solidFill>
          <a:ln/>
        </p:spPr>
        <p:txBody>
          <a:bodyPr/>
          <a:p/>
        </p:txBody>
      </p:sp>
      <p:sp>
        <p:nvSpPr>
          <p:cNvPr id="38" name="Text-977"/>
          <p:cNvSpPr txBox="1"/>
          <p:nvPr/>
        </p:nvSpPr>
        <p:spPr>
          <a:xfrm>
            <a:off x="4608576" y="4242816"/>
            <a:ext cx="3108960" cy="329184"/>
          </a:xfrm>
          <a:prstGeom prst="rect">
            <a:avLst/>
          </a:prstGeom>
          <a:noFill/>
          <a:ln/>
        </p:spPr>
        <p:txBody>
          <a:bodyPr wrap="square" lIns="0" tIns="0" rIns="0" bIns="0" rtlCol="0" anchor="ctr"/>
          <a:lstStyle/>
          <a:p>
            <a:pPr algn="ctr" indent="0" marL="0">
              <a:buNone/>
            </a:pPr>
            <a:r>
              <a:rPr lang="en-US" sz="1100" b="1" dirty="0">
                <a:solidFill>
                  <a:schemeClr val="bg1"/>
                </a:solidFill>
              </a:rPr>
              <a:t>Raw data as CSV</a:t>
            </a:r>
            <a:endParaRPr lang="en-US" sz="1100" dirty="0"/>
          </a:p>
        </p:txBody>
      </p:sp>
      <p:sp>
        <p:nvSpPr>
          <p:cNvPr id="39" name="Text-978"/>
          <p:cNvSpPr txBox="1"/>
          <p:nvPr/>
        </p:nvSpPr>
        <p:spPr>
          <a:xfrm>
            <a:off x="4443984"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Every figure can be traced</a:t>
            </a:r>
            <a:endParaRPr lang="en-US" sz="1200" dirty="0"/>
          </a:p>
        </p:txBody>
      </p:sp>
      <p:sp>
        <p:nvSpPr>
          <p:cNvPr id="40" name="Panel-979"/>
          <p:cNvSpPr/>
          <p:nvPr/>
        </p:nvSpPr>
        <p:spPr>
          <a:xfrm>
            <a:off x="8202168"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41" name="PanelBar-980"/>
          <p:cNvSpPr/>
          <p:nvPr/>
        </p:nvSpPr>
        <p:spPr>
          <a:xfrm>
            <a:off x="8229600" y="2130552"/>
            <a:ext cx="3383280" cy="237744"/>
          </a:xfrm>
          <a:prstGeom prst="rect">
            <a:avLst/>
          </a:prstGeom>
          <a:solidFill>
            <a:schemeClr val="bg2"/>
          </a:solidFill>
          <a:ln/>
        </p:spPr>
        <p:txBody>
          <a:bodyPr/>
          <a:p/>
        </p:txBody>
      </p:sp>
      <p:sp>
        <p:nvSpPr>
          <p:cNvPr id="42" name="Circle-981"/>
          <p:cNvSpPr/>
          <p:nvPr/>
        </p:nvSpPr>
        <p:spPr>
          <a:xfrm>
            <a:off x="11073384" y="2203704"/>
            <a:ext cx="82296" cy="82296"/>
          </a:xfrm>
          <a:prstGeom prst="ellipse">
            <a:avLst/>
          </a:prstGeom>
          <a:solidFill>
            <a:schemeClr val="accent3"/>
          </a:solidFill>
          <a:ln/>
        </p:spPr>
        <p:txBody>
          <a:bodyPr/>
          <a:p/>
        </p:txBody>
      </p:sp>
      <p:sp>
        <p:nvSpPr>
          <p:cNvPr id="43" name="Circle-982"/>
          <p:cNvSpPr/>
          <p:nvPr/>
        </p:nvSpPr>
        <p:spPr>
          <a:xfrm>
            <a:off x="11219688" y="2203704"/>
            <a:ext cx="82296" cy="82296"/>
          </a:xfrm>
          <a:prstGeom prst="ellipse">
            <a:avLst/>
          </a:prstGeom>
          <a:solidFill>
            <a:schemeClr val="accent6"/>
          </a:solidFill>
          <a:ln/>
        </p:spPr>
        <p:txBody>
          <a:bodyPr/>
          <a:p/>
        </p:txBody>
      </p:sp>
      <p:sp>
        <p:nvSpPr>
          <p:cNvPr id="44" name="Circle-983"/>
          <p:cNvSpPr/>
          <p:nvPr/>
        </p:nvSpPr>
        <p:spPr>
          <a:xfrm>
            <a:off x="11365992" y="2203704"/>
            <a:ext cx="82296" cy="82296"/>
          </a:xfrm>
          <a:prstGeom prst="ellipse">
            <a:avLst/>
          </a:prstGeom>
          <a:solidFill>
            <a:schemeClr val="accent6"/>
          </a:solidFill>
          <a:ln/>
        </p:spPr>
        <p:txBody>
          <a:bodyPr/>
          <a:p/>
        </p:txBody>
      </p:sp>
      <p:sp>
        <p:nvSpPr>
          <p:cNvPr id="45" name="Circle-984"/>
          <p:cNvSpPr/>
          <p:nvPr/>
        </p:nvSpPr>
        <p:spPr>
          <a:xfrm>
            <a:off x="8055864" y="1956816"/>
            <a:ext cx="384048" cy="384048"/>
          </a:xfrm>
          <a:prstGeom prst="ellipse">
            <a:avLst/>
          </a:prstGeom>
          <a:solidFill>
            <a:schemeClr val="accent3"/>
          </a:solidFill>
          <a:ln/>
        </p:spPr>
        <p:txBody>
          <a:bodyPr/>
          <a:p/>
        </p:txBody>
      </p:sp>
      <p:sp>
        <p:nvSpPr>
          <p:cNvPr id="46" name="Text-985"/>
          <p:cNvSpPr txBox="1"/>
          <p:nvPr/>
        </p:nvSpPr>
        <p:spPr>
          <a:xfrm>
            <a:off x="8055864"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7" name="Text-986"/>
          <p:cNvSpPr txBox="1"/>
          <p:nvPr/>
        </p:nvSpPr>
        <p:spPr>
          <a:xfrm>
            <a:off x="8366760"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Forecast 2027</a:t>
            </a:r>
            <a:endParaRPr lang="en-US" sz="1300" dirty="0"/>
          </a:p>
        </p:txBody>
      </p:sp>
      <p:sp>
        <p:nvSpPr>
          <p:cNvPr id="48" name="Bar-987"/>
          <p:cNvSpPr/>
          <p:nvPr/>
        </p:nvSpPr>
        <p:spPr>
          <a:xfrm>
            <a:off x="8366760" y="3360004"/>
            <a:ext cx="681228" cy="425612"/>
          </a:xfrm>
          <a:prstGeom prst="rect">
            <a:avLst/>
          </a:prstGeom>
          <a:solidFill>
            <a:schemeClr val="bg2"/>
          </a:solidFill>
          <a:ln w="9525">
            <a:solidFill>
              <a:srgbClr val="B8C7CA"/>
            </a:solidFill>
            <a:prstDash val="solid"/>
          </a:ln>
        </p:spPr>
        <p:txBody>
          <a:bodyPr/>
          <a:p/>
        </p:txBody>
      </p:sp>
      <p:sp>
        <p:nvSpPr>
          <p:cNvPr id="49" name="Text-988"/>
          <p:cNvSpPr txBox="1"/>
          <p:nvPr/>
        </p:nvSpPr>
        <p:spPr>
          <a:xfrm>
            <a:off x="8321040" y="3158836"/>
            <a:ext cx="772668" cy="201168"/>
          </a:xfrm>
          <a:prstGeom prst="rect">
            <a:avLst/>
          </a:prstGeom>
          <a:noFill/>
          <a:ln/>
        </p:spPr>
        <p:txBody>
          <a:bodyPr wrap="square" lIns="0" tIns="0" rIns="0" bIns="0" rtlCol="0" anchor="t"/>
          <a:lstStyle/>
          <a:p>
            <a:pPr algn="ctr" indent="0" marL="0">
              <a:buNone/>
            </a:pPr>
            <a:r>
              <a:rPr lang="en-US" sz="1000" dirty="0">
                <a:solidFill>
                  <a:schemeClr val="tx2"/>
                </a:solidFill>
              </a:rPr>
              <a:t>94</a:t>
            </a:r>
            <a:endParaRPr lang="en-US" sz="1000" dirty="0"/>
          </a:p>
        </p:txBody>
      </p:sp>
      <p:sp>
        <p:nvSpPr>
          <p:cNvPr id="50" name="Text-989"/>
          <p:cNvSpPr txBox="1"/>
          <p:nvPr/>
        </p:nvSpPr>
        <p:spPr>
          <a:xfrm>
            <a:off x="8293608" y="3803904"/>
            <a:ext cx="827532" cy="219456"/>
          </a:xfrm>
          <a:prstGeom prst="rect">
            <a:avLst/>
          </a:prstGeom>
          <a:noFill/>
          <a:ln/>
        </p:spPr>
        <p:txBody>
          <a:bodyPr wrap="square" lIns="0" tIns="0" rIns="0" bIns="0" rtlCol="0" anchor="t"/>
          <a:lstStyle/>
          <a:p>
            <a:pPr algn="ctr" indent="0" marL="0">
              <a:buNone/>
            </a:pPr>
            <a:r>
              <a:rPr lang="en-US" sz="1000" dirty="0">
                <a:solidFill>
                  <a:schemeClr val="accent6"/>
                </a:solidFill>
              </a:rPr>
              <a:t>2024</a:t>
            </a:r>
            <a:endParaRPr lang="en-US" sz="1000" dirty="0"/>
          </a:p>
        </p:txBody>
      </p:sp>
      <p:sp>
        <p:nvSpPr>
          <p:cNvPr id="51" name="Bar-990"/>
          <p:cNvSpPr/>
          <p:nvPr/>
        </p:nvSpPr>
        <p:spPr>
          <a:xfrm>
            <a:off x="9176004" y="3249168"/>
            <a:ext cx="681228" cy="536448"/>
          </a:xfrm>
          <a:prstGeom prst="rect">
            <a:avLst/>
          </a:prstGeom>
          <a:solidFill>
            <a:schemeClr val="bg2"/>
          </a:solidFill>
          <a:ln w="9525">
            <a:solidFill>
              <a:srgbClr val="B8C7CA"/>
            </a:solidFill>
            <a:prstDash val="solid"/>
          </a:ln>
        </p:spPr>
        <p:txBody>
          <a:bodyPr/>
          <a:p/>
        </p:txBody>
      </p:sp>
      <p:sp>
        <p:nvSpPr>
          <p:cNvPr id="52" name="Text-991"/>
          <p:cNvSpPr txBox="1"/>
          <p:nvPr/>
        </p:nvSpPr>
        <p:spPr>
          <a:xfrm>
            <a:off x="9130284" y="3048000"/>
            <a:ext cx="772668" cy="201168"/>
          </a:xfrm>
          <a:prstGeom prst="rect">
            <a:avLst/>
          </a:prstGeom>
          <a:noFill/>
          <a:ln/>
        </p:spPr>
        <p:txBody>
          <a:bodyPr wrap="square" lIns="0" tIns="0" rIns="0" bIns="0" rtlCol="0" anchor="t"/>
          <a:lstStyle/>
          <a:p>
            <a:pPr algn="ctr" indent="0" marL="0">
              <a:buNone/>
            </a:pPr>
            <a:r>
              <a:rPr lang="en-US" sz="1000" dirty="0">
                <a:solidFill>
                  <a:schemeClr val="tx2"/>
                </a:solidFill>
              </a:rPr>
              <a:t>118</a:t>
            </a:r>
            <a:endParaRPr lang="en-US" sz="1000" dirty="0"/>
          </a:p>
        </p:txBody>
      </p:sp>
      <p:sp>
        <p:nvSpPr>
          <p:cNvPr id="53" name="Text-992"/>
          <p:cNvSpPr txBox="1"/>
          <p:nvPr/>
        </p:nvSpPr>
        <p:spPr>
          <a:xfrm>
            <a:off x="9102852" y="3803904"/>
            <a:ext cx="827532" cy="219456"/>
          </a:xfrm>
          <a:prstGeom prst="rect">
            <a:avLst/>
          </a:prstGeom>
          <a:noFill/>
          <a:ln/>
        </p:spPr>
        <p:txBody>
          <a:bodyPr wrap="square" lIns="0" tIns="0" rIns="0" bIns="0" rtlCol="0" anchor="t"/>
          <a:lstStyle/>
          <a:p>
            <a:pPr algn="ctr" indent="0" marL="0">
              <a:buNone/>
            </a:pPr>
            <a:r>
              <a:rPr lang="en-US" sz="1000" dirty="0">
                <a:solidFill>
                  <a:schemeClr val="accent6"/>
                </a:solidFill>
              </a:rPr>
              <a:t>2025</a:t>
            </a:r>
            <a:endParaRPr lang="en-US" sz="1000" dirty="0"/>
          </a:p>
        </p:txBody>
      </p:sp>
      <p:sp>
        <p:nvSpPr>
          <p:cNvPr id="54" name="Bar-993"/>
          <p:cNvSpPr/>
          <p:nvPr/>
        </p:nvSpPr>
        <p:spPr>
          <a:xfrm>
            <a:off x="9985248" y="3156065"/>
            <a:ext cx="681228" cy="629551"/>
          </a:xfrm>
          <a:prstGeom prst="rect">
            <a:avLst/>
          </a:prstGeom>
          <a:solidFill>
            <a:schemeClr val="bg2"/>
          </a:solidFill>
          <a:ln w="9525">
            <a:solidFill>
              <a:srgbClr val="B8C7CA"/>
            </a:solidFill>
            <a:prstDash val="solid"/>
          </a:ln>
        </p:spPr>
        <p:txBody>
          <a:bodyPr/>
          <a:p/>
        </p:txBody>
      </p:sp>
      <p:sp>
        <p:nvSpPr>
          <p:cNvPr id="55" name="Text-994"/>
          <p:cNvSpPr txBox="1"/>
          <p:nvPr/>
        </p:nvSpPr>
        <p:spPr>
          <a:xfrm>
            <a:off x="9939528" y="2954897"/>
            <a:ext cx="772668" cy="201168"/>
          </a:xfrm>
          <a:prstGeom prst="rect">
            <a:avLst/>
          </a:prstGeom>
          <a:noFill/>
          <a:ln/>
        </p:spPr>
        <p:txBody>
          <a:bodyPr wrap="square" lIns="0" tIns="0" rIns="0" bIns="0" rtlCol="0" anchor="t"/>
          <a:lstStyle/>
          <a:p>
            <a:pPr algn="ctr" indent="0" marL="0">
              <a:buNone/>
            </a:pPr>
            <a:r>
              <a:rPr lang="en-US" sz="1000" dirty="0">
                <a:solidFill>
                  <a:schemeClr val="tx2"/>
                </a:solidFill>
              </a:rPr>
              <a:t>138</a:t>
            </a:r>
            <a:endParaRPr lang="en-US" sz="1000" dirty="0"/>
          </a:p>
        </p:txBody>
      </p:sp>
      <p:sp>
        <p:nvSpPr>
          <p:cNvPr id="56" name="Text-995"/>
          <p:cNvSpPr txBox="1"/>
          <p:nvPr/>
        </p:nvSpPr>
        <p:spPr>
          <a:xfrm>
            <a:off x="9912096" y="3803904"/>
            <a:ext cx="827532" cy="219456"/>
          </a:xfrm>
          <a:prstGeom prst="rect">
            <a:avLst/>
          </a:prstGeom>
          <a:noFill/>
          <a:ln/>
        </p:spPr>
        <p:txBody>
          <a:bodyPr wrap="square" lIns="0" tIns="0" rIns="0" bIns="0" rtlCol="0" anchor="t"/>
          <a:lstStyle/>
          <a:p>
            <a:pPr algn="ctr" indent="0" marL="0">
              <a:buNone/>
            </a:pPr>
            <a:r>
              <a:rPr lang="en-US" sz="1000" dirty="0">
                <a:solidFill>
                  <a:schemeClr val="accent6"/>
                </a:solidFill>
              </a:rPr>
              <a:t>2026</a:t>
            </a:r>
            <a:endParaRPr lang="en-US" sz="1000" dirty="0"/>
          </a:p>
        </p:txBody>
      </p:sp>
      <p:sp>
        <p:nvSpPr>
          <p:cNvPr id="57" name="Bar-996"/>
          <p:cNvSpPr/>
          <p:nvPr/>
        </p:nvSpPr>
        <p:spPr>
          <a:xfrm>
            <a:off x="10794492" y="3054096"/>
            <a:ext cx="681228" cy="731520"/>
          </a:xfrm>
          <a:prstGeom prst="rect">
            <a:avLst/>
          </a:prstGeom>
          <a:solidFill>
            <a:schemeClr val="accent1"/>
          </a:solidFill>
          <a:ln/>
        </p:spPr>
        <p:txBody>
          <a:bodyPr/>
          <a:p/>
        </p:txBody>
      </p:sp>
      <p:sp>
        <p:nvSpPr>
          <p:cNvPr id="58" name="Text-997"/>
          <p:cNvSpPr txBox="1"/>
          <p:nvPr/>
        </p:nvSpPr>
        <p:spPr>
          <a:xfrm>
            <a:off x="10748772" y="2852928"/>
            <a:ext cx="772668" cy="201168"/>
          </a:xfrm>
          <a:prstGeom prst="rect">
            <a:avLst/>
          </a:prstGeom>
          <a:noFill/>
          <a:ln/>
        </p:spPr>
        <p:txBody>
          <a:bodyPr wrap="square" lIns="0" tIns="0" rIns="0" bIns="0" rtlCol="0" anchor="t"/>
          <a:lstStyle/>
          <a:p>
            <a:pPr algn="ctr" indent="0" marL="0">
              <a:buNone/>
            </a:pPr>
            <a:r>
              <a:rPr lang="en-US" sz="1000" b="1" dirty="0">
                <a:solidFill>
                  <a:schemeClr val="tx2"/>
                </a:solidFill>
              </a:rPr>
              <a:t>162</a:t>
            </a:r>
            <a:endParaRPr lang="en-US" sz="1000" dirty="0"/>
          </a:p>
        </p:txBody>
      </p:sp>
      <p:sp>
        <p:nvSpPr>
          <p:cNvPr id="59" name="Text-998"/>
          <p:cNvSpPr txBox="1"/>
          <p:nvPr/>
        </p:nvSpPr>
        <p:spPr>
          <a:xfrm>
            <a:off x="10721340" y="3803904"/>
            <a:ext cx="827532" cy="219456"/>
          </a:xfrm>
          <a:prstGeom prst="rect">
            <a:avLst/>
          </a:prstGeom>
          <a:noFill/>
          <a:ln/>
        </p:spPr>
        <p:txBody>
          <a:bodyPr wrap="square" lIns="0" tIns="0" rIns="0" bIns="0" rtlCol="0" anchor="t"/>
          <a:lstStyle/>
          <a:p>
            <a:pPr algn="ctr" indent="0" marL="0">
              <a:buNone/>
            </a:pPr>
            <a:r>
              <a:rPr lang="en-US" sz="1000" dirty="0">
                <a:solidFill>
                  <a:schemeClr val="accent6"/>
                </a:solidFill>
              </a:rPr>
              <a:t>2027F</a:t>
            </a:r>
            <a:endParaRPr lang="en-US" sz="1000" dirty="0"/>
          </a:p>
        </p:txBody>
      </p:sp>
      <p:sp>
        <p:nvSpPr>
          <p:cNvPr id="60" name="Text-999"/>
          <p:cNvSpPr txBox="1"/>
          <p:nvPr/>
        </p:nvSpPr>
        <p:spPr>
          <a:xfrm>
            <a:off x="8366760" y="4087368"/>
            <a:ext cx="2051914" cy="301752"/>
          </a:xfrm>
          <a:prstGeom prst="rect">
            <a:avLst/>
          </a:prstGeom>
          <a:noFill/>
          <a:ln/>
        </p:spPr>
        <p:txBody>
          <a:bodyPr wrap="square" lIns="0" tIns="0" rIns="0" bIns="0" rtlCol="0" anchor="ctr"/>
          <a:lstStyle/>
          <a:p>
            <a:pPr indent="0" marL="0">
              <a:buNone/>
            </a:pPr>
            <a:r>
              <a:rPr lang="en-US" sz="1100" dirty="0">
                <a:solidFill>
                  <a:schemeClr val="tx1"/>
                </a:solidFill>
              </a:rPr>
              <a:t>Scenario: prepayment top-up</a:t>
            </a:r>
            <a:endParaRPr lang="en-US" sz="1100" dirty="0"/>
          </a:p>
        </p:txBody>
      </p:sp>
      <p:sp>
        <p:nvSpPr>
          <p:cNvPr id="61" name="Text-1000"/>
          <p:cNvSpPr txBox="1"/>
          <p:nvPr/>
        </p:nvSpPr>
        <p:spPr>
          <a:xfrm>
            <a:off x="10232136" y="4087368"/>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predictable</a:t>
            </a:r>
            <a:endParaRPr lang="en-US" sz="1100" dirty="0"/>
          </a:p>
        </p:txBody>
      </p:sp>
      <p:sp>
        <p:nvSpPr>
          <p:cNvPr id="62" name="Line-1001"/>
          <p:cNvSpPr/>
          <p:nvPr/>
        </p:nvSpPr>
        <p:spPr>
          <a:xfrm>
            <a:off x="8366760" y="4389120"/>
            <a:ext cx="3108960" cy="0"/>
          </a:xfrm>
          <a:prstGeom prst="line">
            <a:avLst/>
          </a:prstGeom>
          <a:noFill/>
          <a:ln w="9525">
            <a:solidFill>
              <a:srgbClr val="D5E0E2"/>
            </a:solidFill>
            <a:prstDash val="solid"/>
          </a:ln>
        </p:spPr>
        <p:txBody>
          <a:bodyPr/>
          <a:p/>
        </p:txBody>
      </p:sp>
      <p:sp>
        <p:nvSpPr>
          <p:cNvPr id="63" name="Button-1002"/>
          <p:cNvSpPr/>
          <p:nvPr/>
        </p:nvSpPr>
        <p:spPr>
          <a:xfrm>
            <a:off x="8366760" y="4453128"/>
            <a:ext cx="3108960" cy="329184"/>
          </a:xfrm>
          <a:prstGeom prst="roundRect">
            <a:avLst>
              <a:gd name="adj" fmla="val 27778"/>
            </a:avLst>
          </a:prstGeom>
          <a:solidFill>
            <a:schemeClr val="accent1"/>
          </a:solidFill>
          <a:ln/>
        </p:spPr>
        <p:txBody>
          <a:bodyPr/>
          <a:p/>
        </p:txBody>
      </p:sp>
      <p:sp>
        <p:nvSpPr>
          <p:cNvPr id="64" name="Text-1003"/>
          <p:cNvSpPr txBox="1"/>
          <p:nvPr/>
        </p:nvSpPr>
        <p:spPr>
          <a:xfrm>
            <a:off x="8366760" y="4453128"/>
            <a:ext cx="3108960" cy="329184"/>
          </a:xfrm>
          <a:prstGeom prst="rect">
            <a:avLst/>
          </a:prstGeom>
          <a:noFill/>
          <a:ln/>
        </p:spPr>
        <p:txBody>
          <a:bodyPr wrap="square" lIns="0" tIns="0" rIns="0" bIns="0" rtlCol="0" anchor="ctr"/>
          <a:lstStyle/>
          <a:p>
            <a:pPr algn="ctr" indent="0" marL="0">
              <a:buNone/>
            </a:pPr>
            <a:r>
              <a:rPr lang="en-US" sz="1100" b="1" dirty="0">
                <a:solidFill>
                  <a:schemeClr val="bg1"/>
                </a:solidFill>
              </a:rPr>
              <a:t>Send scenario to director</a:t>
            </a:r>
            <a:endParaRPr lang="en-US" sz="1100" dirty="0"/>
          </a:p>
        </p:txBody>
      </p:sp>
      <p:sp>
        <p:nvSpPr>
          <p:cNvPr id="65" name="Text-1004"/>
          <p:cNvSpPr txBox="1"/>
          <p:nvPr/>
        </p:nvSpPr>
        <p:spPr>
          <a:xfrm>
            <a:off x="8202168"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Budget predictability, a nudge to expand</a:t>
            </a:r>
            <a:endParaRPr lang="en-US" sz="1200" dirty="0"/>
          </a:p>
        </p:txBody>
      </p:sp>
      <p:sp>
        <p:nvSpPr>
          <p:cNvPr id="66" name="Text-1005"/>
          <p:cNvSpPr txBox="1"/>
          <p:nvPr/>
        </p:nvSpPr>
        <p:spPr>
          <a:xfrm>
            <a:off x="685800" y="5870448"/>
            <a:ext cx="1097280" cy="274320"/>
          </a:xfrm>
          <a:prstGeom prst="rect">
            <a:avLst/>
          </a:prstGeom>
          <a:noFill/>
          <a:ln/>
        </p:spPr>
        <p:txBody>
          <a:bodyPr wrap="square" lIns="0" tIns="0" rIns="0" bIns="0" rtlCol="0" anchor="ctr"/>
          <a:lstStyle/>
          <a:p>
            <a:pPr indent="0" marL="0">
              <a:buNone/>
            </a:pPr>
            <a:r>
              <a:rPr lang="en-US" sz="1100" dirty="0">
                <a:solidFill>
                  <a:schemeClr val="accent6"/>
                </a:solidFill>
              </a:rPr>
              <a:t>Answers:</a:t>
            </a:r>
            <a:endParaRPr lang="en-US" sz="1100" dirty="0"/>
          </a:p>
        </p:txBody>
      </p:sp>
      <p:sp>
        <p:nvSpPr>
          <p:cNvPr id="67" name="Box-1006"/>
          <p:cNvSpPr/>
          <p:nvPr/>
        </p:nvSpPr>
        <p:spPr>
          <a:xfrm>
            <a:off x="1783080" y="5870448"/>
            <a:ext cx="594360" cy="274320"/>
          </a:xfrm>
          <a:prstGeom prst="roundRect">
            <a:avLst>
              <a:gd name="adj" fmla="val 46667"/>
            </a:avLst>
          </a:prstGeom>
          <a:solidFill>
            <a:schemeClr val="accent1"/>
          </a:solidFill>
          <a:ln/>
        </p:spPr>
        <p:txBody>
          <a:bodyPr/>
          <a:p/>
        </p:txBody>
      </p:sp>
      <p:sp>
        <p:nvSpPr>
          <p:cNvPr id="68" name="Text-1007"/>
          <p:cNvSpPr txBox="1"/>
          <p:nvPr/>
        </p:nvSpPr>
        <p:spPr>
          <a:xfrm>
            <a:off x="17830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SQ2</a:t>
            </a:r>
            <a:endParaRPr lang="en-US" sz="1000" dirty="0"/>
          </a:p>
        </p:txBody>
      </p:sp>
      <p:sp>
        <p:nvSpPr>
          <p:cNvPr id="69" name="Box-1008"/>
          <p:cNvSpPr/>
          <p:nvPr/>
        </p:nvSpPr>
        <p:spPr>
          <a:xfrm>
            <a:off x="2468880" y="5870448"/>
            <a:ext cx="594360" cy="274320"/>
          </a:xfrm>
          <a:prstGeom prst="roundRect">
            <a:avLst>
              <a:gd name="adj" fmla="val 46667"/>
            </a:avLst>
          </a:prstGeom>
          <a:solidFill>
            <a:schemeClr val="accent1"/>
          </a:solidFill>
          <a:ln/>
        </p:spPr>
        <p:txBody>
          <a:bodyPr/>
          <a:p/>
        </p:txBody>
      </p:sp>
      <p:sp>
        <p:nvSpPr>
          <p:cNvPr id="70" name="Text-1009"/>
          <p:cNvSpPr txBox="1"/>
          <p:nvPr/>
        </p:nvSpPr>
        <p:spPr>
          <a:xfrm>
            <a:off x="24688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SQ4</a:t>
            </a:r>
            <a:endParaRPr lang="en-US" sz="1000" dirty="0"/>
          </a:p>
        </p:txBody>
      </p:sp>
      <p:sp>
        <p:nvSpPr>
          <p:cNvPr id="71" name="Box-1010"/>
          <p:cNvSpPr/>
          <p:nvPr/>
        </p:nvSpPr>
        <p:spPr>
          <a:xfrm>
            <a:off x="3154680" y="5870448"/>
            <a:ext cx="594360" cy="274320"/>
          </a:xfrm>
          <a:prstGeom prst="roundRect">
            <a:avLst>
              <a:gd name="adj" fmla="val 46667"/>
            </a:avLst>
          </a:prstGeom>
          <a:solidFill>
            <a:schemeClr val="accent1"/>
          </a:solidFill>
          <a:ln/>
        </p:spPr>
        <p:txBody>
          <a:bodyPr/>
          <a:p/>
        </p:txBody>
      </p:sp>
      <p:sp>
        <p:nvSpPr>
          <p:cNvPr id="72" name="Text-1011"/>
          <p:cNvSpPr txBox="1"/>
          <p:nvPr/>
        </p:nvSpPr>
        <p:spPr>
          <a:xfrm>
            <a:off x="31546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SQ5</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3.6 · SOLUTION SKETCH 2/4</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The renewal kit</a:t>
            </a:r>
            <a:endParaRPr lang="en-US" sz="3200" dirty="0"/>
          </a:p>
        </p:txBody>
      </p:sp>
      <p:sp>
        <p:nvSpPr>
          <p:cNvPr id="4" name="Text-1012"/>
          <p:cNvSpPr txBox="1"/>
          <p:nvPr/>
        </p:nvSpPr>
        <p:spPr>
          <a:xfrm>
            <a:off x="548640" y="1344168"/>
            <a:ext cx="11064240" cy="548640"/>
          </a:xfrm>
          <a:prstGeom prst="rect">
            <a:avLst/>
          </a:prstGeom>
          <a:noFill/>
          <a:ln/>
        </p:spPr>
        <p:txBody>
          <a:bodyPr wrap="square" lIns="0" tIns="0" rIns="0" bIns="0" rtlCol="0" anchor="t"/>
          <a:lstStyle/>
          <a:p>
            <a:pPr indent="0" marL="0">
              <a:buNone/>
            </a:pPr>
            <a:r>
              <a:rPr lang="en-US" sz="1500" i="1" dirty="0">
                <a:solidFill>
                  <a:schemeClr val="accent6"/>
                </a:solidFill>
              </a:rPr>
              <a:t>90 days before the agreement ends, a finished kit is ready: a slide in the university's branding, straight for the Executive Board.</a:t>
            </a:r>
            <a:endParaRPr lang="en-US" sz="1500" dirty="0"/>
          </a:p>
        </p:txBody>
      </p:sp>
      <p:sp>
        <p:nvSpPr>
          <p:cNvPr id="5" name="Panel-1013"/>
          <p:cNvSpPr/>
          <p:nvPr/>
        </p:nvSpPr>
        <p:spPr>
          <a:xfrm>
            <a:off x="685800"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6" name="PanelBar-1014"/>
          <p:cNvSpPr/>
          <p:nvPr/>
        </p:nvSpPr>
        <p:spPr>
          <a:xfrm>
            <a:off x="713232" y="2130552"/>
            <a:ext cx="3383280" cy="237744"/>
          </a:xfrm>
          <a:prstGeom prst="rect">
            <a:avLst/>
          </a:prstGeom>
          <a:solidFill>
            <a:schemeClr val="bg2"/>
          </a:solidFill>
          <a:ln/>
        </p:spPr>
        <p:txBody>
          <a:bodyPr/>
          <a:p/>
        </p:txBody>
      </p:sp>
      <p:sp>
        <p:nvSpPr>
          <p:cNvPr id="7" name="Circle-1015"/>
          <p:cNvSpPr/>
          <p:nvPr/>
        </p:nvSpPr>
        <p:spPr>
          <a:xfrm>
            <a:off x="3557016" y="2203704"/>
            <a:ext cx="82296" cy="82296"/>
          </a:xfrm>
          <a:prstGeom prst="ellipse">
            <a:avLst/>
          </a:prstGeom>
          <a:solidFill>
            <a:schemeClr val="accent3"/>
          </a:solidFill>
          <a:ln/>
        </p:spPr>
        <p:txBody>
          <a:bodyPr/>
          <a:p/>
        </p:txBody>
      </p:sp>
      <p:sp>
        <p:nvSpPr>
          <p:cNvPr id="8" name="Circle-1016"/>
          <p:cNvSpPr/>
          <p:nvPr/>
        </p:nvSpPr>
        <p:spPr>
          <a:xfrm>
            <a:off x="3703320" y="2203704"/>
            <a:ext cx="82296" cy="82296"/>
          </a:xfrm>
          <a:prstGeom prst="ellipse">
            <a:avLst/>
          </a:prstGeom>
          <a:solidFill>
            <a:schemeClr val="accent6"/>
          </a:solidFill>
          <a:ln/>
        </p:spPr>
        <p:txBody>
          <a:bodyPr/>
          <a:p/>
        </p:txBody>
      </p:sp>
      <p:sp>
        <p:nvSpPr>
          <p:cNvPr id="9" name="Circle-1017"/>
          <p:cNvSpPr/>
          <p:nvPr/>
        </p:nvSpPr>
        <p:spPr>
          <a:xfrm>
            <a:off x="3849624" y="2203704"/>
            <a:ext cx="82296" cy="82296"/>
          </a:xfrm>
          <a:prstGeom prst="ellipse">
            <a:avLst/>
          </a:prstGeom>
          <a:solidFill>
            <a:schemeClr val="accent6"/>
          </a:solidFill>
          <a:ln/>
        </p:spPr>
        <p:txBody>
          <a:bodyPr/>
          <a:p/>
        </p:txBody>
      </p:sp>
      <p:sp>
        <p:nvSpPr>
          <p:cNvPr id="10" name="Circle-1018"/>
          <p:cNvSpPr/>
          <p:nvPr/>
        </p:nvSpPr>
        <p:spPr>
          <a:xfrm>
            <a:off x="539496" y="1956816"/>
            <a:ext cx="384048" cy="384048"/>
          </a:xfrm>
          <a:prstGeom prst="ellipse">
            <a:avLst/>
          </a:prstGeom>
          <a:solidFill>
            <a:schemeClr val="accent3"/>
          </a:solidFill>
          <a:ln/>
        </p:spPr>
        <p:txBody>
          <a:bodyPr/>
          <a:p/>
        </p:txBody>
      </p:sp>
      <p:sp>
        <p:nvSpPr>
          <p:cNvPr id="11" name="Text-1019"/>
          <p:cNvSpPr txBox="1"/>
          <p:nvPr/>
        </p:nvSpPr>
        <p:spPr>
          <a:xfrm>
            <a:off x="539496"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1020"/>
          <p:cNvSpPr txBox="1"/>
          <p:nvPr/>
        </p:nvSpPr>
        <p:spPr>
          <a:xfrm>
            <a:off x="850392"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Your renewal kit is ready</a:t>
            </a:r>
            <a:endParaRPr lang="en-US" sz="1300" dirty="0"/>
          </a:p>
        </p:txBody>
      </p:sp>
      <p:sp>
        <p:nvSpPr>
          <p:cNvPr id="13" name="Line-1021"/>
          <p:cNvSpPr/>
          <p:nvPr/>
        </p:nvSpPr>
        <p:spPr>
          <a:xfrm>
            <a:off x="850392" y="2898648"/>
            <a:ext cx="2953512" cy="54864"/>
          </a:xfrm>
          <a:prstGeom prst="rect">
            <a:avLst/>
          </a:prstGeom>
          <a:solidFill>
            <a:srgbClr val="C9D5D8"/>
          </a:solidFill>
          <a:ln/>
        </p:spPr>
        <p:txBody>
          <a:bodyPr/>
          <a:p/>
        </p:txBody>
      </p:sp>
      <p:sp>
        <p:nvSpPr>
          <p:cNvPr id="14" name="Line-1022"/>
          <p:cNvSpPr/>
          <p:nvPr/>
        </p:nvSpPr>
        <p:spPr>
          <a:xfrm>
            <a:off x="850392" y="3035808"/>
            <a:ext cx="2487168" cy="54864"/>
          </a:xfrm>
          <a:prstGeom prst="rect">
            <a:avLst/>
          </a:prstGeom>
          <a:solidFill>
            <a:srgbClr val="C9D5D8"/>
          </a:solidFill>
          <a:ln/>
        </p:spPr>
        <p:txBody>
          <a:bodyPr/>
          <a:p/>
        </p:txBody>
      </p:sp>
      <p:sp>
        <p:nvSpPr>
          <p:cNvPr id="15" name="Line-1023"/>
          <p:cNvSpPr/>
          <p:nvPr/>
        </p:nvSpPr>
        <p:spPr>
          <a:xfrm>
            <a:off x="850392" y="3172968"/>
            <a:ext cx="2798064" cy="54864"/>
          </a:xfrm>
          <a:prstGeom prst="rect">
            <a:avLst/>
          </a:prstGeom>
          <a:solidFill>
            <a:srgbClr val="C9D5D8"/>
          </a:solidFill>
          <a:ln/>
        </p:spPr>
        <p:txBody>
          <a:bodyPr/>
          <a:p/>
        </p:txBody>
      </p:sp>
      <p:sp>
        <p:nvSpPr>
          <p:cNvPr id="16" name="Line-1024"/>
          <p:cNvSpPr/>
          <p:nvPr/>
        </p:nvSpPr>
        <p:spPr>
          <a:xfrm>
            <a:off x="850392" y="3310128"/>
            <a:ext cx="1865376" cy="54864"/>
          </a:xfrm>
          <a:prstGeom prst="rect">
            <a:avLst/>
          </a:prstGeom>
          <a:solidFill>
            <a:srgbClr val="C9D5D8"/>
          </a:solidFill>
          <a:ln/>
        </p:spPr>
        <p:txBody>
          <a:bodyPr/>
          <a:p/>
        </p:txBody>
      </p:sp>
      <p:sp>
        <p:nvSpPr>
          <p:cNvPr id="17" name="Text-1025"/>
          <p:cNvSpPr txBox="1"/>
          <p:nvPr/>
        </p:nvSpPr>
        <p:spPr>
          <a:xfrm>
            <a:off x="850392" y="3474720"/>
            <a:ext cx="3108960" cy="411480"/>
          </a:xfrm>
          <a:prstGeom prst="rect">
            <a:avLst/>
          </a:prstGeom>
          <a:noFill/>
          <a:ln/>
        </p:spPr>
        <p:txBody>
          <a:bodyPr wrap="square" lIns="0" tIns="0" rIns="0" bIns="0" rtlCol="0" anchor="t"/>
          <a:lstStyle/>
          <a:p>
            <a:pPr indent="0" marL="0">
              <a:buNone/>
            </a:pPr>
            <a:r>
              <a:rPr lang="en-US" sz="1100" i="1" dirty="0">
                <a:solidFill>
                  <a:schemeClr val="accent6"/>
                </a:solidFill>
              </a:rPr>
              <a:t>Your agreement expires on 31 March 2027.</a:t>
            </a:r>
            <a:endParaRPr lang="en-US" sz="1100" dirty="0"/>
          </a:p>
        </p:txBody>
      </p:sp>
      <p:sp>
        <p:nvSpPr>
          <p:cNvPr id="18" name="Button-1026"/>
          <p:cNvSpPr/>
          <p:nvPr/>
        </p:nvSpPr>
        <p:spPr>
          <a:xfrm>
            <a:off x="850392" y="3922776"/>
            <a:ext cx="3108960" cy="329184"/>
          </a:xfrm>
          <a:prstGeom prst="roundRect">
            <a:avLst>
              <a:gd name="adj" fmla="val 27778"/>
            </a:avLst>
          </a:prstGeom>
          <a:solidFill>
            <a:schemeClr val="accent1"/>
          </a:solidFill>
          <a:ln/>
        </p:spPr>
        <p:txBody>
          <a:bodyPr/>
          <a:p/>
        </p:txBody>
      </p:sp>
      <p:sp>
        <p:nvSpPr>
          <p:cNvPr id="19" name="Text-1027"/>
          <p:cNvSpPr txBox="1"/>
          <p:nvPr/>
        </p:nvSpPr>
        <p:spPr>
          <a:xfrm>
            <a:off x="850392" y="3922776"/>
            <a:ext cx="3108960" cy="329184"/>
          </a:xfrm>
          <a:prstGeom prst="rect">
            <a:avLst/>
          </a:prstGeom>
          <a:noFill/>
          <a:ln/>
        </p:spPr>
        <p:txBody>
          <a:bodyPr wrap="square" lIns="0" tIns="0" rIns="0" bIns="0" rtlCol="0" anchor="ctr"/>
          <a:lstStyle/>
          <a:p>
            <a:pPr algn="ctr" indent="0" marL="0">
              <a:buNone/>
            </a:pPr>
            <a:r>
              <a:rPr lang="en-US" sz="1100" b="1" dirty="0">
                <a:solidFill>
                  <a:schemeClr val="bg1"/>
                </a:solidFill>
              </a:rPr>
              <a:t>Download slide (PPTX)</a:t>
            </a:r>
            <a:endParaRPr lang="en-US" sz="1100" dirty="0"/>
          </a:p>
        </p:txBody>
      </p:sp>
      <p:sp>
        <p:nvSpPr>
          <p:cNvPr id="20" name="Button-1028"/>
          <p:cNvSpPr/>
          <p:nvPr/>
        </p:nvSpPr>
        <p:spPr>
          <a:xfrm>
            <a:off x="850392" y="4361688"/>
            <a:ext cx="3108960" cy="329184"/>
          </a:xfrm>
          <a:prstGeom prst="roundRect">
            <a:avLst>
              <a:gd name="adj" fmla="val 27778"/>
            </a:avLst>
          </a:prstGeom>
          <a:solidFill>
            <a:schemeClr val="bg1"/>
          </a:solidFill>
          <a:ln w="12700">
            <a:solidFill>
              <a:srgbClr val="1F7A8C"/>
            </a:solidFill>
            <a:prstDash val="solid"/>
          </a:ln>
        </p:spPr>
        <p:txBody>
          <a:bodyPr/>
          <a:p/>
        </p:txBody>
      </p:sp>
      <p:sp>
        <p:nvSpPr>
          <p:cNvPr id="21" name="Text-1029"/>
          <p:cNvSpPr txBox="1"/>
          <p:nvPr/>
        </p:nvSpPr>
        <p:spPr>
          <a:xfrm>
            <a:off x="850392" y="4361688"/>
            <a:ext cx="3108960" cy="329184"/>
          </a:xfrm>
          <a:prstGeom prst="rect">
            <a:avLst/>
          </a:prstGeom>
          <a:noFill/>
          <a:ln/>
        </p:spPr>
        <p:txBody>
          <a:bodyPr wrap="square" lIns="0" tIns="0" rIns="0" bIns="0" rtlCol="0" anchor="ctr"/>
          <a:lstStyle/>
          <a:p>
            <a:pPr algn="ctr" indent="0" marL="0">
              <a:buNone/>
            </a:pPr>
            <a:r>
              <a:rPr lang="en-US" sz="1100" b="1" dirty="0">
                <a:solidFill>
                  <a:schemeClr val="accent1"/>
                </a:solidFill>
              </a:rPr>
              <a:t>As PDF</a:t>
            </a:r>
            <a:endParaRPr lang="en-US" sz="1100" dirty="0"/>
          </a:p>
        </p:txBody>
      </p:sp>
      <p:sp>
        <p:nvSpPr>
          <p:cNvPr id="22" name="Text-1030"/>
          <p:cNvSpPr txBox="1"/>
          <p:nvPr/>
        </p:nvSpPr>
        <p:spPr>
          <a:xfrm>
            <a:off x="685800"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Arrives in time for the decision</a:t>
            </a:r>
            <a:endParaRPr lang="en-US" sz="1200" dirty="0"/>
          </a:p>
        </p:txBody>
      </p:sp>
      <p:sp>
        <p:nvSpPr>
          <p:cNvPr id="23" name="Panel-1031"/>
          <p:cNvSpPr/>
          <p:nvPr/>
        </p:nvSpPr>
        <p:spPr>
          <a:xfrm>
            <a:off x="4443984"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24" name="PanelBar-1032"/>
          <p:cNvSpPr/>
          <p:nvPr/>
        </p:nvSpPr>
        <p:spPr>
          <a:xfrm>
            <a:off x="4471416" y="2130552"/>
            <a:ext cx="3383280" cy="237744"/>
          </a:xfrm>
          <a:prstGeom prst="rect">
            <a:avLst/>
          </a:prstGeom>
          <a:solidFill>
            <a:schemeClr val="bg2"/>
          </a:solidFill>
          <a:ln/>
        </p:spPr>
        <p:txBody>
          <a:bodyPr/>
          <a:p/>
        </p:txBody>
      </p:sp>
      <p:sp>
        <p:nvSpPr>
          <p:cNvPr id="25" name="Circle-1033"/>
          <p:cNvSpPr/>
          <p:nvPr/>
        </p:nvSpPr>
        <p:spPr>
          <a:xfrm>
            <a:off x="7315200" y="2203704"/>
            <a:ext cx="82296" cy="82296"/>
          </a:xfrm>
          <a:prstGeom prst="ellipse">
            <a:avLst/>
          </a:prstGeom>
          <a:solidFill>
            <a:schemeClr val="accent3"/>
          </a:solidFill>
          <a:ln/>
        </p:spPr>
        <p:txBody>
          <a:bodyPr/>
          <a:p/>
        </p:txBody>
      </p:sp>
      <p:sp>
        <p:nvSpPr>
          <p:cNvPr id="26" name="Circle-1034"/>
          <p:cNvSpPr/>
          <p:nvPr/>
        </p:nvSpPr>
        <p:spPr>
          <a:xfrm>
            <a:off x="7461504" y="2203704"/>
            <a:ext cx="82296" cy="82296"/>
          </a:xfrm>
          <a:prstGeom prst="ellipse">
            <a:avLst/>
          </a:prstGeom>
          <a:solidFill>
            <a:schemeClr val="accent6"/>
          </a:solidFill>
          <a:ln/>
        </p:spPr>
        <p:txBody>
          <a:bodyPr/>
          <a:p/>
        </p:txBody>
      </p:sp>
      <p:sp>
        <p:nvSpPr>
          <p:cNvPr id="27" name="Circle-1035"/>
          <p:cNvSpPr/>
          <p:nvPr/>
        </p:nvSpPr>
        <p:spPr>
          <a:xfrm>
            <a:off x="7607808" y="2203704"/>
            <a:ext cx="82296" cy="82296"/>
          </a:xfrm>
          <a:prstGeom prst="ellipse">
            <a:avLst/>
          </a:prstGeom>
          <a:solidFill>
            <a:schemeClr val="accent6"/>
          </a:solidFill>
          <a:ln/>
        </p:spPr>
        <p:txBody>
          <a:bodyPr/>
          <a:p/>
        </p:txBody>
      </p:sp>
      <p:sp>
        <p:nvSpPr>
          <p:cNvPr id="28" name="Circle-1036"/>
          <p:cNvSpPr/>
          <p:nvPr/>
        </p:nvSpPr>
        <p:spPr>
          <a:xfrm>
            <a:off x="4297680" y="1956816"/>
            <a:ext cx="384048" cy="384048"/>
          </a:xfrm>
          <a:prstGeom prst="ellipse">
            <a:avLst/>
          </a:prstGeom>
          <a:solidFill>
            <a:schemeClr val="accent3"/>
          </a:solidFill>
          <a:ln/>
        </p:spPr>
        <p:txBody>
          <a:bodyPr/>
          <a:p/>
        </p:txBody>
      </p:sp>
      <p:sp>
        <p:nvSpPr>
          <p:cNvPr id="29" name="Text-1037"/>
          <p:cNvSpPr txBox="1"/>
          <p:nvPr/>
        </p:nvSpPr>
        <p:spPr>
          <a:xfrm>
            <a:off x="4297680"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0" name="Text-1038"/>
          <p:cNvSpPr txBox="1"/>
          <p:nvPr/>
        </p:nvSpPr>
        <p:spPr>
          <a:xfrm>
            <a:off x="4608576"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Our OA partnership 2026</a:t>
            </a:r>
            <a:endParaRPr lang="en-US" sz="1300" dirty="0"/>
          </a:p>
        </p:txBody>
      </p:sp>
      <p:sp>
        <p:nvSpPr>
          <p:cNvPr id="31" name="Text-1039"/>
          <p:cNvSpPr txBox="1"/>
          <p:nvPr/>
        </p:nvSpPr>
        <p:spPr>
          <a:xfrm>
            <a:off x="4608576" y="2852928"/>
            <a:ext cx="2051914" cy="301752"/>
          </a:xfrm>
          <a:prstGeom prst="rect">
            <a:avLst/>
          </a:prstGeom>
          <a:noFill/>
          <a:ln/>
        </p:spPr>
        <p:txBody>
          <a:bodyPr wrap="square" lIns="0" tIns="0" rIns="0" bIns="0" rtlCol="0" anchor="ctr"/>
          <a:lstStyle/>
          <a:p>
            <a:pPr indent="0" marL="0">
              <a:buNone/>
            </a:pPr>
            <a:r>
              <a:rPr lang="en-US" sz="1100" dirty="0">
                <a:solidFill>
                  <a:schemeClr val="tx1"/>
                </a:solidFill>
              </a:rPr>
              <a:t>Articles published</a:t>
            </a:r>
            <a:endParaRPr lang="en-US" sz="1100" dirty="0"/>
          </a:p>
        </p:txBody>
      </p:sp>
      <p:sp>
        <p:nvSpPr>
          <p:cNvPr id="32" name="Text-1040"/>
          <p:cNvSpPr txBox="1"/>
          <p:nvPr/>
        </p:nvSpPr>
        <p:spPr>
          <a:xfrm>
            <a:off x="6473952" y="2852928"/>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138</a:t>
            </a:r>
            <a:endParaRPr lang="en-US" sz="1100" dirty="0"/>
          </a:p>
        </p:txBody>
      </p:sp>
      <p:sp>
        <p:nvSpPr>
          <p:cNvPr id="33" name="Line-1041"/>
          <p:cNvSpPr/>
          <p:nvPr/>
        </p:nvSpPr>
        <p:spPr>
          <a:xfrm>
            <a:off x="4608576" y="3154680"/>
            <a:ext cx="3108960" cy="0"/>
          </a:xfrm>
          <a:prstGeom prst="line">
            <a:avLst/>
          </a:prstGeom>
          <a:noFill/>
          <a:ln w="9525">
            <a:solidFill>
              <a:srgbClr val="D5E0E2"/>
            </a:solidFill>
            <a:prstDash val="solid"/>
          </a:ln>
        </p:spPr>
        <p:txBody>
          <a:bodyPr/>
          <a:p/>
        </p:txBody>
      </p:sp>
      <p:sp>
        <p:nvSpPr>
          <p:cNvPr id="34" name="Text-1042"/>
          <p:cNvSpPr txBox="1"/>
          <p:nvPr/>
        </p:nvSpPr>
        <p:spPr>
          <a:xfrm>
            <a:off x="4608576" y="3182112"/>
            <a:ext cx="2051914" cy="301752"/>
          </a:xfrm>
          <a:prstGeom prst="rect">
            <a:avLst/>
          </a:prstGeom>
          <a:noFill/>
          <a:ln/>
        </p:spPr>
        <p:txBody>
          <a:bodyPr wrap="square" lIns="0" tIns="0" rIns="0" bIns="0" rtlCol="0" anchor="ctr"/>
          <a:lstStyle/>
          <a:p>
            <a:pPr indent="0" marL="0">
              <a:buNone/>
            </a:pPr>
            <a:r>
              <a:rPr lang="en-US" sz="1100" dirty="0">
                <a:solidFill>
                  <a:schemeClr val="tx1"/>
                </a:solidFill>
              </a:rPr>
              <a:t>Funder requirements met</a:t>
            </a:r>
            <a:endParaRPr lang="en-US" sz="1100" dirty="0"/>
          </a:p>
        </p:txBody>
      </p:sp>
      <p:sp>
        <p:nvSpPr>
          <p:cNvPr id="35" name="Text-1043"/>
          <p:cNvSpPr txBox="1"/>
          <p:nvPr/>
        </p:nvSpPr>
        <p:spPr>
          <a:xfrm>
            <a:off x="6473952" y="3182112"/>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93%</a:t>
            </a:r>
            <a:endParaRPr lang="en-US" sz="1100" dirty="0"/>
          </a:p>
        </p:txBody>
      </p:sp>
      <p:sp>
        <p:nvSpPr>
          <p:cNvPr id="36" name="Line-1044"/>
          <p:cNvSpPr/>
          <p:nvPr/>
        </p:nvSpPr>
        <p:spPr>
          <a:xfrm>
            <a:off x="4608576" y="3483864"/>
            <a:ext cx="3108960" cy="0"/>
          </a:xfrm>
          <a:prstGeom prst="line">
            <a:avLst/>
          </a:prstGeom>
          <a:noFill/>
          <a:ln w="9525">
            <a:solidFill>
              <a:srgbClr val="D5E0E2"/>
            </a:solidFill>
            <a:prstDash val="solid"/>
          </a:ln>
        </p:spPr>
        <p:txBody>
          <a:bodyPr/>
          <a:p/>
        </p:txBody>
      </p:sp>
      <p:sp>
        <p:nvSpPr>
          <p:cNvPr id="37" name="Text-1045"/>
          <p:cNvSpPr txBox="1"/>
          <p:nvPr/>
        </p:nvSpPr>
        <p:spPr>
          <a:xfrm>
            <a:off x="4608576" y="3511296"/>
            <a:ext cx="2051914" cy="301752"/>
          </a:xfrm>
          <a:prstGeom prst="rect">
            <a:avLst/>
          </a:prstGeom>
          <a:noFill/>
          <a:ln/>
        </p:spPr>
        <p:txBody>
          <a:bodyPr wrap="square" lIns="0" tIns="0" rIns="0" bIns="0" rtlCol="0" anchor="ctr"/>
          <a:lstStyle/>
          <a:p>
            <a:pPr indent="0" marL="0">
              <a:buNone/>
            </a:pPr>
            <a:r>
              <a:rPr lang="en-US" sz="1100" dirty="0">
                <a:solidFill>
                  <a:schemeClr val="tx1"/>
                </a:solidFill>
              </a:rPr>
              <a:t>Reviewers &amp; editors</a:t>
            </a:r>
            <a:endParaRPr lang="en-US" sz="1100" dirty="0"/>
          </a:p>
        </p:txBody>
      </p:sp>
      <p:sp>
        <p:nvSpPr>
          <p:cNvPr id="38" name="Text-1046"/>
          <p:cNvSpPr txBox="1"/>
          <p:nvPr/>
        </p:nvSpPr>
        <p:spPr>
          <a:xfrm>
            <a:off x="6473952" y="3511296"/>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27</a:t>
            </a:r>
            <a:endParaRPr lang="en-US" sz="1100" dirty="0"/>
          </a:p>
        </p:txBody>
      </p:sp>
      <p:sp>
        <p:nvSpPr>
          <p:cNvPr id="39" name="Line-1047"/>
          <p:cNvSpPr/>
          <p:nvPr/>
        </p:nvSpPr>
        <p:spPr>
          <a:xfrm>
            <a:off x="4608576" y="3813048"/>
            <a:ext cx="3108960" cy="0"/>
          </a:xfrm>
          <a:prstGeom prst="line">
            <a:avLst/>
          </a:prstGeom>
          <a:noFill/>
          <a:ln w="9525">
            <a:solidFill>
              <a:srgbClr val="D5E0E2"/>
            </a:solidFill>
            <a:prstDash val="solid"/>
          </a:ln>
        </p:spPr>
        <p:txBody>
          <a:bodyPr/>
          <a:p/>
        </p:txBody>
      </p:sp>
      <p:sp>
        <p:nvSpPr>
          <p:cNvPr id="40" name="Text-1048"/>
          <p:cNvSpPr txBox="1"/>
          <p:nvPr/>
        </p:nvSpPr>
        <p:spPr>
          <a:xfrm>
            <a:off x="4608576" y="3840480"/>
            <a:ext cx="2051914" cy="301752"/>
          </a:xfrm>
          <a:prstGeom prst="rect">
            <a:avLst/>
          </a:prstGeom>
          <a:noFill/>
          <a:ln/>
        </p:spPr>
        <p:txBody>
          <a:bodyPr wrap="square" lIns="0" tIns="0" rIns="0" bIns="0" rtlCol="0" anchor="ctr"/>
          <a:lstStyle/>
          <a:p>
            <a:pPr indent="0" marL="0">
              <a:buNone/>
            </a:pPr>
            <a:r>
              <a:rPr lang="en-US" sz="1100" dirty="0">
                <a:solidFill>
                  <a:schemeClr val="tx1"/>
                </a:solidFill>
              </a:rPr>
              <a:t>Savings</a:t>
            </a:r>
            <a:endParaRPr lang="en-US" sz="1100" dirty="0"/>
          </a:p>
        </p:txBody>
      </p:sp>
      <p:sp>
        <p:nvSpPr>
          <p:cNvPr id="41" name="Text-1049"/>
          <p:cNvSpPr txBox="1"/>
          <p:nvPr/>
        </p:nvSpPr>
        <p:spPr>
          <a:xfrm>
            <a:off x="6473952" y="3840480"/>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EUR 51,060</a:t>
            </a:r>
            <a:endParaRPr lang="en-US" sz="1100" dirty="0"/>
          </a:p>
        </p:txBody>
      </p:sp>
      <p:sp>
        <p:nvSpPr>
          <p:cNvPr id="42" name="Line-1050"/>
          <p:cNvSpPr/>
          <p:nvPr/>
        </p:nvSpPr>
        <p:spPr>
          <a:xfrm>
            <a:off x="4608576" y="4142232"/>
            <a:ext cx="3108960" cy="0"/>
          </a:xfrm>
          <a:prstGeom prst="line">
            <a:avLst/>
          </a:prstGeom>
          <a:noFill/>
          <a:ln w="9525">
            <a:solidFill>
              <a:srgbClr val="D5E0E2"/>
            </a:solidFill>
            <a:prstDash val="solid"/>
          </a:ln>
        </p:spPr>
        <p:txBody>
          <a:bodyPr/>
          <a:p/>
        </p:txBody>
      </p:sp>
      <p:sp>
        <p:nvSpPr>
          <p:cNvPr id="43" name="Text-1051"/>
          <p:cNvSpPr txBox="1"/>
          <p:nvPr/>
        </p:nvSpPr>
        <p:spPr>
          <a:xfrm>
            <a:off x="4608576" y="4169664"/>
            <a:ext cx="3108960" cy="365760"/>
          </a:xfrm>
          <a:prstGeom prst="rect">
            <a:avLst/>
          </a:prstGeom>
          <a:noFill/>
          <a:ln/>
        </p:spPr>
        <p:txBody>
          <a:bodyPr wrap="square" lIns="0" tIns="0" rIns="0" bIns="0" rtlCol="0" anchor="t"/>
          <a:lstStyle/>
          <a:p>
            <a:pPr indent="0" marL="0">
              <a:buNone/>
            </a:pPr>
            <a:r>
              <a:rPr lang="en-US" sz="1100" i="1" dirty="0">
                <a:solidFill>
                  <a:schemeClr val="accent6"/>
                </a:solidFill>
              </a:rPr>
              <a:t>[University logo]</a:t>
            </a:r>
            <a:endParaRPr lang="en-US" sz="1100" dirty="0"/>
          </a:p>
        </p:txBody>
      </p:sp>
      <p:sp>
        <p:nvSpPr>
          <p:cNvPr id="44" name="Text-1052"/>
          <p:cNvSpPr txBox="1"/>
          <p:nvPr/>
        </p:nvSpPr>
        <p:spPr>
          <a:xfrm>
            <a:off x="4443984"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Ready to present, no rework needed</a:t>
            </a:r>
            <a:endParaRPr lang="en-US" sz="1200" dirty="0"/>
          </a:p>
        </p:txBody>
      </p:sp>
      <p:sp>
        <p:nvSpPr>
          <p:cNvPr id="45" name="Panel-1053"/>
          <p:cNvSpPr/>
          <p:nvPr/>
        </p:nvSpPr>
        <p:spPr>
          <a:xfrm>
            <a:off x="8202168"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46" name="PanelBar-1054"/>
          <p:cNvSpPr/>
          <p:nvPr/>
        </p:nvSpPr>
        <p:spPr>
          <a:xfrm>
            <a:off x="8229600" y="2130552"/>
            <a:ext cx="3383280" cy="237744"/>
          </a:xfrm>
          <a:prstGeom prst="rect">
            <a:avLst/>
          </a:prstGeom>
          <a:solidFill>
            <a:schemeClr val="bg2"/>
          </a:solidFill>
          <a:ln/>
        </p:spPr>
        <p:txBody>
          <a:bodyPr/>
          <a:p/>
        </p:txBody>
      </p:sp>
      <p:sp>
        <p:nvSpPr>
          <p:cNvPr id="47" name="Circle-1055"/>
          <p:cNvSpPr/>
          <p:nvPr/>
        </p:nvSpPr>
        <p:spPr>
          <a:xfrm>
            <a:off x="11073384" y="2203704"/>
            <a:ext cx="82296" cy="82296"/>
          </a:xfrm>
          <a:prstGeom prst="ellipse">
            <a:avLst/>
          </a:prstGeom>
          <a:solidFill>
            <a:schemeClr val="accent3"/>
          </a:solidFill>
          <a:ln/>
        </p:spPr>
        <p:txBody>
          <a:bodyPr/>
          <a:p/>
        </p:txBody>
      </p:sp>
      <p:sp>
        <p:nvSpPr>
          <p:cNvPr id="48" name="Circle-1056"/>
          <p:cNvSpPr/>
          <p:nvPr/>
        </p:nvSpPr>
        <p:spPr>
          <a:xfrm>
            <a:off x="11219688" y="2203704"/>
            <a:ext cx="82296" cy="82296"/>
          </a:xfrm>
          <a:prstGeom prst="ellipse">
            <a:avLst/>
          </a:prstGeom>
          <a:solidFill>
            <a:schemeClr val="accent6"/>
          </a:solidFill>
          <a:ln/>
        </p:spPr>
        <p:txBody>
          <a:bodyPr/>
          <a:p/>
        </p:txBody>
      </p:sp>
      <p:sp>
        <p:nvSpPr>
          <p:cNvPr id="49" name="Circle-1057"/>
          <p:cNvSpPr/>
          <p:nvPr/>
        </p:nvSpPr>
        <p:spPr>
          <a:xfrm>
            <a:off x="11365992" y="2203704"/>
            <a:ext cx="82296" cy="82296"/>
          </a:xfrm>
          <a:prstGeom prst="ellipse">
            <a:avLst/>
          </a:prstGeom>
          <a:solidFill>
            <a:schemeClr val="accent6"/>
          </a:solidFill>
          <a:ln/>
        </p:spPr>
        <p:txBody>
          <a:bodyPr/>
          <a:p/>
        </p:txBody>
      </p:sp>
      <p:sp>
        <p:nvSpPr>
          <p:cNvPr id="50" name="Circle-1058"/>
          <p:cNvSpPr/>
          <p:nvPr/>
        </p:nvSpPr>
        <p:spPr>
          <a:xfrm>
            <a:off x="8055864" y="1956816"/>
            <a:ext cx="384048" cy="384048"/>
          </a:xfrm>
          <a:prstGeom prst="ellipse">
            <a:avLst/>
          </a:prstGeom>
          <a:solidFill>
            <a:schemeClr val="accent3"/>
          </a:solidFill>
          <a:ln/>
        </p:spPr>
        <p:txBody>
          <a:bodyPr/>
          <a:p/>
        </p:txBody>
      </p:sp>
      <p:sp>
        <p:nvSpPr>
          <p:cNvPr id="51" name="Text-1059"/>
          <p:cNvSpPr txBox="1"/>
          <p:nvPr/>
        </p:nvSpPr>
        <p:spPr>
          <a:xfrm>
            <a:off x="8055864"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2" name="Text-1060"/>
          <p:cNvSpPr txBox="1"/>
          <p:nvPr/>
        </p:nvSpPr>
        <p:spPr>
          <a:xfrm>
            <a:off x="8366760"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Our researchers at Lumen</a:t>
            </a:r>
            <a:endParaRPr lang="en-US" sz="1300" dirty="0"/>
          </a:p>
        </p:txBody>
      </p:sp>
      <p:sp>
        <p:nvSpPr>
          <p:cNvPr id="53" name="Text-1061"/>
          <p:cNvSpPr txBox="1"/>
          <p:nvPr/>
        </p:nvSpPr>
        <p:spPr>
          <a:xfrm>
            <a:off x="8366760" y="2852928"/>
            <a:ext cx="2051914" cy="301752"/>
          </a:xfrm>
          <a:prstGeom prst="rect">
            <a:avLst/>
          </a:prstGeom>
          <a:noFill/>
          <a:ln/>
        </p:spPr>
        <p:txBody>
          <a:bodyPr wrap="square" lIns="0" tIns="0" rIns="0" bIns="0" rtlCol="0" anchor="ctr"/>
          <a:lstStyle/>
          <a:p>
            <a:pPr indent="0" marL="0">
              <a:buNone/>
            </a:pPr>
            <a:r>
              <a:rPr lang="en-US" sz="1100" dirty="0">
                <a:solidFill>
                  <a:schemeClr val="tx1"/>
                </a:solidFill>
              </a:rPr>
              <a:t>Dr. A. Ferreira</a:t>
            </a:r>
            <a:endParaRPr lang="en-US" sz="1100" dirty="0"/>
          </a:p>
        </p:txBody>
      </p:sp>
      <p:sp>
        <p:nvSpPr>
          <p:cNvPr id="54" name="Text-1062"/>
          <p:cNvSpPr txBox="1"/>
          <p:nvPr/>
        </p:nvSpPr>
        <p:spPr>
          <a:xfrm>
            <a:off x="10232136" y="2852928"/>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Guest Editor</a:t>
            </a:r>
            <a:endParaRPr lang="en-US" sz="1100" dirty="0"/>
          </a:p>
        </p:txBody>
      </p:sp>
      <p:sp>
        <p:nvSpPr>
          <p:cNvPr id="55" name="Line-1063"/>
          <p:cNvSpPr/>
          <p:nvPr/>
        </p:nvSpPr>
        <p:spPr>
          <a:xfrm>
            <a:off x="8366760" y="3154680"/>
            <a:ext cx="3108960" cy="0"/>
          </a:xfrm>
          <a:prstGeom prst="line">
            <a:avLst/>
          </a:prstGeom>
          <a:noFill/>
          <a:ln w="9525">
            <a:solidFill>
              <a:srgbClr val="D5E0E2"/>
            </a:solidFill>
            <a:prstDash val="solid"/>
          </a:ln>
        </p:spPr>
        <p:txBody>
          <a:bodyPr/>
          <a:p/>
        </p:txBody>
      </p:sp>
      <p:sp>
        <p:nvSpPr>
          <p:cNvPr id="56" name="Text-1064"/>
          <p:cNvSpPr txBox="1"/>
          <p:nvPr/>
        </p:nvSpPr>
        <p:spPr>
          <a:xfrm>
            <a:off x="8366760" y="3182112"/>
            <a:ext cx="2051914" cy="301752"/>
          </a:xfrm>
          <a:prstGeom prst="rect">
            <a:avLst/>
          </a:prstGeom>
          <a:noFill/>
          <a:ln/>
        </p:spPr>
        <p:txBody>
          <a:bodyPr wrap="square" lIns="0" tIns="0" rIns="0" bIns="0" rtlCol="0" anchor="ctr"/>
          <a:lstStyle/>
          <a:p>
            <a:pPr indent="0" marL="0">
              <a:buNone/>
            </a:pPr>
            <a:r>
              <a:rPr lang="en-US" sz="1100" dirty="0">
                <a:solidFill>
                  <a:schemeClr val="tx1"/>
                </a:solidFill>
              </a:rPr>
              <a:t>Prof. K. Lindner</a:t>
            </a:r>
            <a:endParaRPr lang="en-US" sz="1100" dirty="0"/>
          </a:p>
        </p:txBody>
      </p:sp>
      <p:sp>
        <p:nvSpPr>
          <p:cNvPr id="57" name="Text-1065"/>
          <p:cNvSpPr txBox="1"/>
          <p:nvPr/>
        </p:nvSpPr>
        <p:spPr>
          <a:xfrm>
            <a:off x="10232136" y="3182112"/>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Reviewer</a:t>
            </a:r>
            <a:endParaRPr lang="en-US" sz="1100" dirty="0"/>
          </a:p>
        </p:txBody>
      </p:sp>
      <p:sp>
        <p:nvSpPr>
          <p:cNvPr id="58" name="Line-1066"/>
          <p:cNvSpPr/>
          <p:nvPr/>
        </p:nvSpPr>
        <p:spPr>
          <a:xfrm>
            <a:off x="8366760" y="3483864"/>
            <a:ext cx="3108960" cy="0"/>
          </a:xfrm>
          <a:prstGeom prst="line">
            <a:avLst/>
          </a:prstGeom>
          <a:noFill/>
          <a:ln w="9525">
            <a:solidFill>
              <a:srgbClr val="D5E0E2"/>
            </a:solidFill>
            <a:prstDash val="solid"/>
          </a:ln>
        </p:spPr>
        <p:txBody>
          <a:bodyPr/>
          <a:p/>
        </p:txBody>
      </p:sp>
      <p:sp>
        <p:nvSpPr>
          <p:cNvPr id="59" name="Text-1067"/>
          <p:cNvSpPr txBox="1"/>
          <p:nvPr/>
        </p:nvSpPr>
        <p:spPr>
          <a:xfrm>
            <a:off x="8366760" y="3511296"/>
            <a:ext cx="2051914" cy="301752"/>
          </a:xfrm>
          <a:prstGeom prst="rect">
            <a:avLst/>
          </a:prstGeom>
          <a:noFill/>
          <a:ln/>
        </p:spPr>
        <p:txBody>
          <a:bodyPr wrap="square" lIns="0" tIns="0" rIns="0" bIns="0" rtlCol="0" anchor="ctr"/>
          <a:lstStyle/>
          <a:p>
            <a:pPr indent="0" marL="0">
              <a:buNone/>
            </a:pPr>
            <a:r>
              <a:rPr lang="en-US" sz="1100" dirty="0">
                <a:solidFill>
                  <a:schemeClr val="tx1"/>
                </a:solidFill>
              </a:rPr>
              <a:t>Dr. T. Okafor</a:t>
            </a:r>
            <a:endParaRPr lang="en-US" sz="1100" dirty="0"/>
          </a:p>
        </p:txBody>
      </p:sp>
      <p:sp>
        <p:nvSpPr>
          <p:cNvPr id="60" name="Text-1068"/>
          <p:cNvSpPr txBox="1"/>
          <p:nvPr/>
        </p:nvSpPr>
        <p:spPr>
          <a:xfrm>
            <a:off x="10232136" y="3511296"/>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Editorial Board</a:t>
            </a:r>
            <a:endParaRPr lang="en-US" sz="1100" dirty="0"/>
          </a:p>
        </p:txBody>
      </p:sp>
      <p:sp>
        <p:nvSpPr>
          <p:cNvPr id="61" name="Line-1069"/>
          <p:cNvSpPr/>
          <p:nvPr/>
        </p:nvSpPr>
        <p:spPr>
          <a:xfrm>
            <a:off x="8366760" y="3813048"/>
            <a:ext cx="3108960" cy="0"/>
          </a:xfrm>
          <a:prstGeom prst="line">
            <a:avLst/>
          </a:prstGeom>
          <a:noFill/>
          <a:ln w="9525">
            <a:solidFill>
              <a:srgbClr val="D5E0E2"/>
            </a:solidFill>
            <a:prstDash val="solid"/>
          </a:ln>
        </p:spPr>
        <p:txBody>
          <a:bodyPr/>
          <a:p/>
        </p:txBody>
      </p:sp>
      <p:sp>
        <p:nvSpPr>
          <p:cNvPr id="62" name="Button-1070"/>
          <p:cNvSpPr/>
          <p:nvPr/>
        </p:nvSpPr>
        <p:spPr>
          <a:xfrm>
            <a:off x="8366760" y="4059936"/>
            <a:ext cx="3108960" cy="329184"/>
          </a:xfrm>
          <a:prstGeom prst="roundRect">
            <a:avLst>
              <a:gd name="adj" fmla="val 27778"/>
            </a:avLst>
          </a:prstGeom>
          <a:solidFill>
            <a:schemeClr val="accent1"/>
          </a:solidFill>
          <a:ln/>
        </p:spPr>
        <p:txBody>
          <a:bodyPr/>
          <a:p/>
        </p:txBody>
      </p:sp>
      <p:sp>
        <p:nvSpPr>
          <p:cNvPr id="63" name="Text-1071"/>
          <p:cNvSpPr txBox="1"/>
          <p:nvPr/>
        </p:nvSpPr>
        <p:spPr>
          <a:xfrm>
            <a:off x="8366760" y="4059936"/>
            <a:ext cx="3108960" cy="329184"/>
          </a:xfrm>
          <a:prstGeom prst="rect">
            <a:avLst/>
          </a:prstGeom>
          <a:noFill/>
          <a:ln/>
        </p:spPr>
        <p:txBody>
          <a:bodyPr wrap="square" lIns="0" tIns="0" rIns="0" bIns="0" rtlCol="0" anchor="ctr"/>
          <a:lstStyle/>
          <a:p>
            <a:pPr algn="ctr" indent="0" marL="0">
              <a:buNone/>
            </a:pPr>
            <a:r>
              <a:rPr lang="en-US" sz="1100" b="1" dirty="0">
                <a:solidFill>
                  <a:schemeClr val="bg1"/>
                </a:solidFill>
              </a:rPr>
              <a:t>Forward to director</a:t>
            </a:r>
            <a:endParaRPr lang="en-US" sz="1100" dirty="0"/>
          </a:p>
        </p:txBody>
      </p:sp>
      <p:sp>
        <p:nvSpPr>
          <p:cNvPr id="64" name="Text-1072"/>
          <p:cNvSpPr txBox="1"/>
          <p:nvPr/>
        </p:nvSpPr>
        <p:spPr>
          <a:xfrm>
            <a:off x="8202168"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People, not just numbers</a:t>
            </a:r>
            <a:endParaRPr lang="en-US" sz="1200" dirty="0"/>
          </a:p>
        </p:txBody>
      </p:sp>
      <p:sp>
        <p:nvSpPr>
          <p:cNvPr id="65" name="Text-1073"/>
          <p:cNvSpPr txBox="1"/>
          <p:nvPr/>
        </p:nvSpPr>
        <p:spPr>
          <a:xfrm>
            <a:off x="685800" y="5870448"/>
            <a:ext cx="1097280" cy="274320"/>
          </a:xfrm>
          <a:prstGeom prst="rect">
            <a:avLst/>
          </a:prstGeom>
          <a:noFill/>
          <a:ln/>
        </p:spPr>
        <p:txBody>
          <a:bodyPr wrap="square" lIns="0" tIns="0" rIns="0" bIns="0" rtlCol="0" anchor="ctr"/>
          <a:lstStyle/>
          <a:p>
            <a:pPr indent="0" marL="0">
              <a:buNone/>
            </a:pPr>
            <a:r>
              <a:rPr lang="en-US" sz="1100" dirty="0">
                <a:solidFill>
                  <a:schemeClr val="accent6"/>
                </a:solidFill>
              </a:rPr>
              <a:t>Answers:</a:t>
            </a:r>
            <a:endParaRPr lang="en-US" sz="1100" dirty="0"/>
          </a:p>
        </p:txBody>
      </p:sp>
      <p:sp>
        <p:nvSpPr>
          <p:cNvPr id="66" name="Box-1074"/>
          <p:cNvSpPr/>
          <p:nvPr/>
        </p:nvSpPr>
        <p:spPr>
          <a:xfrm>
            <a:off x="1783080" y="5870448"/>
            <a:ext cx="594360" cy="274320"/>
          </a:xfrm>
          <a:prstGeom prst="roundRect">
            <a:avLst>
              <a:gd name="adj" fmla="val 46667"/>
            </a:avLst>
          </a:prstGeom>
          <a:solidFill>
            <a:schemeClr val="accent1"/>
          </a:solidFill>
          <a:ln/>
        </p:spPr>
        <p:txBody>
          <a:bodyPr/>
          <a:p/>
        </p:txBody>
      </p:sp>
      <p:sp>
        <p:nvSpPr>
          <p:cNvPr id="67" name="Text-1075"/>
          <p:cNvSpPr txBox="1"/>
          <p:nvPr/>
        </p:nvSpPr>
        <p:spPr>
          <a:xfrm>
            <a:off x="17830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SQ1</a:t>
            </a:r>
            <a:endParaRPr lang="en-US" sz="1000" dirty="0"/>
          </a:p>
        </p:txBody>
      </p:sp>
      <p:sp>
        <p:nvSpPr>
          <p:cNvPr id="68" name="Box-1076"/>
          <p:cNvSpPr/>
          <p:nvPr/>
        </p:nvSpPr>
        <p:spPr>
          <a:xfrm>
            <a:off x="2468880" y="5870448"/>
            <a:ext cx="594360" cy="274320"/>
          </a:xfrm>
          <a:prstGeom prst="roundRect">
            <a:avLst>
              <a:gd name="adj" fmla="val 46667"/>
            </a:avLst>
          </a:prstGeom>
          <a:solidFill>
            <a:schemeClr val="accent1"/>
          </a:solidFill>
          <a:ln/>
        </p:spPr>
        <p:txBody>
          <a:bodyPr/>
          <a:p/>
        </p:txBody>
      </p:sp>
      <p:sp>
        <p:nvSpPr>
          <p:cNvPr id="69" name="Text-1077"/>
          <p:cNvSpPr txBox="1"/>
          <p:nvPr/>
        </p:nvSpPr>
        <p:spPr>
          <a:xfrm>
            <a:off x="24688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SQ3</a:t>
            </a:r>
            <a:endParaRPr lang="en-US" sz="1000" dirty="0"/>
          </a:p>
        </p:txBody>
      </p:sp>
      <p:sp>
        <p:nvSpPr>
          <p:cNvPr id="70" name="Box-1078"/>
          <p:cNvSpPr/>
          <p:nvPr/>
        </p:nvSpPr>
        <p:spPr>
          <a:xfrm>
            <a:off x="3154680" y="5870448"/>
            <a:ext cx="594360" cy="274320"/>
          </a:xfrm>
          <a:prstGeom prst="roundRect">
            <a:avLst>
              <a:gd name="adj" fmla="val 46667"/>
            </a:avLst>
          </a:prstGeom>
          <a:solidFill>
            <a:schemeClr val="accent1"/>
          </a:solidFill>
          <a:ln/>
        </p:spPr>
        <p:txBody>
          <a:bodyPr/>
          <a:p/>
        </p:txBody>
      </p:sp>
      <p:sp>
        <p:nvSpPr>
          <p:cNvPr id="71" name="Text-1079"/>
          <p:cNvSpPr txBox="1"/>
          <p:nvPr/>
        </p:nvSpPr>
        <p:spPr>
          <a:xfrm>
            <a:off x="31546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SQ4</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3.6 · SOLUTION SKETCH 3/4</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The value email, no login</a:t>
            </a:r>
            <a:endParaRPr lang="en-US" sz="3200" dirty="0"/>
          </a:p>
        </p:txBody>
      </p:sp>
      <p:sp>
        <p:nvSpPr>
          <p:cNvPr id="4" name="Text-1080"/>
          <p:cNvSpPr txBox="1"/>
          <p:nvPr/>
        </p:nvSpPr>
        <p:spPr>
          <a:xfrm>
            <a:off x="548640" y="1344168"/>
            <a:ext cx="11064240" cy="548640"/>
          </a:xfrm>
          <a:prstGeom prst="rect">
            <a:avLst/>
          </a:prstGeom>
          <a:noFill/>
          <a:ln/>
        </p:spPr>
        <p:txBody>
          <a:bodyPr wrap="square" lIns="0" tIns="0" rIns="0" bIns="0" rtlCol="0" anchor="t"/>
          <a:lstStyle/>
          <a:p>
            <a:pPr indent="0" marL="0">
              <a:buNone/>
            </a:pPr>
            <a:r>
              <a:rPr lang="en-US" sz="1500" i="1" dirty="0">
                <a:solidFill>
                  <a:schemeClr val="accent6"/>
                </a:solidFill>
              </a:rPr>
              <a:t>Three metrics and a peer comparison in the inbox every month – librarians decide who else receives the email.</a:t>
            </a:r>
            <a:endParaRPr lang="en-US" sz="1500" dirty="0"/>
          </a:p>
        </p:txBody>
      </p:sp>
      <p:sp>
        <p:nvSpPr>
          <p:cNvPr id="5" name="Panel-1081"/>
          <p:cNvSpPr/>
          <p:nvPr/>
        </p:nvSpPr>
        <p:spPr>
          <a:xfrm>
            <a:off x="685800"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6" name="PanelBar-1082"/>
          <p:cNvSpPr/>
          <p:nvPr/>
        </p:nvSpPr>
        <p:spPr>
          <a:xfrm>
            <a:off x="713232" y="2130552"/>
            <a:ext cx="3383280" cy="237744"/>
          </a:xfrm>
          <a:prstGeom prst="rect">
            <a:avLst/>
          </a:prstGeom>
          <a:solidFill>
            <a:schemeClr val="bg2"/>
          </a:solidFill>
          <a:ln/>
        </p:spPr>
        <p:txBody>
          <a:bodyPr/>
          <a:p/>
        </p:txBody>
      </p:sp>
      <p:sp>
        <p:nvSpPr>
          <p:cNvPr id="7" name="Circle-1083"/>
          <p:cNvSpPr/>
          <p:nvPr/>
        </p:nvSpPr>
        <p:spPr>
          <a:xfrm>
            <a:off x="3557016" y="2203704"/>
            <a:ext cx="82296" cy="82296"/>
          </a:xfrm>
          <a:prstGeom prst="ellipse">
            <a:avLst/>
          </a:prstGeom>
          <a:solidFill>
            <a:schemeClr val="accent3"/>
          </a:solidFill>
          <a:ln/>
        </p:spPr>
        <p:txBody>
          <a:bodyPr/>
          <a:p/>
        </p:txBody>
      </p:sp>
      <p:sp>
        <p:nvSpPr>
          <p:cNvPr id="8" name="Circle-1084"/>
          <p:cNvSpPr/>
          <p:nvPr/>
        </p:nvSpPr>
        <p:spPr>
          <a:xfrm>
            <a:off x="3703320" y="2203704"/>
            <a:ext cx="82296" cy="82296"/>
          </a:xfrm>
          <a:prstGeom prst="ellipse">
            <a:avLst/>
          </a:prstGeom>
          <a:solidFill>
            <a:schemeClr val="accent6"/>
          </a:solidFill>
          <a:ln/>
        </p:spPr>
        <p:txBody>
          <a:bodyPr/>
          <a:p/>
        </p:txBody>
      </p:sp>
      <p:sp>
        <p:nvSpPr>
          <p:cNvPr id="9" name="Circle-1085"/>
          <p:cNvSpPr/>
          <p:nvPr/>
        </p:nvSpPr>
        <p:spPr>
          <a:xfrm>
            <a:off x="3849624" y="2203704"/>
            <a:ext cx="82296" cy="82296"/>
          </a:xfrm>
          <a:prstGeom prst="ellipse">
            <a:avLst/>
          </a:prstGeom>
          <a:solidFill>
            <a:schemeClr val="accent6"/>
          </a:solidFill>
          <a:ln/>
        </p:spPr>
        <p:txBody>
          <a:bodyPr/>
          <a:p/>
        </p:txBody>
      </p:sp>
      <p:sp>
        <p:nvSpPr>
          <p:cNvPr id="10" name="Circle-1086"/>
          <p:cNvSpPr/>
          <p:nvPr/>
        </p:nvSpPr>
        <p:spPr>
          <a:xfrm>
            <a:off x="539496" y="1956816"/>
            <a:ext cx="384048" cy="384048"/>
          </a:xfrm>
          <a:prstGeom prst="ellipse">
            <a:avLst/>
          </a:prstGeom>
          <a:solidFill>
            <a:schemeClr val="accent3"/>
          </a:solidFill>
          <a:ln/>
        </p:spPr>
        <p:txBody>
          <a:bodyPr/>
          <a:p/>
        </p:txBody>
      </p:sp>
      <p:sp>
        <p:nvSpPr>
          <p:cNvPr id="11" name="Text-1087"/>
          <p:cNvSpPr txBox="1"/>
          <p:nvPr/>
        </p:nvSpPr>
        <p:spPr>
          <a:xfrm>
            <a:off x="539496"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1088"/>
          <p:cNvSpPr txBox="1"/>
          <p:nvPr/>
        </p:nvSpPr>
        <p:spPr>
          <a:xfrm>
            <a:off x="850392"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Your IPP month: October</a:t>
            </a:r>
            <a:endParaRPr lang="en-US" sz="1300" dirty="0"/>
          </a:p>
        </p:txBody>
      </p:sp>
      <p:sp>
        <p:nvSpPr>
          <p:cNvPr id="13" name="Text-1089"/>
          <p:cNvSpPr txBox="1"/>
          <p:nvPr/>
        </p:nvSpPr>
        <p:spPr>
          <a:xfrm>
            <a:off x="850392" y="2852928"/>
            <a:ext cx="3108960" cy="438912"/>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15 new articles</a:t>
            </a:r>
            <a:endParaRPr lang="en-US" sz="2400" dirty="0"/>
          </a:p>
        </p:txBody>
      </p:sp>
      <p:sp>
        <p:nvSpPr>
          <p:cNvPr id="14" name="Text-1090"/>
          <p:cNvSpPr txBox="1"/>
          <p:nvPr/>
        </p:nvSpPr>
        <p:spPr>
          <a:xfrm>
            <a:off x="850392" y="3291840"/>
            <a:ext cx="3108960" cy="384048"/>
          </a:xfrm>
          <a:prstGeom prst="rect">
            <a:avLst/>
          </a:prstGeom>
          <a:noFill/>
          <a:ln/>
        </p:spPr>
        <p:txBody>
          <a:bodyPr wrap="square" lIns="0" tIns="0" rIns="0" bIns="0" rtlCol="0" anchor="t"/>
          <a:lstStyle/>
          <a:p>
            <a:pPr indent="0" marL="0">
              <a:buNone/>
            </a:pPr>
            <a:r>
              <a:rPr lang="en-US" sz="1100" dirty="0">
                <a:solidFill>
                  <a:schemeClr val="accent6"/>
                </a:solidFill>
              </a:rPr>
              <a:t>EUR 5,550 saved · 4 new reviewers</a:t>
            </a:r>
            <a:endParaRPr lang="en-US" sz="1100" dirty="0"/>
          </a:p>
        </p:txBody>
      </p:sp>
      <p:sp>
        <p:nvSpPr>
          <p:cNvPr id="15" name="Line-1091"/>
          <p:cNvSpPr/>
          <p:nvPr/>
        </p:nvSpPr>
        <p:spPr>
          <a:xfrm>
            <a:off x="850392" y="3721608"/>
            <a:ext cx="2953512" cy="54864"/>
          </a:xfrm>
          <a:prstGeom prst="rect">
            <a:avLst/>
          </a:prstGeom>
          <a:solidFill>
            <a:srgbClr val="C9D5D8"/>
          </a:solidFill>
          <a:ln/>
        </p:spPr>
        <p:txBody>
          <a:bodyPr/>
          <a:p/>
        </p:txBody>
      </p:sp>
      <p:sp>
        <p:nvSpPr>
          <p:cNvPr id="16" name="Line-1092"/>
          <p:cNvSpPr/>
          <p:nvPr/>
        </p:nvSpPr>
        <p:spPr>
          <a:xfrm>
            <a:off x="850392" y="3858768"/>
            <a:ext cx="2487168" cy="54864"/>
          </a:xfrm>
          <a:prstGeom prst="rect">
            <a:avLst/>
          </a:prstGeom>
          <a:solidFill>
            <a:srgbClr val="C9D5D8"/>
          </a:solidFill>
          <a:ln/>
        </p:spPr>
        <p:txBody>
          <a:bodyPr/>
          <a:p/>
        </p:txBody>
      </p:sp>
      <p:sp>
        <p:nvSpPr>
          <p:cNvPr id="17" name="Line-1093"/>
          <p:cNvSpPr/>
          <p:nvPr/>
        </p:nvSpPr>
        <p:spPr>
          <a:xfrm>
            <a:off x="850392" y="3995928"/>
            <a:ext cx="2798064" cy="54864"/>
          </a:xfrm>
          <a:prstGeom prst="rect">
            <a:avLst/>
          </a:prstGeom>
          <a:solidFill>
            <a:srgbClr val="C9D5D8"/>
          </a:solidFill>
          <a:ln/>
        </p:spPr>
        <p:txBody>
          <a:bodyPr/>
          <a:p/>
        </p:txBody>
      </p:sp>
      <p:sp>
        <p:nvSpPr>
          <p:cNvPr id="18" name="Button-1094"/>
          <p:cNvSpPr/>
          <p:nvPr/>
        </p:nvSpPr>
        <p:spPr>
          <a:xfrm>
            <a:off x="850392" y="4197096"/>
            <a:ext cx="3108960" cy="329184"/>
          </a:xfrm>
          <a:prstGeom prst="roundRect">
            <a:avLst>
              <a:gd name="adj" fmla="val 27778"/>
            </a:avLst>
          </a:prstGeom>
          <a:solidFill>
            <a:schemeClr val="accent1"/>
          </a:solidFill>
          <a:ln/>
        </p:spPr>
        <p:txBody>
          <a:bodyPr/>
          <a:p/>
        </p:txBody>
      </p:sp>
      <p:sp>
        <p:nvSpPr>
          <p:cNvPr id="19" name="Text-1095"/>
          <p:cNvSpPr txBox="1"/>
          <p:nvPr/>
        </p:nvSpPr>
        <p:spPr>
          <a:xfrm>
            <a:off x="850392" y="4197096"/>
            <a:ext cx="3108960" cy="329184"/>
          </a:xfrm>
          <a:prstGeom prst="rect">
            <a:avLst/>
          </a:prstGeom>
          <a:noFill/>
          <a:ln/>
        </p:spPr>
        <p:txBody>
          <a:bodyPr wrap="square" lIns="0" tIns="0" rIns="0" bIns="0" rtlCol="0" anchor="ctr"/>
          <a:lstStyle/>
          <a:p>
            <a:pPr algn="ctr" indent="0" marL="0">
              <a:buNone/>
            </a:pPr>
            <a:r>
              <a:rPr lang="en-US" sz="1100" b="1" dirty="0">
                <a:solidFill>
                  <a:schemeClr val="bg1"/>
                </a:solidFill>
              </a:rPr>
              <a:t>View full report</a:t>
            </a:r>
            <a:endParaRPr lang="en-US" sz="1100" dirty="0"/>
          </a:p>
        </p:txBody>
      </p:sp>
      <p:sp>
        <p:nvSpPr>
          <p:cNvPr id="20" name="Text-1096"/>
          <p:cNvSpPr txBox="1"/>
          <p:nvPr/>
        </p:nvSpPr>
        <p:spPr>
          <a:xfrm>
            <a:off x="685800"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Push, not login</a:t>
            </a:r>
            <a:endParaRPr lang="en-US" sz="1200" dirty="0"/>
          </a:p>
        </p:txBody>
      </p:sp>
      <p:sp>
        <p:nvSpPr>
          <p:cNvPr id="21" name="Panel-1097"/>
          <p:cNvSpPr/>
          <p:nvPr/>
        </p:nvSpPr>
        <p:spPr>
          <a:xfrm>
            <a:off x="4443984"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22" name="PanelBar-1098"/>
          <p:cNvSpPr/>
          <p:nvPr/>
        </p:nvSpPr>
        <p:spPr>
          <a:xfrm>
            <a:off x="4471416" y="2130552"/>
            <a:ext cx="3383280" cy="237744"/>
          </a:xfrm>
          <a:prstGeom prst="rect">
            <a:avLst/>
          </a:prstGeom>
          <a:solidFill>
            <a:schemeClr val="bg2"/>
          </a:solidFill>
          <a:ln/>
        </p:spPr>
        <p:txBody>
          <a:bodyPr/>
          <a:p/>
        </p:txBody>
      </p:sp>
      <p:sp>
        <p:nvSpPr>
          <p:cNvPr id="23" name="Circle-1099"/>
          <p:cNvSpPr/>
          <p:nvPr/>
        </p:nvSpPr>
        <p:spPr>
          <a:xfrm>
            <a:off x="7315200" y="2203704"/>
            <a:ext cx="82296" cy="82296"/>
          </a:xfrm>
          <a:prstGeom prst="ellipse">
            <a:avLst/>
          </a:prstGeom>
          <a:solidFill>
            <a:schemeClr val="accent3"/>
          </a:solidFill>
          <a:ln/>
        </p:spPr>
        <p:txBody>
          <a:bodyPr/>
          <a:p/>
        </p:txBody>
      </p:sp>
      <p:sp>
        <p:nvSpPr>
          <p:cNvPr id="24" name="Circle-1100"/>
          <p:cNvSpPr/>
          <p:nvPr/>
        </p:nvSpPr>
        <p:spPr>
          <a:xfrm>
            <a:off x="7461504" y="2203704"/>
            <a:ext cx="82296" cy="82296"/>
          </a:xfrm>
          <a:prstGeom prst="ellipse">
            <a:avLst/>
          </a:prstGeom>
          <a:solidFill>
            <a:schemeClr val="accent6"/>
          </a:solidFill>
          <a:ln/>
        </p:spPr>
        <p:txBody>
          <a:bodyPr/>
          <a:p/>
        </p:txBody>
      </p:sp>
      <p:sp>
        <p:nvSpPr>
          <p:cNvPr id="25" name="Circle-1101"/>
          <p:cNvSpPr/>
          <p:nvPr/>
        </p:nvSpPr>
        <p:spPr>
          <a:xfrm>
            <a:off x="7607808" y="2203704"/>
            <a:ext cx="82296" cy="82296"/>
          </a:xfrm>
          <a:prstGeom prst="ellipse">
            <a:avLst/>
          </a:prstGeom>
          <a:solidFill>
            <a:schemeClr val="accent6"/>
          </a:solidFill>
          <a:ln/>
        </p:spPr>
        <p:txBody>
          <a:bodyPr/>
          <a:p/>
        </p:txBody>
      </p:sp>
      <p:sp>
        <p:nvSpPr>
          <p:cNvPr id="26" name="Circle-1102"/>
          <p:cNvSpPr/>
          <p:nvPr/>
        </p:nvSpPr>
        <p:spPr>
          <a:xfrm>
            <a:off x="4297680" y="1956816"/>
            <a:ext cx="384048" cy="384048"/>
          </a:xfrm>
          <a:prstGeom prst="ellipse">
            <a:avLst/>
          </a:prstGeom>
          <a:solidFill>
            <a:schemeClr val="accent3"/>
          </a:solidFill>
          <a:ln/>
        </p:spPr>
        <p:txBody>
          <a:bodyPr/>
          <a:p/>
        </p:txBody>
      </p:sp>
      <p:sp>
        <p:nvSpPr>
          <p:cNvPr id="27" name="Text-1103"/>
          <p:cNvSpPr txBox="1"/>
          <p:nvPr/>
        </p:nvSpPr>
        <p:spPr>
          <a:xfrm>
            <a:off x="4297680"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Text-1104"/>
          <p:cNvSpPr txBox="1"/>
          <p:nvPr/>
        </p:nvSpPr>
        <p:spPr>
          <a:xfrm>
            <a:off x="4608576"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Articles per 100 researchers</a:t>
            </a:r>
            <a:endParaRPr lang="en-US" sz="1300" dirty="0"/>
          </a:p>
        </p:txBody>
      </p:sp>
      <p:sp>
        <p:nvSpPr>
          <p:cNvPr id="29" name="Bar-1105"/>
          <p:cNvSpPr/>
          <p:nvPr/>
        </p:nvSpPr>
        <p:spPr>
          <a:xfrm>
            <a:off x="4608576" y="3199324"/>
            <a:ext cx="950976" cy="677732"/>
          </a:xfrm>
          <a:prstGeom prst="rect">
            <a:avLst/>
          </a:prstGeom>
          <a:solidFill>
            <a:schemeClr val="accent1"/>
          </a:solidFill>
          <a:ln/>
        </p:spPr>
        <p:txBody>
          <a:bodyPr/>
          <a:p/>
        </p:txBody>
      </p:sp>
      <p:sp>
        <p:nvSpPr>
          <p:cNvPr id="30" name="Text-1106"/>
          <p:cNvSpPr txBox="1"/>
          <p:nvPr/>
        </p:nvSpPr>
        <p:spPr>
          <a:xfrm>
            <a:off x="4562856" y="2998156"/>
            <a:ext cx="1042416" cy="201168"/>
          </a:xfrm>
          <a:prstGeom prst="rect">
            <a:avLst/>
          </a:prstGeom>
          <a:noFill/>
          <a:ln/>
        </p:spPr>
        <p:txBody>
          <a:bodyPr wrap="square" lIns="0" tIns="0" rIns="0" bIns="0" rtlCol="0" anchor="t"/>
          <a:lstStyle/>
          <a:p>
            <a:pPr algn="ctr" indent="0" marL="0">
              <a:buNone/>
            </a:pPr>
            <a:r>
              <a:rPr lang="en-US" sz="1000" b="1" dirty="0">
                <a:solidFill>
                  <a:schemeClr val="tx2"/>
                </a:solidFill>
              </a:rPr>
              <a:t>8.1</a:t>
            </a:r>
            <a:endParaRPr lang="en-US" sz="1000" dirty="0"/>
          </a:p>
        </p:txBody>
      </p:sp>
      <p:sp>
        <p:nvSpPr>
          <p:cNvPr id="31" name="Text-1107"/>
          <p:cNvSpPr txBox="1"/>
          <p:nvPr/>
        </p:nvSpPr>
        <p:spPr>
          <a:xfrm>
            <a:off x="4535424" y="3895344"/>
            <a:ext cx="1097280" cy="219456"/>
          </a:xfrm>
          <a:prstGeom prst="rect">
            <a:avLst/>
          </a:prstGeom>
          <a:noFill/>
          <a:ln/>
        </p:spPr>
        <p:txBody>
          <a:bodyPr wrap="square" lIns="0" tIns="0" rIns="0" bIns="0" rtlCol="0" anchor="t"/>
          <a:lstStyle/>
          <a:p>
            <a:pPr algn="ctr" indent="0" marL="0">
              <a:buNone/>
            </a:pPr>
            <a:r>
              <a:rPr lang="en-US" sz="1000" dirty="0">
                <a:solidFill>
                  <a:schemeClr val="accent6"/>
                </a:solidFill>
              </a:rPr>
              <a:t>You</a:t>
            </a:r>
            <a:endParaRPr lang="en-US" sz="1000" dirty="0"/>
          </a:p>
        </p:txBody>
      </p:sp>
      <p:sp>
        <p:nvSpPr>
          <p:cNvPr id="32" name="Bar-1108"/>
          <p:cNvSpPr/>
          <p:nvPr/>
        </p:nvSpPr>
        <p:spPr>
          <a:xfrm>
            <a:off x="5687568" y="3304211"/>
            <a:ext cx="950976" cy="572845"/>
          </a:xfrm>
          <a:prstGeom prst="rect">
            <a:avLst/>
          </a:prstGeom>
          <a:solidFill>
            <a:schemeClr val="bg2"/>
          </a:solidFill>
          <a:ln w="9525">
            <a:solidFill>
              <a:srgbClr val="B8C7CA"/>
            </a:solidFill>
            <a:prstDash val="solid"/>
          </a:ln>
        </p:spPr>
        <p:txBody>
          <a:bodyPr/>
          <a:p/>
        </p:txBody>
      </p:sp>
      <p:sp>
        <p:nvSpPr>
          <p:cNvPr id="33" name="Text-1109"/>
          <p:cNvSpPr txBox="1"/>
          <p:nvPr/>
        </p:nvSpPr>
        <p:spPr>
          <a:xfrm>
            <a:off x="5641848" y="3103043"/>
            <a:ext cx="1042416" cy="201168"/>
          </a:xfrm>
          <a:prstGeom prst="rect">
            <a:avLst/>
          </a:prstGeom>
          <a:noFill/>
          <a:ln/>
        </p:spPr>
        <p:txBody>
          <a:bodyPr wrap="square" lIns="0" tIns="0" rIns="0" bIns="0" rtlCol="0" anchor="t"/>
          <a:lstStyle/>
          <a:p>
            <a:pPr algn="ctr" indent="0" marL="0">
              <a:buNone/>
            </a:pPr>
            <a:r>
              <a:rPr lang="en-US" sz="1000" dirty="0">
                <a:solidFill>
                  <a:schemeClr val="tx2"/>
                </a:solidFill>
              </a:rPr>
              <a:t>6.9</a:t>
            </a:r>
            <a:endParaRPr lang="en-US" sz="1000" dirty="0"/>
          </a:p>
        </p:txBody>
      </p:sp>
      <p:sp>
        <p:nvSpPr>
          <p:cNvPr id="34" name="Text-1110"/>
          <p:cNvSpPr txBox="1"/>
          <p:nvPr/>
        </p:nvSpPr>
        <p:spPr>
          <a:xfrm>
            <a:off x="5614416" y="3895344"/>
            <a:ext cx="1097280" cy="219456"/>
          </a:xfrm>
          <a:prstGeom prst="rect">
            <a:avLst/>
          </a:prstGeom>
          <a:noFill/>
          <a:ln/>
        </p:spPr>
        <p:txBody>
          <a:bodyPr wrap="square" lIns="0" tIns="0" rIns="0" bIns="0" rtlCol="0" anchor="t"/>
          <a:lstStyle/>
          <a:p>
            <a:pPr algn="ctr" indent="0" marL="0">
              <a:buNone/>
            </a:pPr>
            <a:r>
              <a:rPr lang="en-US" sz="1000" dirty="0">
                <a:solidFill>
                  <a:schemeClr val="accent6"/>
                </a:solidFill>
              </a:rPr>
              <a:t>Peer avg.</a:t>
            </a:r>
            <a:endParaRPr lang="en-US" sz="1000" dirty="0"/>
          </a:p>
        </p:txBody>
      </p:sp>
      <p:sp>
        <p:nvSpPr>
          <p:cNvPr id="35" name="Bar-1111"/>
          <p:cNvSpPr/>
          <p:nvPr/>
        </p:nvSpPr>
        <p:spPr>
          <a:xfrm>
            <a:off x="6766560" y="3054096"/>
            <a:ext cx="950976" cy="822960"/>
          </a:xfrm>
          <a:prstGeom prst="rect">
            <a:avLst/>
          </a:prstGeom>
          <a:solidFill>
            <a:schemeClr val="bg2"/>
          </a:solidFill>
          <a:ln w="9525">
            <a:solidFill>
              <a:srgbClr val="B8C7CA"/>
            </a:solidFill>
            <a:prstDash val="solid"/>
          </a:ln>
        </p:spPr>
        <p:txBody>
          <a:bodyPr/>
          <a:p/>
        </p:txBody>
      </p:sp>
      <p:sp>
        <p:nvSpPr>
          <p:cNvPr id="36" name="Text-1112"/>
          <p:cNvSpPr txBox="1"/>
          <p:nvPr/>
        </p:nvSpPr>
        <p:spPr>
          <a:xfrm>
            <a:off x="6720840" y="2852928"/>
            <a:ext cx="1042416" cy="201168"/>
          </a:xfrm>
          <a:prstGeom prst="rect">
            <a:avLst/>
          </a:prstGeom>
          <a:noFill/>
          <a:ln/>
        </p:spPr>
        <p:txBody>
          <a:bodyPr wrap="square" lIns="0" tIns="0" rIns="0" bIns="0" rtlCol="0" anchor="t"/>
          <a:lstStyle/>
          <a:p>
            <a:pPr algn="ctr" indent="0" marL="0">
              <a:buNone/>
            </a:pPr>
            <a:r>
              <a:rPr lang="en-US" sz="1000" dirty="0">
                <a:solidFill>
                  <a:schemeClr val="tx2"/>
                </a:solidFill>
              </a:rPr>
              <a:t>9.8</a:t>
            </a:r>
            <a:endParaRPr lang="en-US" sz="1000" dirty="0"/>
          </a:p>
        </p:txBody>
      </p:sp>
      <p:sp>
        <p:nvSpPr>
          <p:cNvPr id="37" name="Text-1113"/>
          <p:cNvSpPr txBox="1"/>
          <p:nvPr/>
        </p:nvSpPr>
        <p:spPr>
          <a:xfrm>
            <a:off x="6693408" y="3895344"/>
            <a:ext cx="1097280" cy="219456"/>
          </a:xfrm>
          <a:prstGeom prst="rect">
            <a:avLst/>
          </a:prstGeom>
          <a:noFill/>
          <a:ln/>
        </p:spPr>
        <p:txBody>
          <a:bodyPr wrap="square" lIns="0" tIns="0" rIns="0" bIns="0" rtlCol="0" anchor="t"/>
          <a:lstStyle/>
          <a:p>
            <a:pPr algn="ctr" indent="0" marL="0">
              <a:buNone/>
            </a:pPr>
            <a:r>
              <a:rPr lang="en-US" sz="1000" dirty="0">
                <a:solidFill>
                  <a:schemeClr val="accent6"/>
                </a:solidFill>
              </a:rPr>
              <a:t>Top 25%</a:t>
            </a:r>
            <a:endParaRPr lang="en-US" sz="1000" dirty="0"/>
          </a:p>
        </p:txBody>
      </p:sp>
      <p:sp>
        <p:nvSpPr>
          <p:cNvPr id="38" name="Text-1114"/>
          <p:cNvSpPr txBox="1"/>
          <p:nvPr/>
        </p:nvSpPr>
        <p:spPr>
          <a:xfrm>
            <a:off x="4608576" y="4178808"/>
            <a:ext cx="3108960" cy="457200"/>
          </a:xfrm>
          <a:prstGeom prst="rect">
            <a:avLst/>
          </a:prstGeom>
          <a:noFill/>
          <a:ln/>
        </p:spPr>
        <p:txBody>
          <a:bodyPr wrap="square" lIns="0" tIns="0" rIns="0" bIns="0" rtlCol="0" anchor="t"/>
          <a:lstStyle/>
          <a:p>
            <a:pPr indent="0" marL="0">
              <a:buNone/>
            </a:pPr>
            <a:r>
              <a:rPr lang="en-US" sz="1100" i="1" dirty="0">
                <a:solidFill>
                  <a:schemeClr val="accent6"/>
                </a:solidFill>
              </a:rPr>
              <a:t>Peer group: 11 universities of similar size</a:t>
            </a:r>
            <a:endParaRPr lang="en-US" sz="1100" dirty="0"/>
          </a:p>
        </p:txBody>
      </p:sp>
      <p:sp>
        <p:nvSpPr>
          <p:cNvPr id="39" name="Text-1115"/>
          <p:cNvSpPr txBox="1"/>
          <p:nvPr/>
        </p:nvSpPr>
        <p:spPr>
          <a:xfrm>
            <a:off x="4443984"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The comparison gives context</a:t>
            </a:r>
            <a:endParaRPr lang="en-US" sz="1200" dirty="0"/>
          </a:p>
        </p:txBody>
      </p:sp>
      <p:sp>
        <p:nvSpPr>
          <p:cNvPr id="40" name="Panel-1116"/>
          <p:cNvSpPr/>
          <p:nvPr/>
        </p:nvSpPr>
        <p:spPr>
          <a:xfrm>
            <a:off x="8202168"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41" name="PanelBar-1117"/>
          <p:cNvSpPr/>
          <p:nvPr/>
        </p:nvSpPr>
        <p:spPr>
          <a:xfrm>
            <a:off x="8229600" y="2130552"/>
            <a:ext cx="3383280" cy="237744"/>
          </a:xfrm>
          <a:prstGeom prst="rect">
            <a:avLst/>
          </a:prstGeom>
          <a:solidFill>
            <a:schemeClr val="bg2"/>
          </a:solidFill>
          <a:ln/>
        </p:spPr>
        <p:txBody>
          <a:bodyPr/>
          <a:p/>
        </p:txBody>
      </p:sp>
      <p:sp>
        <p:nvSpPr>
          <p:cNvPr id="42" name="Circle-1118"/>
          <p:cNvSpPr/>
          <p:nvPr/>
        </p:nvSpPr>
        <p:spPr>
          <a:xfrm>
            <a:off x="11073384" y="2203704"/>
            <a:ext cx="82296" cy="82296"/>
          </a:xfrm>
          <a:prstGeom prst="ellipse">
            <a:avLst/>
          </a:prstGeom>
          <a:solidFill>
            <a:schemeClr val="accent3"/>
          </a:solidFill>
          <a:ln/>
        </p:spPr>
        <p:txBody>
          <a:bodyPr/>
          <a:p/>
        </p:txBody>
      </p:sp>
      <p:sp>
        <p:nvSpPr>
          <p:cNvPr id="43" name="Circle-1119"/>
          <p:cNvSpPr/>
          <p:nvPr/>
        </p:nvSpPr>
        <p:spPr>
          <a:xfrm>
            <a:off x="11219688" y="2203704"/>
            <a:ext cx="82296" cy="82296"/>
          </a:xfrm>
          <a:prstGeom prst="ellipse">
            <a:avLst/>
          </a:prstGeom>
          <a:solidFill>
            <a:schemeClr val="accent6"/>
          </a:solidFill>
          <a:ln/>
        </p:spPr>
        <p:txBody>
          <a:bodyPr/>
          <a:p/>
        </p:txBody>
      </p:sp>
      <p:sp>
        <p:nvSpPr>
          <p:cNvPr id="44" name="Circle-1120"/>
          <p:cNvSpPr/>
          <p:nvPr/>
        </p:nvSpPr>
        <p:spPr>
          <a:xfrm>
            <a:off x="11365992" y="2203704"/>
            <a:ext cx="82296" cy="82296"/>
          </a:xfrm>
          <a:prstGeom prst="ellipse">
            <a:avLst/>
          </a:prstGeom>
          <a:solidFill>
            <a:schemeClr val="accent6"/>
          </a:solidFill>
          <a:ln/>
        </p:spPr>
        <p:txBody>
          <a:bodyPr/>
          <a:p/>
        </p:txBody>
      </p:sp>
      <p:sp>
        <p:nvSpPr>
          <p:cNvPr id="45" name="Circle-1121"/>
          <p:cNvSpPr/>
          <p:nvPr/>
        </p:nvSpPr>
        <p:spPr>
          <a:xfrm>
            <a:off x="8055864" y="1956816"/>
            <a:ext cx="384048" cy="384048"/>
          </a:xfrm>
          <a:prstGeom prst="ellipse">
            <a:avLst/>
          </a:prstGeom>
          <a:solidFill>
            <a:schemeClr val="accent3"/>
          </a:solidFill>
          <a:ln/>
        </p:spPr>
        <p:txBody>
          <a:bodyPr/>
          <a:p/>
        </p:txBody>
      </p:sp>
      <p:sp>
        <p:nvSpPr>
          <p:cNvPr id="46" name="Text-1122"/>
          <p:cNvSpPr txBox="1"/>
          <p:nvPr/>
        </p:nvSpPr>
        <p:spPr>
          <a:xfrm>
            <a:off x="8055864"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7" name="Text-1123"/>
          <p:cNvSpPr txBox="1"/>
          <p:nvPr/>
        </p:nvSpPr>
        <p:spPr>
          <a:xfrm>
            <a:off x="8366760"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Who receives the report?</a:t>
            </a:r>
            <a:endParaRPr lang="en-US" sz="1300" dirty="0"/>
          </a:p>
        </p:txBody>
      </p:sp>
      <p:sp>
        <p:nvSpPr>
          <p:cNvPr id="48" name="Text-1124"/>
          <p:cNvSpPr txBox="1"/>
          <p:nvPr/>
        </p:nvSpPr>
        <p:spPr>
          <a:xfrm>
            <a:off x="8366760" y="2852928"/>
            <a:ext cx="2051914" cy="301752"/>
          </a:xfrm>
          <a:prstGeom prst="rect">
            <a:avLst/>
          </a:prstGeom>
          <a:noFill/>
          <a:ln/>
        </p:spPr>
        <p:txBody>
          <a:bodyPr wrap="square" lIns="0" tIns="0" rIns="0" bIns="0" rtlCol="0" anchor="ctr"/>
          <a:lstStyle/>
          <a:p>
            <a:pPr indent="0" marL="0">
              <a:buNone/>
            </a:pPr>
            <a:r>
              <a:rPr lang="en-US" sz="1100" dirty="0">
                <a:solidFill>
                  <a:schemeClr val="tx1"/>
                </a:solidFill>
              </a:rPr>
              <a:t>Me</a:t>
            </a:r>
            <a:endParaRPr lang="en-US" sz="1100" dirty="0"/>
          </a:p>
        </p:txBody>
      </p:sp>
      <p:sp>
        <p:nvSpPr>
          <p:cNvPr id="49" name="Text-1125"/>
          <p:cNvSpPr txBox="1"/>
          <p:nvPr/>
        </p:nvSpPr>
        <p:spPr>
          <a:xfrm>
            <a:off x="10232136" y="2852928"/>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monthly</a:t>
            </a:r>
            <a:endParaRPr lang="en-US" sz="1100" dirty="0"/>
          </a:p>
        </p:txBody>
      </p:sp>
      <p:sp>
        <p:nvSpPr>
          <p:cNvPr id="50" name="Line-1126"/>
          <p:cNvSpPr/>
          <p:nvPr/>
        </p:nvSpPr>
        <p:spPr>
          <a:xfrm>
            <a:off x="8366760" y="3154680"/>
            <a:ext cx="3108960" cy="0"/>
          </a:xfrm>
          <a:prstGeom prst="line">
            <a:avLst/>
          </a:prstGeom>
          <a:noFill/>
          <a:ln w="9525">
            <a:solidFill>
              <a:srgbClr val="D5E0E2"/>
            </a:solidFill>
            <a:prstDash val="solid"/>
          </a:ln>
        </p:spPr>
        <p:txBody>
          <a:bodyPr/>
          <a:p/>
        </p:txBody>
      </p:sp>
      <p:sp>
        <p:nvSpPr>
          <p:cNvPr id="51" name="Text-1127"/>
          <p:cNvSpPr txBox="1"/>
          <p:nvPr/>
        </p:nvSpPr>
        <p:spPr>
          <a:xfrm>
            <a:off x="8366760" y="3182112"/>
            <a:ext cx="2051914" cy="301752"/>
          </a:xfrm>
          <a:prstGeom prst="rect">
            <a:avLst/>
          </a:prstGeom>
          <a:noFill/>
          <a:ln/>
        </p:spPr>
        <p:txBody>
          <a:bodyPr wrap="square" lIns="0" tIns="0" rIns="0" bIns="0" rtlCol="0" anchor="ctr"/>
          <a:lstStyle/>
          <a:p>
            <a:pPr indent="0" marL="0">
              <a:buNone/>
            </a:pPr>
            <a:r>
              <a:rPr lang="en-US" sz="1100" dirty="0">
                <a:solidFill>
                  <a:schemeClr val="tx1"/>
                </a:solidFill>
              </a:rPr>
              <a:t>Director</a:t>
            </a:r>
            <a:endParaRPr lang="en-US" sz="1100" dirty="0"/>
          </a:p>
        </p:txBody>
      </p:sp>
      <p:sp>
        <p:nvSpPr>
          <p:cNvPr id="52" name="Text-1128"/>
          <p:cNvSpPr txBox="1"/>
          <p:nvPr/>
        </p:nvSpPr>
        <p:spPr>
          <a:xfrm>
            <a:off x="10232136" y="3182112"/>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quarterly</a:t>
            </a:r>
            <a:endParaRPr lang="en-US" sz="1100" dirty="0"/>
          </a:p>
        </p:txBody>
      </p:sp>
      <p:sp>
        <p:nvSpPr>
          <p:cNvPr id="53" name="Line-1129"/>
          <p:cNvSpPr/>
          <p:nvPr/>
        </p:nvSpPr>
        <p:spPr>
          <a:xfrm>
            <a:off x="8366760" y="3483864"/>
            <a:ext cx="3108960" cy="0"/>
          </a:xfrm>
          <a:prstGeom prst="line">
            <a:avLst/>
          </a:prstGeom>
          <a:noFill/>
          <a:ln w="9525">
            <a:solidFill>
              <a:srgbClr val="D5E0E2"/>
            </a:solidFill>
            <a:prstDash val="solid"/>
          </a:ln>
        </p:spPr>
        <p:txBody>
          <a:bodyPr/>
          <a:p/>
        </p:txBody>
      </p:sp>
      <p:sp>
        <p:nvSpPr>
          <p:cNvPr id="54" name="Text-1130"/>
          <p:cNvSpPr txBox="1"/>
          <p:nvPr/>
        </p:nvSpPr>
        <p:spPr>
          <a:xfrm>
            <a:off x="8366760" y="3511296"/>
            <a:ext cx="2051914" cy="301752"/>
          </a:xfrm>
          <a:prstGeom prst="rect">
            <a:avLst/>
          </a:prstGeom>
          <a:noFill/>
          <a:ln/>
        </p:spPr>
        <p:txBody>
          <a:bodyPr wrap="square" lIns="0" tIns="0" rIns="0" bIns="0" rtlCol="0" anchor="ctr"/>
          <a:lstStyle/>
          <a:p>
            <a:pPr indent="0" marL="0">
              <a:buNone/>
            </a:pPr>
            <a:r>
              <a:rPr lang="en-US" sz="1100" dirty="0">
                <a:solidFill>
                  <a:schemeClr val="tx1"/>
                </a:solidFill>
              </a:rPr>
              <a:t>VP Research</a:t>
            </a:r>
            <a:endParaRPr lang="en-US" sz="1100" dirty="0"/>
          </a:p>
        </p:txBody>
      </p:sp>
      <p:sp>
        <p:nvSpPr>
          <p:cNvPr id="55" name="Text-1131"/>
          <p:cNvSpPr txBox="1"/>
          <p:nvPr/>
        </p:nvSpPr>
        <p:spPr>
          <a:xfrm>
            <a:off x="10232136" y="3511296"/>
            <a:ext cx="1243584" cy="301752"/>
          </a:xfrm>
          <a:prstGeom prst="rect">
            <a:avLst/>
          </a:prstGeom>
          <a:noFill/>
          <a:ln/>
        </p:spPr>
        <p:txBody>
          <a:bodyPr wrap="square" lIns="0" tIns="0" rIns="0" bIns="0" rtlCol="0" anchor="ctr"/>
          <a:lstStyle/>
          <a:p>
            <a:pPr algn="r" indent="0" marL="0">
              <a:buNone/>
            </a:pPr>
            <a:r>
              <a:rPr lang="en-US" sz="1100" b="1" dirty="0">
                <a:solidFill>
                  <a:schemeClr val="tx2"/>
                </a:solidFill>
              </a:rPr>
              <a:t>yearly</a:t>
            </a:r>
            <a:endParaRPr lang="en-US" sz="1100" dirty="0"/>
          </a:p>
        </p:txBody>
      </p:sp>
      <p:sp>
        <p:nvSpPr>
          <p:cNvPr id="56" name="Line-1132"/>
          <p:cNvSpPr/>
          <p:nvPr/>
        </p:nvSpPr>
        <p:spPr>
          <a:xfrm>
            <a:off x="8366760" y="3813048"/>
            <a:ext cx="3108960" cy="0"/>
          </a:xfrm>
          <a:prstGeom prst="line">
            <a:avLst/>
          </a:prstGeom>
          <a:noFill/>
          <a:ln w="9525">
            <a:solidFill>
              <a:srgbClr val="D5E0E2"/>
            </a:solidFill>
            <a:prstDash val="solid"/>
          </a:ln>
        </p:spPr>
        <p:txBody>
          <a:bodyPr/>
          <a:p/>
        </p:txBody>
      </p:sp>
      <p:sp>
        <p:nvSpPr>
          <p:cNvPr id="57" name="Button-1133"/>
          <p:cNvSpPr/>
          <p:nvPr/>
        </p:nvSpPr>
        <p:spPr>
          <a:xfrm>
            <a:off x="8366760" y="4059936"/>
            <a:ext cx="3108960" cy="329184"/>
          </a:xfrm>
          <a:prstGeom prst="roundRect">
            <a:avLst>
              <a:gd name="adj" fmla="val 27778"/>
            </a:avLst>
          </a:prstGeom>
          <a:solidFill>
            <a:schemeClr val="accent1"/>
          </a:solidFill>
          <a:ln/>
        </p:spPr>
        <p:txBody>
          <a:bodyPr/>
          <a:p/>
        </p:txBody>
      </p:sp>
      <p:sp>
        <p:nvSpPr>
          <p:cNvPr id="58" name="Text-1134"/>
          <p:cNvSpPr txBox="1"/>
          <p:nvPr/>
        </p:nvSpPr>
        <p:spPr>
          <a:xfrm>
            <a:off x="8366760" y="4059936"/>
            <a:ext cx="3108960" cy="329184"/>
          </a:xfrm>
          <a:prstGeom prst="rect">
            <a:avLst/>
          </a:prstGeom>
          <a:noFill/>
          <a:ln/>
        </p:spPr>
        <p:txBody>
          <a:bodyPr wrap="square" lIns="0" tIns="0" rIns="0" bIns="0" rtlCol="0" anchor="ctr"/>
          <a:lstStyle/>
          <a:p>
            <a:pPr algn="ctr" indent="0" marL="0">
              <a:buNone/>
            </a:pPr>
            <a:r>
              <a:rPr lang="en-US" sz="1100" b="1" dirty="0">
                <a:solidFill>
                  <a:schemeClr val="bg1"/>
                </a:solidFill>
              </a:rPr>
              <a:t>+ Add recipient</a:t>
            </a:r>
            <a:endParaRPr lang="en-US" sz="1100" dirty="0"/>
          </a:p>
        </p:txBody>
      </p:sp>
      <p:sp>
        <p:nvSpPr>
          <p:cNvPr id="59" name="Text-1135"/>
          <p:cNvSpPr txBox="1"/>
          <p:nvPr/>
        </p:nvSpPr>
        <p:spPr>
          <a:xfrm>
            <a:off x="8202168"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Value reaches decision-makers directly</a:t>
            </a:r>
            <a:endParaRPr lang="en-US" sz="1200" dirty="0"/>
          </a:p>
        </p:txBody>
      </p:sp>
      <p:sp>
        <p:nvSpPr>
          <p:cNvPr id="60" name="Text-1136"/>
          <p:cNvSpPr txBox="1"/>
          <p:nvPr/>
        </p:nvSpPr>
        <p:spPr>
          <a:xfrm>
            <a:off x="685800" y="5870448"/>
            <a:ext cx="1097280" cy="274320"/>
          </a:xfrm>
          <a:prstGeom prst="rect">
            <a:avLst/>
          </a:prstGeom>
          <a:noFill/>
          <a:ln/>
        </p:spPr>
        <p:txBody>
          <a:bodyPr wrap="square" lIns="0" tIns="0" rIns="0" bIns="0" rtlCol="0" anchor="ctr"/>
          <a:lstStyle/>
          <a:p>
            <a:pPr indent="0" marL="0">
              <a:buNone/>
            </a:pPr>
            <a:r>
              <a:rPr lang="en-US" sz="1100" dirty="0">
                <a:solidFill>
                  <a:schemeClr val="accent6"/>
                </a:solidFill>
              </a:rPr>
              <a:t>Answers:</a:t>
            </a:r>
            <a:endParaRPr lang="en-US" sz="1100" dirty="0"/>
          </a:p>
        </p:txBody>
      </p:sp>
      <p:sp>
        <p:nvSpPr>
          <p:cNvPr id="61" name="Box-1137"/>
          <p:cNvSpPr/>
          <p:nvPr/>
        </p:nvSpPr>
        <p:spPr>
          <a:xfrm>
            <a:off x="1783080" y="5870448"/>
            <a:ext cx="594360" cy="274320"/>
          </a:xfrm>
          <a:prstGeom prst="roundRect">
            <a:avLst>
              <a:gd name="adj" fmla="val 46667"/>
            </a:avLst>
          </a:prstGeom>
          <a:solidFill>
            <a:schemeClr val="accent1"/>
          </a:solidFill>
          <a:ln/>
        </p:spPr>
        <p:txBody>
          <a:bodyPr/>
          <a:p/>
        </p:txBody>
      </p:sp>
      <p:sp>
        <p:nvSpPr>
          <p:cNvPr id="62" name="Text-1138"/>
          <p:cNvSpPr txBox="1"/>
          <p:nvPr/>
        </p:nvSpPr>
        <p:spPr>
          <a:xfrm>
            <a:off x="17830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SQ1</a:t>
            </a:r>
            <a:endParaRPr lang="en-US" sz="1000" dirty="0"/>
          </a:p>
        </p:txBody>
      </p:sp>
      <p:sp>
        <p:nvSpPr>
          <p:cNvPr id="63" name="Box-1139"/>
          <p:cNvSpPr/>
          <p:nvPr/>
        </p:nvSpPr>
        <p:spPr>
          <a:xfrm>
            <a:off x="2468880" y="5870448"/>
            <a:ext cx="594360" cy="274320"/>
          </a:xfrm>
          <a:prstGeom prst="roundRect">
            <a:avLst>
              <a:gd name="adj" fmla="val 46667"/>
            </a:avLst>
          </a:prstGeom>
          <a:solidFill>
            <a:schemeClr val="accent1"/>
          </a:solidFill>
          <a:ln/>
        </p:spPr>
        <p:txBody>
          <a:bodyPr/>
          <a:p/>
        </p:txBody>
      </p:sp>
      <p:sp>
        <p:nvSpPr>
          <p:cNvPr id="64" name="Text-1140"/>
          <p:cNvSpPr txBox="1"/>
          <p:nvPr/>
        </p:nvSpPr>
        <p:spPr>
          <a:xfrm>
            <a:off x="24688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SQ4</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3.6 · SOLUTION SKETCH 4/4</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The compliance proof</a:t>
            </a:r>
            <a:endParaRPr lang="en-US" sz="3200" dirty="0"/>
          </a:p>
        </p:txBody>
      </p:sp>
      <p:sp>
        <p:nvSpPr>
          <p:cNvPr id="4" name="Text-1141"/>
          <p:cNvSpPr txBox="1"/>
          <p:nvPr/>
        </p:nvSpPr>
        <p:spPr>
          <a:xfrm>
            <a:off x="548640" y="1344168"/>
            <a:ext cx="11064240" cy="548640"/>
          </a:xfrm>
          <a:prstGeom prst="rect">
            <a:avLst/>
          </a:prstGeom>
          <a:noFill/>
          <a:ln/>
        </p:spPr>
        <p:txBody>
          <a:bodyPr wrap="square" lIns="0" tIns="0" rIns="0" bIns="0" rtlCol="0" anchor="t"/>
          <a:lstStyle/>
          <a:p>
            <a:pPr indent="0" marL="0">
              <a:buNone/>
            </a:pPr>
            <a:r>
              <a:rPr lang="en-US" sz="1500" i="1" dirty="0">
                <a:solidFill>
                  <a:schemeClr val="accent6"/>
                </a:solidFill>
              </a:rPr>
              <a:t>A traffic light shows how far publications meet OA strategy, funder requirements and open data rules – with a method sheet and export.</a:t>
            </a:r>
            <a:endParaRPr lang="en-US" sz="1500" dirty="0"/>
          </a:p>
        </p:txBody>
      </p:sp>
      <p:sp>
        <p:nvSpPr>
          <p:cNvPr id="5" name="Panel-1142"/>
          <p:cNvSpPr/>
          <p:nvPr/>
        </p:nvSpPr>
        <p:spPr>
          <a:xfrm>
            <a:off x="685800"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6" name="PanelBar-1143"/>
          <p:cNvSpPr/>
          <p:nvPr/>
        </p:nvSpPr>
        <p:spPr>
          <a:xfrm>
            <a:off x="713232" y="2130552"/>
            <a:ext cx="3383280" cy="237744"/>
          </a:xfrm>
          <a:prstGeom prst="rect">
            <a:avLst/>
          </a:prstGeom>
          <a:solidFill>
            <a:schemeClr val="bg2"/>
          </a:solidFill>
          <a:ln/>
        </p:spPr>
        <p:txBody>
          <a:bodyPr/>
          <a:p/>
        </p:txBody>
      </p:sp>
      <p:sp>
        <p:nvSpPr>
          <p:cNvPr id="7" name="Circle-1144"/>
          <p:cNvSpPr/>
          <p:nvPr/>
        </p:nvSpPr>
        <p:spPr>
          <a:xfrm>
            <a:off x="3557016" y="2203704"/>
            <a:ext cx="82296" cy="82296"/>
          </a:xfrm>
          <a:prstGeom prst="ellipse">
            <a:avLst/>
          </a:prstGeom>
          <a:solidFill>
            <a:schemeClr val="accent3"/>
          </a:solidFill>
          <a:ln/>
        </p:spPr>
        <p:txBody>
          <a:bodyPr/>
          <a:p/>
        </p:txBody>
      </p:sp>
      <p:sp>
        <p:nvSpPr>
          <p:cNvPr id="8" name="Circle-1145"/>
          <p:cNvSpPr/>
          <p:nvPr/>
        </p:nvSpPr>
        <p:spPr>
          <a:xfrm>
            <a:off x="3703320" y="2203704"/>
            <a:ext cx="82296" cy="82296"/>
          </a:xfrm>
          <a:prstGeom prst="ellipse">
            <a:avLst/>
          </a:prstGeom>
          <a:solidFill>
            <a:schemeClr val="accent6"/>
          </a:solidFill>
          <a:ln/>
        </p:spPr>
        <p:txBody>
          <a:bodyPr/>
          <a:p/>
        </p:txBody>
      </p:sp>
      <p:sp>
        <p:nvSpPr>
          <p:cNvPr id="9" name="Circle-1146"/>
          <p:cNvSpPr/>
          <p:nvPr/>
        </p:nvSpPr>
        <p:spPr>
          <a:xfrm>
            <a:off x="3849624" y="2203704"/>
            <a:ext cx="82296" cy="82296"/>
          </a:xfrm>
          <a:prstGeom prst="ellipse">
            <a:avLst/>
          </a:prstGeom>
          <a:solidFill>
            <a:schemeClr val="accent6"/>
          </a:solidFill>
          <a:ln/>
        </p:spPr>
        <p:txBody>
          <a:bodyPr/>
          <a:p/>
        </p:txBody>
      </p:sp>
      <p:sp>
        <p:nvSpPr>
          <p:cNvPr id="10" name="Circle-1147"/>
          <p:cNvSpPr/>
          <p:nvPr/>
        </p:nvSpPr>
        <p:spPr>
          <a:xfrm>
            <a:off x="539496" y="1956816"/>
            <a:ext cx="384048" cy="384048"/>
          </a:xfrm>
          <a:prstGeom prst="ellipse">
            <a:avLst/>
          </a:prstGeom>
          <a:solidFill>
            <a:schemeClr val="accent3"/>
          </a:solidFill>
          <a:ln/>
        </p:spPr>
        <p:txBody>
          <a:bodyPr/>
          <a:p/>
        </p:txBody>
      </p:sp>
      <p:sp>
        <p:nvSpPr>
          <p:cNvPr id="11" name="Text-1148"/>
          <p:cNvSpPr txBox="1"/>
          <p:nvPr/>
        </p:nvSpPr>
        <p:spPr>
          <a:xfrm>
            <a:off x="539496"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1149"/>
          <p:cNvSpPr txBox="1"/>
          <p:nvPr/>
        </p:nvSpPr>
        <p:spPr>
          <a:xfrm>
            <a:off x="850392"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Compliance 2026</a:t>
            </a:r>
            <a:endParaRPr lang="en-US" sz="1300" dirty="0"/>
          </a:p>
        </p:txBody>
      </p:sp>
      <p:sp>
        <p:nvSpPr>
          <p:cNvPr id="13" name="Circle-1150"/>
          <p:cNvSpPr/>
          <p:nvPr/>
        </p:nvSpPr>
        <p:spPr>
          <a:xfrm>
            <a:off x="850392" y="2916936"/>
            <a:ext cx="182880" cy="182880"/>
          </a:xfrm>
          <a:prstGeom prst="ellipse">
            <a:avLst/>
          </a:prstGeom>
          <a:solidFill>
            <a:schemeClr val="accent4"/>
          </a:solidFill>
          <a:ln/>
        </p:spPr>
        <p:txBody>
          <a:bodyPr/>
          <a:p/>
        </p:txBody>
      </p:sp>
      <p:sp>
        <p:nvSpPr>
          <p:cNvPr id="14" name="Text-1151"/>
          <p:cNvSpPr txBox="1"/>
          <p:nvPr/>
        </p:nvSpPr>
        <p:spPr>
          <a:xfrm>
            <a:off x="1124712" y="2852928"/>
            <a:ext cx="1927555" cy="310896"/>
          </a:xfrm>
          <a:prstGeom prst="rect">
            <a:avLst/>
          </a:prstGeom>
          <a:noFill/>
          <a:ln/>
        </p:spPr>
        <p:txBody>
          <a:bodyPr wrap="square" lIns="0" tIns="0" rIns="0" bIns="0" rtlCol="0" anchor="ctr"/>
          <a:lstStyle/>
          <a:p>
            <a:pPr indent="0" marL="0">
              <a:buNone/>
            </a:pPr>
            <a:r>
              <a:rPr lang="en-US" sz="1100" dirty="0">
                <a:solidFill>
                  <a:schemeClr val="tx1"/>
                </a:solidFill>
              </a:rPr>
              <a:t>OA strategy</a:t>
            </a:r>
            <a:endParaRPr lang="en-US" sz="1100" dirty="0"/>
          </a:p>
        </p:txBody>
      </p:sp>
      <p:sp>
        <p:nvSpPr>
          <p:cNvPr id="15" name="Text-1152"/>
          <p:cNvSpPr txBox="1"/>
          <p:nvPr/>
        </p:nvSpPr>
        <p:spPr>
          <a:xfrm>
            <a:off x="2777947" y="2852928"/>
            <a:ext cx="1181405" cy="310896"/>
          </a:xfrm>
          <a:prstGeom prst="rect">
            <a:avLst/>
          </a:prstGeom>
          <a:noFill/>
          <a:ln/>
        </p:spPr>
        <p:txBody>
          <a:bodyPr wrap="square" lIns="0" tIns="0" rIns="0" bIns="0" rtlCol="0" anchor="ctr"/>
          <a:lstStyle/>
          <a:p>
            <a:pPr algn="r" indent="0" marL="0">
              <a:buNone/>
            </a:pPr>
            <a:r>
              <a:rPr lang="en-US" sz="1100" b="1" dirty="0">
                <a:solidFill>
                  <a:schemeClr val="tx2"/>
                </a:solidFill>
              </a:rPr>
              <a:t>100%</a:t>
            </a:r>
            <a:endParaRPr lang="en-US" sz="1100" dirty="0"/>
          </a:p>
        </p:txBody>
      </p:sp>
      <p:sp>
        <p:nvSpPr>
          <p:cNvPr id="16" name="Circle-1153"/>
          <p:cNvSpPr/>
          <p:nvPr/>
        </p:nvSpPr>
        <p:spPr>
          <a:xfrm>
            <a:off x="850392" y="3264408"/>
            <a:ext cx="182880" cy="182880"/>
          </a:xfrm>
          <a:prstGeom prst="ellipse">
            <a:avLst/>
          </a:prstGeom>
          <a:solidFill>
            <a:schemeClr val="accent4"/>
          </a:solidFill>
          <a:ln/>
        </p:spPr>
        <p:txBody>
          <a:bodyPr/>
          <a:p/>
        </p:txBody>
      </p:sp>
      <p:sp>
        <p:nvSpPr>
          <p:cNvPr id="17" name="Text-1154"/>
          <p:cNvSpPr txBox="1"/>
          <p:nvPr/>
        </p:nvSpPr>
        <p:spPr>
          <a:xfrm>
            <a:off x="1124712" y="3200400"/>
            <a:ext cx="1927555" cy="310896"/>
          </a:xfrm>
          <a:prstGeom prst="rect">
            <a:avLst/>
          </a:prstGeom>
          <a:noFill/>
          <a:ln/>
        </p:spPr>
        <p:txBody>
          <a:bodyPr wrap="square" lIns="0" tIns="0" rIns="0" bIns="0" rtlCol="0" anchor="ctr"/>
          <a:lstStyle/>
          <a:p>
            <a:pPr indent="0" marL="0">
              <a:buNone/>
            </a:pPr>
            <a:r>
              <a:rPr lang="en-US" sz="1100" dirty="0">
                <a:solidFill>
                  <a:schemeClr val="tx1"/>
                </a:solidFill>
              </a:rPr>
              <a:t>Funder requirements</a:t>
            </a:r>
            <a:endParaRPr lang="en-US" sz="1100" dirty="0"/>
          </a:p>
        </p:txBody>
      </p:sp>
      <p:sp>
        <p:nvSpPr>
          <p:cNvPr id="18" name="Text-1155"/>
          <p:cNvSpPr txBox="1"/>
          <p:nvPr/>
        </p:nvSpPr>
        <p:spPr>
          <a:xfrm>
            <a:off x="2777947" y="3200400"/>
            <a:ext cx="1181405" cy="310896"/>
          </a:xfrm>
          <a:prstGeom prst="rect">
            <a:avLst/>
          </a:prstGeom>
          <a:noFill/>
          <a:ln/>
        </p:spPr>
        <p:txBody>
          <a:bodyPr wrap="square" lIns="0" tIns="0" rIns="0" bIns="0" rtlCol="0" anchor="ctr"/>
          <a:lstStyle/>
          <a:p>
            <a:pPr algn="r" indent="0" marL="0">
              <a:buNone/>
            </a:pPr>
            <a:r>
              <a:rPr lang="en-US" sz="1100" b="1" dirty="0">
                <a:solidFill>
                  <a:schemeClr val="tx2"/>
                </a:solidFill>
              </a:rPr>
              <a:t>93%</a:t>
            </a:r>
            <a:endParaRPr lang="en-US" sz="1100" dirty="0"/>
          </a:p>
        </p:txBody>
      </p:sp>
      <p:sp>
        <p:nvSpPr>
          <p:cNvPr id="19" name="Circle-1156"/>
          <p:cNvSpPr/>
          <p:nvPr/>
        </p:nvSpPr>
        <p:spPr>
          <a:xfrm>
            <a:off x="850392" y="3611880"/>
            <a:ext cx="182880" cy="182880"/>
          </a:xfrm>
          <a:prstGeom prst="ellipse">
            <a:avLst/>
          </a:prstGeom>
          <a:solidFill>
            <a:schemeClr val="accent4"/>
          </a:solidFill>
          <a:ln/>
        </p:spPr>
        <p:txBody>
          <a:bodyPr/>
          <a:p/>
        </p:txBody>
      </p:sp>
      <p:sp>
        <p:nvSpPr>
          <p:cNvPr id="20" name="Text-1157"/>
          <p:cNvSpPr txBox="1"/>
          <p:nvPr/>
        </p:nvSpPr>
        <p:spPr>
          <a:xfrm>
            <a:off x="1124712" y="3547872"/>
            <a:ext cx="1927555" cy="310896"/>
          </a:xfrm>
          <a:prstGeom prst="rect">
            <a:avLst/>
          </a:prstGeom>
          <a:noFill/>
          <a:ln/>
        </p:spPr>
        <p:txBody>
          <a:bodyPr wrap="square" lIns="0" tIns="0" rIns="0" bIns="0" rtlCol="0" anchor="ctr"/>
          <a:lstStyle/>
          <a:p>
            <a:pPr indent="0" marL="0">
              <a:buNone/>
            </a:pPr>
            <a:r>
              <a:rPr lang="en-US" sz="1100" dirty="0">
                <a:solidFill>
                  <a:schemeClr val="tx1"/>
                </a:solidFill>
              </a:rPr>
              <a:t>CC BY licence</a:t>
            </a:r>
            <a:endParaRPr lang="en-US" sz="1100" dirty="0"/>
          </a:p>
        </p:txBody>
      </p:sp>
      <p:sp>
        <p:nvSpPr>
          <p:cNvPr id="21" name="Text-1158"/>
          <p:cNvSpPr txBox="1"/>
          <p:nvPr/>
        </p:nvSpPr>
        <p:spPr>
          <a:xfrm>
            <a:off x="2777947" y="3547872"/>
            <a:ext cx="1181405" cy="310896"/>
          </a:xfrm>
          <a:prstGeom prst="rect">
            <a:avLst/>
          </a:prstGeom>
          <a:noFill/>
          <a:ln/>
        </p:spPr>
        <p:txBody>
          <a:bodyPr wrap="square" lIns="0" tIns="0" rIns="0" bIns="0" rtlCol="0" anchor="ctr"/>
          <a:lstStyle/>
          <a:p>
            <a:pPr algn="r" indent="0" marL="0">
              <a:buNone/>
            </a:pPr>
            <a:r>
              <a:rPr lang="en-US" sz="1100" b="1" dirty="0">
                <a:solidFill>
                  <a:schemeClr val="tx2"/>
                </a:solidFill>
              </a:rPr>
              <a:t>100%</a:t>
            </a:r>
            <a:endParaRPr lang="en-US" sz="1100" dirty="0"/>
          </a:p>
        </p:txBody>
      </p:sp>
      <p:sp>
        <p:nvSpPr>
          <p:cNvPr id="22" name="Circle-1159"/>
          <p:cNvSpPr/>
          <p:nvPr/>
        </p:nvSpPr>
        <p:spPr>
          <a:xfrm>
            <a:off x="850392" y="3959352"/>
            <a:ext cx="182880" cy="182880"/>
          </a:xfrm>
          <a:prstGeom prst="ellipse">
            <a:avLst/>
          </a:prstGeom>
          <a:solidFill>
            <a:schemeClr val="accent2"/>
          </a:solidFill>
          <a:ln/>
        </p:spPr>
        <p:txBody>
          <a:bodyPr/>
          <a:p/>
        </p:txBody>
      </p:sp>
      <p:sp>
        <p:nvSpPr>
          <p:cNvPr id="23" name="Text-1160"/>
          <p:cNvSpPr txBox="1"/>
          <p:nvPr/>
        </p:nvSpPr>
        <p:spPr>
          <a:xfrm>
            <a:off x="1124712" y="3895344"/>
            <a:ext cx="1927555" cy="310896"/>
          </a:xfrm>
          <a:prstGeom prst="rect">
            <a:avLst/>
          </a:prstGeom>
          <a:noFill/>
          <a:ln/>
        </p:spPr>
        <p:txBody>
          <a:bodyPr wrap="square" lIns="0" tIns="0" rIns="0" bIns="0" rtlCol="0" anchor="ctr"/>
          <a:lstStyle/>
          <a:p>
            <a:pPr indent="0" marL="0">
              <a:buNone/>
            </a:pPr>
            <a:r>
              <a:rPr lang="en-US" sz="1100" dirty="0">
                <a:solidFill>
                  <a:schemeClr val="tx1"/>
                </a:solidFill>
              </a:rPr>
              <a:t>Open Data</a:t>
            </a:r>
            <a:endParaRPr lang="en-US" sz="1100" dirty="0"/>
          </a:p>
        </p:txBody>
      </p:sp>
      <p:sp>
        <p:nvSpPr>
          <p:cNvPr id="24" name="Text-1161"/>
          <p:cNvSpPr txBox="1"/>
          <p:nvPr/>
        </p:nvSpPr>
        <p:spPr>
          <a:xfrm>
            <a:off x="2777947" y="3895344"/>
            <a:ext cx="1181405" cy="310896"/>
          </a:xfrm>
          <a:prstGeom prst="rect">
            <a:avLst/>
          </a:prstGeom>
          <a:noFill/>
          <a:ln/>
        </p:spPr>
        <p:txBody>
          <a:bodyPr wrap="square" lIns="0" tIns="0" rIns="0" bIns="0" rtlCol="0" anchor="ctr"/>
          <a:lstStyle/>
          <a:p>
            <a:pPr algn="r" indent="0" marL="0">
              <a:buNone/>
            </a:pPr>
            <a:r>
              <a:rPr lang="en-US" sz="1100" b="1" dirty="0">
                <a:solidFill>
                  <a:schemeClr val="tx2"/>
                </a:solidFill>
              </a:rPr>
              <a:t>58%</a:t>
            </a:r>
            <a:endParaRPr lang="en-US" sz="1100" dirty="0"/>
          </a:p>
        </p:txBody>
      </p:sp>
      <p:sp>
        <p:nvSpPr>
          <p:cNvPr id="25" name="Text-1162"/>
          <p:cNvSpPr txBox="1"/>
          <p:nvPr/>
        </p:nvSpPr>
        <p:spPr>
          <a:xfrm>
            <a:off x="850392" y="4242816"/>
            <a:ext cx="3108960" cy="365760"/>
          </a:xfrm>
          <a:prstGeom prst="rect">
            <a:avLst/>
          </a:prstGeom>
          <a:noFill/>
          <a:ln/>
        </p:spPr>
        <p:txBody>
          <a:bodyPr wrap="square" lIns="0" tIns="0" rIns="0" bIns="0" rtlCol="0" anchor="t"/>
          <a:lstStyle/>
          <a:p>
            <a:pPr indent="0" marL="0">
              <a:buNone/>
            </a:pPr>
            <a:r>
              <a:rPr lang="en-US" sz="1100" i="1" dirty="0">
                <a:solidFill>
                  <a:schemeClr val="accent6"/>
                </a:solidFill>
              </a:rPr>
              <a:t>Green from 90%, amber from 60%</a:t>
            </a:r>
            <a:endParaRPr lang="en-US" sz="1100" dirty="0"/>
          </a:p>
        </p:txBody>
      </p:sp>
      <p:sp>
        <p:nvSpPr>
          <p:cNvPr id="26" name="Text-1163"/>
          <p:cNvSpPr txBox="1"/>
          <p:nvPr/>
        </p:nvSpPr>
        <p:spPr>
          <a:xfrm>
            <a:off x="685800"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Proves what counts at board level</a:t>
            </a:r>
            <a:endParaRPr lang="en-US" sz="1200" dirty="0"/>
          </a:p>
        </p:txBody>
      </p:sp>
      <p:sp>
        <p:nvSpPr>
          <p:cNvPr id="27" name="Panel-1164"/>
          <p:cNvSpPr/>
          <p:nvPr/>
        </p:nvSpPr>
        <p:spPr>
          <a:xfrm>
            <a:off x="4443984"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28" name="PanelBar-1165"/>
          <p:cNvSpPr/>
          <p:nvPr/>
        </p:nvSpPr>
        <p:spPr>
          <a:xfrm>
            <a:off x="4471416" y="2130552"/>
            <a:ext cx="3383280" cy="237744"/>
          </a:xfrm>
          <a:prstGeom prst="rect">
            <a:avLst/>
          </a:prstGeom>
          <a:solidFill>
            <a:schemeClr val="bg2"/>
          </a:solidFill>
          <a:ln/>
        </p:spPr>
        <p:txBody>
          <a:bodyPr/>
          <a:p/>
        </p:txBody>
      </p:sp>
      <p:sp>
        <p:nvSpPr>
          <p:cNvPr id="29" name="Circle-1166"/>
          <p:cNvSpPr/>
          <p:nvPr/>
        </p:nvSpPr>
        <p:spPr>
          <a:xfrm>
            <a:off x="7315200" y="2203704"/>
            <a:ext cx="82296" cy="82296"/>
          </a:xfrm>
          <a:prstGeom prst="ellipse">
            <a:avLst/>
          </a:prstGeom>
          <a:solidFill>
            <a:schemeClr val="accent3"/>
          </a:solidFill>
          <a:ln/>
        </p:spPr>
        <p:txBody>
          <a:bodyPr/>
          <a:p/>
        </p:txBody>
      </p:sp>
      <p:sp>
        <p:nvSpPr>
          <p:cNvPr id="30" name="Circle-1167"/>
          <p:cNvSpPr/>
          <p:nvPr/>
        </p:nvSpPr>
        <p:spPr>
          <a:xfrm>
            <a:off x="7461504" y="2203704"/>
            <a:ext cx="82296" cy="82296"/>
          </a:xfrm>
          <a:prstGeom prst="ellipse">
            <a:avLst/>
          </a:prstGeom>
          <a:solidFill>
            <a:schemeClr val="accent6"/>
          </a:solidFill>
          <a:ln/>
        </p:spPr>
        <p:txBody>
          <a:bodyPr/>
          <a:p/>
        </p:txBody>
      </p:sp>
      <p:sp>
        <p:nvSpPr>
          <p:cNvPr id="31" name="Circle-1168"/>
          <p:cNvSpPr/>
          <p:nvPr/>
        </p:nvSpPr>
        <p:spPr>
          <a:xfrm>
            <a:off x="7607808" y="2203704"/>
            <a:ext cx="82296" cy="82296"/>
          </a:xfrm>
          <a:prstGeom prst="ellipse">
            <a:avLst/>
          </a:prstGeom>
          <a:solidFill>
            <a:schemeClr val="accent6"/>
          </a:solidFill>
          <a:ln/>
        </p:spPr>
        <p:txBody>
          <a:bodyPr/>
          <a:p/>
        </p:txBody>
      </p:sp>
      <p:sp>
        <p:nvSpPr>
          <p:cNvPr id="32" name="Circle-1169"/>
          <p:cNvSpPr/>
          <p:nvPr/>
        </p:nvSpPr>
        <p:spPr>
          <a:xfrm>
            <a:off x="4297680" y="1956816"/>
            <a:ext cx="384048" cy="384048"/>
          </a:xfrm>
          <a:prstGeom prst="ellipse">
            <a:avLst/>
          </a:prstGeom>
          <a:solidFill>
            <a:schemeClr val="accent3"/>
          </a:solidFill>
          <a:ln/>
        </p:spPr>
        <p:txBody>
          <a:bodyPr/>
          <a:p/>
        </p:txBody>
      </p:sp>
      <p:sp>
        <p:nvSpPr>
          <p:cNvPr id="33" name="Text-1170"/>
          <p:cNvSpPr txBox="1"/>
          <p:nvPr/>
        </p:nvSpPr>
        <p:spPr>
          <a:xfrm>
            <a:off x="4297680"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4" name="Text-1171"/>
          <p:cNvSpPr txBox="1"/>
          <p:nvPr/>
        </p:nvSpPr>
        <p:spPr>
          <a:xfrm>
            <a:off x="4608576"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Open data by faculty</a:t>
            </a:r>
            <a:endParaRPr lang="en-US" sz="1300" dirty="0"/>
          </a:p>
        </p:txBody>
      </p:sp>
      <p:sp>
        <p:nvSpPr>
          <p:cNvPr id="35" name="Bar-1172"/>
          <p:cNvSpPr/>
          <p:nvPr/>
        </p:nvSpPr>
        <p:spPr>
          <a:xfrm>
            <a:off x="4608576" y="3328416"/>
            <a:ext cx="681228" cy="548640"/>
          </a:xfrm>
          <a:prstGeom prst="rect">
            <a:avLst/>
          </a:prstGeom>
          <a:solidFill>
            <a:schemeClr val="accent1"/>
          </a:solidFill>
          <a:ln/>
        </p:spPr>
        <p:txBody>
          <a:bodyPr/>
          <a:p/>
        </p:txBody>
      </p:sp>
      <p:sp>
        <p:nvSpPr>
          <p:cNvPr id="36" name="Text-1173"/>
          <p:cNvSpPr txBox="1"/>
          <p:nvPr/>
        </p:nvSpPr>
        <p:spPr>
          <a:xfrm>
            <a:off x="4562856" y="3127248"/>
            <a:ext cx="772668" cy="201168"/>
          </a:xfrm>
          <a:prstGeom prst="rect">
            <a:avLst/>
          </a:prstGeom>
          <a:noFill/>
          <a:ln/>
        </p:spPr>
        <p:txBody>
          <a:bodyPr wrap="square" lIns="0" tIns="0" rIns="0" bIns="0" rtlCol="0" anchor="t"/>
          <a:lstStyle/>
          <a:p>
            <a:pPr algn="ctr" indent="0" marL="0">
              <a:buNone/>
            </a:pPr>
            <a:r>
              <a:rPr lang="en-US" sz="1000" b="1" dirty="0">
                <a:solidFill>
                  <a:schemeClr val="tx2"/>
                </a:solidFill>
              </a:rPr>
              <a:t>46%</a:t>
            </a:r>
            <a:endParaRPr lang="en-US" sz="1000" dirty="0"/>
          </a:p>
        </p:txBody>
      </p:sp>
      <p:sp>
        <p:nvSpPr>
          <p:cNvPr id="37" name="Text-1174"/>
          <p:cNvSpPr txBox="1"/>
          <p:nvPr/>
        </p:nvSpPr>
        <p:spPr>
          <a:xfrm>
            <a:off x="4535424" y="3895344"/>
            <a:ext cx="827532" cy="219456"/>
          </a:xfrm>
          <a:prstGeom prst="rect">
            <a:avLst/>
          </a:prstGeom>
          <a:noFill/>
          <a:ln/>
        </p:spPr>
        <p:txBody>
          <a:bodyPr wrap="square" lIns="0" tIns="0" rIns="0" bIns="0" rtlCol="0" anchor="t"/>
          <a:lstStyle/>
          <a:p>
            <a:pPr algn="ctr" indent="0" marL="0">
              <a:buNone/>
            </a:pPr>
            <a:r>
              <a:rPr lang="en-US" sz="1000" dirty="0">
                <a:solidFill>
                  <a:schemeClr val="accent6"/>
                </a:solidFill>
              </a:rPr>
              <a:t>Med</a:t>
            </a:r>
            <a:endParaRPr lang="en-US" sz="1000" dirty="0"/>
          </a:p>
        </p:txBody>
      </p:sp>
      <p:sp>
        <p:nvSpPr>
          <p:cNvPr id="38" name="Bar-1175"/>
          <p:cNvSpPr/>
          <p:nvPr/>
        </p:nvSpPr>
        <p:spPr>
          <a:xfrm>
            <a:off x="5417820" y="3054096"/>
            <a:ext cx="681228" cy="822960"/>
          </a:xfrm>
          <a:prstGeom prst="rect">
            <a:avLst/>
          </a:prstGeom>
          <a:solidFill>
            <a:schemeClr val="bg2"/>
          </a:solidFill>
          <a:ln w="9525">
            <a:solidFill>
              <a:srgbClr val="B8C7CA"/>
            </a:solidFill>
            <a:prstDash val="solid"/>
          </a:ln>
        </p:spPr>
        <p:txBody>
          <a:bodyPr/>
          <a:p/>
        </p:txBody>
      </p:sp>
      <p:sp>
        <p:nvSpPr>
          <p:cNvPr id="39" name="Text-1176"/>
          <p:cNvSpPr txBox="1"/>
          <p:nvPr/>
        </p:nvSpPr>
        <p:spPr>
          <a:xfrm>
            <a:off x="5372100" y="2852928"/>
            <a:ext cx="772668" cy="201168"/>
          </a:xfrm>
          <a:prstGeom prst="rect">
            <a:avLst/>
          </a:prstGeom>
          <a:noFill/>
          <a:ln/>
        </p:spPr>
        <p:txBody>
          <a:bodyPr wrap="square" lIns="0" tIns="0" rIns="0" bIns="0" rtlCol="0" anchor="t"/>
          <a:lstStyle/>
          <a:p>
            <a:pPr algn="ctr" indent="0" marL="0">
              <a:buNone/>
            </a:pPr>
            <a:r>
              <a:rPr lang="en-US" sz="1000" dirty="0">
                <a:solidFill>
                  <a:schemeClr val="tx2"/>
                </a:solidFill>
              </a:rPr>
              <a:t>70%</a:t>
            </a:r>
            <a:endParaRPr lang="en-US" sz="1000" dirty="0"/>
          </a:p>
        </p:txBody>
      </p:sp>
      <p:sp>
        <p:nvSpPr>
          <p:cNvPr id="40" name="Text-1177"/>
          <p:cNvSpPr txBox="1"/>
          <p:nvPr/>
        </p:nvSpPr>
        <p:spPr>
          <a:xfrm>
            <a:off x="5344668" y="3895344"/>
            <a:ext cx="827532" cy="219456"/>
          </a:xfrm>
          <a:prstGeom prst="rect">
            <a:avLst/>
          </a:prstGeom>
          <a:noFill/>
          <a:ln/>
        </p:spPr>
        <p:txBody>
          <a:bodyPr wrap="square" lIns="0" tIns="0" rIns="0" bIns="0" rtlCol="0" anchor="t"/>
          <a:lstStyle/>
          <a:p>
            <a:pPr algn="ctr" indent="0" marL="0">
              <a:buNone/>
            </a:pPr>
            <a:r>
              <a:rPr lang="en-US" sz="1000" dirty="0">
                <a:solidFill>
                  <a:schemeClr val="accent6"/>
                </a:solidFill>
              </a:rPr>
              <a:t>Nat</a:t>
            </a:r>
            <a:endParaRPr lang="en-US" sz="1000" dirty="0"/>
          </a:p>
        </p:txBody>
      </p:sp>
      <p:sp>
        <p:nvSpPr>
          <p:cNvPr id="41" name="Bar-1178"/>
          <p:cNvSpPr/>
          <p:nvPr/>
        </p:nvSpPr>
        <p:spPr>
          <a:xfrm>
            <a:off x="6227064" y="3248406"/>
            <a:ext cx="681228" cy="628650"/>
          </a:xfrm>
          <a:prstGeom prst="rect">
            <a:avLst/>
          </a:prstGeom>
          <a:solidFill>
            <a:schemeClr val="bg2"/>
          </a:solidFill>
          <a:ln w="9525">
            <a:solidFill>
              <a:srgbClr val="B8C7CA"/>
            </a:solidFill>
            <a:prstDash val="solid"/>
          </a:ln>
        </p:spPr>
        <p:txBody>
          <a:bodyPr/>
          <a:p/>
        </p:txBody>
      </p:sp>
      <p:sp>
        <p:nvSpPr>
          <p:cNvPr id="42" name="Text-1179"/>
          <p:cNvSpPr txBox="1"/>
          <p:nvPr/>
        </p:nvSpPr>
        <p:spPr>
          <a:xfrm>
            <a:off x="6181344" y="3047238"/>
            <a:ext cx="772668" cy="201168"/>
          </a:xfrm>
          <a:prstGeom prst="rect">
            <a:avLst/>
          </a:prstGeom>
          <a:noFill/>
          <a:ln/>
        </p:spPr>
        <p:txBody>
          <a:bodyPr wrap="square" lIns="0" tIns="0" rIns="0" bIns="0" rtlCol="0" anchor="t"/>
          <a:lstStyle/>
          <a:p>
            <a:pPr algn="ctr" indent="0" marL="0">
              <a:buNone/>
            </a:pPr>
            <a:r>
              <a:rPr lang="en-US" sz="1000" dirty="0">
                <a:solidFill>
                  <a:schemeClr val="tx2"/>
                </a:solidFill>
              </a:rPr>
              <a:t>52%</a:t>
            </a:r>
            <a:endParaRPr lang="en-US" sz="1000" dirty="0"/>
          </a:p>
        </p:txBody>
      </p:sp>
      <p:sp>
        <p:nvSpPr>
          <p:cNvPr id="43" name="Text-1180"/>
          <p:cNvSpPr txBox="1"/>
          <p:nvPr/>
        </p:nvSpPr>
        <p:spPr>
          <a:xfrm>
            <a:off x="6153912" y="3895344"/>
            <a:ext cx="827532" cy="219456"/>
          </a:xfrm>
          <a:prstGeom prst="rect">
            <a:avLst/>
          </a:prstGeom>
          <a:noFill/>
          <a:ln/>
        </p:spPr>
        <p:txBody>
          <a:bodyPr wrap="square" lIns="0" tIns="0" rIns="0" bIns="0" rtlCol="0" anchor="t"/>
          <a:lstStyle/>
          <a:p>
            <a:pPr algn="ctr" indent="0" marL="0">
              <a:buNone/>
            </a:pPr>
            <a:r>
              <a:rPr lang="en-US" sz="1000" dirty="0">
                <a:solidFill>
                  <a:schemeClr val="accent6"/>
                </a:solidFill>
              </a:rPr>
              <a:t>Econ</a:t>
            </a:r>
            <a:endParaRPr lang="en-US" sz="1000" dirty="0"/>
          </a:p>
        </p:txBody>
      </p:sp>
      <p:sp>
        <p:nvSpPr>
          <p:cNvPr id="44" name="Bar-1181"/>
          <p:cNvSpPr/>
          <p:nvPr/>
        </p:nvSpPr>
        <p:spPr>
          <a:xfrm>
            <a:off x="7036308" y="3088386"/>
            <a:ext cx="681228" cy="788670"/>
          </a:xfrm>
          <a:prstGeom prst="rect">
            <a:avLst/>
          </a:prstGeom>
          <a:solidFill>
            <a:schemeClr val="bg2"/>
          </a:solidFill>
          <a:ln w="9525">
            <a:solidFill>
              <a:srgbClr val="B8C7CA"/>
            </a:solidFill>
            <a:prstDash val="solid"/>
          </a:ln>
        </p:spPr>
        <p:txBody>
          <a:bodyPr/>
          <a:p/>
        </p:txBody>
      </p:sp>
      <p:sp>
        <p:nvSpPr>
          <p:cNvPr id="45" name="Text-1182"/>
          <p:cNvSpPr txBox="1"/>
          <p:nvPr/>
        </p:nvSpPr>
        <p:spPr>
          <a:xfrm>
            <a:off x="6990588" y="2887218"/>
            <a:ext cx="772668" cy="201168"/>
          </a:xfrm>
          <a:prstGeom prst="rect">
            <a:avLst/>
          </a:prstGeom>
          <a:noFill/>
          <a:ln/>
        </p:spPr>
        <p:txBody>
          <a:bodyPr wrap="square" lIns="0" tIns="0" rIns="0" bIns="0" rtlCol="0" anchor="t"/>
          <a:lstStyle/>
          <a:p>
            <a:pPr algn="ctr" indent="0" marL="0">
              <a:buNone/>
            </a:pPr>
            <a:r>
              <a:rPr lang="en-US" sz="1000" dirty="0">
                <a:solidFill>
                  <a:schemeClr val="tx2"/>
                </a:solidFill>
              </a:rPr>
              <a:t>66%</a:t>
            </a:r>
            <a:endParaRPr lang="en-US" sz="1000" dirty="0"/>
          </a:p>
        </p:txBody>
      </p:sp>
      <p:sp>
        <p:nvSpPr>
          <p:cNvPr id="46" name="Text-1183"/>
          <p:cNvSpPr txBox="1"/>
          <p:nvPr/>
        </p:nvSpPr>
        <p:spPr>
          <a:xfrm>
            <a:off x="6963156" y="3895344"/>
            <a:ext cx="827532" cy="219456"/>
          </a:xfrm>
          <a:prstGeom prst="rect">
            <a:avLst/>
          </a:prstGeom>
          <a:noFill/>
          <a:ln/>
        </p:spPr>
        <p:txBody>
          <a:bodyPr wrap="square" lIns="0" tIns="0" rIns="0" bIns="0" rtlCol="0" anchor="t"/>
          <a:lstStyle/>
          <a:p>
            <a:pPr algn="ctr" indent="0" marL="0">
              <a:buNone/>
            </a:pPr>
            <a:r>
              <a:rPr lang="en-US" sz="1000" dirty="0">
                <a:solidFill>
                  <a:schemeClr val="accent6"/>
                </a:solidFill>
              </a:rPr>
              <a:t>Tech</a:t>
            </a:r>
            <a:endParaRPr lang="en-US" sz="1000" dirty="0"/>
          </a:p>
        </p:txBody>
      </p:sp>
      <p:sp>
        <p:nvSpPr>
          <p:cNvPr id="47" name="Text-1184"/>
          <p:cNvSpPr txBox="1"/>
          <p:nvPr/>
        </p:nvSpPr>
        <p:spPr>
          <a:xfrm>
            <a:off x="4608576" y="4178808"/>
            <a:ext cx="3108960" cy="548640"/>
          </a:xfrm>
          <a:prstGeom prst="rect">
            <a:avLst/>
          </a:prstGeom>
          <a:noFill/>
          <a:ln/>
        </p:spPr>
        <p:txBody>
          <a:bodyPr wrap="square" lIns="0" tIns="0" rIns="0" bIns="0" rtlCol="0" anchor="t"/>
          <a:lstStyle/>
          <a:p>
            <a:pPr indent="0" marL="0">
              <a:buNone/>
            </a:pPr>
            <a:r>
              <a:rPr lang="en-US" sz="1100" i="1" dirty="0">
                <a:solidFill>
                  <a:schemeClr val="accent6"/>
                </a:solidFill>
              </a:rPr>
              <a:t>19 articles without data availability – list sent to data stewards</a:t>
            </a:r>
            <a:endParaRPr lang="en-US" sz="1100" dirty="0"/>
          </a:p>
        </p:txBody>
      </p:sp>
      <p:sp>
        <p:nvSpPr>
          <p:cNvPr id="48" name="Text-1185"/>
          <p:cNvSpPr txBox="1"/>
          <p:nvPr/>
        </p:nvSpPr>
        <p:spPr>
          <a:xfrm>
            <a:off x="4443984"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Shows where action is needed</a:t>
            </a:r>
            <a:endParaRPr lang="en-US" sz="1200" dirty="0"/>
          </a:p>
        </p:txBody>
      </p:sp>
      <p:sp>
        <p:nvSpPr>
          <p:cNvPr id="49" name="Panel-1186"/>
          <p:cNvSpPr/>
          <p:nvPr/>
        </p:nvSpPr>
        <p:spPr>
          <a:xfrm>
            <a:off x="8202168" y="2103120"/>
            <a:ext cx="3438144" cy="3154680"/>
          </a:xfrm>
          <a:prstGeom prst="roundRect">
            <a:avLst>
              <a:gd name="adj" fmla="val 1159"/>
            </a:avLst>
          </a:prstGeom>
          <a:solidFill>
            <a:schemeClr val="bg1"/>
          </a:solidFill>
          <a:ln w="19050">
            <a:solidFill>
              <a:schemeClr val="tx2"/>
            </a:solidFill>
            <a:prstDash val="solid"/>
          </a:ln>
          <a:effectLst>
            <a:outerShdw sx="100000" sy="100000" kx="0" ky="0" algn="bl" rotWithShape="0" blurRad="63500" dist="25400" dir="5400000">
              <a:srgbClr val="000000">
                <a:alpha val="13000"/>
              </a:srgbClr>
            </a:outerShdw>
          </a:effectLst>
        </p:spPr>
        <p:txBody>
          <a:bodyPr/>
          <a:p/>
        </p:txBody>
      </p:sp>
      <p:sp>
        <p:nvSpPr>
          <p:cNvPr id="50" name="PanelBar-1187"/>
          <p:cNvSpPr/>
          <p:nvPr/>
        </p:nvSpPr>
        <p:spPr>
          <a:xfrm>
            <a:off x="8229600" y="2130552"/>
            <a:ext cx="3383280" cy="237744"/>
          </a:xfrm>
          <a:prstGeom prst="rect">
            <a:avLst/>
          </a:prstGeom>
          <a:solidFill>
            <a:schemeClr val="bg2"/>
          </a:solidFill>
          <a:ln/>
        </p:spPr>
        <p:txBody>
          <a:bodyPr/>
          <a:p/>
        </p:txBody>
      </p:sp>
      <p:sp>
        <p:nvSpPr>
          <p:cNvPr id="51" name="Circle-1188"/>
          <p:cNvSpPr/>
          <p:nvPr/>
        </p:nvSpPr>
        <p:spPr>
          <a:xfrm>
            <a:off x="11073384" y="2203704"/>
            <a:ext cx="82296" cy="82296"/>
          </a:xfrm>
          <a:prstGeom prst="ellipse">
            <a:avLst/>
          </a:prstGeom>
          <a:solidFill>
            <a:schemeClr val="accent3"/>
          </a:solidFill>
          <a:ln/>
        </p:spPr>
        <p:txBody>
          <a:bodyPr/>
          <a:p/>
        </p:txBody>
      </p:sp>
      <p:sp>
        <p:nvSpPr>
          <p:cNvPr id="52" name="Circle-1189"/>
          <p:cNvSpPr/>
          <p:nvPr/>
        </p:nvSpPr>
        <p:spPr>
          <a:xfrm>
            <a:off x="11219688" y="2203704"/>
            <a:ext cx="82296" cy="82296"/>
          </a:xfrm>
          <a:prstGeom prst="ellipse">
            <a:avLst/>
          </a:prstGeom>
          <a:solidFill>
            <a:schemeClr val="accent6"/>
          </a:solidFill>
          <a:ln/>
        </p:spPr>
        <p:txBody>
          <a:bodyPr/>
          <a:p/>
        </p:txBody>
      </p:sp>
      <p:sp>
        <p:nvSpPr>
          <p:cNvPr id="53" name="Circle-1190"/>
          <p:cNvSpPr/>
          <p:nvPr/>
        </p:nvSpPr>
        <p:spPr>
          <a:xfrm>
            <a:off x="11365992" y="2203704"/>
            <a:ext cx="82296" cy="82296"/>
          </a:xfrm>
          <a:prstGeom prst="ellipse">
            <a:avLst/>
          </a:prstGeom>
          <a:solidFill>
            <a:schemeClr val="accent6"/>
          </a:solidFill>
          <a:ln/>
        </p:spPr>
        <p:txBody>
          <a:bodyPr/>
          <a:p/>
        </p:txBody>
      </p:sp>
      <p:sp>
        <p:nvSpPr>
          <p:cNvPr id="54" name="Circle-1191"/>
          <p:cNvSpPr/>
          <p:nvPr/>
        </p:nvSpPr>
        <p:spPr>
          <a:xfrm>
            <a:off x="8055864" y="1956816"/>
            <a:ext cx="384048" cy="384048"/>
          </a:xfrm>
          <a:prstGeom prst="ellipse">
            <a:avLst/>
          </a:prstGeom>
          <a:solidFill>
            <a:schemeClr val="accent3"/>
          </a:solidFill>
          <a:ln/>
        </p:spPr>
        <p:txBody>
          <a:bodyPr/>
          <a:p/>
        </p:txBody>
      </p:sp>
      <p:sp>
        <p:nvSpPr>
          <p:cNvPr id="55" name="Text-1192"/>
          <p:cNvSpPr txBox="1"/>
          <p:nvPr/>
        </p:nvSpPr>
        <p:spPr>
          <a:xfrm>
            <a:off x="8055864"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6" name="Text-1193"/>
          <p:cNvSpPr txBox="1"/>
          <p:nvPr/>
        </p:nvSpPr>
        <p:spPr>
          <a:xfrm>
            <a:off x="8366760" y="2487168"/>
            <a:ext cx="3108960" cy="329184"/>
          </a:xfrm>
          <a:prstGeom prst="rect">
            <a:avLst/>
          </a:prstGeom>
          <a:noFill/>
          <a:ln/>
        </p:spPr>
        <p:txBody>
          <a:bodyPr wrap="square" lIns="0" tIns="0" rIns="0" bIns="0" rtlCol="0" anchor="t"/>
          <a:lstStyle/>
          <a:p>
            <a:pPr indent="0" marL="0">
              <a:buNone/>
            </a:pPr>
            <a:r>
              <a:rPr lang="en-US" sz="1300" b="1" dirty="0">
                <a:solidFill>
                  <a:schemeClr val="tx2"/>
                </a:solidFill>
              </a:rPr>
              <a:t>Export proof</a:t>
            </a:r>
            <a:endParaRPr lang="en-US" sz="1300" dirty="0"/>
          </a:p>
        </p:txBody>
      </p:sp>
      <p:sp>
        <p:nvSpPr>
          <p:cNvPr id="57" name="Button-1194"/>
          <p:cNvSpPr/>
          <p:nvPr/>
        </p:nvSpPr>
        <p:spPr>
          <a:xfrm>
            <a:off x="8366760" y="2889504"/>
            <a:ext cx="3108960" cy="329184"/>
          </a:xfrm>
          <a:prstGeom prst="roundRect">
            <a:avLst>
              <a:gd name="adj" fmla="val 27778"/>
            </a:avLst>
          </a:prstGeom>
          <a:solidFill>
            <a:schemeClr val="accent1"/>
          </a:solidFill>
          <a:ln/>
        </p:spPr>
        <p:txBody>
          <a:bodyPr/>
          <a:p/>
        </p:txBody>
      </p:sp>
      <p:sp>
        <p:nvSpPr>
          <p:cNvPr id="58" name="Text-1195"/>
          <p:cNvSpPr txBox="1"/>
          <p:nvPr/>
        </p:nvSpPr>
        <p:spPr>
          <a:xfrm>
            <a:off x="8366760" y="2889504"/>
            <a:ext cx="3108960" cy="329184"/>
          </a:xfrm>
          <a:prstGeom prst="rect">
            <a:avLst/>
          </a:prstGeom>
          <a:noFill/>
          <a:ln/>
        </p:spPr>
        <p:txBody>
          <a:bodyPr wrap="square" lIns="0" tIns="0" rIns="0" bIns="0" rtlCol="0" anchor="ctr"/>
          <a:lstStyle/>
          <a:p>
            <a:pPr algn="ctr" indent="0" marL="0">
              <a:buNone/>
            </a:pPr>
            <a:r>
              <a:rPr lang="en-US" sz="1100" b="1" dirty="0">
                <a:solidFill>
                  <a:schemeClr val="bg1"/>
                </a:solidFill>
              </a:rPr>
              <a:t>Method sheet (PDF)</a:t>
            </a:r>
            <a:endParaRPr lang="en-US" sz="1100" dirty="0"/>
          </a:p>
        </p:txBody>
      </p:sp>
      <p:sp>
        <p:nvSpPr>
          <p:cNvPr id="59" name="Button-1196"/>
          <p:cNvSpPr/>
          <p:nvPr/>
        </p:nvSpPr>
        <p:spPr>
          <a:xfrm>
            <a:off x="8366760" y="3328416"/>
            <a:ext cx="3108960" cy="329184"/>
          </a:xfrm>
          <a:prstGeom prst="roundRect">
            <a:avLst>
              <a:gd name="adj" fmla="val 27778"/>
            </a:avLst>
          </a:prstGeom>
          <a:solidFill>
            <a:schemeClr val="bg1"/>
          </a:solidFill>
          <a:ln w="12700">
            <a:solidFill>
              <a:srgbClr val="1F7A8C"/>
            </a:solidFill>
            <a:prstDash val="solid"/>
          </a:ln>
        </p:spPr>
        <p:txBody>
          <a:bodyPr/>
          <a:p/>
        </p:txBody>
      </p:sp>
      <p:sp>
        <p:nvSpPr>
          <p:cNvPr id="60" name="Text-1197"/>
          <p:cNvSpPr txBox="1"/>
          <p:nvPr/>
        </p:nvSpPr>
        <p:spPr>
          <a:xfrm>
            <a:off x="8366760" y="3328416"/>
            <a:ext cx="3108960" cy="329184"/>
          </a:xfrm>
          <a:prstGeom prst="rect">
            <a:avLst/>
          </a:prstGeom>
          <a:noFill/>
          <a:ln/>
        </p:spPr>
        <p:txBody>
          <a:bodyPr wrap="square" lIns="0" tIns="0" rIns="0" bIns="0" rtlCol="0" anchor="ctr"/>
          <a:lstStyle/>
          <a:p>
            <a:pPr algn="ctr" indent="0" marL="0">
              <a:buNone/>
            </a:pPr>
            <a:r>
              <a:rPr lang="en-US" sz="1100" b="1" dirty="0">
                <a:solidFill>
                  <a:schemeClr val="accent1"/>
                </a:solidFill>
              </a:rPr>
              <a:t>CSV in monitoring format</a:t>
            </a:r>
            <a:endParaRPr lang="en-US" sz="1100" dirty="0"/>
          </a:p>
        </p:txBody>
      </p:sp>
      <p:sp>
        <p:nvSpPr>
          <p:cNvPr id="61" name="Text-1198"/>
          <p:cNvSpPr txBox="1"/>
          <p:nvPr/>
        </p:nvSpPr>
        <p:spPr>
          <a:xfrm>
            <a:off x="8366760" y="3867912"/>
            <a:ext cx="2051914" cy="457200"/>
          </a:xfrm>
          <a:prstGeom prst="rect">
            <a:avLst/>
          </a:prstGeom>
          <a:noFill/>
          <a:ln/>
        </p:spPr>
        <p:txBody>
          <a:bodyPr wrap="square" lIns="0" tIns="0" rIns="0" bIns="0" rtlCol="0" anchor="ctr"/>
          <a:lstStyle/>
          <a:p>
            <a:pPr indent="0" marL="0">
              <a:buNone/>
            </a:pPr>
            <a:r>
              <a:rPr lang="en-US" sz="1100" dirty="0">
                <a:solidFill>
                  <a:schemeClr val="tx1"/>
                </a:solidFill>
              </a:rPr>
              <a:t>Mentions in policy documents</a:t>
            </a:r>
            <a:endParaRPr lang="en-US" sz="1100" dirty="0"/>
          </a:p>
        </p:txBody>
      </p:sp>
      <p:sp>
        <p:nvSpPr>
          <p:cNvPr id="62" name="Text-1199"/>
          <p:cNvSpPr txBox="1"/>
          <p:nvPr/>
        </p:nvSpPr>
        <p:spPr>
          <a:xfrm>
            <a:off x="10232136" y="3867912"/>
            <a:ext cx="1243584" cy="457200"/>
          </a:xfrm>
          <a:prstGeom prst="rect">
            <a:avLst/>
          </a:prstGeom>
          <a:noFill/>
          <a:ln/>
        </p:spPr>
        <p:txBody>
          <a:bodyPr wrap="square" lIns="0" tIns="0" rIns="0" bIns="0" rtlCol="0" anchor="ctr"/>
          <a:lstStyle/>
          <a:p>
            <a:pPr algn="r" indent="0" marL="0">
              <a:buNone/>
            </a:pPr>
            <a:r>
              <a:rPr lang="en-US" sz="1100" b="1" dirty="0">
                <a:solidFill>
                  <a:schemeClr val="tx2"/>
                </a:solidFill>
              </a:rPr>
              <a:t>9</a:t>
            </a:r>
            <a:endParaRPr lang="en-US" sz="1100" dirty="0"/>
          </a:p>
        </p:txBody>
      </p:sp>
      <p:sp>
        <p:nvSpPr>
          <p:cNvPr id="63" name="Line-1200"/>
          <p:cNvSpPr/>
          <p:nvPr/>
        </p:nvSpPr>
        <p:spPr>
          <a:xfrm>
            <a:off x="8366760" y="4325112"/>
            <a:ext cx="3108960" cy="0"/>
          </a:xfrm>
          <a:prstGeom prst="line">
            <a:avLst/>
          </a:prstGeom>
          <a:noFill/>
          <a:ln w="9525">
            <a:solidFill>
              <a:srgbClr val="D5E0E2"/>
            </a:solidFill>
            <a:prstDash val="solid"/>
          </a:ln>
        </p:spPr>
        <p:txBody>
          <a:bodyPr/>
          <a:p/>
        </p:txBody>
      </p:sp>
      <p:sp>
        <p:nvSpPr>
          <p:cNvPr id="64" name="Text-1201"/>
          <p:cNvSpPr txBox="1"/>
          <p:nvPr/>
        </p:nvSpPr>
        <p:spPr>
          <a:xfrm>
            <a:off x="8202168" y="5349240"/>
            <a:ext cx="3438144" cy="384048"/>
          </a:xfrm>
          <a:prstGeom prst="rect">
            <a:avLst/>
          </a:prstGeom>
          <a:noFill/>
          <a:ln/>
        </p:spPr>
        <p:txBody>
          <a:bodyPr wrap="square" lIns="0" tIns="0" rIns="0" bIns="0" rtlCol="0" anchor="t"/>
          <a:lstStyle/>
          <a:p>
            <a:pPr algn="ctr" indent="0" marL="0">
              <a:buNone/>
            </a:pPr>
            <a:r>
              <a:rPr lang="en-US" sz="1200" b="1" dirty="0">
                <a:solidFill>
                  <a:schemeClr val="tx2"/>
                </a:solidFill>
              </a:rPr>
              <a:t>Verifiable and compatible with OA monitoring</a:t>
            </a:r>
            <a:endParaRPr lang="en-US" sz="1200" dirty="0"/>
          </a:p>
        </p:txBody>
      </p:sp>
      <p:sp>
        <p:nvSpPr>
          <p:cNvPr id="65" name="Text-1202"/>
          <p:cNvSpPr txBox="1"/>
          <p:nvPr/>
        </p:nvSpPr>
        <p:spPr>
          <a:xfrm>
            <a:off x="685800" y="5870448"/>
            <a:ext cx="1097280" cy="274320"/>
          </a:xfrm>
          <a:prstGeom prst="rect">
            <a:avLst/>
          </a:prstGeom>
          <a:noFill/>
          <a:ln/>
        </p:spPr>
        <p:txBody>
          <a:bodyPr wrap="square" lIns="0" tIns="0" rIns="0" bIns="0" rtlCol="0" anchor="ctr"/>
          <a:lstStyle/>
          <a:p>
            <a:pPr indent="0" marL="0">
              <a:buNone/>
            </a:pPr>
            <a:r>
              <a:rPr lang="en-US" sz="1100" dirty="0">
                <a:solidFill>
                  <a:schemeClr val="accent6"/>
                </a:solidFill>
              </a:rPr>
              <a:t>Answers:</a:t>
            </a:r>
            <a:endParaRPr lang="en-US" sz="1100" dirty="0"/>
          </a:p>
        </p:txBody>
      </p:sp>
      <p:sp>
        <p:nvSpPr>
          <p:cNvPr id="66" name="Box-1203"/>
          <p:cNvSpPr/>
          <p:nvPr/>
        </p:nvSpPr>
        <p:spPr>
          <a:xfrm>
            <a:off x="1783080" y="5870448"/>
            <a:ext cx="594360" cy="274320"/>
          </a:xfrm>
          <a:prstGeom prst="roundRect">
            <a:avLst>
              <a:gd name="adj" fmla="val 46667"/>
            </a:avLst>
          </a:prstGeom>
          <a:solidFill>
            <a:schemeClr val="accent1"/>
          </a:solidFill>
          <a:ln/>
        </p:spPr>
        <p:txBody>
          <a:bodyPr/>
          <a:p/>
        </p:txBody>
      </p:sp>
      <p:sp>
        <p:nvSpPr>
          <p:cNvPr id="67" name="Text-1204"/>
          <p:cNvSpPr txBox="1"/>
          <p:nvPr/>
        </p:nvSpPr>
        <p:spPr>
          <a:xfrm>
            <a:off x="17830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SQ2</a:t>
            </a:r>
            <a:endParaRPr lang="en-US" sz="1000" dirty="0"/>
          </a:p>
        </p:txBody>
      </p:sp>
      <p:sp>
        <p:nvSpPr>
          <p:cNvPr id="68" name="Box-1205"/>
          <p:cNvSpPr/>
          <p:nvPr/>
        </p:nvSpPr>
        <p:spPr>
          <a:xfrm>
            <a:off x="2468880" y="5870448"/>
            <a:ext cx="594360" cy="274320"/>
          </a:xfrm>
          <a:prstGeom prst="roundRect">
            <a:avLst>
              <a:gd name="adj" fmla="val 46667"/>
            </a:avLst>
          </a:prstGeom>
          <a:solidFill>
            <a:schemeClr val="accent1"/>
          </a:solidFill>
          <a:ln/>
        </p:spPr>
        <p:txBody>
          <a:bodyPr/>
          <a:p/>
        </p:txBody>
      </p:sp>
      <p:sp>
        <p:nvSpPr>
          <p:cNvPr id="69" name="Text-1206"/>
          <p:cNvSpPr txBox="1"/>
          <p:nvPr/>
        </p:nvSpPr>
        <p:spPr>
          <a:xfrm>
            <a:off x="2468880" y="5870448"/>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SQ3</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STEP 3.7 · ADDITIONAL AI CONCEPTS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Two concepts from the AI agent</a:t>
            </a:r>
            <a:endParaRPr lang="en-US" sz="3200" dirty="0"/>
          </a:p>
        </p:txBody>
      </p:sp>
      <p:sp>
        <p:nvSpPr>
          <p:cNvPr id="4" name="Box-1207"/>
          <p:cNvSpPr/>
          <p:nvPr/>
        </p:nvSpPr>
        <p:spPr>
          <a:xfrm>
            <a:off x="11183112" y="329184"/>
            <a:ext cx="457200" cy="256032"/>
          </a:xfrm>
          <a:prstGeom prst="roundRect">
            <a:avLst>
              <a:gd name="adj" fmla="val 50000"/>
            </a:avLst>
          </a:prstGeom>
          <a:solidFill>
            <a:schemeClr val="accent5"/>
          </a:solidFill>
          <a:ln/>
        </p:spPr>
        <p:txBody>
          <a:bodyPr/>
          <a:p/>
        </p:txBody>
      </p:sp>
      <p:sp>
        <p:nvSpPr>
          <p:cNvPr id="5" name="Text-1208"/>
          <p:cNvSpPr txBox="1"/>
          <p:nvPr/>
        </p:nvSpPr>
        <p:spPr>
          <a:xfrm>
            <a:off x="11183112" y="329184"/>
            <a:ext cx="457200" cy="256032"/>
          </a:xfrm>
          <a:prstGeom prst="rect">
            <a:avLst/>
          </a:prstGeom>
          <a:noFill/>
          <a:ln/>
        </p:spPr>
        <p:txBody>
          <a:bodyPr wrap="square" lIns="0" tIns="0" rIns="0" bIns="0" rtlCol="0" anchor="ctr"/>
          <a:lstStyle/>
          <a:p>
            <a:pPr algn="ctr" indent="0" marL="0">
              <a:buNone/>
            </a:pPr>
            <a:r>
              <a:rPr lang="en-US" sz="1000" b="1" dirty="0">
                <a:solidFill>
                  <a:schemeClr val="bg1"/>
                </a:solidFill>
              </a:rPr>
              <a:t>AI</a:t>
            </a:r>
            <a:endParaRPr lang="en-US" sz="1000" dirty="0"/>
          </a:p>
        </p:txBody>
      </p:sp>
      <p:sp>
        <p:nvSpPr>
          <p:cNvPr id="6" name="KIConcept-1209"/>
          <p:cNvSpPr/>
          <p:nvPr/>
        </p:nvSpPr>
        <p:spPr>
          <a:xfrm>
            <a:off x="548640" y="1508760"/>
            <a:ext cx="5468112" cy="4343400"/>
          </a:xfrm>
          <a:prstGeom prst="roundRect">
            <a:avLst>
              <a:gd name="adj" fmla="val 1684"/>
            </a:avLst>
          </a:prstGeom>
          <a:solidFill>
            <a:schemeClr val="accent5">
              <a:alpha val="12000"/>
            </a:schemeClr>
          </a:solidFill>
          <a:ln/>
        </p:spPr>
        <p:txBody>
          <a:bodyPr/>
          <a:p/>
        </p:txBody>
      </p:sp>
      <p:sp>
        <p:nvSpPr>
          <p:cNvPr id="7" name="IconBg-1210"/>
          <p:cNvSpPr/>
          <p:nvPr/>
        </p:nvSpPr>
        <p:spPr>
          <a:xfrm>
            <a:off x="777240" y="1719072"/>
            <a:ext cx="640080" cy="640080"/>
          </a:xfrm>
          <a:prstGeom prst="ellipse">
            <a:avLst/>
          </a:prstGeom>
          <a:solidFill>
            <a:srgbClr val="6E5BB0"/>
          </a:solidFill>
          <a:ln/>
        </p:spPr>
        <p:txBody>
          <a:bodyPr/>
          <a:p/>
        </p:txBody>
      </p:sp>
      <p:pic>
        <p:nvPicPr>
          <p:cNvPr id="8" name="Icon-1211" descr="preencoded.png">    </p:cNvPr>
          <p:cNvPicPr>
            <a:picLocks noChangeAspect="1"/>
          </p:cNvPicPr>
          <p:nvPr/>
        </p:nvPicPr>
        <p:blipFill>
          <a:blip r:embed="rId1"/>
          <a:stretch>
            <a:fillRect/>
          </a:stretch>
        </p:blipFill>
        <p:spPr>
          <a:xfrm>
            <a:off x="937260" y="1879092"/>
            <a:ext cx="320040" cy="320040"/>
          </a:xfrm>
          <a:prstGeom prst="rect">
            <a:avLst/>
          </a:prstGeom>
        </p:spPr>
      </p:pic>
      <p:sp>
        <p:nvSpPr>
          <p:cNvPr id="9" name="Text-1212"/>
          <p:cNvSpPr txBox="1"/>
          <p:nvPr/>
        </p:nvSpPr>
        <p:spPr>
          <a:xfrm>
            <a:off x="1554480" y="1719072"/>
            <a:ext cx="4279392" cy="640080"/>
          </a:xfrm>
          <a:prstGeom prst="rect">
            <a:avLst/>
          </a:prstGeom>
          <a:noFill/>
          <a:ln/>
        </p:spPr>
        <p:txBody>
          <a:bodyPr wrap="square" lIns="0" tIns="0" rIns="0" bIns="0" rtlCol="0" anchor="ctr"/>
          <a:lstStyle/>
          <a:p>
            <a:pPr indent="0" marL="0">
              <a:buNone/>
            </a:pPr>
            <a:r>
              <a:rPr lang="en-US" sz="1800" b="1" dirty="0">
                <a:solidFill>
                  <a:schemeClr val="tx2"/>
                </a:solidFill>
              </a:rPr>
              <a:t>C1 · Report agent on demand</a:t>
            </a:r>
            <a:endParaRPr lang="en-US" sz="1800" dirty="0"/>
          </a:p>
        </p:txBody>
      </p:sp>
      <p:sp>
        <p:nvSpPr>
          <p:cNvPr id="10" name="Text-1213"/>
          <p:cNvSpPr txBox="1"/>
          <p:nvPr/>
        </p:nvSpPr>
        <p:spPr>
          <a:xfrm>
            <a:off x="777240" y="2514600"/>
            <a:ext cx="5010912" cy="1325880"/>
          </a:xfrm>
          <a:prstGeom prst="rect">
            <a:avLst/>
          </a:prstGeom>
          <a:noFill/>
          <a:ln/>
        </p:spPr>
        <p:txBody>
          <a:bodyPr wrap="square" lIns="0" tIns="0" rIns="0" bIns="0" rtlCol="0" anchor="t"/>
          <a:lstStyle/>
          <a:p>
            <a:pPr indent="0" marL="0">
              <a:buNone/>
            </a:pPr>
            <a:r>
              <a:rPr lang="en-US" sz="1400" dirty="0">
                <a:solidFill>
                  <a:schemeClr val="tx1"/>
                </a:solidFill>
              </a:rPr>
              <a:t>The librarian writes: “Slide for the board on 4 February, focus on cost.” The agent builds it from Manuscripta data – including method and sources.</a:t>
            </a:r>
            <a:endParaRPr lang="en-US" sz="1400" dirty="0"/>
          </a:p>
        </p:txBody>
      </p:sp>
      <p:sp>
        <p:nvSpPr>
          <p:cNvPr id="11" name="Circle-1214"/>
          <p:cNvSpPr/>
          <p:nvPr/>
        </p:nvSpPr>
        <p:spPr>
          <a:xfrm>
            <a:off x="777240" y="3986784"/>
            <a:ext cx="365760" cy="365760"/>
          </a:xfrm>
          <a:prstGeom prst="ellipse">
            <a:avLst/>
          </a:prstGeom>
          <a:solidFill>
            <a:schemeClr val="accent5"/>
          </a:solidFill>
          <a:ln/>
        </p:spPr>
        <p:txBody>
          <a:bodyPr/>
          <a:p/>
        </p:txBody>
      </p:sp>
      <p:sp>
        <p:nvSpPr>
          <p:cNvPr id="12" name="Text-1215"/>
          <p:cNvSpPr txBox="1"/>
          <p:nvPr/>
        </p:nvSpPr>
        <p:spPr>
          <a:xfrm>
            <a:off x="777240" y="3986784"/>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3" name="Text-1216"/>
          <p:cNvSpPr txBox="1"/>
          <p:nvPr/>
        </p:nvSpPr>
        <p:spPr>
          <a:xfrm>
            <a:off x="1280160" y="3931920"/>
            <a:ext cx="4553712" cy="475488"/>
          </a:xfrm>
          <a:prstGeom prst="rect">
            <a:avLst/>
          </a:prstGeom>
          <a:noFill/>
          <a:ln/>
        </p:spPr>
        <p:txBody>
          <a:bodyPr wrap="square" lIns="0" tIns="0" rIns="0" bIns="0" rtlCol="0" anchor="ctr"/>
          <a:lstStyle/>
          <a:p>
            <a:pPr indent="0" marL="0">
              <a:buNone/>
            </a:pPr>
            <a:r>
              <a:rPr lang="en-US" sz="1400" dirty="0">
                <a:solidFill>
                  <a:schemeClr val="tx1"/>
                </a:solidFill>
              </a:rPr>
              <a:t>Request by email or chat</a:t>
            </a:r>
            <a:endParaRPr lang="en-US" sz="1400" dirty="0"/>
          </a:p>
        </p:txBody>
      </p:sp>
      <p:sp>
        <p:nvSpPr>
          <p:cNvPr id="14" name="Circle-1217"/>
          <p:cNvSpPr/>
          <p:nvPr/>
        </p:nvSpPr>
        <p:spPr>
          <a:xfrm>
            <a:off x="777240" y="4535424"/>
            <a:ext cx="365760" cy="365760"/>
          </a:xfrm>
          <a:prstGeom prst="ellipse">
            <a:avLst/>
          </a:prstGeom>
          <a:solidFill>
            <a:schemeClr val="accent5"/>
          </a:solidFill>
          <a:ln/>
        </p:spPr>
        <p:txBody>
          <a:bodyPr/>
          <a:p/>
        </p:txBody>
      </p:sp>
      <p:sp>
        <p:nvSpPr>
          <p:cNvPr id="15" name="Text-1218"/>
          <p:cNvSpPr txBox="1"/>
          <p:nvPr/>
        </p:nvSpPr>
        <p:spPr>
          <a:xfrm>
            <a:off x="777240" y="4535424"/>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1219"/>
          <p:cNvSpPr txBox="1"/>
          <p:nvPr/>
        </p:nvSpPr>
        <p:spPr>
          <a:xfrm>
            <a:off x="1280160" y="4480560"/>
            <a:ext cx="4553712" cy="475488"/>
          </a:xfrm>
          <a:prstGeom prst="rect">
            <a:avLst/>
          </a:prstGeom>
          <a:noFill/>
          <a:ln/>
        </p:spPr>
        <p:txBody>
          <a:bodyPr wrap="square" lIns="0" tIns="0" rIns="0" bIns="0" rtlCol="0" anchor="ctr"/>
          <a:lstStyle/>
          <a:p>
            <a:pPr indent="0" marL="0">
              <a:buNone/>
            </a:pPr>
            <a:r>
              <a:rPr lang="en-US" sz="1400" dirty="0">
                <a:solidFill>
                  <a:schemeClr val="tx1"/>
                </a:solidFill>
              </a:rPr>
              <a:t>Agent picks suitable metrics</a:t>
            </a:r>
            <a:endParaRPr lang="en-US" sz="1400" dirty="0"/>
          </a:p>
        </p:txBody>
      </p:sp>
      <p:sp>
        <p:nvSpPr>
          <p:cNvPr id="17" name="Circle-1220"/>
          <p:cNvSpPr/>
          <p:nvPr/>
        </p:nvSpPr>
        <p:spPr>
          <a:xfrm>
            <a:off x="777240" y="5084064"/>
            <a:ext cx="365760" cy="365760"/>
          </a:xfrm>
          <a:prstGeom prst="ellipse">
            <a:avLst/>
          </a:prstGeom>
          <a:solidFill>
            <a:schemeClr val="accent5"/>
          </a:solidFill>
          <a:ln/>
        </p:spPr>
        <p:txBody>
          <a:bodyPr/>
          <a:p/>
        </p:txBody>
      </p:sp>
      <p:sp>
        <p:nvSpPr>
          <p:cNvPr id="18" name="Text-1221"/>
          <p:cNvSpPr txBox="1"/>
          <p:nvPr/>
        </p:nvSpPr>
        <p:spPr>
          <a:xfrm>
            <a:off x="777240" y="5084064"/>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1222"/>
          <p:cNvSpPr txBox="1"/>
          <p:nvPr/>
        </p:nvSpPr>
        <p:spPr>
          <a:xfrm>
            <a:off x="1280160" y="5029200"/>
            <a:ext cx="4553712" cy="475488"/>
          </a:xfrm>
          <a:prstGeom prst="rect">
            <a:avLst/>
          </a:prstGeom>
          <a:noFill/>
          <a:ln/>
        </p:spPr>
        <p:txBody>
          <a:bodyPr wrap="square" lIns="0" tIns="0" rIns="0" bIns="0" rtlCol="0" anchor="ctr"/>
          <a:lstStyle/>
          <a:p>
            <a:pPr indent="0" marL="0">
              <a:buNone/>
            </a:pPr>
            <a:r>
              <a:rPr lang="en-US" sz="1400" dirty="0">
                <a:solidFill>
                  <a:schemeClr val="tx1"/>
                </a:solidFill>
              </a:rPr>
              <a:t>Slide and sources back in minutes</a:t>
            </a:r>
            <a:endParaRPr lang="en-US" sz="1400" dirty="0"/>
          </a:p>
        </p:txBody>
      </p:sp>
      <p:sp>
        <p:nvSpPr>
          <p:cNvPr id="20" name="Box-1223"/>
          <p:cNvSpPr/>
          <p:nvPr/>
        </p:nvSpPr>
        <p:spPr>
          <a:xfrm>
            <a:off x="4507992" y="1600200"/>
            <a:ext cx="594360" cy="274320"/>
          </a:xfrm>
          <a:prstGeom prst="roundRect">
            <a:avLst>
              <a:gd name="adj" fmla="val 46667"/>
            </a:avLst>
          </a:prstGeom>
          <a:solidFill>
            <a:schemeClr val="accent1"/>
          </a:solidFill>
          <a:ln/>
        </p:spPr>
        <p:txBody>
          <a:bodyPr/>
          <a:p/>
        </p:txBody>
      </p:sp>
      <p:sp>
        <p:nvSpPr>
          <p:cNvPr id="21" name="Box-1224"/>
          <p:cNvSpPr/>
          <p:nvPr/>
        </p:nvSpPr>
        <p:spPr>
          <a:xfrm>
            <a:off x="5193792" y="1600200"/>
            <a:ext cx="594360" cy="274320"/>
          </a:xfrm>
          <a:prstGeom prst="roundRect">
            <a:avLst>
              <a:gd name="adj" fmla="val 46667"/>
            </a:avLst>
          </a:prstGeom>
          <a:solidFill>
            <a:schemeClr val="accent1"/>
          </a:solidFill>
          <a:ln/>
        </p:spPr>
        <p:txBody>
          <a:bodyPr/>
          <a:p/>
        </p:txBody>
      </p:sp>
      <p:sp>
        <p:nvSpPr>
          <p:cNvPr id="22" name="Text-1225"/>
          <p:cNvSpPr txBox="1"/>
          <p:nvPr/>
        </p:nvSpPr>
        <p:spPr>
          <a:xfrm>
            <a:off x="4507992" y="1600200"/>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SQ1</a:t>
            </a:r>
            <a:endParaRPr lang="en-US" sz="1000" dirty="0"/>
          </a:p>
        </p:txBody>
      </p:sp>
      <p:sp>
        <p:nvSpPr>
          <p:cNvPr id="23" name="Text-1226"/>
          <p:cNvSpPr txBox="1"/>
          <p:nvPr/>
        </p:nvSpPr>
        <p:spPr>
          <a:xfrm>
            <a:off x="5193792" y="1600200"/>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SQ4</a:t>
            </a:r>
            <a:endParaRPr lang="en-US" sz="1000" dirty="0"/>
          </a:p>
        </p:txBody>
      </p:sp>
      <p:sp>
        <p:nvSpPr>
          <p:cNvPr id="24" name="KIConcept-1227"/>
          <p:cNvSpPr/>
          <p:nvPr/>
        </p:nvSpPr>
        <p:spPr>
          <a:xfrm>
            <a:off x="6172200" y="1508760"/>
            <a:ext cx="5468112" cy="4343400"/>
          </a:xfrm>
          <a:prstGeom prst="roundRect">
            <a:avLst>
              <a:gd name="adj" fmla="val 1684"/>
            </a:avLst>
          </a:prstGeom>
          <a:solidFill>
            <a:schemeClr val="accent5">
              <a:alpha val="12000"/>
            </a:schemeClr>
          </a:solidFill>
          <a:ln/>
        </p:spPr>
        <p:txBody>
          <a:bodyPr/>
          <a:p/>
        </p:txBody>
      </p:sp>
      <p:sp>
        <p:nvSpPr>
          <p:cNvPr id="25" name="IconBg-1228"/>
          <p:cNvSpPr/>
          <p:nvPr/>
        </p:nvSpPr>
        <p:spPr>
          <a:xfrm>
            <a:off x="6400800" y="1719072"/>
            <a:ext cx="640080" cy="640080"/>
          </a:xfrm>
          <a:prstGeom prst="ellipse">
            <a:avLst/>
          </a:prstGeom>
          <a:solidFill>
            <a:srgbClr val="6E5BB0"/>
          </a:solidFill>
          <a:ln/>
        </p:spPr>
        <p:txBody>
          <a:bodyPr/>
          <a:p/>
        </p:txBody>
      </p:sp>
      <p:pic>
        <p:nvPicPr>
          <p:cNvPr id="26" name="Icon-1229" descr="preencoded.png">    </p:cNvPr>
          <p:cNvPicPr>
            <a:picLocks noChangeAspect="1"/>
          </p:cNvPicPr>
          <p:nvPr/>
        </p:nvPicPr>
        <p:blipFill>
          <a:blip r:embed="rId2"/>
          <a:stretch>
            <a:fillRect/>
          </a:stretch>
        </p:blipFill>
        <p:spPr>
          <a:xfrm>
            <a:off x="6560820" y="1879092"/>
            <a:ext cx="320040" cy="320040"/>
          </a:xfrm>
          <a:prstGeom prst="rect">
            <a:avLst/>
          </a:prstGeom>
        </p:spPr>
      </p:pic>
      <p:sp>
        <p:nvSpPr>
          <p:cNvPr id="27" name="Text-1230"/>
          <p:cNvSpPr txBox="1"/>
          <p:nvPr/>
        </p:nvSpPr>
        <p:spPr>
          <a:xfrm>
            <a:off x="7178040" y="1719072"/>
            <a:ext cx="4279392" cy="640080"/>
          </a:xfrm>
          <a:prstGeom prst="rect">
            <a:avLst/>
          </a:prstGeom>
          <a:noFill/>
          <a:ln/>
        </p:spPr>
        <p:txBody>
          <a:bodyPr wrap="square" lIns="0" tIns="0" rIns="0" bIns="0" rtlCol="0" anchor="ctr"/>
          <a:lstStyle/>
          <a:p>
            <a:pPr indent="0" marL="0">
              <a:buNone/>
            </a:pPr>
            <a:r>
              <a:rPr lang="en-US" sz="1800" b="1" dirty="0">
                <a:solidFill>
                  <a:schemeClr val="tx2"/>
                </a:solidFill>
              </a:rPr>
              <a:t>C2 · Researcher voices</a:t>
            </a:r>
            <a:endParaRPr lang="en-US" sz="1800" dirty="0"/>
          </a:p>
        </p:txBody>
      </p:sp>
      <p:sp>
        <p:nvSpPr>
          <p:cNvPr id="28" name="Text-1231"/>
          <p:cNvSpPr txBox="1"/>
          <p:nvPr/>
        </p:nvSpPr>
        <p:spPr>
          <a:xfrm>
            <a:off x="6400800" y="2514600"/>
            <a:ext cx="5010912" cy="1325880"/>
          </a:xfrm>
          <a:prstGeom prst="rect">
            <a:avLst/>
          </a:prstGeom>
          <a:noFill/>
          <a:ln/>
        </p:spPr>
        <p:txBody>
          <a:bodyPr wrap="square" lIns="0" tIns="0" rIns="0" bIns="0" rtlCol="0" anchor="t"/>
          <a:lstStyle/>
          <a:p>
            <a:pPr indent="0" marL="0">
              <a:buNone/>
            </a:pPr>
            <a:r>
              <a:rPr lang="en-US" sz="1400" dirty="0">
                <a:solidFill>
                  <a:schemeClr val="tx1"/>
                </a:solidFill>
              </a:rPr>
              <a:t>After each publication, a one-click question to the authors: “How important was having the cost covered?” Real, approved answers flow into the report as quotes.</a:t>
            </a:r>
            <a:endParaRPr lang="en-US" sz="1400" dirty="0"/>
          </a:p>
        </p:txBody>
      </p:sp>
      <p:sp>
        <p:nvSpPr>
          <p:cNvPr id="29" name="Circle-1232"/>
          <p:cNvSpPr/>
          <p:nvPr/>
        </p:nvSpPr>
        <p:spPr>
          <a:xfrm>
            <a:off x="6400800" y="3986784"/>
            <a:ext cx="365760" cy="365760"/>
          </a:xfrm>
          <a:prstGeom prst="ellipse">
            <a:avLst/>
          </a:prstGeom>
          <a:solidFill>
            <a:schemeClr val="accent5"/>
          </a:solidFill>
          <a:ln/>
        </p:spPr>
        <p:txBody>
          <a:bodyPr/>
          <a:p/>
        </p:txBody>
      </p:sp>
      <p:sp>
        <p:nvSpPr>
          <p:cNvPr id="30" name="Text-1233"/>
          <p:cNvSpPr txBox="1"/>
          <p:nvPr/>
        </p:nvSpPr>
        <p:spPr>
          <a:xfrm>
            <a:off x="6400800" y="3986784"/>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1" name="Text-1234"/>
          <p:cNvSpPr txBox="1"/>
          <p:nvPr/>
        </p:nvSpPr>
        <p:spPr>
          <a:xfrm>
            <a:off x="6903720" y="3931920"/>
            <a:ext cx="4553712" cy="475488"/>
          </a:xfrm>
          <a:prstGeom prst="rect">
            <a:avLst/>
          </a:prstGeom>
          <a:noFill/>
          <a:ln/>
        </p:spPr>
        <p:txBody>
          <a:bodyPr wrap="square" lIns="0" tIns="0" rIns="0" bIns="0" rtlCol="0" anchor="ctr"/>
          <a:lstStyle/>
          <a:p>
            <a:pPr indent="0" marL="0">
              <a:buNone/>
            </a:pPr>
            <a:r>
              <a:rPr lang="en-US" sz="1400" dirty="0">
                <a:solidFill>
                  <a:schemeClr val="tx1"/>
                </a:solidFill>
              </a:rPr>
              <a:t>Short survey after publication</a:t>
            </a:r>
            <a:endParaRPr lang="en-US" sz="1400" dirty="0"/>
          </a:p>
        </p:txBody>
      </p:sp>
      <p:sp>
        <p:nvSpPr>
          <p:cNvPr id="32" name="Circle-1235"/>
          <p:cNvSpPr/>
          <p:nvPr/>
        </p:nvSpPr>
        <p:spPr>
          <a:xfrm>
            <a:off x="6400800" y="4535424"/>
            <a:ext cx="365760" cy="365760"/>
          </a:xfrm>
          <a:prstGeom prst="ellipse">
            <a:avLst/>
          </a:prstGeom>
          <a:solidFill>
            <a:schemeClr val="accent5"/>
          </a:solidFill>
          <a:ln/>
        </p:spPr>
        <p:txBody>
          <a:bodyPr/>
          <a:p/>
        </p:txBody>
      </p:sp>
      <p:sp>
        <p:nvSpPr>
          <p:cNvPr id="33" name="Text-1236"/>
          <p:cNvSpPr txBox="1"/>
          <p:nvPr/>
        </p:nvSpPr>
        <p:spPr>
          <a:xfrm>
            <a:off x="6400800" y="4535424"/>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4" name="Text-1237"/>
          <p:cNvSpPr txBox="1"/>
          <p:nvPr/>
        </p:nvSpPr>
        <p:spPr>
          <a:xfrm>
            <a:off x="6903720" y="4480560"/>
            <a:ext cx="4553712" cy="475488"/>
          </a:xfrm>
          <a:prstGeom prst="rect">
            <a:avLst/>
          </a:prstGeom>
          <a:noFill/>
          <a:ln/>
        </p:spPr>
        <p:txBody>
          <a:bodyPr wrap="square" lIns="0" tIns="0" rIns="0" bIns="0" rtlCol="0" anchor="ctr"/>
          <a:lstStyle/>
          <a:p>
            <a:pPr indent="0" marL="0">
              <a:buNone/>
            </a:pPr>
            <a:r>
              <a:rPr lang="en-US" sz="1400" dirty="0">
                <a:solidFill>
                  <a:schemeClr val="tx1"/>
                </a:solidFill>
              </a:rPr>
              <a:t>Authors approve quotes</a:t>
            </a:r>
            <a:endParaRPr lang="en-US" sz="1400" dirty="0"/>
          </a:p>
        </p:txBody>
      </p:sp>
      <p:sp>
        <p:nvSpPr>
          <p:cNvPr id="35" name="Circle-1238"/>
          <p:cNvSpPr/>
          <p:nvPr/>
        </p:nvSpPr>
        <p:spPr>
          <a:xfrm>
            <a:off x="6400800" y="5084064"/>
            <a:ext cx="365760" cy="365760"/>
          </a:xfrm>
          <a:prstGeom prst="ellipse">
            <a:avLst/>
          </a:prstGeom>
          <a:solidFill>
            <a:schemeClr val="accent5"/>
          </a:solidFill>
          <a:ln/>
        </p:spPr>
        <p:txBody>
          <a:bodyPr/>
          <a:p/>
        </p:txBody>
      </p:sp>
      <p:sp>
        <p:nvSpPr>
          <p:cNvPr id="36" name="Text-1239"/>
          <p:cNvSpPr txBox="1"/>
          <p:nvPr/>
        </p:nvSpPr>
        <p:spPr>
          <a:xfrm>
            <a:off x="6400800" y="5084064"/>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7" name="Text-1240"/>
          <p:cNvSpPr txBox="1"/>
          <p:nvPr/>
        </p:nvSpPr>
        <p:spPr>
          <a:xfrm>
            <a:off x="6903720" y="5029200"/>
            <a:ext cx="4553712" cy="475488"/>
          </a:xfrm>
          <a:prstGeom prst="rect">
            <a:avLst/>
          </a:prstGeom>
          <a:noFill/>
          <a:ln/>
        </p:spPr>
        <p:txBody>
          <a:bodyPr wrap="square" lIns="0" tIns="0" rIns="0" bIns="0" rtlCol="0" anchor="ctr"/>
          <a:lstStyle/>
          <a:p>
            <a:pPr indent="0" marL="0">
              <a:buNone/>
            </a:pPr>
            <a:r>
              <a:rPr lang="en-US" sz="1400" dirty="0">
                <a:solidFill>
                  <a:schemeClr val="tx1"/>
                </a:solidFill>
              </a:rPr>
              <a:t>Quotes appear in the renewal kit</a:t>
            </a:r>
            <a:endParaRPr lang="en-US" sz="1400" dirty="0"/>
          </a:p>
        </p:txBody>
      </p:sp>
      <p:sp>
        <p:nvSpPr>
          <p:cNvPr id="38" name="Box-1241"/>
          <p:cNvSpPr/>
          <p:nvPr/>
        </p:nvSpPr>
        <p:spPr>
          <a:xfrm>
            <a:off x="10131552" y="1600200"/>
            <a:ext cx="594360" cy="274320"/>
          </a:xfrm>
          <a:prstGeom prst="roundRect">
            <a:avLst>
              <a:gd name="adj" fmla="val 46667"/>
            </a:avLst>
          </a:prstGeom>
          <a:solidFill>
            <a:schemeClr val="accent1"/>
          </a:solidFill>
          <a:ln/>
        </p:spPr>
        <p:txBody>
          <a:bodyPr/>
          <a:p/>
        </p:txBody>
      </p:sp>
      <p:sp>
        <p:nvSpPr>
          <p:cNvPr id="39" name="Box-1242"/>
          <p:cNvSpPr/>
          <p:nvPr/>
        </p:nvSpPr>
        <p:spPr>
          <a:xfrm>
            <a:off x="10817352" y="1600200"/>
            <a:ext cx="594360" cy="274320"/>
          </a:xfrm>
          <a:prstGeom prst="roundRect">
            <a:avLst>
              <a:gd name="adj" fmla="val 46667"/>
            </a:avLst>
          </a:prstGeom>
          <a:solidFill>
            <a:schemeClr val="accent1"/>
          </a:solidFill>
          <a:ln/>
        </p:spPr>
        <p:txBody>
          <a:bodyPr/>
          <a:p/>
        </p:txBody>
      </p:sp>
      <p:sp>
        <p:nvSpPr>
          <p:cNvPr id="40" name="Text-1243"/>
          <p:cNvSpPr txBox="1"/>
          <p:nvPr/>
        </p:nvSpPr>
        <p:spPr>
          <a:xfrm>
            <a:off x="10131552" y="1600200"/>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SQ2</a:t>
            </a:r>
            <a:endParaRPr lang="en-US" sz="1000" dirty="0"/>
          </a:p>
        </p:txBody>
      </p:sp>
      <p:sp>
        <p:nvSpPr>
          <p:cNvPr id="41" name="Text-1244"/>
          <p:cNvSpPr txBox="1"/>
          <p:nvPr/>
        </p:nvSpPr>
        <p:spPr>
          <a:xfrm>
            <a:off x="10817352" y="1600200"/>
            <a:ext cx="594360" cy="274320"/>
          </a:xfrm>
          <a:prstGeom prst="rect">
            <a:avLst/>
          </a:prstGeom>
          <a:noFill/>
          <a:ln/>
        </p:spPr>
        <p:txBody>
          <a:bodyPr wrap="square" lIns="0" tIns="0" rIns="0" bIns="0" rtlCol="0" anchor="ctr"/>
          <a:lstStyle/>
          <a:p>
            <a:pPr algn="ctr" indent="0" marL="0">
              <a:buNone/>
            </a:pPr>
            <a:r>
              <a:rPr lang="en-US" sz="1000" b="1" dirty="0">
                <a:solidFill>
                  <a:schemeClr val="bg1"/>
                </a:solidFill>
              </a:rPr>
              <a:t>SQ3</a:t>
            </a:r>
            <a:endParaRPr lang="en-US" sz="1000" dirty="0"/>
          </a:p>
        </p:txBody>
      </p:sp>
      <p:sp>
        <p:nvSpPr>
          <p:cNvPr id="42" name="Text-1245"/>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Optional matrix step “additional AI concepts” – both go into the heatmap on equal terms with the four team sketches.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3 · RESULT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Six concepts for Decide &amp; Align</a:t>
            </a:r>
            <a:endParaRPr lang="en-US" sz="3200" dirty="0"/>
          </a:p>
        </p:txBody>
      </p:sp>
      <p:sp>
        <p:nvSpPr>
          <p:cNvPr id="4" name="Text-1246"/>
          <p:cNvSpPr txBox="1"/>
          <p:nvPr/>
        </p:nvSpPr>
        <p:spPr>
          <a:xfrm>
            <a:off x="3291840" y="1508760"/>
            <a:ext cx="914400" cy="731520"/>
          </a:xfrm>
          <a:prstGeom prst="rect">
            <a:avLst/>
          </a:prstGeom>
          <a:noFill/>
          <a:ln/>
        </p:spPr>
        <p:txBody>
          <a:bodyPr wrap="square" lIns="0" tIns="0" rIns="0" bIns="0" rtlCol="0" anchor="b"/>
          <a:lstStyle/>
          <a:p>
            <a:pPr algn="ctr" indent="0" marL="0">
              <a:buNone/>
            </a:pPr>
            <a:r>
              <a:rPr lang="en-US" sz="1100" b="1" dirty="0">
                <a:solidFill>
                  <a:schemeClr val="tx2"/>
                </a:solidFill>
              </a:rPr>
              <a:t>SQ1</a:t>
            </a:r>
            <a:endParaRPr lang="en-US" sz="1100" dirty="0"/>
          </a:p>
          <a:p>
            <a:pPr algn="ctr" indent="0" marL="0">
              <a:buNone/>
            </a:pPr>
            <a:r>
              <a:rPr lang="en-US" sz="1100" b="1" dirty="0">
                <a:solidFill>
                  <a:schemeClr val="tx2"/>
                </a:solidFill>
              </a:rPr>
              <a:t>Forwardable</a:t>
            </a:r>
            <a:endParaRPr lang="en-US" sz="1100" dirty="0"/>
          </a:p>
        </p:txBody>
      </p:sp>
      <p:sp>
        <p:nvSpPr>
          <p:cNvPr id="5" name="Text-1247"/>
          <p:cNvSpPr txBox="1"/>
          <p:nvPr/>
        </p:nvSpPr>
        <p:spPr>
          <a:xfrm>
            <a:off x="4206240" y="1508760"/>
            <a:ext cx="914400" cy="731520"/>
          </a:xfrm>
          <a:prstGeom prst="rect">
            <a:avLst/>
          </a:prstGeom>
          <a:noFill/>
          <a:ln/>
        </p:spPr>
        <p:txBody>
          <a:bodyPr wrap="square" lIns="0" tIns="0" rIns="0" bIns="0" rtlCol="0" anchor="b"/>
          <a:lstStyle/>
          <a:p>
            <a:pPr algn="ctr" indent="0" marL="0">
              <a:buNone/>
            </a:pPr>
            <a:r>
              <a:rPr lang="en-US" sz="1100" b="1" dirty="0">
                <a:solidFill>
                  <a:schemeClr val="tx2"/>
                </a:solidFill>
              </a:rPr>
              <a:t>SQ2</a:t>
            </a:r>
            <a:endParaRPr lang="en-US" sz="1100" dirty="0"/>
          </a:p>
          <a:p>
            <a:pPr algn="ctr" indent="0" marL="0">
              <a:buNone/>
            </a:pPr>
            <a:r>
              <a:rPr lang="en-US" sz="1100" b="1" dirty="0">
                <a:solidFill>
                  <a:schemeClr val="tx2"/>
                </a:solidFill>
              </a:rPr>
              <a:t>Trust</a:t>
            </a:r>
            <a:endParaRPr lang="en-US" sz="1100" dirty="0"/>
          </a:p>
        </p:txBody>
      </p:sp>
      <p:sp>
        <p:nvSpPr>
          <p:cNvPr id="6" name="Text-1248"/>
          <p:cNvSpPr txBox="1"/>
          <p:nvPr/>
        </p:nvSpPr>
        <p:spPr>
          <a:xfrm>
            <a:off x="5120640" y="1508760"/>
            <a:ext cx="914400" cy="731520"/>
          </a:xfrm>
          <a:prstGeom prst="rect">
            <a:avLst/>
          </a:prstGeom>
          <a:noFill/>
          <a:ln/>
        </p:spPr>
        <p:txBody>
          <a:bodyPr wrap="square" lIns="0" tIns="0" rIns="0" bIns="0" rtlCol="0" anchor="b"/>
          <a:lstStyle/>
          <a:p>
            <a:pPr algn="ctr" indent="0" marL="0">
              <a:buNone/>
            </a:pPr>
            <a:r>
              <a:rPr lang="en-US" sz="1100" b="1" dirty="0">
                <a:solidFill>
                  <a:schemeClr val="tx2"/>
                </a:solidFill>
              </a:rPr>
              <a:t>SQ3</a:t>
            </a:r>
            <a:endParaRPr lang="en-US" sz="1100" dirty="0"/>
          </a:p>
          <a:p>
            <a:pPr algn="ctr" indent="0" marL="0">
              <a:buNone/>
            </a:pPr>
            <a:r>
              <a:rPr lang="en-US" sz="1100" b="1" dirty="0">
                <a:solidFill>
                  <a:schemeClr val="tx2"/>
                </a:solidFill>
              </a:rPr>
              <a:t>Kind of value</a:t>
            </a:r>
            <a:endParaRPr lang="en-US" sz="1100" dirty="0"/>
          </a:p>
        </p:txBody>
      </p:sp>
      <p:sp>
        <p:nvSpPr>
          <p:cNvPr id="7" name="Text-1249"/>
          <p:cNvSpPr txBox="1"/>
          <p:nvPr/>
        </p:nvSpPr>
        <p:spPr>
          <a:xfrm>
            <a:off x="6035040" y="1508760"/>
            <a:ext cx="914400" cy="731520"/>
          </a:xfrm>
          <a:prstGeom prst="rect">
            <a:avLst/>
          </a:prstGeom>
          <a:noFill/>
          <a:ln/>
        </p:spPr>
        <p:txBody>
          <a:bodyPr wrap="square" lIns="0" tIns="0" rIns="0" bIns="0" rtlCol="0" anchor="b"/>
          <a:lstStyle/>
          <a:p>
            <a:pPr algn="ctr" indent="0" marL="0">
              <a:buNone/>
            </a:pPr>
            <a:r>
              <a:rPr lang="en-US" sz="1100" b="1" dirty="0">
                <a:solidFill>
                  <a:schemeClr val="tx2"/>
                </a:solidFill>
              </a:rPr>
              <a:t>SQ4</a:t>
            </a:r>
            <a:endParaRPr lang="en-US" sz="1100" dirty="0"/>
          </a:p>
          <a:p>
            <a:pPr algn="ctr" indent="0" marL="0">
              <a:buNone/>
            </a:pPr>
            <a:r>
              <a:rPr lang="en-US" sz="1100" b="1" dirty="0">
                <a:solidFill>
                  <a:schemeClr val="tx2"/>
                </a:solidFill>
              </a:rPr>
              <a:t>Automatic</a:t>
            </a:r>
            <a:endParaRPr lang="en-US" sz="1100" dirty="0"/>
          </a:p>
        </p:txBody>
      </p:sp>
      <p:sp>
        <p:nvSpPr>
          <p:cNvPr id="8" name="Text-1250"/>
          <p:cNvSpPr txBox="1"/>
          <p:nvPr/>
        </p:nvSpPr>
        <p:spPr>
          <a:xfrm>
            <a:off x="6949440" y="1508760"/>
            <a:ext cx="914400" cy="731520"/>
          </a:xfrm>
          <a:prstGeom prst="rect">
            <a:avLst/>
          </a:prstGeom>
          <a:noFill/>
          <a:ln/>
        </p:spPr>
        <p:txBody>
          <a:bodyPr wrap="square" lIns="0" tIns="0" rIns="0" bIns="0" rtlCol="0" anchor="b"/>
          <a:lstStyle/>
          <a:p>
            <a:pPr algn="ctr" indent="0" marL="0">
              <a:buNone/>
            </a:pPr>
            <a:r>
              <a:rPr lang="en-US" sz="1100" b="1" dirty="0">
                <a:solidFill>
                  <a:schemeClr val="tx2"/>
                </a:solidFill>
              </a:rPr>
              <a:t>SQ5</a:t>
            </a:r>
            <a:endParaRPr lang="en-US" sz="1100" dirty="0"/>
          </a:p>
          <a:p>
            <a:pPr algn="ctr" indent="0" marL="0">
              <a:buNone/>
            </a:pPr>
            <a:r>
              <a:rPr lang="en-US" sz="1100" b="1" dirty="0">
                <a:solidFill>
                  <a:schemeClr val="tx2"/>
                </a:solidFill>
              </a:rPr>
              <a:t>Expansion</a:t>
            </a:r>
            <a:endParaRPr lang="en-US" sz="1100" dirty="0"/>
          </a:p>
        </p:txBody>
      </p:sp>
      <p:sp>
        <p:nvSpPr>
          <p:cNvPr id="9" name="Row-1251"/>
          <p:cNvSpPr/>
          <p:nvPr/>
        </p:nvSpPr>
        <p:spPr>
          <a:xfrm>
            <a:off x="548640" y="2331720"/>
            <a:ext cx="7315200" cy="530352"/>
          </a:xfrm>
          <a:prstGeom prst="rect">
            <a:avLst/>
          </a:prstGeom>
          <a:solidFill>
            <a:schemeClr val="bg2"/>
          </a:solidFill>
          <a:ln/>
        </p:spPr>
        <p:txBody>
          <a:bodyPr/>
          <a:p/>
        </p:txBody>
      </p:sp>
      <p:sp>
        <p:nvSpPr>
          <p:cNvPr id="10" name="Text-1252"/>
          <p:cNvSpPr txBox="1"/>
          <p:nvPr/>
        </p:nvSpPr>
        <p:spPr>
          <a:xfrm>
            <a:off x="685800" y="2331720"/>
            <a:ext cx="2103120" cy="530352"/>
          </a:xfrm>
          <a:prstGeom prst="rect">
            <a:avLst/>
          </a:prstGeom>
          <a:noFill/>
          <a:ln/>
        </p:spPr>
        <p:txBody>
          <a:bodyPr wrap="square" lIns="0" tIns="0" rIns="0" bIns="0" rtlCol="0" anchor="ctr"/>
          <a:lstStyle/>
          <a:p>
            <a:pPr indent="0" marL="0">
              <a:buNone/>
            </a:pPr>
            <a:r>
              <a:rPr lang="en-US" sz="1400" b="1" dirty="0">
                <a:solidFill>
                  <a:schemeClr val="tx2"/>
                </a:solidFill>
              </a:rPr>
              <a:t>Partnership statement</a:t>
            </a:r>
            <a:endParaRPr lang="en-US" sz="1400" dirty="0"/>
          </a:p>
        </p:txBody>
      </p:sp>
      <p:sp>
        <p:nvSpPr>
          <p:cNvPr id="11" name="Circle-1253"/>
          <p:cNvSpPr/>
          <p:nvPr/>
        </p:nvSpPr>
        <p:spPr>
          <a:xfrm>
            <a:off x="3694176" y="2542032"/>
            <a:ext cx="109728" cy="109728"/>
          </a:xfrm>
          <a:prstGeom prst="ellipse">
            <a:avLst/>
          </a:prstGeom>
          <a:solidFill>
            <a:srgbClr val="C9D5D8"/>
          </a:solidFill>
          <a:ln/>
        </p:spPr>
        <p:txBody>
          <a:bodyPr/>
          <a:p/>
        </p:txBody>
      </p:sp>
      <p:sp>
        <p:nvSpPr>
          <p:cNvPr id="12" name="Circle-1254"/>
          <p:cNvSpPr/>
          <p:nvPr/>
        </p:nvSpPr>
        <p:spPr>
          <a:xfrm>
            <a:off x="4535424" y="2468880"/>
            <a:ext cx="256032" cy="256032"/>
          </a:xfrm>
          <a:prstGeom prst="ellipse">
            <a:avLst/>
          </a:prstGeom>
          <a:solidFill>
            <a:schemeClr val="accent1"/>
          </a:solidFill>
          <a:ln/>
        </p:spPr>
        <p:txBody>
          <a:bodyPr/>
          <a:p/>
        </p:txBody>
      </p:sp>
      <p:sp>
        <p:nvSpPr>
          <p:cNvPr id="13" name="Circle-1255"/>
          <p:cNvSpPr/>
          <p:nvPr/>
        </p:nvSpPr>
        <p:spPr>
          <a:xfrm>
            <a:off x="5522976" y="2542032"/>
            <a:ext cx="109728" cy="109728"/>
          </a:xfrm>
          <a:prstGeom prst="ellipse">
            <a:avLst/>
          </a:prstGeom>
          <a:solidFill>
            <a:srgbClr val="C9D5D8"/>
          </a:solidFill>
          <a:ln/>
        </p:spPr>
        <p:txBody>
          <a:bodyPr/>
          <a:p/>
        </p:txBody>
      </p:sp>
      <p:sp>
        <p:nvSpPr>
          <p:cNvPr id="14" name="Circle-1256"/>
          <p:cNvSpPr/>
          <p:nvPr/>
        </p:nvSpPr>
        <p:spPr>
          <a:xfrm>
            <a:off x="6364224" y="2468880"/>
            <a:ext cx="256032" cy="256032"/>
          </a:xfrm>
          <a:prstGeom prst="ellipse">
            <a:avLst/>
          </a:prstGeom>
          <a:solidFill>
            <a:schemeClr val="accent1"/>
          </a:solidFill>
          <a:ln/>
        </p:spPr>
        <p:txBody>
          <a:bodyPr/>
          <a:p/>
        </p:txBody>
      </p:sp>
      <p:sp>
        <p:nvSpPr>
          <p:cNvPr id="15" name="Circle-1257"/>
          <p:cNvSpPr/>
          <p:nvPr/>
        </p:nvSpPr>
        <p:spPr>
          <a:xfrm>
            <a:off x="7278624" y="2468880"/>
            <a:ext cx="256032" cy="256032"/>
          </a:xfrm>
          <a:prstGeom prst="ellipse">
            <a:avLst/>
          </a:prstGeom>
          <a:solidFill>
            <a:schemeClr val="accent1"/>
          </a:solidFill>
          <a:ln/>
        </p:spPr>
        <p:txBody>
          <a:bodyPr/>
          <a:p/>
        </p:txBody>
      </p:sp>
      <p:sp>
        <p:nvSpPr>
          <p:cNvPr id="16" name="Row-1258"/>
          <p:cNvSpPr/>
          <p:nvPr/>
        </p:nvSpPr>
        <p:spPr>
          <a:xfrm>
            <a:off x="548640" y="2935224"/>
            <a:ext cx="7315200" cy="530352"/>
          </a:xfrm>
          <a:prstGeom prst="rect">
            <a:avLst/>
          </a:prstGeom>
          <a:solidFill>
            <a:schemeClr val="bg1"/>
          </a:solidFill>
          <a:ln/>
        </p:spPr>
        <p:txBody>
          <a:bodyPr/>
          <a:p/>
        </p:txBody>
      </p:sp>
      <p:sp>
        <p:nvSpPr>
          <p:cNvPr id="17" name="Text-1259"/>
          <p:cNvSpPr txBox="1"/>
          <p:nvPr/>
        </p:nvSpPr>
        <p:spPr>
          <a:xfrm>
            <a:off x="685800" y="2935224"/>
            <a:ext cx="2103120" cy="530352"/>
          </a:xfrm>
          <a:prstGeom prst="rect">
            <a:avLst/>
          </a:prstGeom>
          <a:noFill/>
          <a:ln/>
        </p:spPr>
        <p:txBody>
          <a:bodyPr wrap="square" lIns="0" tIns="0" rIns="0" bIns="0" rtlCol="0" anchor="ctr"/>
          <a:lstStyle/>
          <a:p>
            <a:pPr indent="0" marL="0">
              <a:buNone/>
            </a:pPr>
            <a:r>
              <a:rPr lang="en-US" sz="1400" b="1" dirty="0">
                <a:solidFill>
                  <a:schemeClr val="tx2"/>
                </a:solidFill>
              </a:rPr>
              <a:t>Renewal kit</a:t>
            </a:r>
            <a:endParaRPr lang="en-US" sz="1400" dirty="0"/>
          </a:p>
        </p:txBody>
      </p:sp>
      <p:sp>
        <p:nvSpPr>
          <p:cNvPr id="18" name="Circle-1260"/>
          <p:cNvSpPr/>
          <p:nvPr/>
        </p:nvSpPr>
        <p:spPr>
          <a:xfrm>
            <a:off x="3621024" y="3072384"/>
            <a:ext cx="256032" cy="256032"/>
          </a:xfrm>
          <a:prstGeom prst="ellipse">
            <a:avLst/>
          </a:prstGeom>
          <a:solidFill>
            <a:schemeClr val="accent1"/>
          </a:solidFill>
          <a:ln/>
        </p:spPr>
        <p:txBody>
          <a:bodyPr/>
          <a:p/>
        </p:txBody>
      </p:sp>
      <p:sp>
        <p:nvSpPr>
          <p:cNvPr id="19" name="Circle-1261"/>
          <p:cNvSpPr/>
          <p:nvPr/>
        </p:nvSpPr>
        <p:spPr>
          <a:xfrm>
            <a:off x="4608576" y="3145536"/>
            <a:ext cx="109728" cy="109728"/>
          </a:xfrm>
          <a:prstGeom prst="ellipse">
            <a:avLst/>
          </a:prstGeom>
          <a:solidFill>
            <a:srgbClr val="C9D5D8"/>
          </a:solidFill>
          <a:ln/>
        </p:spPr>
        <p:txBody>
          <a:bodyPr/>
          <a:p/>
        </p:txBody>
      </p:sp>
      <p:sp>
        <p:nvSpPr>
          <p:cNvPr id="20" name="Circle-1262"/>
          <p:cNvSpPr/>
          <p:nvPr/>
        </p:nvSpPr>
        <p:spPr>
          <a:xfrm>
            <a:off x="5449824" y="3072384"/>
            <a:ext cx="256032" cy="256032"/>
          </a:xfrm>
          <a:prstGeom prst="ellipse">
            <a:avLst/>
          </a:prstGeom>
          <a:solidFill>
            <a:schemeClr val="accent1"/>
          </a:solidFill>
          <a:ln/>
        </p:spPr>
        <p:txBody>
          <a:bodyPr/>
          <a:p/>
        </p:txBody>
      </p:sp>
      <p:sp>
        <p:nvSpPr>
          <p:cNvPr id="21" name="Circle-1263"/>
          <p:cNvSpPr/>
          <p:nvPr/>
        </p:nvSpPr>
        <p:spPr>
          <a:xfrm>
            <a:off x="6364224" y="3072384"/>
            <a:ext cx="256032" cy="256032"/>
          </a:xfrm>
          <a:prstGeom prst="ellipse">
            <a:avLst/>
          </a:prstGeom>
          <a:solidFill>
            <a:schemeClr val="accent1"/>
          </a:solidFill>
          <a:ln/>
        </p:spPr>
        <p:txBody>
          <a:bodyPr/>
          <a:p/>
        </p:txBody>
      </p:sp>
      <p:sp>
        <p:nvSpPr>
          <p:cNvPr id="22" name="Circle-1264"/>
          <p:cNvSpPr/>
          <p:nvPr/>
        </p:nvSpPr>
        <p:spPr>
          <a:xfrm>
            <a:off x="7351776" y="3145536"/>
            <a:ext cx="109728" cy="109728"/>
          </a:xfrm>
          <a:prstGeom prst="ellipse">
            <a:avLst/>
          </a:prstGeom>
          <a:solidFill>
            <a:srgbClr val="C9D5D8"/>
          </a:solidFill>
          <a:ln/>
        </p:spPr>
        <p:txBody>
          <a:bodyPr/>
          <a:p/>
        </p:txBody>
      </p:sp>
      <p:sp>
        <p:nvSpPr>
          <p:cNvPr id="23" name="Row-1265"/>
          <p:cNvSpPr/>
          <p:nvPr/>
        </p:nvSpPr>
        <p:spPr>
          <a:xfrm>
            <a:off x="548640" y="3538728"/>
            <a:ext cx="7315200" cy="530352"/>
          </a:xfrm>
          <a:prstGeom prst="rect">
            <a:avLst/>
          </a:prstGeom>
          <a:solidFill>
            <a:schemeClr val="bg2"/>
          </a:solidFill>
          <a:ln/>
        </p:spPr>
        <p:txBody>
          <a:bodyPr/>
          <a:p/>
        </p:txBody>
      </p:sp>
      <p:sp>
        <p:nvSpPr>
          <p:cNvPr id="24" name="Text-1266"/>
          <p:cNvSpPr txBox="1"/>
          <p:nvPr/>
        </p:nvSpPr>
        <p:spPr>
          <a:xfrm>
            <a:off x="685800" y="3538728"/>
            <a:ext cx="2103120" cy="530352"/>
          </a:xfrm>
          <a:prstGeom prst="rect">
            <a:avLst/>
          </a:prstGeom>
          <a:noFill/>
          <a:ln/>
        </p:spPr>
        <p:txBody>
          <a:bodyPr wrap="square" lIns="0" tIns="0" rIns="0" bIns="0" rtlCol="0" anchor="ctr"/>
          <a:lstStyle/>
          <a:p>
            <a:pPr indent="0" marL="0">
              <a:buNone/>
            </a:pPr>
            <a:r>
              <a:rPr lang="en-US" sz="1400" b="1" dirty="0">
                <a:solidFill>
                  <a:schemeClr val="tx2"/>
                </a:solidFill>
              </a:rPr>
              <a:t>Value email, no login</a:t>
            </a:r>
            <a:endParaRPr lang="en-US" sz="1400" dirty="0"/>
          </a:p>
        </p:txBody>
      </p:sp>
      <p:sp>
        <p:nvSpPr>
          <p:cNvPr id="25" name="Circle-1267"/>
          <p:cNvSpPr/>
          <p:nvPr/>
        </p:nvSpPr>
        <p:spPr>
          <a:xfrm>
            <a:off x="3621024" y="3675888"/>
            <a:ext cx="256032" cy="256032"/>
          </a:xfrm>
          <a:prstGeom prst="ellipse">
            <a:avLst/>
          </a:prstGeom>
          <a:solidFill>
            <a:schemeClr val="accent1"/>
          </a:solidFill>
          <a:ln/>
        </p:spPr>
        <p:txBody>
          <a:bodyPr/>
          <a:p/>
        </p:txBody>
      </p:sp>
      <p:sp>
        <p:nvSpPr>
          <p:cNvPr id="26" name="Circle-1268"/>
          <p:cNvSpPr/>
          <p:nvPr/>
        </p:nvSpPr>
        <p:spPr>
          <a:xfrm>
            <a:off x="4608576" y="3749040"/>
            <a:ext cx="109728" cy="109728"/>
          </a:xfrm>
          <a:prstGeom prst="ellipse">
            <a:avLst/>
          </a:prstGeom>
          <a:solidFill>
            <a:srgbClr val="C9D5D8"/>
          </a:solidFill>
          <a:ln/>
        </p:spPr>
        <p:txBody>
          <a:bodyPr/>
          <a:p/>
        </p:txBody>
      </p:sp>
      <p:sp>
        <p:nvSpPr>
          <p:cNvPr id="27" name="Circle-1269"/>
          <p:cNvSpPr/>
          <p:nvPr/>
        </p:nvSpPr>
        <p:spPr>
          <a:xfrm>
            <a:off x="5522976" y="3749040"/>
            <a:ext cx="109728" cy="109728"/>
          </a:xfrm>
          <a:prstGeom prst="ellipse">
            <a:avLst/>
          </a:prstGeom>
          <a:solidFill>
            <a:srgbClr val="C9D5D8"/>
          </a:solidFill>
          <a:ln/>
        </p:spPr>
        <p:txBody>
          <a:bodyPr/>
          <a:p/>
        </p:txBody>
      </p:sp>
      <p:sp>
        <p:nvSpPr>
          <p:cNvPr id="28" name="Circle-1270"/>
          <p:cNvSpPr/>
          <p:nvPr/>
        </p:nvSpPr>
        <p:spPr>
          <a:xfrm>
            <a:off x="6364224" y="3675888"/>
            <a:ext cx="256032" cy="256032"/>
          </a:xfrm>
          <a:prstGeom prst="ellipse">
            <a:avLst/>
          </a:prstGeom>
          <a:solidFill>
            <a:schemeClr val="accent1"/>
          </a:solidFill>
          <a:ln/>
        </p:spPr>
        <p:txBody>
          <a:bodyPr/>
          <a:p/>
        </p:txBody>
      </p:sp>
      <p:sp>
        <p:nvSpPr>
          <p:cNvPr id="29" name="Circle-1271"/>
          <p:cNvSpPr/>
          <p:nvPr/>
        </p:nvSpPr>
        <p:spPr>
          <a:xfrm>
            <a:off x="7351776" y="3749040"/>
            <a:ext cx="109728" cy="109728"/>
          </a:xfrm>
          <a:prstGeom prst="ellipse">
            <a:avLst/>
          </a:prstGeom>
          <a:solidFill>
            <a:srgbClr val="C9D5D8"/>
          </a:solidFill>
          <a:ln/>
        </p:spPr>
        <p:txBody>
          <a:bodyPr/>
          <a:p/>
        </p:txBody>
      </p:sp>
      <p:sp>
        <p:nvSpPr>
          <p:cNvPr id="30" name="Row-1272"/>
          <p:cNvSpPr/>
          <p:nvPr/>
        </p:nvSpPr>
        <p:spPr>
          <a:xfrm>
            <a:off x="548640" y="4142232"/>
            <a:ext cx="7315200" cy="530352"/>
          </a:xfrm>
          <a:prstGeom prst="rect">
            <a:avLst/>
          </a:prstGeom>
          <a:solidFill>
            <a:schemeClr val="bg1"/>
          </a:solidFill>
          <a:ln/>
        </p:spPr>
        <p:txBody>
          <a:bodyPr/>
          <a:p/>
        </p:txBody>
      </p:sp>
      <p:sp>
        <p:nvSpPr>
          <p:cNvPr id="31" name="Text-1273"/>
          <p:cNvSpPr txBox="1"/>
          <p:nvPr/>
        </p:nvSpPr>
        <p:spPr>
          <a:xfrm>
            <a:off x="685800" y="4142232"/>
            <a:ext cx="2103120" cy="530352"/>
          </a:xfrm>
          <a:prstGeom prst="rect">
            <a:avLst/>
          </a:prstGeom>
          <a:noFill/>
          <a:ln/>
        </p:spPr>
        <p:txBody>
          <a:bodyPr wrap="square" lIns="0" tIns="0" rIns="0" bIns="0" rtlCol="0" anchor="ctr"/>
          <a:lstStyle/>
          <a:p>
            <a:pPr indent="0" marL="0">
              <a:buNone/>
            </a:pPr>
            <a:r>
              <a:rPr lang="en-US" sz="1400" b="1" dirty="0">
                <a:solidFill>
                  <a:schemeClr val="tx2"/>
                </a:solidFill>
              </a:rPr>
              <a:t>Compliance proof</a:t>
            </a:r>
            <a:endParaRPr lang="en-US" sz="1400" dirty="0"/>
          </a:p>
        </p:txBody>
      </p:sp>
      <p:sp>
        <p:nvSpPr>
          <p:cNvPr id="32" name="Circle-1274"/>
          <p:cNvSpPr/>
          <p:nvPr/>
        </p:nvSpPr>
        <p:spPr>
          <a:xfrm>
            <a:off x="3694176" y="4352544"/>
            <a:ext cx="109728" cy="109728"/>
          </a:xfrm>
          <a:prstGeom prst="ellipse">
            <a:avLst/>
          </a:prstGeom>
          <a:solidFill>
            <a:srgbClr val="C9D5D8"/>
          </a:solidFill>
          <a:ln/>
        </p:spPr>
        <p:txBody>
          <a:bodyPr/>
          <a:p/>
        </p:txBody>
      </p:sp>
      <p:sp>
        <p:nvSpPr>
          <p:cNvPr id="33" name="Circle-1275"/>
          <p:cNvSpPr/>
          <p:nvPr/>
        </p:nvSpPr>
        <p:spPr>
          <a:xfrm>
            <a:off x="4535424" y="4279392"/>
            <a:ext cx="256032" cy="256032"/>
          </a:xfrm>
          <a:prstGeom prst="ellipse">
            <a:avLst/>
          </a:prstGeom>
          <a:solidFill>
            <a:schemeClr val="accent1"/>
          </a:solidFill>
          <a:ln/>
        </p:spPr>
        <p:txBody>
          <a:bodyPr/>
          <a:p/>
        </p:txBody>
      </p:sp>
      <p:sp>
        <p:nvSpPr>
          <p:cNvPr id="34" name="Circle-1276"/>
          <p:cNvSpPr/>
          <p:nvPr/>
        </p:nvSpPr>
        <p:spPr>
          <a:xfrm>
            <a:off x="5449824" y="4279392"/>
            <a:ext cx="256032" cy="256032"/>
          </a:xfrm>
          <a:prstGeom prst="ellipse">
            <a:avLst/>
          </a:prstGeom>
          <a:solidFill>
            <a:schemeClr val="accent1"/>
          </a:solidFill>
          <a:ln/>
        </p:spPr>
        <p:txBody>
          <a:bodyPr/>
          <a:p/>
        </p:txBody>
      </p:sp>
      <p:sp>
        <p:nvSpPr>
          <p:cNvPr id="35" name="Circle-1277"/>
          <p:cNvSpPr/>
          <p:nvPr/>
        </p:nvSpPr>
        <p:spPr>
          <a:xfrm>
            <a:off x="6437376" y="4352544"/>
            <a:ext cx="109728" cy="109728"/>
          </a:xfrm>
          <a:prstGeom prst="ellipse">
            <a:avLst/>
          </a:prstGeom>
          <a:solidFill>
            <a:srgbClr val="C9D5D8"/>
          </a:solidFill>
          <a:ln/>
        </p:spPr>
        <p:txBody>
          <a:bodyPr/>
          <a:p/>
        </p:txBody>
      </p:sp>
      <p:sp>
        <p:nvSpPr>
          <p:cNvPr id="36" name="Circle-1278"/>
          <p:cNvSpPr/>
          <p:nvPr/>
        </p:nvSpPr>
        <p:spPr>
          <a:xfrm>
            <a:off x="7351776" y="4352544"/>
            <a:ext cx="109728" cy="109728"/>
          </a:xfrm>
          <a:prstGeom prst="ellipse">
            <a:avLst/>
          </a:prstGeom>
          <a:solidFill>
            <a:srgbClr val="C9D5D8"/>
          </a:solidFill>
          <a:ln/>
        </p:spPr>
        <p:txBody>
          <a:bodyPr/>
          <a:p/>
        </p:txBody>
      </p:sp>
      <p:sp>
        <p:nvSpPr>
          <p:cNvPr id="37" name="Row-1279"/>
          <p:cNvSpPr/>
          <p:nvPr/>
        </p:nvSpPr>
        <p:spPr>
          <a:xfrm>
            <a:off x="548640" y="4745736"/>
            <a:ext cx="7315200" cy="530352"/>
          </a:xfrm>
          <a:prstGeom prst="rect">
            <a:avLst/>
          </a:prstGeom>
          <a:solidFill>
            <a:schemeClr val="bg2"/>
          </a:solidFill>
          <a:ln/>
        </p:spPr>
        <p:txBody>
          <a:bodyPr/>
          <a:p/>
        </p:txBody>
      </p:sp>
      <p:sp>
        <p:nvSpPr>
          <p:cNvPr id="38" name="Text-1280"/>
          <p:cNvSpPr txBox="1"/>
          <p:nvPr/>
        </p:nvSpPr>
        <p:spPr>
          <a:xfrm>
            <a:off x="685800" y="4745736"/>
            <a:ext cx="2103120" cy="530352"/>
          </a:xfrm>
          <a:prstGeom prst="rect">
            <a:avLst/>
          </a:prstGeom>
          <a:noFill/>
          <a:ln/>
        </p:spPr>
        <p:txBody>
          <a:bodyPr wrap="square" lIns="0" tIns="0" rIns="0" bIns="0" rtlCol="0" anchor="ctr"/>
          <a:lstStyle/>
          <a:p>
            <a:pPr indent="0" marL="0">
              <a:buNone/>
            </a:pPr>
            <a:r>
              <a:rPr lang="en-US" sz="1400" b="1" dirty="0">
                <a:solidFill>
                  <a:schemeClr val="tx2"/>
                </a:solidFill>
              </a:rPr>
              <a:t>Report agent on demand</a:t>
            </a:r>
            <a:endParaRPr lang="en-US" sz="1400" dirty="0"/>
          </a:p>
        </p:txBody>
      </p:sp>
      <p:sp>
        <p:nvSpPr>
          <p:cNvPr id="39" name="Box-1281"/>
          <p:cNvSpPr/>
          <p:nvPr/>
        </p:nvSpPr>
        <p:spPr>
          <a:xfrm>
            <a:off x="2743200" y="4882896"/>
            <a:ext cx="457200" cy="256032"/>
          </a:xfrm>
          <a:prstGeom prst="roundRect">
            <a:avLst>
              <a:gd name="adj" fmla="val 50000"/>
            </a:avLst>
          </a:prstGeom>
          <a:solidFill>
            <a:schemeClr val="accent5"/>
          </a:solidFill>
          <a:ln/>
        </p:spPr>
        <p:txBody>
          <a:bodyPr/>
          <a:p/>
        </p:txBody>
      </p:sp>
      <p:sp>
        <p:nvSpPr>
          <p:cNvPr id="40" name="Text-1282"/>
          <p:cNvSpPr txBox="1"/>
          <p:nvPr/>
        </p:nvSpPr>
        <p:spPr>
          <a:xfrm>
            <a:off x="2743200" y="4882896"/>
            <a:ext cx="457200" cy="256032"/>
          </a:xfrm>
          <a:prstGeom prst="rect">
            <a:avLst/>
          </a:prstGeom>
          <a:noFill/>
          <a:ln/>
        </p:spPr>
        <p:txBody>
          <a:bodyPr wrap="square" lIns="0" tIns="0" rIns="0" bIns="0" rtlCol="0" anchor="ctr"/>
          <a:lstStyle/>
          <a:p>
            <a:pPr algn="ctr" indent="0" marL="0">
              <a:buNone/>
            </a:pPr>
            <a:r>
              <a:rPr lang="en-US" sz="1000" b="1" dirty="0">
                <a:solidFill>
                  <a:schemeClr val="bg1"/>
                </a:solidFill>
              </a:rPr>
              <a:t>AI</a:t>
            </a:r>
            <a:endParaRPr lang="en-US" sz="1000" dirty="0"/>
          </a:p>
        </p:txBody>
      </p:sp>
      <p:sp>
        <p:nvSpPr>
          <p:cNvPr id="41" name="Circle-1283"/>
          <p:cNvSpPr/>
          <p:nvPr/>
        </p:nvSpPr>
        <p:spPr>
          <a:xfrm>
            <a:off x="3621024" y="4882896"/>
            <a:ext cx="256032" cy="256032"/>
          </a:xfrm>
          <a:prstGeom prst="ellipse">
            <a:avLst/>
          </a:prstGeom>
          <a:solidFill>
            <a:schemeClr val="accent1"/>
          </a:solidFill>
          <a:ln/>
        </p:spPr>
        <p:txBody>
          <a:bodyPr/>
          <a:p/>
        </p:txBody>
      </p:sp>
      <p:sp>
        <p:nvSpPr>
          <p:cNvPr id="42" name="Circle-1284"/>
          <p:cNvSpPr/>
          <p:nvPr/>
        </p:nvSpPr>
        <p:spPr>
          <a:xfrm>
            <a:off x="4608576" y="4956048"/>
            <a:ext cx="109728" cy="109728"/>
          </a:xfrm>
          <a:prstGeom prst="ellipse">
            <a:avLst/>
          </a:prstGeom>
          <a:solidFill>
            <a:srgbClr val="C9D5D8"/>
          </a:solidFill>
          <a:ln/>
        </p:spPr>
        <p:txBody>
          <a:bodyPr/>
          <a:p/>
        </p:txBody>
      </p:sp>
      <p:sp>
        <p:nvSpPr>
          <p:cNvPr id="43" name="Circle-1285"/>
          <p:cNvSpPr/>
          <p:nvPr/>
        </p:nvSpPr>
        <p:spPr>
          <a:xfrm>
            <a:off x="5522976" y="4956048"/>
            <a:ext cx="109728" cy="109728"/>
          </a:xfrm>
          <a:prstGeom prst="ellipse">
            <a:avLst/>
          </a:prstGeom>
          <a:solidFill>
            <a:srgbClr val="C9D5D8"/>
          </a:solidFill>
          <a:ln/>
        </p:spPr>
        <p:txBody>
          <a:bodyPr/>
          <a:p/>
        </p:txBody>
      </p:sp>
      <p:sp>
        <p:nvSpPr>
          <p:cNvPr id="44" name="Circle-1286"/>
          <p:cNvSpPr/>
          <p:nvPr/>
        </p:nvSpPr>
        <p:spPr>
          <a:xfrm>
            <a:off x="6364224" y="4882896"/>
            <a:ext cx="256032" cy="256032"/>
          </a:xfrm>
          <a:prstGeom prst="ellipse">
            <a:avLst/>
          </a:prstGeom>
          <a:solidFill>
            <a:schemeClr val="accent1"/>
          </a:solidFill>
          <a:ln/>
        </p:spPr>
        <p:txBody>
          <a:bodyPr/>
          <a:p/>
        </p:txBody>
      </p:sp>
      <p:sp>
        <p:nvSpPr>
          <p:cNvPr id="45" name="Circle-1287"/>
          <p:cNvSpPr/>
          <p:nvPr/>
        </p:nvSpPr>
        <p:spPr>
          <a:xfrm>
            <a:off x="7351776" y="4956048"/>
            <a:ext cx="109728" cy="109728"/>
          </a:xfrm>
          <a:prstGeom prst="ellipse">
            <a:avLst/>
          </a:prstGeom>
          <a:solidFill>
            <a:srgbClr val="C9D5D8"/>
          </a:solidFill>
          <a:ln/>
        </p:spPr>
        <p:txBody>
          <a:bodyPr/>
          <a:p/>
        </p:txBody>
      </p:sp>
      <p:sp>
        <p:nvSpPr>
          <p:cNvPr id="46" name="Row-1288"/>
          <p:cNvSpPr/>
          <p:nvPr/>
        </p:nvSpPr>
        <p:spPr>
          <a:xfrm>
            <a:off x="548640" y="5349240"/>
            <a:ext cx="7315200" cy="530352"/>
          </a:xfrm>
          <a:prstGeom prst="rect">
            <a:avLst/>
          </a:prstGeom>
          <a:solidFill>
            <a:schemeClr val="bg1"/>
          </a:solidFill>
          <a:ln/>
        </p:spPr>
        <p:txBody>
          <a:bodyPr/>
          <a:p/>
        </p:txBody>
      </p:sp>
      <p:sp>
        <p:nvSpPr>
          <p:cNvPr id="47" name="Text-1289"/>
          <p:cNvSpPr txBox="1"/>
          <p:nvPr/>
        </p:nvSpPr>
        <p:spPr>
          <a:xfrm>
            <a:off x="685800" y="5349240"/>
            <a:ext cx="2103120" cy="530352"/>
          </a:xfrm>
          <a:prstGeom prst="rect">
            <a:avLst/>
          </a:prstGeom>
          <a:noFill/>
          <a:ln/>
        </p:spPr>
        <p:txBody>
          <a:bodyPr wrap="square" lIns="0" tIns="0" rIns="0" bIns="0" rtlCol="0" anchor="ctr"/>
          <a:lstStyle/>
          <a:p>
            <a:pPr indent="0" marL="0">
              <a:buNone/>
            </a:pPr>
            <a:r>
              <a:rPr lang="en-US" sz="1400" b="1" dirty="0">
                <a:solidFill>
                  <a:schemeClr val="tx2"/>
                </a:solidFill>
              </a:rPr>
              <a:t>Researcher voices</a:t>
            </a:r>
            <a:endParaRPr lang="en-US" sz="1400" dirty="0"/>
          </a:p>
        </p:txBody>
      </p:sp>
      <p:sp>
        <p:nvSpPr>
          <p:cNvPr id="48" name="Box-1290"/>
          <p:cNvSpPr/>
          <p:nvPr/>
        </p:nvSpPr>
        <p:spPr>
          <a:xfrm>
            <a:off x="2743200" y="5486400"/>
            <a:ext cx="457200" cy="256032"/>
          </a:xfrm>
          <a:prstGeom prst="roundRect">
            <a:avLst>
              <a:gd name="adj" fmla="val 50000"/>
            </a:avLst>
          </a:prstGeom>
          <a:solidFill>
            <a:schemeClr val="accent5"/>
          </a:solidFill>
          <a:ln/>
        </p:spPr>
        <p:txBody>
          <a:bodyPr/>
          <a:p/>
        </p:txBody>
      </p:sp>
      <p:sp>
        <p:nvSpPr>
          <p:cNvPr id="49" name="Text-1291"/>
          <p:cNvSpPr txBox="1"/>
          <p:nvPr/>
        </p:nvSpPr>
        <p:spPr>
          <a:xfrm>
            <a:off x="2743200" y="5486400"/>
            <a:ext cx="457200" cy="256032"/>
          </a:xfrm>
          <a:prstGeom prst="rect">
            <a:avLst/>
          </a:prstGeom>
          <a:noFill/>
          <a:ln/>
        </p:spPr>
        <p:txBody>
          <a:bodyPr wrap="square" lIns="0" tIns="0" rIns="0" bIns="0" rtlCol="0" anchor="ctr"/>
          <a:lstStyle/>
          <a:p>
            <a:pPr algn="ctr" indent="0" marL="0">
              <a:buNone/>
            </a:pPr>
            <a:r>
              <a:rPr lang="en-US" sz="1000" b="1" dirty="0">
                <a:solidFill>
                  <a:schemeClr val="bg1"/>
                </a:solidFill>
              </a:rPr>
              <a:t>AI</a:t>
            </a:r>
            <a:endParaRPr lang="en-US" sz="1000" dirty="0"/>
          </a:p>
        </p:txBody>
      </p:sp>
      <p:sp>
        <p:nvSpPr>
          <p:cNvPr id="50" name="Circle-1292"/>
          <p:cNvSpPr/>
          <p:nvPr/>
        </p:nvSpPr>
        <p:spPr>
          <a:xfrm>
            <a:off x="3694176" y="5559552"/>
            <a:ext cx="109728" cy="109728"/>
          </a:xfrm>
          <a:prstGeom prst="ellipse">
            <a:avLst/>
          </a:prstGeom>
          <a:solidFill>
            <a:srgbClr val="C9D5D8"/>
          </a:solidFill>
          <a:ln/>
        </p:spPr>
        <p:txBody>
          <a:bodyPr/>
          <a:p/>
        </p:txBody>
      </p:sp>
      <p:sp>
        <p:nvSpPr>
          <p:cNvPr id="51" name="Circle-1293"/>
          <p:cNvSpPr/>
          <p:nvPr/>
        </p:nvSpPr>
        <p:spPr>
          <a:xfrm>
            <a:off x="4535424" y="5486400"/>
            <a:ext cx="256032" cy="256032"/>
          </a:xfrm>
          <a:prstGeom prst="ellipse">
            <a:avLst/>
          </a:prstGeom>
          <a:solidFill>
            <a:schemeClr val="accent1"/>
          </a:solidFill>
          <a:ln/>
        </p:spPr>
        <p:txBody>
          <a:bodyPr/>
          <a:p/>
        </p:txBody>
      </p:sp>
      <p:sp>
        <p:nvSpPr>
          <p:cNvPr id="52" name="Circle-1294"/>
          <p:cNvSpPr/>
          <p:nvPr/>
        </p:nvSpPr>
        <p:spPr>
          <a:xfrm>
            <a:off x="5449824" y="5486400"/>
            <a:ext cx="256032" cy="256032"/>
          </a:xfrm>
          <a:prstGeom prst="ellipse">
            <a:avLst/>
          </a:prstGeom>
          <a:solidFill>
            <a:schemeClr val="accent1"/>
          </a:solidFill>
          <a:ln/>
        </p:spPr>
        <p:txBody>
          <a:bodyPr/>
          <a:p/>
        </p:txBody>
      </p:sp>
      <p:sp>
        <p:nvSpPr>
          <p:cNvPr id="53" name="Circle-1295"/>
          <p:cNvSpPr/>
          <p:nvPr/>
        </p:nvSpPr>
        <p:spPr>
          <a:xfrm>
            <a:off x="6437376" y="5559552"/>
            <a:ext cx="109728" cy="109728"/>
          </a:xfrm>
          <a:prstGeom prst="ellipse">
            <a:avLst/>
          </a:prstGeom>
          <a:solidFill>
            <a:srgbClr val="C9D5D8"/>
          </a:solidFill>
          <a:ln/>
        </p:spPr>
        <p:txBody>
          <a:bodyPr/>
          <a:p/>
        </p:txBody>
      </p:sp>
      <p:sp>
        <p:nvSpPr>
          <p:cNvPr id="54" name="Circle-1296"/>
          <p:cNvSpPr/>
          <p:nvPr/>
        </p:nvSpPr>
        <p:spPr>
          <a:xfrm>
            <a:off x="7351776" y="5559552"/>
            <a:ext cx="109728" cy="109728"/>
          </a:xfrm>
          <a:prstGeom prst="ellipse">
            <a:avLst/>
          </a:prstGeom>
          <a:solidFill>
            <a:srgbClr val="C9D5D8"/>
          </a:solidFill>
          <a:ln/>
        </p:spPr>
        <p:txBody>
          <a:bodyPr/>
          <a:p/>
        </p:txBody>
      </p:sp>
      <p:sp>
        <p:nvSpPr>
          <p:cNvPr id="55" name="Next-1297"/>
          <p:cNvSpPr/>
          <p:nvPr/>
        </p:nvSpPr>
        <p:spPr>
          <a:xfrm>
            <a:off x="8229600" y="1508760"/>
            <a:ext cx="3410712" cy="4709160"/>
          </a:xfrm>
          <a:prstGeom prst="roundRect">
            <a:avLst>
              <a:gd name="adj" fmla="val 2145"/>
            </a:avLst>
          </a:prstGeom>
          <a:solidFill>
            <a:schemeClr val="tx2"/>
          </a:solidFill>
          <a:ln/>
        </p:spPr>
        <p:txBody>
          <a:bodyPr/>
          <a:p/>
        </p:txBody>
      </p:sp>
      <p:sp>
        <p:nvSpPr>
          <p:cNvPr id="56" name="Text-1298"/>
          <p:cNvSpPr txBox="1"/>
          <p:nvPr/>
        </p:nvSpPr>
        <p:spPr>
          <a:xfrm>
            <a:off x="8458200" y="1691640"/>
            <a:ext cx="2953512" cy="274320"/>
          </a:xfrm>
          <a:prstGeom prst="rect">
            <a:avLst/>
          </a:prstGeom>
          <a:noFill/>
          <a:ln/>
        </p:spPr>
        <p:txBody>
          <a:bodyPr wrap="square" lIns="0" tIns="0" rIns="0" bIns="0" rtlCol="0" anchor="t"/>
          <a:lstStyle/>
          <a:p>
            <a:pPr indent="0" marL="0">
              <a:buNone/>
            </a:pPr>
            <a:r>
              <a:rPr lang="en-US" sz="1200" b="1" dirty="0">
                <a:solidFill>
                  <a:schemeClr val="accent2"/>
                </a:solidFill>
              </a:rPr>
              <a:t>HANDOVER TO DECIDE &amp; ALIGN</a:t>
            </a:r>
            <a:endParaRPr lang="en-US" sz="1200" dirty="0"/>
          </a:p>
        </p:txBody>
      </p:sp>
      <p:sp>
        <p:nvSpPr>
          <p:cNvPr id="57" name="Circle-1299"/>
          <p:cNvSpPr/>
          <p:nvPr/>
        </p:nvSpPr>
        <p:spPr>
          <a:xfrm>
            <a:off x="8458200" y="2148840"/>
            <a:ext cx="411480" cy="411480"/>
          </a:xfrm>
          <a:prstGeom prst="ellipse">
            <a:avLst/>
          </a:prstGeom>
          <a:solidFill>
            <a:schemeClr val="accent2"/>
          </a:solidFill>
          <a:ln/>
        </p:spPr>
        <p:txBody>
          <a:bodyPr/>
          <a:p/>
        </p:txBody>
      </p:sp>
      <p:sp>
        <p:nvSpPr>
          <p:cNvPr id="58" name="Text-1300"/>
          <p:cNvSpPr txBox="1"/>
          <p:nvPr/>
        </p:nvSpPr>
        <p:spPr>
          <a:xfrm>
            <a:off x="8458200" y="2148840"/>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59" name="Text-1301"/>
          <p:cNvSpPr txBox="1"/>
          <p:nvPr/>
        </p:nvSpPr>
        <p:spPr>
          <a:xfrm>
            <a:off x="9006840" y="2103120"/>
            <a:ext cx="2450592" cy="502920"/>
          </a:xfrm>
          <a:prstGeom prst="rect">
            <a:avLst/>
          </a:prstGeom>
          <a:noFill/>
          <a:ln/>
        </p:spPr>
        <p:txBody>
          <a:bodyPr wrap="square" lIns="0" tIns="0" rIns="0" bIns="0" rtlCol="0" anchor="ctr"/>
          <a:lstStyle/>
          <a:p>
            <a:pPr indent="0" marL="0">
              <a:buNone/>
            </a:pPr>
            <a:r>
              <a:rPr lang="en-US" sz="1400" dirty="0">
                <a:solidFill>
                  <a:schemeClr val="bg1"/>
                </a:solidFill>
              </a:rPr>
              <a:t>Gallery: put up all 6 sketches</a:t>
            </a:r>
            <a:endParaRPr lang="en-US" sz="1400" dirty="0"/>
          </a:p>
        </p:txBody>
      </p:sp>
      <p:sp>
        <p:nvSpPr>
          <p:cNvPr id="60" name="Circle-1302"/>
          <p:cNvSpPr/>
          <p:nvPr/>
        </p:nvSpPr>
        <p:spPr>
          <a:xfrm>
            <a:off x="8458200" y="2807208"/>
            <a:ext cx="411480" cy="411480"/>
          </a:xfrm>
          <a:prstGeom prst="ellipse">
            <a:avLst/>
          </a:prstGeom>
          <a:solidFill>
            <a:schemeClr val="accent2"/>
          </a:solidFill>
          <a:ln/>
        </p:spPr>
        <p:txBody>
          <a:bodyPr/>
          <a:p/>
        </p:txBody>
      </p:sp>
      <p:sp>
        <p:nvSpPr>
          <p:cNvPr id="61" name="Text-1303"/>
          <p:cNvSpPr txBox="1"/>
          <p:nvPr/>
        </p:nvSpPr>
        <p:spPr>
          <a:xfrm>
            <a:off x="8458200" y="2807208"/>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62" name="Text-1304"/>
          <p:cNvSpPr txBox="1"/>
          <p:nvPr/>
        </p:nvSpPr>
        <p:spPr>
          <a:xfrm>
            <a:off x="9006840" y="2761488"/>
            <a:ext cx="2450592" cy="502920"/>
          </a:xfrm>
          <a:prstGeom prst="rect">
            <a:avLst/>
          </a:prstGeom>
          <a:noFill/>
          <a:ln/>
        </p:spPr>
        <p:txBody>
          <a:bodyPr wrap="square" lIns="0" tIns="0" rIns="0" bIns="0" rtlCol="0" anchor="ctr"/>
          <a:lstStyle/>
          <a:p>
            <a:pPr indent="0" marL="0">
              <a:buNone/>
            </a:pPr>
            <a:r>
              <a:rPr lang="en-US" sz="1400" dirty="0">
                <a:solidFill>
                  <a:schemeClr val="bg1"/>
                </a:solidFill>
              </a:rPr>
              <a:t>Heatmap vote (silent)</a:t>
            </a:r>
            <a:endParaRPr lang="en-US" sz="1400" dirty="0"/>
          </a:p>
        </p:txBody>
      </p:sp>
      <p:sp>
        <p:nvSpPr>
          <p:cNvPr id="63" name="Circle-1305"/>
          <p:cNvSpPr/>
          <p:nvPr/>
        </p:nvSpPr>
        <p:spPr>
          <a:xfrm>
            <a:off x="8458200" y="3465576"/>
            <a:ext cx="411480" cy="411480"/>
          </a:xfrm>
          <a:prstGeom prst="ellipse">
            <a:avLst/>
          </a:prstGeom>
          <a:solidFill>
            <a:schemeClr val="accent2"/>
          </a:solidFill>
          <a:ln/>
        </p:spPr>
        <p:txBody>
          <a:bodyPr/>
          <a:p/>
        </p:txBody>
      </p:sp>
      <p:sp>
        <p:nvSpPr>
          <p:cNvPr id="64" name="Text-1306"/>
          <p:cNvSpPr txBox="1"/>
          <p:nvPr/>
        </p:nvSpPr>
        <p:spPr>
          <a:xfrm>
            <a:off x="8458200" y="3465576"/>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65" name="Text-1307"/>
          <p:cNvSpPr txBox="1"/>
          <p:nvPr/>
        </p:nvSpPr>
        <p:spPr>
          <a:xfrm>
            <a:off x="9006840" y="3419856"/>
            <a:ext cx="2450592" cy="502920"/>
          </a:xfrm>
          <a:prstGeom prst="rect">
            <a:avLst/>
          </a:prstGeom>
          <a:noFill/>
          <a:ln/>
        </p:spPr>
        <p:txBody>
          <a:bodyPr wrap="square" lIns="0" tIns="0" rIns="0" bIns="0" rtlCol="0" anchor="ctr"/>
          <a:lstStyle/>
          <a:p>
            <a:pPr indent="0" marL="0">
              <a:buNone/>
            </a:pPr>
            <a:r>
              <a:rPr lang="en-US" sz="1400" dirty="0">
                <a:solidFill>
                  <a:schemeClr val="bg1"/>
                </a:solidFill>
              </a:rPr>
              <a:t>Short solution presentation</a:t>
            </a:r>
            <a:endParaRPr lang="en-US" sz="1400" dirty="0"/>
          </a:p>
        </p:txBody>
      </p:sp>
      <p:sp>
        <p:nvSpPr>
          <p:cNvPr id="66" name="Circle-1308"/>
          <p:cNvSpPr/>
          <p:nvPr/>
        </p:nvSpPr>
        <p:spPr>
          <a:xfrm>
            <a:off x="8458200" y="4123944"/>
            <a:ext cx="411480" cy="411480"/>
          </a:xfrm>
          <a:prstGeom prst="ellipse">
            <a:avLst/>
          </a:prstGeom>
          <a:solidFill>
            <a:schemeClr val="accent2"/>
          </a:solidFill>
          <a:ln/>
        </p:spPr>
        <p:txBody>
          <a:bodyPr/>
          <a:p/>
        </p:txBody>
      </p:sp>
      <p:sp>
        <p:nvSpPr>
          <p:cNvPr id="67" name="Text-1309"/>
          <p:cNvSpPr txBox="1"/>
          <p:nvPr/>
        </p:nvSpPr>
        <p:spPr>
          <a:xfrm>
            <a:off x="8458200" y="4123944"/>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68" name="Text-1310"/>
          <p:cNvSpPr txBox="1"/>
          <p:nvPr/>
        </p:nvSpPr>
        <p:spPr>
          <a:xfrm>
            <a:off x="9006840" y="4078224"/>
            <a:ext cx="2450592" cy="502920"/>
          </a:xfrm>
          <a:prstGeom prst="rect">
            <a:avLst/>
          </a:prstGeom>
          <a:noFill/>
          <a:ln/>
        </p:spPr>
        <p:txBody>
          <a:bodyPr wrap="square" lIns="0" tIns="0" rIns="0" bIns="0" rtlCol="0" anchor="ctr"/>
          <a:lstStyle/>
          <a:p>
            <a:pPr indent="0" marL="0">
              <a:buNone/>
            </a:pPr>
            <a:r>
              <a:rPr lang="en-US" sz="1400" dirty="0">
                <a:solidFill>
                  <a:schemeClr val="bg1"/>
                </a:solidFill>
              </a:rPr>
              <a:t>Team straw poll</a:t>
            </a:r>
            <a:endParaRPr lang="en-US" sz="1400" dirty="0"/>
          </a:p>
        </p:txBody>
      </p:sp>
      <p:sp>
        <p:nvSpPr>
          <p:cNvPr id="69" name="Circle-1311"/>
          <p:cNvSpPr/>
          <p:nvPr/>
        </p:nvSpPr>
        <p:spPr>
          <a:xfrm>
            <a:off x="8458200" y="4782312"/>
            <a:ext cx="411480" cy="411480"/>
          </a:xfrm>
          <a:prstGeom prst="ellipse">
            <a:avLst/>
          </a:prstGeom>
          <a:solidFill>
            <a:schemeClr val="accent2"/>
          </a:solidFill>
          <a:ln/>
        </p:spPr>
        <p:txBody>
          <a:bodyPr/>
          <a:p/>
        </p:txBody>
      </p:sp>
      <p:sp>
        <p:nvSpPr>
          <p:cNvPr id="70" name="Text-1312"/>
          <p:cNvSpPr txBox="1"/>
          <p:nvPr/>
        </p:nvSpPr>
        <p:spPr>
          <a:xfrm>
            <a:off x="8458200" y="4782312"/>
            <a:ext cx="411480" cy="411480"/>
          </a:xfrm>
          <a:prstGeom prst="rect">
            <a:avLst/>
          </a:prstGeom>
          <a:noFill/>
          <a:ln/>
        </p:spPr>
        <p:txBody>
          <a:bodyPr wrap="square" lIns="0" tIns="0" rIns="0" bIns="0" rtlCol="0" anchor="ctr"/>
          <a:lstStyle/>
          <a:p>
            <a:pPr algn="ctr" indent="0" marL="0">
              <a:buNone/>
            </a:pPr>
            <a:r>
              <a:rPr lang="en-US" sz="1300" b="1" dirty="0">
                <a:solidFill>
                  <a:schemeClr val="tx2"/>
                </a:solidFill>
              </a:rPr>
              <a:t>5</a:t>
            </a:r>
            <a:endParaRPr lang="en-US" sz="1300" dirty="0"/>
          </a:p>
        </p:txBody>
      </p:sp>
      <p:sp>
        <p:nvSpPr>
          <p:cNvPr id="71" name="Text-1313"/>
          <p:cNvSpPr txBox="1"/>
          <p:nvPr/>
        </p:nvSpPr>
        <p:spPr>
          <a:xfrm>
            <a:off x="9006840" y="4736592"/>
            <a:ext cx="2450592" cy="502920"/>
          </a:xfrm>
          <a:prstGeom prst="rect">
            <a:avLst/>
          </a:prstGeom>
          <a:noFill/>
          <a:ln/>
        </p:spPr>
        <p:txBody>
          <a:bodyPr wrap="square" lIns="0" tIns="0" rIns="0" bIns="0" rtlCol="0" anchor="ctr"/>
          <a:lstStyle/>
          <a:p>
            <a:pPr indent="0" marL="0">
              <a:buNone/>
            </a:pPr>
            <a:r>
              <a:rPr lang="en-US" sz="1400" dirty="0">
                <a:solidFill>
                  <a:schemeClr val="bg1"/>
                </a:solidFill>
              </a:rPr>
              <a:t>Supervote by Clara</a:t>
            </a:r>
            <a:endParaRPr lang="en-US" sz="1400" dirty="0"/>
          </a:p>
        </p:txBody>
      </p:sp>
      <p:sp>
        <p:nvSpPr>
          <p:cNvPr id="72" name="Text-1314"/>
          <p:cNvSpPr txBox="1"/>
          <p:nvPr/>
        </p:nvSpPr>
        <p:spPr>
          <a:xfrm>
            <a:off x="8458200" y="5440680"/>
            <a:ext cx="2953512" cy="640080"/>
          </a:xfrm>
          <a:prstGeom prst="rect">
            <a:avLst/>
          </a:prstGeom>
          <a:noFill/>
          <a:ln/>
        </p:spPr>
        <p:txBody>
          <a:bodyPr wrap="square" lIns="0" tIns="0" rIns="0" bIns="0" rtlCol="0" anchor="t"/>
          <a:lstStyle/>
          <a:p>
            <a:pPr indent="0" marL="0">
              <a:buNone/>
            </a:pPr>
            <a:r>
              <a:rPr lang="en-US" sz="1100" i="1" dirty="0">
                <a:solidFill>
                  <a:schemeClr val="bg2"/>
                </a:solidFill>
              </a:rPr>
              <a:t>Coverage suggests: the renewal kit and the partnership statement answer the most sprint questions.</a:t>
            </a:r>
            <a:endParaRPr lang="en-US" sz="1100" dirty="0"/>
          </a:p>
        </p:txBody>
      </p:sp>
      <p:sp>
        <p:nvSpPr>
          <p:cNvPr id="73" name="Text-1315"/>
          <p:cNvSpPr txBox="1"/>
          <p:nvPr/>
        </p:nvSpPr>
        <p:spPr>
          <a:xfrm>
            <a:off x="548640" y="5989320"/>
            <a:ext cx="5486400" cy="274320"/>
          </a:xfrm>
          <a:prstGeom prst="rect">
            <a:avLst/>
          </a:prstGeom>
          <a:noFill/>
          <a:ln/>
        </p:spPr>
        <p:txBody>
          <a:bodyPr wrap="square" lIns="0" tIns="0" rIns="0" bIns="0" rtlCol="0" anchor="t"/>
          <a:lstStyle/>
          <a:p>
            <a:pPr indent="0" marL="0">
              <a:buNone/>
            </a:pPr>
            <a:r>
              <a:rPr lang="en-US" sz="1100" dirty="0">
                <a:solidFill>
                  <a:schemeClr val="accent6"/>
                </a:solidFill>
              </a:rPr>
              <a:t>● = concept answers the sprint question</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6858000" cy="457200"/>
          </a:xfrm>
          <a:prstGeom prst="rect">
            <a:avLst/>
          </a:prstGeom>
          <a:noFill/>
          <a:ln/>
        </p:spPr>
        <p:txBody>
          <a:bodyPr wrap="square" lIns="0" tIns="0" rIns="0" bIns="0" rtlCol="0" anchor="b"/>
          <a:lstStyle/>
          <a:p>
            <a:pPr indent="0" marL="0">
              <a:buNone/>
            </a:pPr>
            <a:r>
              <a:rPr lang="en-US" sz="1600" b="1" dirty="0">
                <a:solidFill>
                  <a:schemeClr val="accent2"/>
                </a:solidFill>
              </a:rPr>
              <a:t>PHASE 4</a:t>
            </a:r>
            <a:endParaRPr lang="en-US" sz="1600" dirty="0"/>
          </a:p>
        </p:txBody>
      </p:sp>
      <p:sp>
        <p:nvSpPr>
          <p:cNvPr id="3" name="Text 0"/>
          <p:cNvSpPr/>
          <p:nvPr>
            <p:ph idx="101" type="title" hasCustomPrompt="1"/>
          </p:nvPr>
        </p:nvSpPr>
        <p:spPr>
          <a:xfrm>
            <a:off x="731520" y="1874520"/>
            <a:ext cx="68580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Prepare the test</a:t>
            </a:r>
            <a:endParaRPr lang="en-US" sz="4400" dirty="0"/>
          </a:p>
        </p:txBody>
      </p:sp>
      <p:sp>
        <p:nvSpPr>
          <p:cNvPr id="4" name="Text 0"/>
          <p:cNvSpPr/>
          <p:nvPr>
            <p:ph idx="102" type="body" hasCustomPrompt="1"/>
          </p:nvPr>
        </p:nvSpPr>
        <p:spPr>
          <a:xfrm>
            <a:off x="731520" y="3200400"/>
            <a:ext cx="6858000" cy="2926080"/>
          </a:xfrm>
          <a:prstGeom prst="rect">
            <a:avLst/>
          </a:prstGeom>
          <a:noFill/>
          <a:ln/>
        </p:spPr>
        <p:txBody>
          <a:bodyPr wrap="square" lIns="0" tIns="0" rIns="0" bIns="0" rtlCol="0" anchor="t"/>
          <a:lstStyle/>
          <a:p>
            <a:pPr indent="0" marL="0">
              <a:spcAft>
                <a:spcPts val="600"/>
              </a:spcAft>
              <a:buNone/>
            </a:pPr>
            <a:r>
              <a:rPr lang="en-US" sz="1800" dirty="0">
                <a:solidFill>
                  <a:schemeClr val="bg2"/>
                </a:solidFill>
              </a:rPr>
              <a:t>4.1  Test candidate: renewal kit</a:t>
            </a:r>
            <a:endParaRPr lang="en-US" sz="1800" dirty="0"/>
          </a:p>
          <a:p>
            <a:pPr indent="0" marL="0">
              <a:spcAft>
                <a:spcPts val="600"/>
              </a:spcAft>
              <a:buNone/>
            </a:pPr>
            <a:r>
              <a:rPr lang="en-US" sz="1800" dirty="0">
                <a:solidFill>
                  <a:schemeClr val="bg2"/>
                </a:solidFill>
              </a:rPr>
              <a:t>4.2  Test guide: structure</a:t>
            </a:r>
            <a:endParaRPr lang="en-US" sz="1800" dirty="0"/>
          </a:p>
          <a:p>
            <a:pPr indent="0" marL="0">
              <a:spcAft>
                <a:spcPts val="600"/>
              </a:spcAft>
              <a:buNone/>
            </a:pPr>
            <a:r>
              <a:rPr lang="en-US" sz="1800" dirty="0">
                <a:solidFill>
                  <a:schemeClr val="bg2"/>
                </a:solidFill>
              </a:rPr>
              <a:t>4.3  Test guide: tasks &amp; questions</a:t>
            </a:r>
            <a:endParaRPr lang="en-US" sz="1800" dirty="0"/>
          </a:p>
          <a:p>
            <a:pPr indent="0" marL="0">
              <a:spcAft>
                <a:spcPts val="600"/>
              </a:spcAft>
              <a:buNone/>
            </a:pPr>
            <a:r>
              <a:rPr lang="en-US" sz="1800" dirty="0">
                <a:solidFill>
                  <a:schemeClr val="bg2"/>
                </a:solidFill>
              </a:rPr>
              <a:t>4.4  Personas for the interviews</a:t>
            </a:r>
            <a:endParaRPr lang="en-US" sz="1800" dirty="0"/>
          </a:p>
          <a:p>
            <a:pPr indent="0" marL="0">
              <a:spcAft>
                <a:spcPts val="600"/>
              </a:spcAft>
              <a:buNone/>
            </a:pPr>
            <a:r>
              <a:rPr lang="en-US" sz="1800" dirty="0">
                <a:solidFill>
                  <a:schemeClr val="bg2"/>
                </a:solidFill>
              </a:rPr>
              <a:t>4.5  Interview kick-off &amp; schedule</a:t>
            </a:r>
            <a:endParaRPr lang="en-US" sz="1800" dirty="0"/>
          </a:p>
        </p:txBody>
      </p:sp>
      <p:sp>
        <p:nvSpPr>
          <p:cNvPr id="5" name="Text-572"/>
          <p:cNvSpPr txBox="1"/>
          <p:nvPr/>
        </p:nvSpPr>
        <p:spPr>
          <a:xfrm>
            <a:off x="7680960" y="822960"/>
            <a:ext cx="3931920" cy="2743200"/>
          </a:xfrm>
          <a:prstGeom prst="rect">
            <a:avLst/>
          </a:prstGeom>
          <a:noFill/>
          <a:ln/>
        </p:spPr>
        <p:txBody>
          <a:bodyPr wrap="square" lIns="0" tIns="0" rIns="0" bIns="0" rtlCol="0" anchor="t"/>
          <a:lstStyle/>
          <a:p>
            <a:pPr algn="r" indent="0" marL="0">
              <a:buNone/>
            </a:pPr>
            <a:r>
              <a:rPr lang="en-US" sz="19000" b="1" dirty="0">
                <a:solidFill>
                  <a:schemeClr val="accent1"/>
                </a:solidFill>
                <a:latin typeface="Arial" pitchFamily="34" charset="0"/>
                <a:ea typeface="Arial" pitchFamily="34" charset="-122"/>
                <a:cs typeface="Arial" pitchFamily="34" charset="-120"/>
              </a:rPr>
              <a:t>04</a:t>
            </a:r>
            <a:endParaRPr lang="en-US" sz="19000" dirty="0"/>
          </a:p>
        </p:txBody>
      </p:sp>
      <p:sp>
        <p:nvSpPr>
          <p:cNvPr id="6" name="IconBg-573"/>
          <p:cNvSpPr/>
          <p:nvPr/>
        </p:nvSpPr>
        <p:spPr>
          <a:xfrm>
            <a:off x="10195560" y="4343400"/>
            <a:ext cx="1417320" cy="1417320"/>
          </a:xfrm>
          <a:prstGeom prst="ellipse">
            <a:avLst/>
          </a:prstGeom>
          <a:solidFill>
            <a:srgbClr val="F2C14E"/>
          </a:solidFill>
          <a:ln/>
        </p:spPr>
        <p:txBody>
          <a:bodyPr/>
          <a:p/>
        </p:txBody>
      </p:sp>
      <p:pic>
        <p:nvPicPr>
          <p:cNvPr id="7" name="Icon-574" descr="preencoded.png">    </p:cNvPr>
          <p:cNvPicPr>
            <a:picLocks noChangeAspect="1"/>
          </p:cNvPicPr>
          <p:nvPr/>
        </p:nvPicPr>
        <p:blipFill>
          <a:blip r:embed="rId1"/>
          <a:stretch>
            <a:fillRect/>
          </a:stretch>
        </p:blipFill>
        <p:spPr>
          <a:xfrm>
            <a:off x="10549890" y="4697730"/>
            <a:ext cx="708660" cy="7086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4 · STEP 4.1 · TEST CANDIDATE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What the test must find out about the renewal kit</a:t>
            </a:r>
            <a:endParaRPr lang="en-US" sz="3200" dirty="0"/>
          </a:p>
        </p:txBody>
      </p:sp>
      <p:sp>
        <p:nvSpPr>
          <p:cNvPr id="4" name="LTG-545"/>
          <p:cNvSpPr/>
          <p:nvPr/>
        </p:nvSpPr>
        <p:spPr>
          <a:xfrm>
            <a:off x="548640" y="1508760"/>
            <a:ext cx="4480560" cy="4709160"/>
          </a:xfrm>
          <a:prstGeom prst="roundRect">
            <a:avLst>
              <a:gd name="adj" fmla="val 1633"/>
            </a:avLst>
          </a:prstGeom>
          <a:solidFill>
            <a:schemeClr val="tx2"/>
          </a:solidFill>
          <a:ln/>
        </p:spPr>
        <p:txBody>
          <a:bodyPr/>
          <a:p/>
        </p:txBody>
      </p:sp>
      <p:sp>
        <p:nvSpPr>
          <p:cNvPr id="5" name="IconBg-546"/>
          <p:cNvSpPr/>
          <p:nvPr/>
        </p:nvSpPr>
        <p:spPr>
          <a:xfrm>
            <a:off x="777240" y="1737360"/>
            <a:ext cx="594360" cy="594360"/>
          </a:xfrm>
          <a:prstGeom prst="ellipse">
            <a:avLst/>
          </a:prstGeom>
          <a:solidFill>
            <a:srgbClr val="F2C14E"/>
          </a:solidFill>
          <a:ln/>
        </p:spPr>
        <p:txBody>
          <a:bodyPr/>
          <a:p/>
        </p:txBody>
      </p:sp>
      <p:pic>
        <p:nvPicPr>
          <p:cNvPr id="6" name="Icon-547" descr="preencoded.png">    </p:cNvPr>
          <p:cNvPicPr>
            <a:picLocks noChangeAspect="1"/>
          </p:cNvPicPr>
          <p:nvPr/>
        </p:nvPicPr>
        <p:blipFill>
          <a:blip r:embed="rId1"/>
          <a:stretch>
            <a:fillRect/>
          </a:stretch>
        </p:blipFill>
        <p:spPr>
          <a:xfrm>
            <a:off x="925830" y="1885950"/>
            <a:ext cx="297180" cy="297180"/>
          </a:xfrm>
          <a:prstGeom prst="rect">
            <a:avLst/>
          </a:prstGeom>
        </p:spPr>
      </p:pic>
      <p:sp>
        <p:nvSpPr>
          <p:cNvPr id="7" name="Text-548"/>
          <p:cNvSpPr txBox="1"/>
          <p:nvPr/>
        </p:nvSpPr>
        <p:spPr>
          <a:xfrm>
            <a:off x="1508760" y="1737360"/>
            <a:ext cx="3200400" cy="594360"/>
          </a:xfrm>
          <a:prstGeom prst="rect">
            <a:avLst/>
          </a:prstGeom>
          <a:noFill/>
          <a:ln/>
        </p:spPr>
        <p:txBody>
          <a:bodyPr wrap="square" lIns="0" tIns="0" rIns="0" bIns="0" rtlCol="0" anchor="ctr"/>
          <a:lstStyle/>
          <a:p>
            <a:pPr indent="0" marL="0">
              <a:buNone/>
            </a:pPr>
            <a:r>
              <a:rPr lang="en-US" sz="1300" b="1" dirty="0">
                <a:solidFill>
                  <a:schemeClr val="accent2"/>
                </a:solidFill>
              </a:rPr>
              <a:t>TEST CANDIDATE</a:t>
            </a:r>
            <a:endParaRPr lang="en-US" sz="1300" dirty="0"/>
          </a:p>
        </p:txBody>
      </p:sp>
      <p:sp>
        <p:nvSpPr>
          <p:cNvPr id="8" name="Text-549"/>
          <p:cNvSpPr txBox="1"/>
          <p:nvPr/>
        </p:nvSpPr>
        <p:spPr>
          <a:xfrm>
            <a:off x="777240" y="2514600"/>
            <a:ext cx="4023360" cy="2743200"/>
          </a:xfrm>
          <a:prstGeom prst="rect">
            <a:avLst/>
          </a:prstGeom>
          <a:noFill/>
          <a:ln/>
        </p:spPr>
        <p:txBody>
          <a:bodyPr wrap="square" lIns="0" tIns="0" rIns="0" bIns="0" rtlCol="0" anchor="t"/>
          <a:lstStyle/>
          <a:p>
            <a:pPr indent="0" marL="0">
              <a:buNone/>
            </a:pPr>
            <a:r>
              <a:rPr lang="en-US" sz="1900" b="1" dirty="0">
                <a:solidFill>
                  <a:schemeClr val="bg1"/>
                </a:solidFill>
              </a:rPr>
              <a:t>The renewal kit: 90 days before the agreement ends, a finished slide in the university's branding is ready – with savings, funder compliance and the university's own researchers at Lumen.</a:t>
            </a:r>
            <a:endParaRPr lang="en-US" sz="1900" dirty="0"/>
          </a:p>
        </p:txBody>
      </p:sp>
      <p:sp>
        <p:nvSpPr>
          <p:cNvPr id="9" name="Text-550"/>
          <p:cNvSpPr txBox="1"/>
          <p:nvPr/>
        </p:nvSpPr>
        <p:spPr>
          <a:xfrm>
            <a:off x="777240" y="5623560"/>
            <a:ext cx="4023360" cy="411480"/>
          </a:xfrm>
          <a:prstGeom prst="rect">
            <a:avLst/>
          </a:prstGeom>
          <a:noFill/>
          <a:ln/>
        </p:spPr>
        <p:txBody>
          <a:bodyPr wrap="square" lIns="0" tIns="0" rIns="0" bIns="0" rtlCol="0" anchor="t"/>
          <a:lstStyle/>
          <a:p>
            <a:pPr indent="0" marL="0">
              <a:buNone/>
            </a:pPr>
            <a:r>
              <a:rPr lang="en-US" sz="1100" i="1" dirty="0">
                <a:solidFill>
                  <a:schemeClr val="bg2"/>
                </a:solidFill>
              </a:rPr>
              <a:t>Provisional choice based on SQ coverage – Decide &amp; Align still to come</a:t>
            </a:r>
            <a:endParaRPr lang="en-US" sz="1100" dirty="0"/>
          </a:p>
        </p:txBody>
      </p:sp>
      <p:sp>
        <p:nvSpPr>
          <p:cNvPr id="10" name="Text-551"/>
          <p:cNvSpPr txBox="1"/>
          <p:nvPr/>
        </p:nvSpPr>
        <p:spPr>
          <a:xfrm>
            <a:off x="5303520" y="1463040"/>
            <a:ext cx="6309360" cy="292608"/>
          </a:xfrm>
          <a:prstGeom prst="rect">
            <a:avLst/>
          </a:prstGeom>
          <a:noFill/>
          <a:ln/>
        </p:spPr>
        <p:txBody>
          <a:bodyPr wrap="square" lIns="0" tIns="0" rIns="0" bIns="0" rtlCol="0" anchor="t"/>
          <a:lstStyle/>
          <a:p>
            <a:pPr indent="0" marL="0">
              <a:buNone/>
            </a:pPr>
            <a:r>
              <a:rPr lang="en-US" sz="1200" b="1" dirty="0">
                <a:solidFill>
                  <a:schemeClr val="accent6"/>
                </a:solidFill>
              </a:rPr>
              <a:t>WHAT TO OBSERVE IN THE TEST · “What do we need to see?”</a:t>
            </a:r>
            <a:endParaRPr lang="en-US" sz="1200" dirty="0"/>
          </a:p>
        </p:txBody>
      </p:sp>
      <p:sp>
        <p:nvSpPr>
          <p:cNvPr id="11" name="SQ-552"/>
          <p:cNvSpPr/>
          <p:nvPr/>
        </p:nvSpPr>
        <p:spPr>
          <a:xfrm>
            <a:off x="5303520" y="1847088"/>
            <a:ext cx="6336792" cy="795528"/>
          </a:xfrm>
          <a:prstGeom prst="roundRect">
            <a:avLst>
              <a:gd name="adj" fmla="val 9195"/>
            </a:avLst>
          </a:prstGeom>
          <a:solidFill>
            <a:schemeClr val="bg2"/>
          </a:solidFill>
          <a:ln/>
        </p:spPr>
        <p:txBody>
          <a:bodyPr/>
          <a:p/>
        </p:txBody>
      </p:sp>
      <p:sp>
        <p:nvSpPr>
          <p:cNvPr id="12" name="Circle-553"/>
          <p:cNvSpPr/>
          <p:nvPr/>
        </p:nvSpPr>
        <p:spPr>
          <a:xfrm>
            <a:off x="5468112" y="2011680"/>
            <a:ext cx="457200" cy="457200"/>
          </a:xfrm>
          <a:prstGeom prst="ellipse">
            <a:avLst/>
          </a:prstGeom>
          <a:solidFill>
            <a:schemeClr val="accent1"/>
          </a:solidFill>
          <a:ln/>
        </p:spPr>
        <p:txBody>
          <a:bodyPr/>
          <a:p/>
        </p:txBody>
      </p:sp>
      <p:sp>
        <p:nvSpPr>
          <p:cNvPr id="13" name="Text-554"/>
          <p:cNvSpPr txBox="1"/>
          <p:nvPr/>
        </p:nvSpPr>
        <p:spPr>
          <a:xfrm>
            <a:off x="5468112" y="201168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SQ1</a:t>
            </a:r>
            <a:endParaRPr lang="en-US" sz="1100" dirty="0"/>
          </a:p>
        </p:txBody>
      </p:sp>
      <p:sp>
        <p:nvSpPr>
          <p:cNvPr id="14" name="Text-555"/>
          <p:cNvSpPr txBox="1"/>
          <p:nvPr/>
        </p:nvSpPr>
        <p:spPr>
          <a:xfrm>
            <a:off x="6080760" y="1847088"/>
            <a:ext cx="5440680" cy="795528"/>
          </a:xfrm>
          <a:prstGeom prst="rect">
            <a:avLst/>
          </a:prstGeom>
          <a:noFill/>
          <a:ln/>
        </p:spPr>
        <p:txBody>
          <a:bodyPr wrap="square" lIns="0" tIns="0" rIns="0" bIns="0" rtlCol="0" anchor="ctr"/>
          <a:lstStyle/>
          <a:p>
            <a:pPr indent="0" marL="0">
              <a:buNone/>
            </a:pPr>
            <a:r>
              <a:rPr lang="en-US" sz="1500" dirty="0">
                <a:solidFill>
                  <a:schemeClr val="tx1"/>
                </a:solidFill>
              </a:rPr>
              <a:t>Do Miriam and Jonas forward the kit unchanged – or rework it?</a:t>
            </a:r>
            <a:endParaRPr lang="en-US" sz="1500" dirty="0"/>
          </a:p>
        </p:txBody>
      </p:sp>
      <p:sp>
        <p:nvSpPr>
          <p:cNvPr id="15" name="SQ-556"/>
          <p:cNvSpPr/>
          <p:nvPr/>
        </p:nvSpPr>
        <p:spPr>
          <a:xfrm>
            <a:off x="5303520" y="2734056"/>
            <a:ext cx="6336792" cy="795528"/>
          </a:xfrm>
          <a:prstGeom prst="roundRect">
            <a:avLst>
              <a:gd name="adj" fmla="val 9195"/>
            </a:avLst>
          </a:prstGeom>
          <a:solidFill>
            <a:schemeClr val="bg2"/>
          </a:solidFill>
          <a:ln/>
        </p:spPr>
        <p:txBody>
          <a:bodyPr/>
          <a:p/>
        </p:txBody>
      </p:sp>
      <p:sp>
        <p:nvSpPr>
          <p:cNvPr id="16" name="Circle-557"/>
          <p:cNvSpPr/>
          <p:nvPr/>
        </p:nvSpPr>
        <p:spPr>
          <a:xfrm>
            <a:off x="5468112" y="2898648"/>
            <a:ext cx="457200" cy="457200"/>
          </a:xfrm>
          <a:prstGeom prst="ellipse">
            <a:avLst/>
          </a:prstGeom>
          <a:solidFill>
            <a:schemeClr val="accent1"/>
          </a:solidFill>
          <a:ln/>
        </p:spPr>
        <p:txBody>
          <a:bodyPr/>
          <a:p/>
        </p:txBody>
      </p:sp>
      <p:sp>
        <p:nvSpPr>
          <p:cNvPr id="17" name="Text-558"/>
          <p:cNvSpPr txBox="1"/>
          <p:nvPr/>
        </p:nvSpPr>
        <p:spPr>
          <a:xfrm>
            <a:off x="5468112" y="2898648"/>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SQ2</a:t>
            </a:r>
            <a:endParaRPr lang="en-US" sz="1100" dirty="0"/>
          </a:p>
        </p:txBody>
      </p:sp>
      <p:sp>
        <p:nvSpPr>
          <p:cNvPr id="18" name="Text-559"/>
          <p:cNvSpPr txBox="1"/>
          <p:nvPr/>
        </p:nvSpPr>
        <p:spPr>
          <a:xfrm>
            <a:off x="6080760" y="2734056"/>
            <a:ext cx="5440680" cy="795528"/>
          </a:xfrm>
          <a:prstGeom prst="rect">
            <a:avLst/>
          </a:prstGeom>
          <a:noFill/>
          <a:ln/>
        </p:spPr>
        <p:txBody>
          <a:bodyPr wrap="square" lIns="0" tIns="0" rIns="0" bIns="0" rtlCol="0" anchor="ctr"/>
          <a:lstStyle/>
          <a:p>
            <a:pPr indent="0" marL="0">
              <a:buNone/>
            </a:pPr>
            <a:r>
              <a:rPr lang="en-US" sz="1500" dirty="0">
                <a:solidFill>
                  <a:schemeClr val="tx1"/>
                </a:solidFill>
              </a:rPr>
              <a:t>Do Rainer and Sabine ask about the method – and is the link enough for them?</a:t>
            </a:r>
            <a:endParaRPr lang="en-US" sz="1500" dirty="0"/>
          </a:p>
        </p:txBody>
      </p:sp>
      <p:sp>
        <p:nvSpPr>
          <p:cNvPr id="19" name="SQ-560"/>
          <p:cNvSpPr/>
          <p:nvPr/>
        </p:nvSpPr>
        <p:spPr>
          <a:xfrm>
            <a:off x="5303520" y="3621024"/>
            <a:ext cx="6336792" cy="795528"/>
          </a:xfrm>
          <a:prstGeom prst="roundRect">
            <a:avLst>
              <a:gd name="adj" fmla="val 9195"/>
            </a:avLst>
          </a:prstGeom>
          <a:solidFill>
            <a:schemeClr val="bg2"/>
          </a:solidFill>
          <a:ln/>
        </p:spPr>
        <p:txBody>
          <a:bodyPr/>
          <a:p/>
        </p:txBody>
      </p:sp>
      <p:sp>
        <p:nvSpPr>
          <p:cNvPr id="20" name="Circle-561"/>
          <p:cNvSpPr/>
          <p:nvPr/>
        </p:nvSpPr>
        <p:spPr>
          <a:xfrm>
            <a:off x="5468112" y="3785616"/>
            <a:ext cx="457200" cy="457200"/>
          </a:xfrm>
          <a:prstGeom prst="ellipse">
            <a:avLst/>
          </a:prstGeom>
          <a:solidFill>
            <a:schemeClr val="accent1"/>
          </a:solidFill>
          <a:ln/>
        </p:spPr>
        <p:txBody>
          <a:bodyPr/>
          <a:p/>
        </p:txBody>
      </p:sp>
      <p:sp>
        <p:nvSpPr>
          <p:cNvPr id="21" name="Text-562"/>
          <p:cNvSpPr txBox="1"/>
          <p:nvPr/>
        </p:nvSpPr>
        <p:spPr>
          <a:xfrm>
            <a:off x="5468112" y="3785616"/>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SQ3</a:t>
            </a:r>
            <a:endParaRPr lang="en-US" sz="1100" dirty="0"/>
          </a:p>
        </p:txBody>
      </p:sp>
      <p:sp>
        <p:nvSpPr>
          <p:cNvPr id="22" name="Text-563"/>
          <p:cNvSpPr txBox="1"/>
          <p:nvPr/>
        </p:nvSpPr>
        <p:spPr>
          <a:xfrm>
            <a:off x="6080760" y="3621024"/>
            <a:ext cx="5440680" cy="795528"/>
          </a:xfrm>
          <a:prstGeom prst="rect">
            <a:avLst/>
          </a:prstGeom>
          <a:noFill/>
          <a:ln/>
        </p:spPr>
        <p:txBody>
          <a:bodyPr wrap="square" lIns="0" tIns="0" rIns="0" bIns="0" rtlCol="0" anchor="ctr"/>
          <a:lstStyle/>
          <a:p>
            <a:pPr indent="0" marL="0">
              <a:buNone/>
            </a:pPr>
            <a:r>
              <a:rPr lang="en-US" sz="1500" dirty="0">
                <a:solidFill>
                  <a:schemeClr val="tx1"/>
                </a:solidFill>
              </a:rPr>
              <a:t>Which tile do decision-makers read first: savings, compliance or people?</a:t>
            </a:r>
            <a:endParaRPr lang="en-US" sz="1500" dirty="0"/>
          </a:p>
        </p:txBody>
      </p:sp>
      <p:sp>
        <p:nvSpPr>
          <p:cNvPr id="23" name="SQ-564"/>
          <p:cNvSpPr/>
          <p:nvPr/>
        </p:nvSpPr>
        <p:spPr>
          <a:xfrm>
            <a:off x="5303520" y="4507992"/>
            <a:ext cx="6336792" cy="795528"/>
          </a:xfrm>
          <a:prstGeom prst="roundRect">
            <a:avLst>
              <a:gd name="adj" fmla="val 9195"/>
            </a:avLst>
          </a:prstGeom>
          <a:solidFill>
            <a:schemeClr val="bg2"/>
          </a:solidFill>
          <a:ln/>
        </p:spPr>
        <p:txBody>
          <a:bodyPr/>
          <a:p/>
        </p:txBody>
      </p:sp>
      <p:sp>
        <p:nvSpPr>
          <p:cNvPr id="24" name="Circle-565"/>
          <p:cNvSpPr/>
          <p:nvPr/>
        </p:nvSpPr>
        <p:spPr>
          <a:xfrm>
            <a:off x="5468112" y="4672584"/>
            <a:ext cx="457200" cy="457200"/>
          </a:xfrm>
          <a:prstGeom prst="ellipse">
            <a:avLst/>
          </a:prstGeom>
          <a:solidFill>
            <a:schemeClr val="accent1"/>
          </a:solidFill>
          <a:ln/>
        </p:spPr>
        <p:txBody>
          <a:bodyPr/>
          <a:p/>
        </p:txBody>
      </p:sp>
      <p:sp>
        <p:nvSpPr>
          <p:cNvPr id="25" name="Text-566"/>
          <p:cNvSpPr txBox="1"/>
          <p:nvPr/>
        </p:nvSpPr>
        <p:spPr>
          <a:xfrm>
            <a:off x="5468112" y="4672584"/>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SQ4</a:t>
            </a:r>
            <a:endParaRPr lang="en-US" sz="1100" dirty="0"/>
          </a:p>
        </p:txBody>
      </p:sp>
      <p:sp>
        <p:nvSpPr>
          <p:cNvPr id="26" name="Text-567"/>
          <p:cNvSpPr txBox="1"/>
          <p:nvPr/>
        </p:nvSpPr>
        <p:spPr>
          <a:xfrm>
            <a:off x="6080760" y="4507992"/>
            <a:ext cx="5440680" cy="795528"/>
          </a:xfrm>
          <a:prstGeom prst="rect">
            <a:avLst/>
          </a:prstGeom>
          <a:noFill/>
          <a:ln/>
        </p:spPr>
        <p:txBody>
          <a:bodyPr wrap="square" lIns="0" tIns="0" rIns="0" bIns="0" rtlCol="0" anchor="ctr"/>
          <a:lstStyle/>
          <a:p>
            <a:pPr indent="0" marL="0">
              <a:buNone/>
            </a:pPr>
            <a:r>
              <a:rPr lang="en-US" sz="1500" dirty="0">
                <a:solidFill>
                  <a:schemeClr val="tx1"/>
                </a:solidFill>
              </a:rPr>
              <a:t>Do they miss details Manuscripta can't provide, so someone adds them by hand?</a:t>
            </a:r>
            <a:endParaRPr lang="en-US" sz="1500" dirty="0"/>
          </a:p>
        </p:txBody>
      </p:sp>
      <p:sp>
        <p:nvSpPr>
          <p:cNvPr id="27" name="SQ-568"/>
          <p:cNvSpPr/>
          <p:nvPr/>
        </p:nvSpPr>
        <p:spPr>
          <a:xfrm>
            <a:off x="5303520" y="5394960"/>
            <a:ext cx="6336792" cy="795528"/>
          </a:xfrm>
          <a:prstGeom prst="roundRect">
            <a:avLst>
              <a:gd name="adj" fmla="val 9195"/>
            </a:avLst>
          </a:prstGeom>
          <a:solidFill>
            <a:schemeClr val="bg2"/>
          </a:solidFill>
          <a:ln/>
        </p:spPr>
        <p:txBody>
          <a:bodyPr/>
          <a:p/>
        </p:txBody>
      </p:sp>
      <p:sp>
        <p:nvSpPr>
          <p:cNvPr id="28" name="Circle-569"/>
          <p:cNvSpPr/>
          <p:nvPr/>
        </p:nvSpPr>
        <p:spPr>
          <a:xfrm>
            <a:off x="5468112" y="5559552"/>
            <a:ext cx="457200" cy="457200"/>
          </a:xfrm>
          <a:prstGeom prst="ellipse">
            <a:avLst/>
          </a:prstGeom>
          <a:solidFill>
            <a:schemeClr val="accent1"/>
          </a:solidFill>
          <a:ln/>
        </p:spPr>
        <p:txBody>
          <a:bodyPr/>
          <a:p/>
        </p:txBody>
      </p:sp>
      <p:sp>
        <p:nvSpPr>
          <p:cNvPr id="29" name="Text-570"/>
          <p:cNvSpPr txBox="1"/>
          <p:nvPr/>
        </p:nvSpPr>
        <p:spPr>
          <a:xfrm>
            <a:off x="5468112" y="5559552"/>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SQ5</a:t>
            </a:r>
            <a:endParaRPr lang="en-US" sz="1100" dirty="0"/>
          </a:p>
        </p:txBody>
      </p:sp>
      <p:sp>
        <p:nvSpPr>
          <p:cNvPr id="30" name="Text-571"/>
          <p:cNvSpPr txBox="1"/>
          <p:nvPr/>
        </p:nvSpPr>
        <p:spPr>
          <a:xfrm>
            <a:off x="6080760" y="5394960"/>
            <a:ext cx="5440680" cy="795528"/>
          </a:xfrm>
          <a:prstGeom prst="rect">
            <a:avLst/>
          </a:prstGeom>
          <a:noFill/>
          <a:ln/>
        </p:spPr>
        <p:txBody>
          <a:bodyPr wrap="square" lIns="0" tIns="0" rIns="0" bIns="0" rtlCol="0" anchor="ctr"/>
          <a:lstStyle/>
          <a:p>
            <a:pPr indent="0" marL="0">
              <a:buNone/>
            </a:pPr>
            <a:r>
              <a:rPr lang="en-US" sz="1500" dirty="0">
                <a:solidFill>
                  <a:schemeClr val="tx1"/>
                </a:solidFill>
              </a:rPr>
              <a:t>Does the kit prompt a question about expanding, e.g. more prepayment?</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18</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4 · STEP 4.2 · TEST GUIDE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One session, four parts, 50 minutes</a:t>
            </a:r>
            <a:endParaRPr lang="en-US" sz="3200" dirty="0"/>
          </a:p>
        </p:txBody>
      </p:sp>
      <p:sp>
        <p:nvSpPr>
          <p:cNvPr id="4" name="PartCard-641"/>
          <p:cNvSpPr/>
          <p:nvPr/>
        </p:nvSpPr>
        <p:spPr>
          <a:xfrm>
            <a:off x="548640" y="1554480"/>
            <a:ext cx="2514600" cy="3337560"/>
          </a:xfrm>
          <a:prstGeom prst="roundRect">
            <a:avLst>
              <a:gd name="adj" fmla="val 2909"/>
            </a:avLst>
          </a:prstGeom>
          <a:solidFill>
            <a:schemeClr val="bg2"/>
          </a:solidFill>
          <a:ln/>
        </p:spPr>
        <p:txBody>
          <a:bodyPr/>
          <a:p/>
        </p:txBody>
      </p:sp>
      <p:sp>
        <p:nvSpPr>
          <p:cNvPr id="5" name="IconBg-642"/>
          <p:cNvSpPr/>
          <p:nvPr/>
        </p:nvSpPr>
        <p:spPr>
          <a:xfrm>
            <a:off x="749808" y="1755648"/>
            <a:ext cx="640080" cy="640080"/>
          </a:xfrm>
          <a:prstGeom prst="ellipse">
            <a:avLst/>
          </a:prstGeom>
          <a:solidFill>
            <a:srgbClr val="1F7A8C"/>
          </a:solidFill>
          <a:ln/>
        </p:spPr>
        <p:txBody>
          <a:bodyPr/>
          <a:p/>
        </p:txBody>
      </p:sp>
      <p:pic>
        <p:nvPicPr>
          <p:cNvPr id="6" name="Icon-643" descr="preencoded.png">    </p:cNvPr>
          <p:cNvPicPr>
            <a:picLocks noChangeAspect="1"/>
          </p:cNvPicPr>
          <p:nvPr/>
        </p:nvPicPr>
        <p:blipFill>
          <a:blip r:embed="rId1"/>
          <a:stretch>
            <a:fillRect/>
          </a:stretch>
        </p:blipFill>
        <p:spPr>
          <a:xfrm>
            <a:off x="909828" y="1915668"/>
            <a:ext cx="320040" cy="320040"/>
          </a:xfrm>
          <a:prstGeom prst="rect">
            <a:avLst/>
          </a:prstGeom>
        </p:spPr>
      </p:pic>
      <p:sp>
        <p:nvSpPr>
          <p:cNvPr id="7" name="Text-644"/>
          <p:cNvSpPr txBox="1"/>
          <p:nvPr/>
        </p:nvSpPr>
        <p:spPr>
          <a:xfrm>
            <a:off x="1874520" y="1783080"/>
            <a:ext cx="1005840" cy="548640"/>
          </a:xfrm>
          <a:prstGeom prst="rect">
            <a:avLst/>
          </a:prstGeom>
          <a:noFill/>
          <a:ln/>
        </p:spPr>
        <p:txBody>
          <a:bodyPr wrap="square" lIns="0" tIns="0" rIns="0" bIns="0" rtlCol="0" anchor="t"/>
          <a:lstStyle/>
          <a:p>
            <a:pPr algn="r" indent="0" marL="0">
              <a:buNone/>
            </a:pPr>
            <a:r>
              <a:rPr lang="en-US" sz="2200" b="1" dirty="0">
                <a:solidFill>
                  <a:schemeClr val="accent1"/>
                </a:solidFill>
                <a:latin typeface="Arial" pitchFamily="34" charset="0"/>
                <a:ea typeface="Arial" pitchFamily="34" charset="-122"/>
                <a:cs typeface="Arial" pitchFamily="34" charset="-120"/>
              </a:rPr>
              <a:t>5 min</a:t>
            </a:r>
            <a:endParaRPr lang="en-US" sz="2200" dirty="0"/>
          </a:p>
        </p:txBody>
      </p:sp>
      <p:sp>
        <p:nvSpPr>
          <p:cNvPr id="8" name="Text-645"/>
          <p:cNvSpPr txBox="1"/>
          <p:nvPr/>
        </p:nvSpPr>
        <p:spPr>
          <a:xfrm>
            <a:off x="749808" y="25603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1. Welcome</a:t>
            </a:r>
            <a:endParaRPr lang="en-US" sz="1800" dirty="0"/>
          </a:p>
        </p:txBody>
      </p:sp>
      <p:sp>
        <p:nvSpPr>
          <p:cNvPr id="9" name="Text-646"/>
          <p:cNvSpPr txBox="1"/>
          <p:nvPr/>
        </p:nvSpPr>
        <p:spPr>
          <a:xfrm>
            <a:off x="749808" y="3017520"/>
            <a:ext cx="2112264" cy="1737360"/>
          </a:xfrm>
          <a:prstGeom prst="rect">
            <a:avLst/>
          </a:prstGeom>
          <a:noFill/>
          <a:ln/>
        </p:spPr>
        <p:txBody>
          <a:bodyPr wrap="square" lIns="0" tIns="0" rIns="0" bIns="0" rtlCol="0" anchor="t"/>
          <a:lstStyle/>
          <a:p>
            <a:pPr indent="0" marL="0">
              <a:buNone/>
            </a:pPr>
            <a:r>
              <a:rPr lang="en-US" sz="1400" dirty="0">
                <a:solidFill>
                  <a:schemeClr val="tx1"/>
                </a:solidFill>
              </a:rPr>
              <a:t>Introduce the session, ask for consent to record, explain thinking aloud.</a:t>
            </a:r>
            <a:endParaRPr lang="en-US" sz="1400" dirty="0"/>
          </a:p>
        </p:txBody>
      </p:sp>
      <p:sp>
        <p:nvSpPr>
          <p:cNvPr id="10" name="Line-647"/>
          <p:cNvSpPr/>
          <p:nvPr/>
        </p:nvSpPr>
        <p:spPr>
          <a:xfrm>
            <a:off x="3108960" y="3200400"/>
            <a:ext cx="253289" cy="0"/>
          </a:xfrm>
          <a:prstGeom prst="line">
            <a:avLst/>
          </a:prstGeom>
          <a:noFill/>
          <a:ln w="25400">
            <a:solidFill>
              <a:srgbClr val="0F3B45"/>
            </a:solidFill>
            <a:prstDash val="solid"/>
            <a:tailEnd type="triangle"/>
          </a:ln>
        </p:spPr>
        <p:txBody>
          <a:bodyPr/>
          <a:p/>
        </p:txBody>
      </p:sp>
      <p:sp>
        <p:nvSpPr>
          <p:cNvPr id="11" name="PartCard-648"/>
          <p:cNvSpPr/>
          <p:nvPr/>
        </p:nvSpPr>
        <p:spPr>
          <a:xfrm>
            <a:off x="3407969" y="1554480"/>
            <a:ext cx="2514600" cy="3337560"/>
          </a:xfrm>
          <a:prstGeom prst="roundRect">
            <a:avLst>
              <a:gd name="adj" fmla="val 2909"/>
            </a:avLst>
          </a:prstGeom>
          <a:solidFill>
            <a:schemeClr val="bg2"/>
          </a:solidFill>
          <a:ln/>
        </p:spPr>
        <p:txBody>
          <a:bodyPr/>
          <a:p/>
        </p:txBody>
      </p:sp>
      <p:sp>
        <p:nvSpPr>
          <p:cNvPr id="12" name="IconBg-649"/>
          <p:cNvSpPr/>
          <p:nvPr/>
        </p:nvSpPr>
        <p:spPr>
          <a:xfrm>
            <a:off x="3609137" y="1755648"/>
            <a:ext cx="640080" cy="640080"/>
          </a:xfrm>
          <a:prstGeom prst="ellipse">
            <a:avLst/>
          </a:prstGeom>
          <a:solidFill>
            <a:srgbClr val="1F7A8C"/>
          </a:solidFill>
          <a:ln/>
        </p:spPr>
        <p:txBody>
          <a:bodyPr/>
          <a:p/>
        </p:txBody>
      </p:sp>
      <p:pic>
        <p:nvPicPr>
          <p:cNvPr id="13" name="Icon-650" descr="preencoded.png">    </p:cNvPr>
          <p:cNvPicPr>
            <a:picLocks noChangeAspect="1"/>
          </p:cNvPicPr>
          <p:nvPr/>
        </p:nvPicPr>
        <p:blipFill>
          <a:blip r:embed="rId2"/>
          <a:stretch>
            <a:fillRect/>
          </a:stretch>
        </p:blipFill>
        <p:spPr>
          <a:xfrm>
            <a:off x="3769157" y="1915668"/>
            <a:ext cx="320040" cy="320040"/>
          </a:xfrm>
          <a:prstGeom prst="rect">
            <a:avLst/>
          </a:prstGeom>
        </p:spPr>
      </p:pic>
      <p:sp>
        <p:nvSpPr>
          <p:cNvPr id="14" name="Text-651"/>
          <p:cNvSpPr txBox="1"/>
          <p:nvPr/>
        </p:nvSpPr>
        <p:spPr>
          <a:xfrm>
            <a:off x="4733849" y="1783080"/>
            <a:ext cx="1005840" cy="548640"/>
          </a:xfrm>
          <a:prstGeom prst="rect">
            <a:avLst/>
          </a:prstGeom>
          <a:noFill/>
          <a:ln/>
        </p:spPr>
        <p:txBody>
          <a:bodyPr wrap="square" lIns="0" tIns="0" rIns="0" bIns="0" rtlCol="0" anchor="t"/>
          <a:lstStyle/>
          <a:p>
            <a:pPr algn="r" indent="0" marL="0">
              <a:buNone/>
            </a:pPr>
            <a:r>
              <a:rPr lang="en-US" sz="2200" b="1" dirty="0">
                <a:solidFill>
                  <a:schemeClr val="accent1"/>
                </a:solidFill>
                <a:latin typeface="Arial" pitchFamily="34" charset="0"/>
                <a:ea typeface="Arial" pitchFamily="34" charset="-122"/>
                <a:cs typeface="Arial" pitchFamily="34" charset="-120"/>
              </a:rPr>
              <a:t>10 min</a:t>
            </a:r>
            <a:endParaRPr lang="en-US" sz="2200" dirty="0"/>
          </a:p>
        </p:txBody>
      </p:sp>
      <p:sp>
        <p:nvSpPr>
          <p:cNvPr id="15" name="Text-652"/>
          <p:cNvSpPr txBox="1"/>
          <p:nvPr/>
        </p:nvSpPr>
        <p:spPr>
          <a:xfrm>
            <a:off x="3609137" y="25603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2. Context</a:t>
            </a:r>
            <a:endParaRPr lang="en-US" sz="1800" dirty="0"/>
          </a:p>
        </p:txBody>
      </p:sp>
      <p:sp>
        <p:nvSpPr>
          <p:cNvPr id="16" name="Text-653"/>
          <p:cNvSpPr txBox="1"/>
          <p:nvPr/>
        </p:nvSpPr>
        <p:spPr>
          <a:xfrm>
            <a:off x="3609137" y="3017520"/>
            <a:ext cx="2112264" cy="1737360"/>
          </a:xfrm>
          <a:prstGeom prst="rect">
            <a:avLst/>
          </a:prstGeom>
          <a:noFill/>
          <a:ln/>
        </p:spPr>
        <p:txBody>
          <a:bodyPr wrap="square" lIns="0" tIns="0" rIns="0" bIns="0" rtlCol="0" anchor="t"/>
          <a:lstStyle/>
          <a:p>
            <a:pPr indent="0" marL="0">
              <a:buNone/>
            </a:pPr>
            <a:r>
              <a:rPr lang="en-US" sz="1400" dirty="0">
                <a:solidFill>
                  <a:schemeClr val="tx1"/>
                </a:solidFill>
              </a:rPr>
              <a:t>Role, the last renewal, who decided and what convinced them.</a:t>
            </a:r>
            <a:endParaRPr lang="en-US" sz="1400" dirty="0"/>
          </a:p>
        </p:txBody>
      </p:sp>
      <p:sp>
        <p:nvSpPr>
          <p:cNvPr id="17" name="Line-654"/>
          <p:cNvSpPr/>
          <p:nvPr/>
        </p:nvSpPr>
        <p:spPr>
          <a:xfrm>
            <a:off x="5968289" y="3200400"/>
            <a:ext cx="253289" cy="0"/>
          </a:xfrm>
          <a:prstGeom prst="line">
            <a:avLst/>
          </a:prstGeom>
          <a:noFill/>
          <a:ln w="25400">
            <a:solidFill>
              <a:srgbClr val="0F3B45"/>
            </a:solidFill>
            <a:prstDash val="solid"/>
            <a:tailEnd type="triangle"/>
          </a:ln>
        </p:spPr>
        <p:txBody>
          <a:bodyPr/>
          <a:p/>
        </p:txBody>
      </p:sp>
      <p:sp>
        <p:nvSpPr>
          <p:cNvPr id="18" name="PartCard-655"/>
          <p:cNvSpPr/>
          <p:nvPr/>
        </p:nvSpPr>
        <p:spPr>
          <a:xfrm>
            <a:off x="6267298" y="1554480"/>
            <a:ext cx="2514600" cy="3337560"/>
          </a:xfrm>
          <a:prstGeom prst="roundRect">
            <a:avLst>
              <a:gd name="adj" fmla="val 2909"/>
            </a:avLst>
          </a:prstGeom>
          <a:solidFill>
            <a:schemeClr val="bg2"/>
          </a:solidFill>
          <a:ln/>
        </p:spPr>
        <p:txBody>
          <a:bodyPr/>
          <a:p/>
        </p:txBody>
      </p:sp>
      <p:sp>
        <p:nvSpPr>
          <p:cNvPr id="19" name="IconBg-656"/>
          <p:cNvSpPr/>
          <p:nvPr/>
        </p:nvSpPr>
        <p:spPr>
          <a:xfrm>
            <a:off x="6468466" y="1755648"/>
            <a:ext cx="640080" cy="640080"/>
          </a:xfrm>
          <a:prstGeom prst="ellipse">
            <a:avLst/>
          </a:prstGeom>
          <a:solidFill>
            <a:srgbClr val="1F7A8C"/>
          </a:solidFill>
          <a:ln/>
        </p:spPr>
        <p:txBody>
          <a:bodyPr/>
          <a:p/>
        </p:txBody>
      </p:sp>
      <p:pic>
        <p:nvPicPr>
          <p:cNvPr id="20" name="Icon-657" descr="preencoded.png">    </p:cNvPr>
          <p:cNvPicPr>
            <a:picLocks noChangeAspect="1"/>
          </p:cNvPicPr>
          <p:nvPr/>
        </p:nvPicPr>
        <p:blipFill>
          <a:blip r:embed="rId3"/>
          <a:stretch>
            <a:fillRect/>
          </a:stretch>
        </p:blipFill>
        <p:spPr>
          <a:xfrm>
            <a:off x="6628486" y="1915668"/>
            <a:ext cx="320040" cy="320040"/>
          </a:xfrm>
          <a:prstGeom prst="rect">
            <a:avLst/>
          </a:prstGeom>
        </p:spPr>
      </p:pic>
      <p:sp>
        <p:nvSpPr>
          <p:cNvPr id="21" name="Text-658"/>
          <p:cNvSpPr txBox="1"/>
          <p:nvPr/>
        </p:nvSpPr>
        <p:spPr>
          <a:xfrm>
            <a:off x="7593178" y="1783080"/>
            <a:ext cx="1005840" cy="548640"/>
          </a:xfrm>
          <a:prstGeom prst="rect">
            <a:avLst/>
          </a:prstGeom>
          <a:noFill/>
          <a:ln/>
        </p:spPr>
        <p:txBody>
          <a:bodyPr wrap="square" lIns="0" tIns="0" rIns="0" bIns="0" rtlCol="0" anchor="t"/>
          <a:lstStyle/>
          <a:p>
            <a:pPr algn="r" indent="0" marL="0">
              <a:buNone/>
            </a:pPr>
            <a:r>
              <a:rPr lang="en-US" sz="2200" b="1" dirty="0">
                <a:solidFill>
                  <a:schemeClr val="accent1"/>
                </a:solidFill>
                <a:latin typeface="Arial" pitchFamily="34" charset="0"/>
                <a:ea typeface="Arial" pitchFamily="34" charset="-122"/>
                <a:cs typeface="Arial" pitchFamily="34" charset="-120"/>
              </a:rPr>
              <a:t>25 min</a:t>
            </a:r>
            <a:endParaRPr lang="en-US" sz="2200" dirty="0"/>
          </a:p>
        </p:txBody>
      </p:sp>
      <p:sp>
        <p:nvSpPr>
          <p:cNvPr id="22" name="Text-659"/>
          <p:cNvSpPr txBox="1"/>
          <p:nvPr/>
        </p:nvSpPr>
        <p:spPr>
          <a:xfrm>
            <a:off x="6468466" y="25603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3. Prototype tasks</a:t>
            </a:r>
            <a:endParaRPr lang="en-US" sz="1800" dirty="0"/>
          </a:p>
        </p:txBody>
      </p:sp>
      <p:sp>
        <p:nvSpPr>
          <p:cNvPr id="23" name="Text-660"/>
          <p:cNvSpPr txBox="1"/>
          <p:nvPr/>
        </p:nvSpPr>
        <p:spPr>
          <a:xfrm>
            <a:off x="6468466" y="3017520"/>
            <a:ext cx="2112264" cy="1737360"/>
          </a:xfrm>
          <a:prstGeom prst="rect">
            <a:avLst/>
          </a:prstGeom>
          <a:noFill/>
          <a:ln/>
        </p:spPr>
        <p:txBody>
          <a:bodyPr wrap="square" lIns="0" tIns="0" rIns="0" bIns="0" rtlCol="0" anchor="t"/>
          <a:lstStyle/>
          <a:p>
            <a:pPr indent="0" marL="0">
              <a:buNone/>
            </a:pPr>
            <a:r>
              <a:rPr lang="en-US" sz="1400" dirty="0">
                <a:solidFill>
                  <a:schemeClr val="tx1"/>
                </a:solidFill>
              </a:rPr>
              <a:t>Three tasks with the renewal kit, in the persona's own workflow.</a:t>
            </a:r>
            <a:endParaRPr lang="en-US" sz="1400" dirty="0"/>
          </a:p>
        </p:txBody>
      </p:sp>
      <p:sp>
        <p:nvSpPr>
          <p:cNvPr id="24" name="Line-661"/>
          <p:cNvSpPr/>
          <p:nvPr/>
        </p:nvSpPr>
        <p:spPr>
          <a:xfrm>
            <a:off x="8827618" y="3200400"/>
            <a:ext cx="253289" cy="0"/>
          </a:xfrm>
          <a:prstGeom prst="line">
            <a:avLst/>
          </a:prstGeom>
          <a:noFill/>
          <a:ln w="25400">
            <a:solidFill>
              <a:srgbClr val="0F3B45"/>
            </a:solidFill>
            <a:prstDash val="solid"/>
            <a:tailEnd type="triangle"/>
          </a:ln>
        </p:spPr>
        <p:txBody>
          <a:bodyPr/>
          <a:p/>
        </p:txBody>
      </p:sp>
      <p:sp>
        <p:nvSpPr>
          <p:cNvPr id="25" name="PartCard-662"/>
          <p:cNvSpPr/>
          <p:nvPr/>
        </p:nvSpPr>
        <p:spPr>
          <a:xfrm>
            <a:off x="9126626" y="1554480"/>
            <a:ext cx="2514600" cy="3337560"/>
          </a:xfrm>
          <a:prstGeom prst="roundRect">
            <a:avLst>
              <a:gd name="adj" fmla="val 2909"/>
            </a:avLst>
          </a:prstGeom>
          <a:solidFill>
            <a:schemeClr val="bg2"/>
          </a:solidFill>
          <a:ln/>
        </p:spPr>
        <p:txBody>
          <a:bodyPr/>
          <a:p/>
        </p:txBody>
      </p:sp>
      <p:sp>
        <p:nvSpPr>
          <p:cNvPr id="26" name="IconBg-663"/>
          <p:cNvSpPr/>
          <p:nvPr/>
        </p:nvSpPr>
        <p:spPr>
          <a:xfrm>
            <a:off x="9327794" y="1755648"/>
            <a:ext cx="640080" cy="640080"/>
          </a:xfrm>
          <a:prstGeom prst="ellipse">
            <a:avLst/>
          </a:prstGeom>
          <a:solidFill>
            <a:srgbClr val="E4572E"/>
          </a:solidFill>
          <a:ln/>
        </p:spPr>
        <p:txBody>
          <a:bodyPr/>
          <a:p/>
        </p:txBody>
      </p:sp>
      <p:pic>
        <p:nvPicPr>
          <p:cNvPr id="27" name="Icon-664" descr="preencoded.png">    </p:cNvPr>
          <p:cNvPicPr>
            <a:picLocks noChangeAspect="1"/>
          </p:cNvPicPr>
          <p:nvPr/>
        </p:nvPicPr>
        <p:blipFill>
          <a:blip r:embed="rId4"/>
          <a:stretch>
            <a:fillRect/>
          </a:stretch>
        </p:blipFill>
        <p:spPr>
          <a:xfrm>
            <a:off x="9487814" y="1915668"/>
            <a:ext cx="320040" cy="320040"/>
          </a:xfrm>
          <a:prstGeom prst="rect">
            <a:avLst/>
          </a:prstGeom>
        </p:spPr>
      </p:pic>
      <p:sp>
        <p:nvSpPr>
          <p:cNvPr id="28" name="Text-665"/>
          <p:cNvSpPr txBox="1"/>
          <p:nvPr/>
        </p:nvSpPr>
        <p:spPr>
          <a:xfrm>
            <a:off x="10452506" y="1783080"/>
            <a:ext cx="1005840" cy="548640"/>
          </a:xfrm>
          <a:prstGeom prst="rect">
            <a:avLst/>
          </a:prstGeom>
          <a:noFill/>
          <a:ln/>
        </p:spPr>
        <p:txBody>
          <a:bodyPr wrap="square" lIns="0" tIns="0" rIns="0" bIns="0" rtlCol="0" anchor="t"/>
          <a:lstStyle/>
          <a:p>
            <a:pPr algn="r" indent="0" marL="0">
              <a:buNone/>
            </a:pPr>
            <a:r>
              <a:rPr lang="en-US" sz="2200" b="1" dirty="0">
                <a:solidFill>
                  <a:schemeClr val="accent1"/>
                </a:solidFill>
                <a:latin typeface="Arial" pitchFamily="34" charset="0"/>
                <a:ea typeface="Arial" pitchFamily="34" charset="-122"/>
                <a:cs typeface="Arial" pitchFamily="34" charset="-120"/>
              </a:rPr>
              <a:t>10 min</a:t>
            </a:r>
            <a:endParaRPr lang="en-US" sz="2200" dirty="0"/>
          </a:p>
        </p:txBody>
      </p:sp>
      <p:sp>
        <p:nvSpPr>
          <p:cNvPr id="29" name="Text-666"/>
          <p:cNvSpPr txBox="1"/>
          <p:nvPr/>
        </p:nvSpPr>
        <p:spPr>
          <a:xfrm>
            <a:off x="9327794" y="25603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4. Debrief</a:t>
            </a:r>
            <a:endParaRPr lang="en-US" sz="1800" dirty="0"/>
          </a:p>
        </p:txBody>
      </p:sp>
      <p:sp>
        <p:nvSpPr>
          <p:cNvPr id="30" name="Text-667"/>
          <p:cNvSpPr txBox="1"/>
          <p:nvPr/>
        </p:nvSpPr>
        <p:spPr>
          <a:xfrm>
            <a:off x="9327794" y="3017520"/>
            <a:ext cx="2112264" cy="1737360"/>
          </a:xfrm>
          <a:prstGeom prst="rect">
            <a:avLst/>
          </a:prstGeom>
          <a:noFill/>
          <a:ln/>
        </p:spPr>
        <p:txBody>
          <a:bodyPr wrap="square" lIns="0" tIns="0" rIns="0" bIns="0" rtlCol="0" anchor="t"/>
          <a:lstStyle/>
          <a:p>
            <a:pPr indent="0" marL="0">
              <a:buNone/>
            </a:pPr>
            <a:r>
              <a:rPr lang="en-US" sz="1400" dirty="0">
                <a:solidFill>
                  <a:schemeClr val="tx1"/>
                </a:solidFill>
              </a:rPr>
              <a:t>Overall verdict, what's missing, what they would forward as it is.</a:t>
            </a:r>
            <a:endParaRPr lang="en-US" sz="1400" dirty="0"/>
          </a:p>
        </p:txBody>
      </p:sp>
      <p:sp>
        <p:nvSpPr>
          <p:cNvPr id="31" name="Text-668"/>
          <p:cNvSpPr txBox="1"/>
          <p:nvPr/>
        </p:nvSpPr>
        <p:spPr>
          <a:xfrm>
            <a:off x="548640" y="5120640"/>
            <a:ext cx="3657600" cy="274320"/>
          </a:xfrm>
          <a:prstGeom prst="rect">
            <a:avLst/>
          </a:prstGeom>
          <a:noFill/>
          <a:ln/>
        </p:spPr>
        <p:txBody>
          <a:bodyPr wrap="square" lIns="0" tIns="0" rIns="0" bIns="0" rtlCol="0" anchor="t"/>
          <a:lstStyle/>
          <a:p>
            <a:pPr indent="0" marL="0">
              <a:buNone/>
            </a:pPr>
            <a:r>
              <a:rPr lang="en-US" sz="1100" b="1" dirty="0">
                <a:solidFill>
                  <a:schemeClr val="accent6"/>
                </a:solidFill>
              </a:rPr>
              <a:t>GROUND RULES</a:t>
            </a:r>
            <a:endParaRPr lang="en-US" sz="1100" dirty="0"/>
          </a:p>
        </p:txBody>
      </p:sp>
      <p:sp>
        <p:nvSpPr>
          <p:cNvPr id="32" name="Box-669"/>
          <p:cNvSpPr/>
          <p:nvPr/>
        </p:nvSpPr>
        <p:spPr>
          <a:xfrm>
            <a:off x="548640" y="5440680"/>
            <a:ext cx="2697480" cy="640080"/>
          </a:xfrm>
          <a:prstGeom prst="roundRect">
            <a:avLst>
              <a:gd name="adj" fmla="val 28571"/>
            </a:avLst>
          </a:prstGeom>
          <a:solidFill>
            <a:schemeClr val="accent2">
              <a:alpha val="60000"/>
            </a:schemeClr>
          </a:solidFill>
          <a:ln/>
        </p:spPr>
        <p:txBody>
          <a:bodyPr/>
          <a:p/>
        </p:txBody>
      </p:sp>
      <p:sp>
        <p:nvSpPr>
          <p:cNvPr id="33" name="Text-670"/>
          <p:cNvSpPr txBox="1"/>
          <p:nvPr/>
        </p:nvSpPr>
        <p:spPr>
          <a:xfrm>
            <a:off x="548640" y="5440680"/>
            <a:ext cx="2697480" cy="640080"/>
          </a:xfrm>
          <a:prstGeom prst="rect">
            <a:avLst/>
          </a:prstGeom>
          <a:noFill/>
          <a:ln/>
        </p:spPr>
        <p:txBody>
          <a:bodyPr wrap="square" lIns="0" tIns="0" rIns="0" bIns="0" rtlCol="0" anchor="ctr"/>
          <a:lstStyle/>
          <a:p>
            <a:pPr algn="ctr" indent="0" marL="0">
              <a:buNone/>
            </a:pPr>
            <a:r>
              <a:rPr lang="en-US" sz="1400" b="1" dirty="0">
                <a:solidFill>
                  <a:schemeClr val="tx2"/>
                </a:solidFill>
              </a:rPr>
              <a:t>We test the kit, not you</a:t>
            </a:r>
            <a:endParaRPr lang="en-US" sz="1400" dirty="0"/>
          </a:p>
        </p:txBody>
      </p:sp>
      <p:sp>
        <p:nvSpPr>
          <p:cNvPr id="34" name="Box-671"/>
          <p:cNvSpPr/>
          <p:nvPr/>
        </p:nvSpPr>
        <p:spPr>
          <a:xfrm>
            <a:off x="3364992" y="5440680"/>
            <a:ext cx="2697480" cy="640080"/>
          </a:xfrm>
          <a:prstGeom prst="roundRect">
            <a:avLst>
              <a:gd name="adj" fmla="val 28571"/>
            </a:avLst>
          </a:prstGeom>
          <a:solidFill>
            <a:schemeClr val="accent2">
              <a:alpha val="60000"/>
            </a:schemeClr>
          </a:solidFill>
          <a:ln/>
        </p:spPr>
        <p:txBody>
          <a:bodyPr/>
          <a:p/>
        </p:txBody>
      </p:sp>
      <p:sp>
        <p:nvSpPr>
          <p:cNvPr id="35" name="Text-672"/>
          <p:cNvSpPr txBox="1"/>
          <p:nvPr/>
        </p:nvSpPr>
        <p:spPr>
          <a:xfrm>
            <a:off x="3364992" y="5440680"/>
            <a:ext cx="2697480" cy="640080"/>
          </a:xfrm>
          <a:prstGeom prst="rect">
            <a:avLst/>
          </a:prstGeom>
          <a:noFill/>
          <a:ln/>
        </p:spPr>
        <p:txBody>
          <a:bodyPr wrap="square" lIns="0" tIns="0" rIns="0" bIns="0" rtlCol="0" anchor="ctr"/>
          <a:lstStyle/>
          <a:p>
            <a:pPr algn="ctr" indent="0" marL="0">
              <a:buNone/>
            </a:pPr>
            <a:r>
              <a:rPr lang="en-US" sz="1400" b="1" dirty="0">
                <a:solidFill>
                  <a:schemeClr val="tx2"/>
                </a:solidFill>
              </a:rPr>
              <a:t>Think aloud, all the time</a:t>
            </a:r>
            <a:endParaRPr lang="en-US" sz="1400" dirty="0"/>
          </a:p>
        </p:txBody>
      </p:sp>
      <p:sp>
        <p:nvSpPr>
          <p:cNvPr id="36" name="Box-673"/>
          <p:cNvSpPr/>
          <p:nvPr/>
        </p:nvSpPr>
        <p:spPr>
          <a:xfrm>
            <a:off x="6181344" y="5440680"/>
            <a:ext cx="2697480" cy="640080"/>
          </a:xfrm>
          <a:prstGeom prst="roundRect">
            <a:avLst>
              <a:gd name="adj" fmla="val 28571"/>
            </a:avLst>
          </a:prstGeom>
          <a:solidFill>
            <a:schemeClr val="accent2">
              <a:alpha val="60000"/>
            </a:schemeClr>
          </a:solidFill>
          <a:ln/>
        </p:spPr>
        <p:txBody>
          <a:bodyPr/>
          <a:p/>
        </p:txBody>
      </p:sp>
      <p:sp>
        <p:nvSpPr>
          <p:cNvPr id="37" name="Text-674"/>
          <p:cNvSpPr txBox="1"/>
          <p:nvPr/>
        </p:nvSpPr>
        <p:spPr>
          <a:xfrm>
            <a:off x="6181344" y="5440680"/>
            <a:ext cx="2697480" cy="640080"/>
          </a:xfrm>
          <a:prstGeom prst="rect">
            <a:avLst/>
          </a:prstGeom>
          <a:noFill/>
          <a:ln/>
        </p:spPr>
        <p:txBody>
          <a:bodyPr wrap="square" lIns="0" tIns="0" rIns="0" bIns="0" rtlCol="0" anchor="ctr"/>
          <a:lstStyle/>
          <a:p>
            <a:pPr algn="ctr" indent="0" marL="0">
              <a:buNone/>
            </a:pPr>
            <a:r>
              <a:rPr lang="en-US" sz="1400" b="1" dirty="0">
                <a:solidFill>
                  <a:schemeClr val="tx2"/>
                </a:solidFill>
              </a:rPr>
              <a:t>Ask why – never lead</a:t>
            </a:r>
            <a:endParaRPr lang="en-US" sz="1400" dirty="0"/>
          </a:p>
        </p:txBody>
      </p:sp>
      <p:sp>
        <p:nvSpPr>
          <p:cNvPr id="38" name="Box-675"/>
          <p:cNvSpPr/>
          <p:nvPr/>
        </p:nvSpPr>
        <p:spPr>
          <a:xfrm>
            <a:off x="8997696" y="5440680"/>
            <a:ext cx="2697480" cy="640080"/>
          </a:xfrm>
          <a:prstGeom prst="roundRect">
            <a:avLst>
              <a:gd name="adj" fmla="val 28571"/>
            </a:avLst>
          </a:prstGeom>
          <a:solidFill>
            <a:schemeClr val="accent2">
              <a:alpha val="60000"/>
            </a:schemeClr>
          </a:solidFill>
          <a:ln/>
        </p:spPr>
        <p:txBody>
          <a:bodyPr/>
          <a:p/>
        </p:txBody>
      </p:sp>
      <p:sp>
        <p:nvSpPr>
          <p:cNvPr id="39" name="Text-676"/>
          <p:cNvSpPr txBox="1"/>
          <p:nvPr/>
        </p:nvSpPr>
        <p:spPr>
          <a:xfrm>
            <a:off x="8997696" y="5440680"/>
            <a:ext cx="2697480" cy="640080"/>
          </a:xfrm>
          <a:prstGeom prst="rect">
            <a:avLst/>
          </a:prstGeom>
          <a:noFill/>
          <a:ln/>
        </p:spPr>
        <p:txBody>
          <a:bodyPr wrap="square" lIns="0" tIns="0" rIns="0" bIns="0" rtlCol="0" anchor="ctr"/>
          <a:lstStyle/>
          <a:p>
            <a:pPr algn="ctr" indent="0" marL="0">
              <a:buNone/>
            </a:pPr>
            <a:r>
              <a:rPr lang="en-US" sz="1400" b="1" dirty="0">
                <a:solidFill>
                  <a:schemeClr val="tx2"/>
                </a:solidFill>
              </a:rPr>
              <a:t>Silence is fine – wait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4 · STEP 4.3 · TEST GUIDE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Three tasks, four questions each</a:t>
            </a:r>
            <a:endParaRPr lang="en-US" sz="3200" dirty="0"/>
          </a:p>
        </p:txBody>
      </p:sp>
      <p:sp>
        <p:nvSpPr>
          <p:cNvPr id="4" name="Intro-152"/>
          <p:cNvSpPr/>
          <p:nvPr/>
        </p:nvSpPr>
        <p:spPr>
          <a:xfrm>
            <a:off x="548640" y="1463040"/>
            <a:ext cx="11091672" cy="475488"/>
          </a:xfrm>
          <a:prstGeom prst="roundRect">
            <a:avLst>
              <a:gd name="adj" fmla="val 15385"/>
            </a:avLst>
          </a:prstGeom>
          <a:solidFill>
            <a:schemeClr val="bg2"/>
          </a:solidFill>
          <a:ln/>
        </p:spPr>
        <p:txBody>
          <a:bodyPr/>
          <a:p/>
        </p:txBody>
      </p:sp>
      <p:sp>
        <p:nvSpPr>
          <p:cNvPr id="5" name="Text-153"/>
          <p:cNvSpPr txBox="1"/>
          <p:nvPr/>
        </p:nvSpPr>
        <p:spPr>
          <a:xfrm>
            <a:off x="731520" y="1463040"/>
            <a:ext cx="10789920" cy="475488"/>
          </a:xfrm>
          <a:prstGeom prst="rect">
            <a:avLst/>
          </a:prstGeom>
          <a:noFill/>
          <a:ln/>
        </p:spPr>
        <p:txBody>
          <a:bodyPr wrap="square" lIns="0" tIns="0" rIns="0" bIns="0" rtlCol="0" anchor="ctr"/>
          <a:lstStyle/>
          <a:p>
            <a:pPr indent="0" marL="0">
              <a:buNone/>
            </a:pPr>
            <a:r>
              <a:rPr lang="en-US" sz="1400" b="1" dirty="0">
                <a:solidFill>
                  <a:schemeClr val="tx1"/>
                </a:solidFill>
              </a:rPr>
              <a:t>Scenario: </a:t>
            </a:r>
            <a:pPr indent="0" marL="0">
              <a:buNone/>
            </a:pPr>
            <a:r>
              <a:rPr lang="en-US" sz="1400" dirty="0">
                <a:solidFill>
                  <a:schemeClr val="tx1"/>
                </a:solidFill>
              </a:rPr>
              <a:t>It's early January 2027. Rheinfeld's agreement with Lumen expires on 31 March. This email arrives: “Your renewal kit is ready.”</a:t>
            </a:r>
            <a:endParaRPr lang="en-US" sz="1400" dirty="0"/>
          </a:p>
        </p:txBody>
      </p:sp>
      <p:sp>
        <p:nvSpPr>
          <p:cNvPr id="6" name="GuideCol-154"/>
          <p:cNvSpPr/>
          <p:nvPr/>
        </p:nvSpPr>
        <p:spPr>
          <a:xfrm>
            <a:off x="548640" y="2103120"/>
            <a:ext cx="3593592" cy="4114800"/>
          </a:xfrm>
          <a:prstGeom prst="roundRect">
            <a:avLst>
              <a:gd name="adj" fmla="val 2036"/>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7" name="Circle-155"/>
          <p:cNvSpPr/>
          <p:nvPr/>
        </p:nvSpPr>
        <p:spPr>
          <a:xfrm>
            <a:off x="731520" y="2286000"/>
            <a:ext cx="502920" cy="502920"/>
          </a:xfrm>
          <a:prstGeom prst="ellipse">
            <a:avLst/>
          </a:prstGeom>
          <a:solidFill>
            <a:schemeClr val="accent4"/>
          </a:solidFill>
          <a:ln/>
        </p:spPr>
        <p:txBody>
          <a:bodyPr/>
          <a:p/>
        </p:txBody>
      </p:sp>
      <p:sp>
        <p:nvSpPr>
          <p:cNvPr id="8" name="Text-156"/>
          <p:cNvSpPr txBox="1"/>
          <p:nvPr/>
        </p:nvSpPr>
        <p:spPr>
          <a:xfrm>
            <a:off x="731520" y="22860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T1</a:t>
            </a:r>
            <a:endParaRPr lang="en-US" sz="1300" dirty="0"/>
          </a:p>
        </p:txBody>
      </p:sp>
      <p:sp>
        <p:nvSpPr>
          <p:cNvPr id="9" name="Text-157"/>
          <p:cNvSpPr txBox="1"/>
          <p:nvPr/>
        </p:nvSpPr>
        <p:spPr>
          <a:xfrm>
            <a:off x="1353312" y="2258568"/>
            <a:ext cx="2679192" cy="274320"/>
          </a:xfrm>
          <a:prstGeom prst="rect">
            <a:avLst/>
          </a:prstGeom>
          <a:noFill/>
          <a:ln/>
        </p:spPr>
        <p:txBody>
          <a:bodyPr wrap="square" lIns="0" tIns="0" rIns="0" bIns="0" rtlCol="0" anchor="t"/>
          <a:lstStyle/>
          <a:p>
            <a:pPr indent="0" marL="0">
              <a:buNone/>
            </a:pPr>
            <a:r>
              <a:rPr lang="en-US" sz="1400" b="1" dirty="0">
                <a:solidFill>
                  <a:schemeClr val="tx2"/>
                </a:solidFill>
              </a:rPr>
              <a:t>Task 1 · Receive the kit</a:t>
            </a:r>
            <a:endParaRPr lang="en-US" sz="1400" dirty="0"/>
          </a:p>
        </p:txBody>
      </p:sp>
      <p:sp>
        <p:nvSpPr>
          <p:cNvPr id="10" name="Text-158"/>
          <p:cNvSpPr txBox="1"/>
          <p:nvPr/>
        </p:nvSpPr>
        <p:spPr>
          <a:xfrm>
            <a:off x="1353312" y="2532888"/>
            <a:ext cx="2679192" cy="274320"/>
          </a:xfrm>
          <a:prstGeom prst="rect">
            <a:avLst/>
          </a:prstGeom>
          <a:noFill/>
          <a:ln/>
        </p:spPr>
        <p:txBody>
          <a:bodyPr wrap="square" lIns="0" tIns="0" rIns="0" bIns="0" rtlCol="0" anchor="t"/>
          <a:lstStyle/>
          <a:p>
            <a:pPr indent="0" marL="0">
              <a:buNone/>
            </a:pPr>
            <a:r>
              <a:rPr lang="en-US" sz="1100" dirty="0">
                <a:solidFill>
                  <a:schemeClr val="accent6"/>
                </a:solidFill>
              </a:rPr>
              <a:t>Checks SQ1 · SQ4</a:t>
            </a:r>
            <a:endParaRPr lang="en-US" sz="1100" dirty="0"/>
          </a:p>
        </p:txBody>
      </p:sp>
      <p:sp>
        <p:nvSpPr>
          <p:cNvPr id="11" name="Circle-159"/>
          <p:cNvSpPr/>
          <p:nvPr/>
        </p:nvSpPr>
        <p:spPr>
          <a:xfrm>
            <a:off x="749808" y="3054096"/>
            <a:ext cx="310896" cy="310896"/>
          </a:xfrm>
          <a:prstGeom prst="ellipse">
            <a:avLst/>
          </a:prstGeom>
          <a:solidFill>
            <a:schemeClr val="accent1"/>
          </a:solidFill>
          <a:ln/>
        </p:spPr>
        <p:txBody>
          <a:bodyPr/>
          <a:p/>
        </p:txBody>
      </p:sp>
      <p:sp>
        <p:nvSpPr>
          <p:cNvPr id="12" name="Text-160"/>
          <p:cNvSpPr txBox="1"/>
          <p:nvPr/>
        </p:nvSpPr>
        <p:spPr>
          <a:xfrm>
            <a:off x="749808" y="30540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3" name="Text-161"/>
          <p:cNvSpPr txBox="1"/>
          <p:nvPr/>
        </p:nvSpPr>
        <p:spPr>
          <a:xfrm>
            <a:off x="1188720" y="3017520"/>
            <a:ext cx="2770632" cy="731520"/>
          </a:xfrm>
          <a:prstGeom prst="rect">
            <a:avLst/>
          </a:prstGeom>
          <a:noFill/>
          <a:ln/>
        </p:spPr>
        <p:txBody>
          <a:bodyPr wrap="square" lIns="0" tIns="0" rIns="0" bIns="0" rtlCol="0" anchor="t"/>
          <a:lstStyle/>
          <a:p>
            <a:pPr indent="0" marL="0">
              <a:buNone/>
            </a:pPr>
            <a:r>
              <a:rPr lang="en-US" sz="1400" dirty="0">
                <a:solidFill>
                  <a:schemeClr val="tx1"/>
                </a:solidFill>
              </a:rPr>
              <a:t>This email arrives. What do you do first?</a:t>
            </a:r>
            <a:endParaRPr lang="en-US" sz="1400" dirty="0"/>
          </a:p>
        </p:txBody>
      </p:sp>
      <p:sp>
        <p:nvSpPr>
          <p:cNvPr id="14" name="Circle-162"/>
          <p:cNvSpPr/>
          <p:nvPr/>
        </p:nvSpPr>
        <p:spPr>
          <a:xfrm>
            <a:off x="749808" y="3840480"/>
            <a:ext cx="310896" cy="310896"/>
          </a:xfrm>
          <a:prstGeom prst="ellipse">
            <a:avLst/>
          </a:prstGeom>
          <a:solidFill>
            <a:schemeClr val="accent1"/>
          </a:solidFill>
          <a:ln/>
        </p:spPr>
        <p:txBody>
          <a:bodyPr/>
          <a:p/>
        </p:txBody>
      </p:sp>
      <p:sp>
        <p:nvSpPr>
          <p:cNvPr id="15" name="Text-163"/>
          <p:cNvSpPr txBox="1"/>
          <p:nvPr/>
        </p:nvSpPr>
        <p:spPr>
          <a:xfrm>
            <a:off x="749808" y="38404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Text-164"/>
          <p:cNvSpPr txBox="1"/>
          <p:nvPr/>
        </p:nvSpPr>
        <p:spPr>
          <a:xfrm>
            <a:off x="1188720" y="3803904"/>
            <a:ext cx="2770632" cy="731520"/>
          </a:xfrm>
          <a:prstGeom prst="rect">
            <a:avLst/>
          </a:prstGeom>
          <a:noFill/>
          <a:ln/>
        </p:spPr>
        <p:txBody>
          <a:bodyPr wrap="square" lIns="0" tIns="0" rIns="0" bIns="0" rtlCol="0" anchor="t"/>
          <a:lstStyle/>
          <a:p>
            <a:pPr indent="0" marL="0">
              <a:buNone/>
            </a:pPr>
            <a:r>
              <a:rPr lang="en-US" sz="1400" dirty="0">
                <a:solidFill>
                  <a:schemeClr val="tx1"/>
                </a:solidFill>
              </a:rPr>
              <a:t>What do you expect to find before you open the kit?</a:t>
            </a:r>
            <a:endParaRPr lang="en-US" sz="1400" dirty="0"/>
          </a:p>
        </p:txBody>
      </p:sp>
      <p:sp>
        <p:nvSpPr>
          <p:cNvPr id="17" name="Circle-165"/>
          <p:cNvSpPr/>
          <p:nvPr/>
        </p:nvSpPr>
        <p:spPr>
          <a:xfrm>
            <a:off x="749808" y="4626864"/>
            <a:ext cx="310896" cy="310896"/>
          </a:xfrm>
          <a:prstGeom prst="ellipse">
            <a:avLst/>
          </a:prstGeom>
          <a:solidFill>
            <a:schemeClr val="accent1"/>
          </a:solidFill>
          <a:ln/>
        </p:spPr>
        <p:txBody>
          <a:bodyPr/>
          <a:p/>
        </p:txBody>
      </p:sp>
      <p:sp>
        <p:nvSpPr>
          <p:cNvPr id="18" name="Text-166"/>
          <p:cNvSpPr txBox="1"/>
          <p:nvPr/>
        </p:nvSpPr>
        <p:spPr>
          <a:xfrm>
            <a:off x="749808" y="462686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9" name="Text-167"/>
          <p:cNvSpPr txBox="1"/>
          <p:nvPr/>
        </p:nvSpPr>
        <p:spPr>
          <a:xfrm>
            <a:off x="1188720" y="4590288"/>
            <a:ext cx="2770632" cy="731520"/>
          </a:xfrm>
          <a:prstGeom prst="rect">
            <a:avLst/>
          </a:prstGeom>
          <a:noFill/>
          <a:ln/>
        </p:spPr>
        <p:txBody>
          <a:bodyPr wrap="square" lIns="0" tIns="0" rIns="0" bIns="0" rtlCol="0" anchor="t"/>
          <a:lstStyle/>
          <a:p>
            <a:pPr indent="0" marL="0">
              <a:buNone/>
            </a:pPr>
            <a:r>
              <a:rPr lang="en-US" sz="1400" dirty="0">
                <a:solidFill>
                  <a:schemeClr val="tx1"/>
                </a:solidFill>
              </a:rPr>
              <a:t>Which figure do you look at first – and why?</a:t>
            </a:r>
            <a:endParaRPr lang="en-US" sz="1400" dirty="0"/>
          </a:p>
        </p:txBody>
      </p:sp>
      <p:sp>
        <p:nvSpPr>
          <p:cNvPr id="20" name="Circle-168"/>
          <p:cNvSpPr/>
          <p:nvPr/>
        </p:nvSpPr>
        <p:spPr>
          <a:xfrm>
            <a:off x="749808" y="5413248"/>
            <a:ext cx="310896" cy="310896"/>
          </a:xfrm>
          <a:prstGeom prst="ellipse">
            <a:avLst/>
          </a:prstGeom>
          <a:solidFill>
            <a:schemeClr val="accent1"/>
          </a:solidFill>
          <a:ln/>
        </p:spPr>
        <p:txBody>
          <a:bodyPr/>
          <a:p/>
        </p:txBody>
      </p:sp>
      <p:sp>
        <p:nvSpPr>
          <p:cNvPr id="21" name="Text-169"/>
          <p:cNvSpPr txBox="1"/>
          <p:nvPr/>
        </p:nvSpPr>
        <p:spPr>
          <a:xfrm>
            <a:off x="749808" y="54132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2" name="Text-170"/>
          <p:cNvSpPr txBox="1"/>
          <p:nvPr/>
        </p:nvSpPr>
        <p:spPr>
          <a:xfrm>
            <a:off x="1188720" y="5376672"/>
            <a:ext cx="2770632" cy="731520"/>
          </a:xfrm>
          <a:prstGeom prst="rect">
            <a:avLst/>
          </a:prstGeom>
          <a:noFill/>
          <a:ln/>
        </p:spPr>
        <p:txBody>
          <a:bodyPr wrap="square" lIns="0" tIns="0" rIns="0" bIns="0" rtlCol="0" anchor="t"/>
          <a:lstStyle/>
          <a:p>
            <a:pPr indent="0" marL="0">
              <a:buNone/>
            </a:pPr>
            <a:r>
              <a:rPr lang="en-US" sz="1400" dirty="0">
                <a:solidFill>
                  <a:schemeClr val="tx1"/>
                </a:solidFill>
              </a:rPr>
              <a:t>Is anything missing that you'd have to add by hand?</a:t>
            </a:r>
            <a:endParaRPr lang="en-US" sz="1400" dirty="0"/>
          </a:p>
        </p:txBody>
      </p:sp>
      <p:sp>
        <p:nvSpPr>
          <p:cNvPr id="23" name="GuideCol-171"/>
          <p:cNvSpPr/>
          <p:nvPr/>
        </p:nvSpPr>
        <p:spPr>
          <a:xfrm>
            <a:off x="4297680" y="2103120"/>
            <a:ext cx="3593592" cy="4114800"/>
          </a:xfrm>
          <a:prstGeom prst="roundRect">
            <a:avLst>
              <a:gd name="adj" fmla="val 2036"/>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24" name="Circle-172"/>
          <p:cNvSpPr/>
          <p:nvPr/>
        </p:nvSpPr>
        <p:spPr>
          <a:xfrm>
            <a:off x="4480560" y="2286000"/>
            <a:ext cx="502920" cy="502920"/>
          </a:xfrm>
          <a:prstGeom prst="ellipse">
            <a:avLst/>
          </a:prstGeom>
          <a:solidFill>
            <a:schemeClr val="accent3"/>
          </a:solidFill>
          <a:ln/>
        </p:spPr>
        <p:txBody>
          <a:bodyPr/>
          <a:p/>
        </p:txBody>
      </p:sp>
      <p:sp>
        <p:nvSpPr>
          <p:cNvPr id="25" name="Text-173"/>
          <p:cNvSpPr txBox="1"/>
          <p:nvPr/>
        </p:nvSpPr>
        <p:spPr>
          <a:xfrm>
            <a:off x="4480560" y="22860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T2</a:t>
            </a:r>
            <a:endParaRPr lang="en-US" sz="1300" dirty="0"/>
          </a:p>
        </p:txBody>
      </p:sp>
      <p:sp>
        <p:nvSpPr>
          <p:cNvPr id="26" name="Text-174"/>
          <p:cNvSpPr txBox="1"/>
          <p:nvPr/>
        </p:nvSpPr>
        <p:spPr>
          <a:xfrm>
            <a:off x="5102352" y="2258568"/>
            <a:ext cx="2679192" cy="274320"/>
          </a:xfrm>
          <a:prstGeom prst="rect">
            <a:avLst/>
          </a:prstGeom>
          <a:noFill/>
          <a:ln/>
        </p:spPr>
        <p:txBody>
          <a:bodyPr wrap="square" lIns="0" tIns="0" rIns="0" bIns="0" rtlCol="0" anchor="t"/>
          <a:lstStyle/>
          <a:p>
            <a:pPr indent="0" marL="0">
              <a:buNone/>
            </a:pPr>
            <a:r>
              <a:rPr lang="en-US" sz="1400" b="1" dirty="0">
                <a:solidFill>
                  <a:schemeClr val="tx2"/>
                </a:solidFill>
              </a:rPr>
              <a:t>Task 2 · Pass it on</a:t>
            </a:r>
            <a:endParaRPr lang="en-US" sz="1400" dirty="0"/>
          </a:p>
        </p:txBody>
      </p:sp>
      <p:sp>
        <p:nvSpPr>
          <p:cNvPr id="27" name="Text-175"/>
          <p:cNvSpPr txBox="1"/>
          <p:nvPr/>
        </p:nvSpPr>
        <p:spPr>
          <a:xfrm>
            <a:off x="5102352" y="2532888"/>
            <a:ext cx="2679192" cy="274320"/>
          </a:xfrm>
          <a:prstGeom prst="rect">
            <a:avLst/>
          </a:prstGeom>
          <a:noFill/>
          <a:ln/>
        </p:spPr>
        <p:txBody>
          <a:bodyPr wrap="square" lIns="0" tIns="0" rIns="0" bIns="0" rtlCol="0" anchor="t"/>
          <a:lstStyle/>
          <a:p>
            <a:pPr indent="0" marL="0">
              <a:buNone/>
            </a:pPr>
            <a:r>
              <a:rPr lang="en-US" sz="1100" dirty="0">
                <a:solidFill>
                  <a:schemeClr val="accent6"/>
                </a:solidFill>
              </a:rPr>
              <a:t>Checks SQ1 · SQ2</a:t>
            </a:r>
            <a:endParaRPr lang="en-US" sz="1100" dirty="0"/>
          </a:p>
        </p:txBody>
      </p:sp>
      <p:sp>
        <p:nvSpPr>
          <p:cNvPr id="28" name="Circle-176"/>
          <p:cNvSpPr/>
          <p:nvPr/>
        </p:nvSpPr>
        <p:spPr>
          <a:xfrm>
            <a:off x="4498848" y="3054096"/>
            <a:ext cx="310896" cy="310896"/>
          </a:xfrm>
          <a:prstGeom prst="ellipse">
            <a:avLst/>
          </a:prstGeom>
          <a:solidFill>
            <a:schemeClr val="accent1"/>
          </a:solidFill>
          <a:ln/>
        </p:spPr>
        <p:txBody>
          <a:bodyPr/>
          <a:p/>
        </p:txBody>
      </p:sp>
      <p:sp>
        <p:nvSpPr>
          <p:cNvPr id="29" name="Text-177"/>
          <p:cNvSpPr txBox="1"/>
          <p:nvPr/>
        </p:nvSpPr>
        <p:spPr>
          <a:xfrm>
            <a:off x="4498848" y="30540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30" name="Text-178"/>
          <p:cNvSpPr txBox="1"/>
          <p:nvPr/>
        </p:nvSpPr>
        <p:spPr>
          <a:xfrm>
            <a:off x="4937760" y="3017520"/>
            <a:ext cx="2770632" cy="731520"/>
          </a:xfrm>
          <a:prstGeom prst="rect">
            <a:avLst/>
          </a:prstGeom>
          <a:noFill/>
          <a:ln/>
        </p:spPr>
        <p:txBody>
          <a:bodyPr wrap="square" lIns="0" tIns="0" rIns="0" bIns="0" rtlCol="0" anchor="t"/>
          <a:lstStyle/>
          <a:p>
            <a:pPr indent="0" marL="0">
              <a:buNone/>
            </a:pPr>
            <a:r>
              <a:rPr lang="en-US" sz="1400" dirty="0">
                <a:solidFill>
                  <a:schemeClr val="tx1"/>
                </a:solidFill>
              </a:rPr>
              <a:t>You need to brief your director. Show us how.</a:t>
            </a:r>
            <a:endParaRPr lang="en-US" sz="1400" dirty="0"/>
          </a:p>
        </p:txBody>
      </p:sp>
      <p:sp>
        <p:nvSpPr>
          <p:cNvPr id="31" name="Circle-179"/>
          <p:cNvSpPr/>
          <p:nvPr/>
        </p:nvSpPr>
        <p:spPr>
          <a:xfrm>
            <a:off x="4498848" y="3840480"/>
            <a:ext cx="310896" cy="310896"/>
          </a:xfrm>
          <a:prstGeom prst="ellipse">
            <a:avLst/>
          </a:prstGeom>
          <a:solidFill>
            <a:schemeClr val="accent1"/>
          </a:solidFill>
          <a:ln/>
        </p:spPr>
        <p:txBody>
          <a:bodyPr/>
          <a:p/>
        </p:txBody>
      </p:sp>
      <p:sp>
        <p:nvSpPr>
          <p:cNvPr id="32" name="Text-180"/>
          <p:cNvSpPr txBox="1"/>
          <p:nvPr/>
        </p:nvSpPr>
        <p:spPr>
          <a:xfrm>
            <a:off x="4498848" y="38404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33" name="Text-181"/>
          <p:cNvSpPr txBox="1"/>
          <p:nvPr/>
        </p:nvSpPr>
        <p:spPr>
          <a:xfrm>
            <a:off x="4937760" y="3803904"/>
            <a:ext cx="2770632" cy="731520"/>
          </a:xfrm>
          <a:prstGeom prst="rect">
            <a:avLst/>
          </a:prstGeom>
          <a:noFill/>
          <a:ln/>
        </p:spPr>
        <p:txBody>
          <a:bodyPr wrap="square" lIns="0" tIns="0" rIns="0" bIns="0" rtlCol="0" anchor="t"/>
          <a:lstStyle/>
          <a:p>
            <a:pPr indent="0" marL="0">
              <a:buNone/>
            </a:pPr>
            <a:r>
              <a:rPr lang="en-US" sz="1400" dirty="0">
                <a:solidFill>
                  <a:schemeClr val="tx1"/>
                </a:solidFill>
              </a:rPr>
              <a:t>Would you send the slide as it is? What would you change?</a:t>
            </a:r>
            <a:endParaRPr lang="en-US" sz="1400" dirty="0"/>
          </a:p>
        </p:txBody>
      </p:sp>
      <p:sp>
        <p:nvSpPr>
          <p:cNvPr id="34" name="Circle-182"/>
          <p:cNvSpPr/>
          <p:nvPr/>
        </p:nvSpPr>
        <p:spPr>
          <a:xfrm>
            <a:off x="4498848" y="4626864"/>
            <a:ext cx="310896" cy="310896"/>
          </a:xfrm>
          <a:prstGeom prst="ellipse">
            <a:avLst/>
          </a:prstGeom>
          <a:solidFill>
            <a:schemeClr val="accent1"/>
          </a:solidFill>
          <a:ln/>
        </p:spPr>
        <p:txBody>
          <a:bodyPr/>
          <a:p/>
        </p:txBody>
      </p:sp>
      <p:sp>
        <p:nvSpPr>
          <p:cNvPr id="35" name="Text-183"/>
          <p:cNvSpPr txBox="1"/>
          <p:nvPr/>
        </p:nvSpPr>
        <p:spPr>
          <a:xfrm>
            <a:off x="4498848" y="462686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6" name="Text-184"/>
          <p:cNvSpPr txBox="1"/>
          <p:nvPr/>
        </p:nvSpPr>
        <p:spPr>
          <a:xfrm>
            <a:off x="4937760" y="4590288"/>
            <a:ext cx="2770632" cy="731520"/>
          </a:xfrm>
          <a:prstGeom prst="rect">
            <a:avLst/>
          </a:prstGeom>
          <a:noFill/>
          <a:ln/>
        </p:spPr>
        <p:txBody>
          <a:bodyPr wrap="square" lIns="0" tIns="0" rIns="0" bIns="0" rtlCol="0" anchor="t"/>
          <a:lstStyle/>
          <a:p>
            <a:pPr indent="0" marL="0">
              <a:buNone/>
            </a:pPr>
            <a:r>
              <a:rPr lang="en-US" sz="1400" dirty="0">
                <a:solidFill>
                  <a:schemeClr val="tx1"/>
                </a:solidFill>
              </a:rPr>
              <a:t>Which number would you check before forwarding – and how?</a:t>
            </a:r>
            <a:endParaRPr lang="en-US" sz="1400" dirty="0"/>
          </a:p>
        </p:txBody>
      </p:sp>
      <p:sp>
        <p:nvSpPr>
          <p:cNvPr id="37" name="Circle-185"/>
          <p:cNvSpPr/>
          <p:nvPr/>
        </p:nvSpPr>
        <p:spPr>
          <a:xfrm>
            <a:off x="4498848" y="5413248"/>
            <a:ext cx="310896" cy="310896"/>
          </a:xfrm>
          <a:prstGeom prst="ellipse">
            <a:avLst/>
          </a:prstGeom>
          <a:solidFill>
            <a:schemeClr val="accent1"/>
          </a:solidFill>
          <a:ln/>
        </p:spPr>
        <p:txBody>
          <a:bodyPr/>
          <a:p/>
        </p:txBody>
      </p:sp>
      <p:sp>
        <p:nvSpPr>
          <p:cNvPr id="38" name="Text-186"/>
          <p:cNvSpPr txBox="1"/>
          <p:nvPr/>
        </p:nvSpPr>
        <p:spPr>
          <a:xfrm>
            <a:off x="4498848" y="54132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9" name="Text-187"/>
          <p:cNvSpPr txBox="1"/>
          <p:nvPr/>
        </p:nvSpPr>
        <p:spPr>
          <a:xfrm>
            <a:off x="4937760" y="5376672"/>
            <a:ext cx="2770632" cy="731520"/>
          </a:xfrm>
          <a:prstGeom prst="rect">
            <a:avLst/>
          </a:prstGeom>
          <a:noFill/>
          <a:ln/>
        </p:spPr>
        <p:txBody>
          <a:bodyPr wrap="square" lIns="0" tIns="0" rIns="0" bIns="0" rtlCol="0" anchor="t"/>
          <a:lstStyle/>
          <a:p>
            <a:pPr indent="0" marL="0">
              <a:buNone/>
            </a:pPr>
            <a:r>
              <a:rPr lang="en-US" sz="1400" dirty="0">
                <a:solidFill>
                  <a:schemeClr val="tx1"/>
                </a:solidFill>
              </a:rPr>
              <a:t>Who else at your institution should receive this?</a:t>
            </a:r>
            <a:endParaRPr lang="en-US" sz="1400" dirty="0"/>
          </a:p>
        </p:txBody>
      </p:sp>
      <p:sp>
        <p:nvSpPr>
          <p:cNvPr id="40" name="GuideCol-188"/>
          <p:cNvSpPr/>
          <p:nvPr/>
        </p:nvSpPr>
        <p:spPr>
          <a:xfrm>
            <a:off x="8046720" y="2103120"/>
            <a:ext cx="3593592" cy="4114800"/>
          </a:xfrm>
          <a:prstGeom prst="roundRect">
            <a:avLst>
              <a:gd name="adj" fmla="val 2036"/>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41" name="Circle-189"/>
          <p:cNvSpPr/>
          <p:nvPr/>
        </p:nvSpPr>
        <p:spPr>
          <a:xfrm>
            <a:off x="8229600" y="2286000"/>
            <a:ext cx="502920" cy="502920"/>
          </a:xfrm>
          <a:prstGeom prst="ellipse">
            <a:avLst/>
          </a:prstGeom>
          <a:solidFill>
            <a:schemeClr val="accent6"/>
          </a:solidFill>
          <a:ln/>
        </p:spPr>
        <p:txBody>
          <a:bodyPr/>
          <a:p/>
        </p:txBody>
      </p:sp>
      <p:sp>
        <p:nvSpPr>
          <p:cNvPr id="42" name="Text-190"/>
          <p:cNvSpPr txBox="1"/>
          <p:nvPr/>
        </p:nvSpPr>
        <p:spPr>
          <a:xfrm>
            <a:off x="8229600" y="22860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T3</a:t>
            </a:r>
            <a:endParaRPr lang="en-US" sz="1300" dirty="0"/>
          </a:p>
        </p:txBody>
      </p:sp>
      <p:sp>
        <p:nvSpPr>
          <p:cNvPr id="43" name="Text-191"/>
          <p:cNvSpPr txBox="1"/>
          <p:nvPr/>
        </p:nvSpPr>
        <p:spPr>
          <a:xfrm>
            <a:off x="8851392" y="2258568"/>
            <a:ext cx="2679192" cy="274320"/>
          </a:xfrm>
          <a:prstGeom prst="rect">
            <a:avLst/>
          </a:prstGeom>
          <a:noFill/>
          <a:ln/>
        </p:spPr>
        <p:txBody>
          <a:bodyPr wrap="square" lIns="0" tIns="0" rIns="0" bIns="0" rtlCol="0" anchor="t"/>
          <a:lstStyle/>
          <a:p>
            <a:pPr indent="0" marL="0">
              <a:buNone/>
            </a:pPr>
            <a:r>
              <a:rPr lang="en-US" sz="1400" b="1" dirty="0">
                <a:solidFill>
                  <a:schemeClr val="tx2"/>
                </a:solidFill>
              </a:rPr>
              <a:t>Task 3 · Make the case</a:t>
            </a:r>
            <a:endParaRPr lang="en-US" sz="1400" dirty="0"/>
          </a:p>
        </p:txBody>
      </p:sp>
      <p:sp>
        <p:nvSpPr>
          <p:cNvPr id="44" name="Text-192"/>
          <p:cNvSpPr txBox="1"/>
          <p:nvPr/>
        </p:nvSpPr>
        <p:spPr>
          <a:xfrm>
            <a:off x="8851392" y="2532888"/>
            <a:ext cx="2679192" cy="274320"/>
          </a:xfrm>
          <a:prstGeom prst="rect">
            <a:avLst/>
          </a:prstGeom>
          <a:noFill/>
          <a:ln/>
        </p:spPr>
        <p:txBody>
          <a:bodyPr wrap="square" lIns="0" tIns="0" rIns="0" bIns="0" rtlCol="0" anchor="t"/>
          <a:lstStyle/>
          <a:p>
            <a:pPr indent="0" marL="0">
              <a:buNone/>
            </a:pPr>
            <a:r>
              <a:rPr lang="en-US" sz="1100" dirty="0">
                <a:solidFill>
                  <a:schemeClr val="accent6"/>
                </a:solidFill>
              </a:rPr>
              <a:t>Checks SQ3 · SQ5</a:t>
            </a:r>
            <a:endParaRPr lang="en-US" sz="1100" dirty="0"/>
          </a:p>
        </p:txBody>
      </p:sp>
      <p:sp>
        <p:nvSpPr>
          <p:cNvPr id="45" name="Circle-193"/>
          <p:cNvSpPr/>
          <p:nvPr/>
        </p:nvSpPr>
        <p:spPr>
          <a:xfrm>
            <a:off x="8247888" y="3054096"/>
            <a:ext cx="310896" cy="310896"/>
          </a:xfrm>
          <a:prstGeom prst="ellipse">
            <a:avLst/>
          </a:prstGeom>
          <a:solidFill>
            <a:schemeClr val="accent1"/>
          </a:solidFill>
          <a:ln/>
        </p:spPr>
        <p:txBody>
          <a:bodyPr/>
          <a:p/>
        </p:txBody>
      </p:sp>
      <p:sp>
        <p:nvSpPr>
          <p:cNvPr id="46" name="Text-194"/>
          <p:cNvSpPr txBox="1"/>
          <p:nvPr/>
        </p:nvSpPr>
        <p:spPr>
          <a:xfrm>
            <a:off x="8247888" y="30540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7" name="Text-195"/>
          <p:cNvSpPr txBox="1"/>
          <p:nvPr/>
        </p:nvSpPr>
        <p:spPr>
          <a:xfrm>
            <a:off x="8686800" y="3017520"/>
            <a:ext cx="2770632" cy="731520"/>
          </a:xfrm>
          <a:prstGeom prst="rect">
            <a:avLst/>
          </a:prstGeom>
          <a:noFill/>
          <a:ln/>
        </p:spPr>
        <p:txBody>
          <a:bodyPr wrap="square" lIns="0" tIns="0" rIns="0" bIns="0" rtlCol="0" anchor="t"/>
          <a:lstStyle/>
          <a:p>
            <a:pPr indent="0" marL="0">
              <a:buNone/>
            </a:pPr>
            <a:r>
              <a:rPr lang="en-US" sz="1400" dirty="0">
                <a:solidFill>
                  <a:schemeClr val="tx1"/>
                </a:solidFill>
              </a:rPr>
              <a:t>Picture the renewal meeting. Which tile makes your case?</a:t>
            </a:r>
            <a:endParaRPr lang="en-US" sz="1400" dirty="0"/>
          </a:p>
        </p:txBody>
      </p:sp>
      <p:sp>
        <p:nvSpPr>
          <p:cNvPr id="48" name="Circle-196"/>
          <p:cNvSpPr/>
          <p:nvPr/>
        </p:nvSpPr>
        <p:spPr>
          <a:xfrm>
            <a:off x="8247888" y="3840480"/>
            <a:ext cx="310896" cy="310896"/>
          </a:xfrm>
          <a:prstGeom prst="ellipse">
            <a:avLst/>
          </a:prstGeom>
          <a:solidFill>
            <a:schemeClr val="accent1"/>
          </a:solidFill>
          <a:ln/>
        </p:spPr>
        <p:txBody>
          <a:bodyPr/>
          <a:p/>
        </p:txBody>
      </p:sp>
      <p:sp>
        <p:nvSpPr>
          <p:cNvPr id="49" name="Text-197"/>
          <p:cNvSpPr txBox="1"/>
          <p:nvPr/>
        </p:nvSpPr>
        <p:spPr>
          <a:xfrm>
            <a:off x="8247888" y="38404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50" name="Text-198"/>
          <p:cNvSpPr txBox="1"/>
          <p:nvPr/>
        </p:nvSpPr>
        <p:spPr>
          <a:xfrm>
            <a:off x="8686800" y="3803904"/>
            <a:ext cx="2770632" cy="731520"/>
          </a:xfrm>
          <a:prstGeom prst="rect">
            <a:avLst/>
          </a:prstGeom>
          <a:noFill/>
          <a:ln/>
        </p:spPr>
        <p:txBody>
          <a:bodyPr wrap="square" lIns="0" tIns="0" rIns="0" bIns="0" rtlCol="0" anchor="t"/>
          <a:lstStyle/>
          <a:p>
            <a:pPr indent="0" marL="0">
              <a:buNone/>
            </a:pPr>
            <a:r>
              <a:rPr lang="en-US" sz="1400" dirty="0">
                <a:solidFill>
                  <a:schemeClr val="tx1"/>
                </a:solidFill>
              </a:rPr>
              <a:t>What would a sceptical vice-president ask about this slide?</a:t>
            </a:r>
            <a:endParaRPr lang="en-US" sz="1400" dirty="0"/>
          </a:p>
        </p:txBody>
      </p:sp>
      <p:sp>
        <p:nvSpPr>
          <p:cNvPr id="51" name="Circle-199"/>
          <p:cNvSpPr/>
          <p:nvPr/>
        </p:nvSpPr>
        <p:spPr>
          <a:xfrm>
            <a:off x="8247888" y="4626864"/>
            <a:ext cx="310896" cy="310896"/>
          </a:xfrm>
          <a:prstGeom prst="ellipse">
            <a:avLst/>
          </a:prstGeom>
          <a:solidFill>
            <a:schemeClr val="accent1"/>
          </a:solidFill>
          <a:ln/>
        </p:spPr>
        <p:txBody>
          <a:bodyPr/>
          <a:p/>
        </p:txBody>
      </p:sp>
      <p:sp>
        <p:nvSpPr>
          <p:cNvPr id="52" name="Text-200"/>
          <p:cNvSpPr txBox="1"/>
          <p:nvPr/>
        </p:nvSpPr>
        <p:spPr>
          <a:xfrm>
            <a:off x="8247888" y="462686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53" name="Text-201"/>
          <p:cNvSpPr txBox="1"/>
          <p:nvPr/>
        </p:nvSpPr>
        <p:spPr>
          <a:xfrm>
            <a:off x="8686800" y="4590288"/>
            <a:ext cx="2770632" cy="731520"/>
          </a:xfrm>
          <a:prstGeom prst="rect">
            <a:avLst/>
          </a:prstGeom>
          <a:noFill/>
          <a:ln/>
        </p:spPr>
        <p:txBody>
          <a:bodyPr wrap="square" lIns="0" tIns="0" rIns="0" bIns="0" rtlCol="0" anchor="t"/>
          <a:lstStyle/>
          <a:p>
            <a:pPr indent="0" marL="0">
              <a:buNone/>
            </a:pPr>
            <a:r>
              <a:rPr lang="en-US" sz="1400" dirty="0">
                <a:solidFill>
                  <a:schemeClr val="tx1"/>
                </a:solidFill>
              </a:rPr>
              <a:t>Does the method link convince you? What's missing?</a:t>
            </a:r>
            <a:endParaRPr lang="en-US" sz="1400" dirty="0"/>
          </a:p>
        </p:txBody>
      </p:sp>
      <p:sp>
        <p:nvSpPr>
          <p:cNvPr id="54" name="Circle-202"/>
          <p:cNvSpPr/>
          <p:nvPr/>
        </p:nvSpPr>
        <p:spPr>
          <a:xfrm>
            <a:off x="8247888" y="5413248"/>
            <a:ext cx="310896" cy="310896"/>
          </a:xfrm>
          <a:prstGeom prst="ellipse">
            <a:avLst/>
          </a:prstGeom>
          <a:solidFill>
            <a:schemeClr val="accent1"/>
          </a:solidFill>
          <a:ln/>
        </p:spPr>
        <p:txBody>
          <a:bodyPr/>
          <a:p/>
        </p:txBody>
      </p:sp>
      <p:sp>
        <p:nvSpPr>
          <p:cNvPr id="55" name="Text-203"/>
          <p:cNvSpPr txBox="1"/>
          <p:nvPr/>
        </p:nvSpPr>
        <p:spPr>
          <a:xfrm>
            <a:off x="8247888" y="54132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56" name="Text-204"/>
          <p:cNvSpPr txBox="1"/>
          <p:nvPr/>
        </p:nvSpPr>
        <p:spPr>
          <a:xfrm>
            <a:off x="8686800" y="5376672"/>
            <a:ext cx="2770632" cy="731520"/>
          </a:xfrm>
          <a:prstGeom prst="rect">
            <a:avLst/>
          </a:prstGeom>
          <a:noFill/>
          <a:ln/>
        </p:spPr>
        <p:txBody>
          <a:bodyPr wrap="square" lIns="0" tIns="0" rIns="0" bIns="0" rtlCol="0" anchor="t"/>
          <a:lstStyle/>
          <a:p>
            <a:pPr indent="0" marL="0">
              <a:buNone/>
            </a:pPr>
            <a:r>
              <a:rPr lang="en-US" sz="1400" dirty="0">
                <a:solidFill>
                  <a:schemeClr val="tx1"/>
                </a:solidFill>
              </a:rPr>
              <a:t>Would this change your view on expanding the agreement?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6</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4 · STEP 4.4 · PERSONAS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Six personas for the test interviews</a:t>
            </a:r>
            <a:endParaRPr lang="en-US" sz="3200" dirty="0"/>
          </a:p>
        </p:txBody>
      </p:sp>
      <p:sp>
        <p:nvSpPr>
          <p:cNvPr id="4" name="Text-51"/>
          <p:cNvSpPr txBox="1"/>
          <p:nvPr/>
        </p:nvSpPr>
        <p:spPr>
          <a:xfrm>
            <a:off x="548640" y="1417320"/>
            <a:ext cx="5486400" cy="256032"/>
          </a:xfrm>
          <a:prstGeom prst="rect">
            <a:avLst/>
          </a:prstGeom>
          <a:noFill/>
          <a:ln/>
        </p:spPr>
        <p:txBody>
          <a:bodyPr wrap="square" lIns="0" tIns="0" rIns="0" bIns="0" rtlCol="0" anchor="t"/>
          <a:lstStyle/>
          <a:p>
            <a:pPr indent="0" marL="0">
              <a:buNone/>
            </a:pPr>
            <a:r>
              <a:rPr lang="en-US" sz="1100" b="1" dirty="0">
                <a:solidFill>
                  <a:schemeClr val="accent6"/>
                </a:solidFill>
              </a:rPr>
              <a:t>UNIVERSITY OF RHEINFELD · THE DECISION CHAIN FROM AUTHOR TO SIGNATURE</a:t>
            </a:r>
            <a:endParaRPr lang="en-US" sz="1100" dirty="0"/>
          </a:p>
        </p:txBody>
      </p:sp>
      <p:sp>
        <p:nvSpPr>
          <p:cNvPr id="5" name="Persona-52"/>
          <p:cNvSpPr/>
          <p:nvPr/>
        </p:nvSpPr>
        <p:spPr>
          <a:xfrm>
            <a:off x="548640" y="1719072"/>
            <a:ext cx="2651760" cy="1965960"/>
          </a:xfrm>
          <a:prstGeom prst="roundRect">
            <a:avLst>
              <a:gd name="adj" fmla="val 3721"/>
            </a:avLst>
          </a:prstGeom>
          <a:solidFill>
            <a:schemeClr val="bg2"/>
          </a:solidFill>
          <a:ln/>
        </p:spPr>
        <p:txBody>
          <a:bodyPr/>
          <a:p/>
        </p:txBody>
      </p:sp>
      <p:sp>
        <p:nvSpPr>
          <p:cNvPr id="6" name="Circle-53"/>
          <p:cNvSpPr/>
          <p:nvPr/>
        </p:nvSpPr>
        <p:spPr>
          <a:xfrm>
            <a:off x="713232" y="1883664"/>
            <a:ext cx="566928" cy="566928"/>
          </a:xfrm>
          <a:prstGeom prst="ellipse">
            <a:avLst/>
          </a:prstGeom>
          <a:solidFill>
            <a:schemeClr val="accent3"/>
          </a:solidFill>
          <a:ln/>
        </p:spPr>
        <p:txBody>
          <a:bodyPr/>
          <a:p/>
        </p:txBody>
      </p:sp>
      <p:sp>
        <p:nvSpPr>
          <p:cNvPr id="7" name="Text-54"/>
          <p:cNvSpPr txBox="1"/>
          <p:nvPr/>
        </p:nvSpPr>
        <p:spPr>
          <a:xfrm>
            <a:off x="713232" y="188366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MK</a:t>
            </a:r>
            <a:endParaRPr lang="en-US" sz="1500" dirty="0"/>
          </a:p>
        </p:txBody>
      </p:sp>
      <p:sp>
        <p:nvSpPr>
          <p:cNvPr id="8" name="Text-55"/>
          <p:cNvSpPr txBox="1"/>
          <p:nvPr/>
        </p:nvSpPr>
        <p:spPr>
          <a:xfrm>
            <a:off x="1371600" y="1865376"/>
            <a:ext cx="1737360" cy="292608"/>
          </a:xfrm>
          <a:prstGeom prst="rect">
            <a:avLst/>
          </a:prstGeom>
          <a:noFill/>
          <a:ln/>
        </p:spPr>
        <p:txBody>
          <a:bodyPr wrap="square" lIns="0" tIns="0" rIns="0" bIns="0" rtlCol="0" anchor="t"/>
          <a:lstStyle/>
          <a:p>
            <a:pPr indent="0" marL="0">
              <a:buNone/>
            </a:pPr>
            <a:r>
              <a:rPr lang="en-US" sz="1400" b="1" dirty="0">
                <a:solidFill>
                  <a:schemeClr val="tx2"/>
                </a:solidFill>
              </a:rPr>
              <a:t>Dr. Miriam Kessler</a:t>
            </a:r>
            <a:endParaRPr lang="en-US" sz="1400" dirty="0"/>
          </a:p>
        </p:txBody>
      </p:sp>
      <p:sp>
        <p:nvSpPr>
          <p:cNvPr id="9" name="Text-56"/>
          <p:cNvSpPr txBox="1"/>
          <p:nvPr/>
        </p:nvSpPr>
        <p:spPr>
          <a:xfrm>
            <a:off x="1371600" y="2148840"/>
            <a:ext cx="1737360" cy="457200"/>
          </a:xfrm>
          <a:prstGeom prst="rect">
            <a:avLst/>
          </a:prstGeom>
          <a:noFill/>
          <a:ln/>
        </p:spPr>
        <p:txBody>
          <a:bodyPr wrap="square" lIns="0" tIns="0" rIns="0" bIns="0" rtlCol="0" anchor="t"/>
          <a:lstStyle/>
          <a:p>
            <a:pPr indent="0" marL="0">
              <a:buNone/>
            </a:pPr>
            <a:r>
              <a:rPr lang="en-US" sz="1100" dirty="0">
                <a:solidFill>
                  <a:schemeClr val="tx1"/>
                </a:solidFill>
              </a:rPr>
              <a:t>P1 · OA Coordinator, Library · writes the proposal</a:t>
            </a:r>
            <a:endParaRPr lang="en-US" sz="1100" dirty="0"/>
          </a:p>
        </p:txBody>
      </p:sp>
      <p:sp>
        <p:nvSpPr>
          <p:cNvPr id="10" name="Tag-57"/>
          <p:cNvSpPr/>
          <p:nvPr/>
        </p:nvSpPr>
        <p:spPr>
          <a:xfrm>
            <a:off x="713232" y="2615184"/>
            <a:ext cx="2322576" cy="274320"/>
          </a:xfrm>
          <a:prstGeom prst="roundRect">
            <a:avLst>
              <a:gd name="adj" fmla="val 40000"/>
            </a:avLst>
          </a:prstGeom>
          <a:solidFill>
            <a:schemeClr val="accent3">
              <a:alpha val="20000"/>
            </a:schemeClr>
          </a:solidFill>
          <a:ln/>
        </p:spPr>
        <p:txBody>
          <a:bodyPr/>
          <a:p/>
        </p:txBody>
      </p:sp>
      <p:sp>
        <p:nvSpPr>
          <p:cNvPr id="11" name="Text-58"/>
          <p:cNvSpPr txBox="1"/>
          <p:nvPr/>
        </p:nvSpPr>
        <p:spPr>
          <a:xfrm>
            <a:off x="713232" y="261518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Tasks 1 · 2</a:t>
            </a:r>
            <a:endParaRPr lang="en-US" sz="1000" dirty="0"/>
          </a:p>
        </p:txBody>
      </p:sp>
      <p:sp>
        <p:nvSpPr>
          <p:cNvPr id="12" name="Text-59"/>
          <p:cNvSpPr txBox="1"/>
          <p:nvPr/>
        </p:nvSpPr>
        <p:spPr>
          <a:xfrm>
            <a:off x="713232" y="296265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“Evidence of value without manual work, ready to pass on.”</a:t>
            </a:r>
            <a:endParaRPr lang="en-US" sz="1100" dirty="0"/>
          </a:p>
        </p:txBody>
      </p:sp>
      <p:sp>
        <p:nvSpPr>
          <p:cNvPr id="13" name="Persona-60"/>
          <p:cNvSpPr/>
          <p:nvPr/>
        </p:nvSpPr>
        <p:spPr>
          <a:xfrm>
            <a:off x="3353105" y="1719072"/>
            <a:ext cx="2651760" cy="1965960"/>
          </a:xfrm>
          <a:prstGeom prst="roundRect">
            <a:avLst>
              <a:gd name="adj" fmla="val 3721"/>
            </a:avLst>
          </a:prstGeom>
          <a:solidFill>
            <a:schemeClr val="bg2"/>
          </a:solidFill>
          <a:ln/>
        </p:spPr>
        <p:txBody>
          <a:bodyPr/>
          <a:p/>
        </p:txBody>
      </p:sp>
      <p:sp>
        <p:nvSpPr>
          <p:cNvPr id="14" name="Circle-61"/>
          <p:cNvSpPr/>
          <p:nvPr/>
        </p:nvSpPr>
        <p:spPr>
          <a:xfrm>
            <a:off x="3517697" y="1883664"/>
            <a:ext cx="566928" cy="566928"/>
          </a:xfrm>
          <a:prstGeom prst="ellipse">
            <a:avLst/>
          </a:prstGeom>
          <a:solidFill>
            <a:schemeClr val="accent1"/>
          </a:solidFill>
          <a:ln/>
        </p:spPr>
        <p:txBody>
          <a:bodyPr/>
          <a:p/>
        </p:txBody>
      </p:sp>
      <p:sp>
        <p:nvSpPr>
          <p:cNvPr id="15" name="Text-62"/>
          <p:cNvSpPr txBox="1"/>
          <p:nvPr/>
        </p:nvSpPr>
        <p:spPr>
          <a:xfrm>
            <a:off x="3517697" y="188366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RH</a:t>
            </a:r>
            <a:endParaRPr lang="en-US" sz="1500" dirty="0"/>
          </a:p>
        </p:txBody>
      </p:sp>
      <p:sp>
        <p:nvSpPr>
          <p:cNvPr id="16" name="Text-63"/>
          <p:cNvSpPr txBox="1"/>
          <p:nvPr/>
        </p:nvSpPr>
        <p:spPr>
          <a:xfrm>
            <a:off x="4176065" y="1865376"/>
            <a:ext cx="1737360" cy="292608"/>
          </a:xfrm>
          <a:prstGeom prst="rect">
            <a:avLst/>
          </a:prstGeom>
          <a:noFill/>
          <a:ln/>
        </p:spPr>
        <p:txBody>
          <a:bodyPr wrap="square" lIns="0" tIns="0" rIns="0" bIns="0" rtlCol="0" anchor="t"/>
          <a:lstStyle/>
          <a:p>
            <a:pPr indent="0" marL="0">
              <a:buNone/>
            </a:pPr>
            <a:r>
              <a:rPr lang="en-US" sz="1400" b="1" dirty="0">
                <a:solidFill>
                  <a:schemeClr val="tx2"/>
                </a:solidFill>
              </a:rPr>
              <a:t>Dr. Rainer Hollmann</a:t>
            </a:r>
            <a:endParaRPr lang="en-US" sz="1400" dirty="0"/>
          </a:p>
        </p:txBody>
      </p:sp>
      <p:sp>
        <p:nvSpPr>
          <p:cNvPr id="17" name="Text-64"/>
          <p:cNvSpPr txBox="1"/>
          <p:nvPr/>
        </p:nvSpPr>
        <p:spPr>
          <a:xfrm>
            <a:off x="4176065" y="2148840"/>
            <a:ext cx="1737360" cy="457200"/>
          </a:xfrm>
          <a:prstGeom prst="rect">
            <a:avLst/>
          </a:prstGeom>
          <a:noFill/>
          <a:ln/>
        </p:spPr>
        <p:txBody>
          <a:bodyPr wrap="square" lIns="0" tIns="0" rIns="0" bIns="0" rtlCol="0" anchor="t"/>
          <a:lstStyle/>
          <a:p>
            <a:pPr indent="0" marL="0">
              <a:buNone/>
            </a:pPr>
            <a:r>
              <a:rPr lang="en-US" sz="1100" dirty="0">
                <a:solidFill>
                  <a:schemeClr val="tx1"/>
                </a:solidFill>
              </a:rPr>
              <a:t>P3 · Library Director · holds the budget</a:t>
            </a:r>
            <a:endParaRPr lang="en-US" sz="1100" dirty="0"/>
          </a:p>
        </p:txBody>
      </p:sp>
      <p:sp>
        <p:nvSpPr>
          <p:cNvPr id="18" name="Tag-65"/>
          <p:cNvSpPr/>
          <p:nvPr/>
        </p:nvSpPr>
        <p:spPr>
          <a:xfrm>
            <a:off x="3517697" y="2615184"/>
            <a:ext cx="2322576" cy="274320"/>
          </a:xfrm>
          <a:prstGeom prst="roundRect">
            <a:avLst>
              <a:gd name="adj" fmla="val 40000"/>
            </a:avLst>
          </a:prstGeom>
          <a:solidFill>
            <a:schemeClr val="accent1">
              <a:alpha val="20000"/>
            </a:schemeClr>
          </a:solidFill>
          <a:ln/>
        </p:spPr>
        <p:txBody>
          <a:bodyPr/>
          <a:p/>
        </p:txBody>
      </p:sp>
      <p:sp>
        <p:nvSpPr>
          <p:cNvPr id="19" name="Text-66"/>
          <p:cNvSpPr txBox="1"/>
          <p:nvPr/>
        </p:nvSpPr>
        <p:spPr>
          <a:xfrm>
            <a:off x="3517697" y="261518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Tasks 2 · 3</a:t>
            </a:r>
            <a:endParaRPr lang="en-US" sz="1000" dirty="0"/>
          </a:p>
        </p:txBody>
      </p:sp>
      <p:sp>
        <p:nvSpPr>
          <p:cNvPr id="20" name="Text-67"/>
          <p:cNvSpPr txBox="1"/>
          <p:nvPr/>
        </p:nvSpPr>
        <p:spPr>
          <a:xfrm>
            <a:off x="3517697" y="296265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“One page: cost versus benefit, compared with other publishers.”</a:t>
            </a:r>
            <a:endParaRPr lang="en-US" sz="1100" dirty="0"/>
          </a:p>
        </p:txBody>
      </p:sp>
      <p:sp>
        <p:nvSpPr>
          <p:cNvPr id="21" name="Persona-68"/>
          <p:cNvSpPr/>
          <p:nvPr/>
        </p:nvSpPr>
        <p:spPr>
          <a:xfrm>
            <a:off x="6157570" y="1719072"/>
            <a:ext cx="2651760" cy="1965960"/>
          </a:xfrm>
          <a:prstGeom prst="roundRect">
            <a:avLst>
              <a:gd name="adj" fmla="val 3721"/>
            </a:avLst>
          </a:prstGeom>
          <a:solidFill>
            <a:schemeClr val="bg2"/>
          </a:solidFill>
          <a:ln/>
        </p:spPr>
        <p:txBody>
          <a:bodyPr/>
          <a:p/>
        </p:txBody>
      </p:sp>
      <p:sp>
        <p:nvSpPr>
          <p:cNvPr id="22" name="Circle-69"/>
          <p:cNvSpPr/>
          <p:nvPr/>
        </p:nvSpPr>
        <p:spPr>
          <a:xfrm>
            <a:off x="6322162" y="1883664"/>
            <a:ext cx="566928" cy="566928"/>
          </a:xfrm>
          <a:prstGeom prst="ellipse">
            <a:avLst/>
          </a:prstGeom>
          <a:solidFill>
            <a:schemeClr val="accent1"/>
          </a:solidFill>
          <a:ln/>
        </p:spPr>
        <p:txBody>
          <a:bodyPr/>
          <a:p/>
        </p:txBody>
      </p:sp>
      <p:sp>
        <p:nvSpPr>
          <p:cNvPr id="23" name="Text-70"/>
          <p:cNvSpPr txBox="1"/>
          <p:nvPr/>
        </p:nvSpPr>
        <p:spPr>
          <a:xfrm>
            <a:off x="6322162" y="188366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SA</a:t>
            </a:r>
            <a:endParaRPr lang="en-US" sz="1500" dirty="0"/>
          </a:p>
        </p:txBody>
      </p:sp>
      <p:sp>
        <p:nvSpPr>
          <p:cNvPr id="24" name="Text-71"/>
          <p:cNvSpPr txBox="1"/>
          <p:nvPr/>
        </p:nvSpPr>
        <p:spPr>
          <a:xfrm>
            <a:off x="6980530" y="1865376"/>
            <a:ext cx="1737360" cy="292608"/>
          </a:xfrm>
          <a:prstGeom prst="rect">
            <a:avLst/>
          </a:prstGeom>
          <a:noFill/>
          <a:ln/>
        </p:spPr>
        <p:txBody>
          <a:bodyPr wrap="square" lIns="0" tIns="0" rIns="0" bIns="0" rtlCol="0" anchor="t"/>
          <a:lstStyle/>
          <a:p>
            <a:pPr indent="0" marL="0">
              <a:buNone/>
            </a:pPr>
            <a:r>
              <a:rPr lang="en-US" sz="1400" b="1" dirty="0">
                <a:solidFill>
                  <a:schemeClr val="tx2"/>
                </a:solidFill>
              </a:rPr>
              <a:t>Prof. Dr. Sabine Aigner</a:t>
            </a:r>
            <a:endParaRPr lang="en-US" sz="1400" dirty="0"/>
          </a:p>
        </p:txBody>
      </p:sp>
      <p:sp>
        <p:nvSpPr>
          <p:cNvPr id="25" name="Text-72"/>
          <p:cNvSpPr txBox="1"/>
          <p:nvPr/>
        </p:nvSpPr>
        <p:spPr>
          <a:xfrm>
            <a:off x="6980530" y="2148840"/>
            <a:ext cx="1737360" cy="457200"/>
          </a:xfrm>
          <a:prstGeom prst="rect">
            <a:avLst/>
          </a:prstGeom>
          <a:noFill/>
          <a:ln/>
        </p:spPr>
        <p:txBody>
          <a:bodyPr wrap="square" lIns="0" tIns="0" rIns="0" bIns="0" rtlCol="0" anchor="t"/>
          <a:lstStyle/>
          <a:p>
            <a:pPr indent="0" marL="0">
              <a:buNone/>
            </a:pPr>
            <a:r>
              <a:rPr lang="en-US" sz="1100" dirty="0">
                <a:solidFill>
                  <a:schemeClr val="tx1"/>
                </a:solidFill>
              </a:rPr>
              <a:t>P4 · Vice-President for Research · signs</a:t>
            </a:r>
            <a:endParaRPr lang="en-US" sz="1100" dirty="0"/>
          </a:p>
        </p:txBody>
      </p:sp>
      <p:sp>
        <p:nvSpPr>
          <p:cNvPr id="26" name="Tag-73"/>
          <p:cNvSpPr/>
          <p:nvPr/>
        </p:nvSpPr>
        <p:spPr>
          <a:xfrm>
            <a:off x="6322162" y="2615184"/>
            <a:ext cx="2322576" cy="274320"/>
          </a:xfrm>
          <a:prstGeom prst="roundRect">
            <a:avLst>
              <a:gd name="adj" fmla="val 40000"/>
            </a:avLst>
          </a:prstGeom>
          <a:solidFill>
            <a:schemeClr val="accent1">
              <a:alpha val="20000"/>
            </a:schemeClr>
          </a:solidFill>
          <a:ln/>
        </p:spPr>
        <p:txBody>
          <a:bodyPr/>
          <a:p/>
        </p:txBody>
      </p:sp>
      <p:sp>
        <p:nvSpPr>
          <p:cNvPr id="27" name="Text-74"/>
          <p:cNvSpPr txBox="1"/>
          <p:nvPr/>
        </p:nvSpPr>
        <p:spPr>
          <a:xfrm>
            <a:off x="6322162" y="261518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Task 3</a:t>
            </a:r>
            <a:endParaRPr lang="en-US" sz="1000" dirty="0"/>
          </a:p>
        </p:txBody>
      </p:sp>
      <p:sp>
        <p:nvSpPr>
          <p:cNvPr id="28" name="Text-75"/>
          <p:cNvSpPr txBox="1"/>
          <p:nvPr/>
        </p:nvSpPr>
        <p:spPr>
          <a:xfrm>
            <a:off x="6322162" y="296265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“What does this do for our reputation? I'm wary of publisher claims.”</a:t>
            </a:r>
            <a:endParaRPr lang="en-US" sz="1100" dirty="0"/>
          </a:p>
        </p:txBody>
      </p:sp>
      <p:sp>
        <p:nvSpPr>
          <p:cNvPr id="29" name="Persona-76"/>
          <p:cNvSpPr/>
          <p:nvPr/>
        </p:nvSpPr>
        <p:spPr>
          <a:xfrm>
            <a:off x="8962034" y="1719072"/>
            <a:ext cx="2651760" cy="1965960"/>
          </a:xfrm>
          <a:prstGeom prst="roundRect">
            <a:avLst>
              <a:gd name="adj" fmla="val 3721"/>
            </a:avLst>
          </a:prstGeom>
          <a:solidFill>
            <a:schemeClr val="bg2"/>
          </a:solidFill>
          <a:ln/>
        </p:spPr>
        <p:txBody>
          <a:bodyPr/>
          <a:p/>
        </p:txBody>
      </p:sp>
      <p:sp>
        <p:nvSpPr>
          <p:cNvPr id="30" name="Circle-77"/>
          <p:cNvSpPr/>
          <p:nvPr/>
        </p:nvSpPr>
        <p:spPr>
          <a:xfrm>
            <a:off x="9126626" y="1883664"/>
            <a:ext cx="566928" cy="566928"/>
          </a:xfrm>
          <a:prstGeom prst="ellipse">
            <a:avLst/>
          </a:prstGeom>
          <a:solidFill>
            <a:schemeClr val="accent1"/>
          </a:solidFill>
          <a:ln/>
        </p:spPr>
        <p:txBody>
          <a:bodyPr/>
          <a:p/>
        </p:txBody>
      </p:sp>
      <p:sp>
        <p:nvSpPr>
          <p:cNvPr id="31" name="Text-78"/>
          <p:cNvSpPr txBox="1"/>
          <p:nvPr/>
        </p:nvSpPr>
        <p:spPr>
          <a:xfrm>
            <a:off x="9126626" y="188366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AF</a:t>
            </a:r>
            <a:endParaRPr lang="en-US" sz="1500" dirty="0"/>
          </a:p>
        </p:txBody>
      </p:sp>
      <p:sp>
        <p:nvSpPr>
          <p:cNvPr id="32" name="Text-79"/>
          <p:cNvSpPr txBox="1"/>
          <p:nvPr/>
        </p:nvSpPr>
        <p:spPr>
          <a:xfrm>
            <a:off x="9784994" y="1865376"/>
            <a:ext cx="1737360" cy="292608"/>
          </a:xfrm>
          <a:prstGeom prst="rect">
            <a:avLst/>
          </a:prstGeom>
          <a:noFill/>
          <a:ln/>
        </p:spPr>
        <p:txBody>
          <a:bodyPr wrap="square" lIns="0" tIns="0" rIns="0" bIns="0" rtlCol="0" anchor="t"/>
          <a:lstStyle/>
          <a:p>
            <a:pPr indent="0" marL="0">
              <a:buNone/>
            </a:pPr>
            <a:r>
              <a:rPr lang="en-US" sz="1400" b="1" dirty="0">
                <a:solidFill>
                  <a:schemeClr val="tx2"/>
                </a:solidFill>
              </a:rPr>
              <a:t>Dr. Ana Ferreira</a:t>
            </a:r>
            <a:endParaRPr lang="en-US" sz="1400" dirty="0"/>
          </a:p>
        </p:txBody>
      </p:sp>
      <p:sp>
        <p:nvSpPr>
          <p:cNvPr id="33" name="Text-80"/>
          <p:cNvSpPr txBox="1"/>
          <p:nvPr/>
        </p:nvSpPr>
        <p:spPr>
          <a:xfrm>
            <a:off x="9784994" y="2148840"/>
            <a:ext cx="1737360" cy="457200"/>
          </a:xfrm>
          <a:prstGeom prst="rect">
            <a:avLst/>
          </a:prstGeom>
          <a:noFill/>
          <a:ln/>
        </p:spPr>
        <p:txBody>
          <a:bodyPr wrap="square" lIns="0" tIns="0" rIns="0" bIns="0" rtlCol="0" anchor="t"/>
          <a:lstStyle/>
          <a:p>
            <a:pPr indent="0" marL="0">
              <a:buNone/>
            </a:pPr>
            <a:r>
              <a:rPr lang="en-US" sz="1100" dirty="0">
                <a:solidFill>
                  <a:schemeClr val="tx1"/>
                </a:solidFill>
              </a:rPr>
              <a:t>P6 · Group Leader, Env. Chemistry · guest editor</a:t>
            </a:r>
            <a:endParaRPr lang="en-US" sz="1100" dirty="0"/>
          </a:p>
        </p:txBody>
      </p:sp>
      <p:sp>
        <p:nvSpPr>
          <p:cNvPr id="34" name="Tag-81"/>
          <p:cNvSpPr/>
          <p:nvPr/>
        </p:nvSpPr>
        <p:spPr>
          <a:xfrm>
            <a:off x="9126626" y="2615184"/>
            <a:ext cx="2322576" cy="274320"/>
          </a:xfrm>
          <a:prstGeom prst="roundRect">
            <a:avLst>
              <a:gd name="adj" fmla="val 40000"/>
            </a:avLst>
          </a:prstGeom>
          <a:solidFill>
            <a:schemeClr val="accent1">
              <a:alpha val="20000"/>
            </a:schemeClr>
          </a:solidFill>
          <a:ln/>
        </p:spPr>
        <p:txBody>
          <a:bodyPr/>
          <a:p/>
        </p:txBody>
      </p:sp>
      <p:sp>
        <p:nvSpPr>
          <p:cNvPr id="35" name="Text-82"/>
          <p:cNvSpPr txBox="1"/>
          <p:nvPr/>
        </p:nvSpPr>
        <p:spPr>
          <a:xfrm>
            <a:off x="9126626" y="261518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Tasks 1 · 3</a:t>
            </a:r>
            <a:endParaRPr lang="en-US" sz="1000" dirty="0"/>
          </a:p>
        </p:txBody>
      </p:sp>
      <p:sp>
        <p:nvSpPr>
          <p:cNvPr id="36" name="Text-83"/>
          <p:cNvSpPr txBox="1"/>
          <p:nvPr/>
        </p:nvSpPr>
        <p:spPr>
          <a:xfrm>
            <a:off x="9126626" y="296265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“I want to publish fast – and see my review work recognised.”</a:t>
            </a:r>
            <a:endParaRPr lang="en-US" sz="1100" dirty="0"/>
          </a:p>
        </p:txBody>
      </p:sp>
      <p:sp>
        <p:nvSpPr>
          <p:cNvPr id="37" name="Text-84"/>
          <p:cNvSpPr txBox="1"/>
          <p:nvPr/>
        </p:nvSpPr>
        <p:spPr>
          <a:xfrm>
            <a:off x="548640" y="3886200"/>
            <a:ext cx="5486400" cy="256032"/>
          </a:xfrm>
          <a:prstGeom prst="rect">
            <a:avLst/>
          </a:prstGeom>
          <a:noFill/>
          <a:ln/>
        </p:spPr>
        <p:txBody>
          <a:bodyPr wrap="square" lIns="0" tIns="0" rIns="0" bIns="0" rtlCol="0" anchor="t"/>
          <a:lstStyle/>
          <a:p>
            <a:pPr indent="0" marL="0">
              <a:buNone/>
            </a:pPr>
            <a:r>
              <a:rPr lang="en-US" sz="1100" b="1" dirty="0">
                <a:solidFill>
                  <a:schemeClr val="accent6"/>
                </a:solidFill>
              </a:rPr>
              <a:t>CONTRAST PERSONAS · INTERVIEWER · TWIN FACTORY</a:t>
            </a:r>
            <a:endParaRPr lang="en-US" sz="1100" dirty="0"/>
          </a:p>
        </p:txBody>
      </p:sp>
      <p:sp>
        <p:nvSpPr>
          <p:cNvPr id="38" name="Persona-85"/>
          <p:cNvSpPr/>
          <p:nvPr/>
        </p:nvSpPr>
        <p:spPr>
          <a:xfrm>
            <a:off x="548640" y="4187952"/>
            <a:ext cx="2651760" cy="1965960"/>
          </a:xfrm>
          <a:prstGeom prst="roundRect">
            <a:avLst>
              <a:gd name="adj" fmla="val 3721"/>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39" name="Circle-86"/>
          <p:cNvSpPr/>
          <p:nvPr/>
        </p:nvSpPr>
        <p:spPr>
          <a:xfrm>
            <a:off x="713232" y="4352544"/>
            <a:ext cx="566928" cy="566928"/>
          </a:xfrm>
          <a:prstGeom prst="ellipse">
            <a:avLst/>
          </a:prstGeom>
          <a:solidFill>
            <a:schemeClr val="accent4"/>
          </a:solidFill>
          <a:ln/>
        </p:spPr>
        <p:txBody>
          <a:bodyPr/>
          <a:p/>
        </p:txBody>
      </p:sp>
      <p:sp>
        <p:nvSpPr>
          <p:cNvPr id="40" name="Text-87"/>
          <p:cNvSpPr txBox="1"/>
          <p:nvPr/>
        </p:nvSpPr>
        <p:spPr>
          <a:xfrm>
            <a:off x="713232" y="435254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JB</a:t>
            </a:r>
            <a:endParaRPr lang="en-US" sz="1500" dirty="0"/>
          </a:p>
        </p:txBody>
      </p:sp>
      <p:sp>
        <p:nvSpPr>
          <p:cNvPr id="41" name="Text-88"/>
          <p:cNvSpPr txBox="1"/>
          <p:nvPr/>
        </p:nvSpPr>
        <p:spPr>
          <a:xfrm>
            <a:off x="1371600" y="4334256"/>
            <a:ext cx="1737360" cy="292608"/>
          </a:xfrm>
          <a:prstGeom prst="rect">
            <a:avLst/>
          </a:prstGeom>
          <a:noFill/>
          <a:ln/>
        </p:spPr>
        <p:txBody>
          <a:bodyPr wrap="square" lIns="0" tIns="0" rIns="0" bIns="0" rtlCol="0" anchor="t"/>
          <a:lstStyle/>
          <a:p>
            <a:pPr indent="0" marL="0">
              <a:buNone/>
            </a:pPr>
            <a:r>
              <a:rPr lang="en-US" sz="1400" b="1" dirty="0">
                <a:solidFill>
                  <a:schemeClr val="tx2"/>
                </a:solidFill>
              </a:rPr>
              <a:t>Jonas Brändli</a:t>
            </a:r>
            <a:endParaRPr lang="en-US" sz="1400" dirty="0"/>
          </a:p>
        </p:txBody>
      </p:sp>
      <p:sp>
        <p:nvSpPr>
          <p:cNvPr id="42" name="Text-89"/>
          <p:cNvSpPr txBox="1"/>
          <p:nvPr/>
        </p:nvSpPr>
        <p:spPr>
          <a:xfrm>
            <a:off x="1371600" y="4617720"/>
            <a:ext cx="1737360" cy="457200"/>
          </a:xfrm>
          <a:prstGeom prst="rect">
            <a:avLst/>
          </a:prstGeom>
          <a:noFill/>
          <a:ln/>
        </p:spPr>
        <p:txBody>
          <a:bodyPr wrap="square" lIns="0" tIns="0" rIns="0" bIns="0" rtlCol="0" anchor="t"/>
          <a:lstStyle/>
          <a:p>
            <a:pPr indent="0" marL="0">
              <a:buNone/>
            </a:pPr>
            <a:r>
              <a:rPr lang="en-US" sz="1100" dirty="0">
                <a:solidFill>
                  <a:schemeClr val="tx1"/>
                </a:solidFill>
              </a:rPr>
              <a:t>P2 · Data Steward, Aaretal UAS (CH) · recommends</a:t>
            </a:r>
            <a:endParaRPr lang="en-US" sz="1100" dirty="0"/>
          </a:p>
        </p:txBody>
      </p:sp>
      <p:sp>
        <p:nvSpPr>
          <p:cNvPr id="43" name="Tag-90"/>
          <p:cNvSpPr/>
          <p:nvPr/>
        </p:nvSpPr>
        <p:spPr>
          <a:xfrm>
            <a:off x="713232" y="5084064"/>
            <a:ext cx="2322576" cy="274320"/>
          </a:xfrm>
          <a:prstGeom prst="roundRect">
            <a:avLst>
              <a:gd name="adj" fmla="val 40000"/>
            </a:avLst>
          </a:prstGeom>
          <a:solidFill>
            <a:schemeClr val="accent4">
              <a:alpha val="20000"/>
            </a:schemeClr>
          </a:solidFill>
          <a:ln/>
        </p:spPr>
        <p:txBody>
          <a:bodyPr/>
          <a:p/>
        </p:txBody>
      </p:sp>
      <p:sp>
        <p:nvSpPr>
          <p:cNvPr id="44" name="Text-91"/>
          <p:cNvSpPr txBox="1"/>
          <p:nvPr/>
        </p:nvSpPr>
        <p:spPr>
          <a:xfrm>
            <a:off x="713232" y="508406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Tasks 1 · 2</a:t>
            </a:r>
            <a:endParaRPr lang="en-US" sz="1000" dirty="0"/>
          </a:p>
        </p:txBody>
      </p:sp>
      <p:sp>
        <p:nvSpPr>
          <p:cNvPr id="45" name="Text-92"/>
          <p:cNvSpPr txBox="1"/>
          <p:nvPr/>
        </p:nvSpPr>
        <p:spPr>
          <a:xfrm>
            <a:off x="713232" y="543153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“Minimal effort – and proof of SNSF and open data compliance.”</a:t>
            </a:r>
            <a:endParaRPr lang="en-US" sz="1100" dirty="0"/>
          </a:p>
        </p:txBody>
      </p:sp>
      <p:sp>
        <p:nvSpPr>
          <p:cNvPr id="46" name="Persona-93"/>
          <p:cNvSpPr/>
          <p:nvPr/>
        </p:nvSpPr>
        <p:spPr>
          <a:xfrm>
            <a:off x="3353105" y="4187952"/>
            <a:ext cx="2651760" cy="1965960"/>
          </a:xfrm>
          <a:prstGeom prst="roundRect">
            <a:avLst>
              <a:gd name="adj" fmla="val 3721"/>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47" name="Circle-94"/>
          <p:cNvSpPr/>
          <p:nvPr/>
        </p:nvSpPr>
        <p:spPr>
          <a:xfrm>
            <a:off x="3517697" y="4352544"/>
            <a:ext cx="566928" cy="566928"/>
          </a:xfrm>
          <a:prstGeom prst="ellipse">
            <a:avLst/>
          </a:prstGeom>
          <a:solidFill>
            <a:schemeClr val="accent3"/>
          </a:solidFill>
          <a:ln/>
        </p:spPr>
        <p:txBody>
          <a:bodyPr/>
          <a:p/>
        </p:txBody>
      </p:sp>
      <p:sp>
        <p:nvSpPr>
          <p:cNvPr id="48" name="Text-95"/>
          <p:cNvSpPr txBox="1"/>
          <p:nvPr/>
        </p:nvSpPr>
        <p:spPr>
          <a:xfrm>
            <a:off x="3517697" y="435254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US</a:t>
            </a:r>
            <a:endParaRPr lang="en-US" sz="1500" dirty="0"/>
          </a:p>
        </p:txBody>
      </p:sp>
      <p:sp>
        <p:nvSpPr>
          <p:cNvPr id="49" name="Text-96"/>
          <p:cNvSpPr txBox="1"/>
          <p:nvPr/>
        </p:nvSpPr>
        <p:spPr>
          <a:xfrm>
            <a:off x="4176065" y="4334256"/>
            <a:ext cx="1737360" cy="292608"/>
          </a:xfrm>
          <a:prstGeom prst="rect">
            <a:avLst/>
          </a:prstGeom>
          <a:noFill/>
          <a:ln/>
        </p:spPr>
        <p:txBody>
          <a:bodyPr wrap="square" lIns="0" tIns="0" rIns="0" bIns="0" rtlCol="0" anchor="t"/>
          <a:lstStyle/>
          <a:p>
            <a:pPr indent="0" marL="0">
              <a:buNone/>
            </a:pPr>
            <a:r>
              <a:rPr lang="en-US" sz="1400" b="1" dirty="0">
                <a:solidFill>
                  <a:schemeClr val="tx2"/>
                </a:solidFill>
              </a:rPr>
              <a:t>Ulrike Sandmann</a:t>
            </a:r>
            <a:endParaRPr lang="en-US" sz="1400" dirty="0"/>
          </a:p>
        </p:txBody>
      </p:sp>
      <p:sp>
        <p:nvSpPr>
          <p:cNvPr id="50" name="Text-97"/>
          <p:cNvSpPr txBox="1"/>
          <p:nvPr/>
        </p:nvSpPr>
        <p:spPr>
          <a:xfrm>
            <a:off x="4176065" y="4617720"/>
            <a:ext cx="1737360" cy="457200"/>
          </a:xfrm>
          <a:prstGeom prst="rect">
            <a:avLst/>
          </a:prstGeom>
          <a:noFill/>
          <a:ln/>
        </p:spPr>
        <p:txBody>
          <a:bodyPr wrap="square" lIns="0" tIns="0" rIns="0" bIns="0" rtlCol="0" anchor="t"/>
          <a:lstStyle/>
          <a:p>
            <a:pPr indent="0" marL="0">
              <a:buNone/>
            </a:pPr>
            <a:r>
              <a:rPr lang="en-US" sz="1100" dirty="0">
                <a:solidFill>
                  <a:schemeClr val="tx1"/>
                </a:solidFill>
              </a:rPr>
              <a:t>P5 · Head of Licensing, consortium of 14 · negotiates</a:t>
            </a:r>
            <a:endParaRPr lang="en-US" sz="1100" dirty="0"/>
          </a:p>
        </p:txBody>
      </p:sp>
      <p:sp>
        <p:nvSpPr>
          <p:cNvPr id="51" name="Tag-98"/>
          <p:cNvSpPr/>
          <p:nvPr/>
        </p:nvSpPr>
        <p:spPr>
          <a:xfrm>
            <a:off x="3517697" y="5084064"/>
            <a:ext cx="2322576" cy="274320"/>
          </a:xfrm>
          <a:prstGeom prst="roundRect">
            <a:avLst>
              <a:gd name="adj" fmla="val 40000"/>
            </a:avLst>
          </a:prstGeom>
          <a:solidFill>
            <a:schemeClr val="accent3">
              <a:alpha val="20000"/>
            </a:schemeClr>
          </a:solidFill>
          <a:ln/>
        </p:spPr>
        <p:txBody>
          <a:bodyPr/>
          <a:p/>
        </p:txBody>
      </p:sp>
      <p:sp>
        <p:nvSpPr>
          <p:cNvPr id="52" name="Text-99"/>
          <p:cNvSpPr txBox="1"/>
          <p:nvPr/>
        </p:nvSpPr>
        <p:spPr>
          <a:xfrm>
            <a:off x="3517697" y="508406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Tasks 1 · 3</a:t>
            </a:r>
            <a:endParaRPr lang="en-US" sz="1000" dirty="0"/>
          </a:p>
        </p:txBody>
      </p:sp>
      <p:sp>
        <p:nvSpPr>
          <p:cNvPr id="53" name="Text-100"/>
          <p:cNvSpPr txBox="1"/>
          <p:nvPr/>
        </p:nvSpPr>
        <p:spPr>
          <a:xfrm>
            <a:off x="3517697" y="543153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“Comparable metrics across institutions and publishers.”</a:t>
            </a:r>
            <a:endParaRPr lang="en-US" sz="1100" dirty="0"/>
          </a:p>
        </p:txBody>
      </p:sp>
      <p:sp>
        <p:nvSpPr>
          <p:cNvPr id="54" name="Persona-101"/>
          <p:cNvSpPr/>
          <p:nvPr/>
        </p:nvSpPr>
        <p:spPr>
          <a:xfrm>
            <a:off x="6157570" y="4187952"/>
            <a:ext cx="2651760" cy="1965960"/>
          </a:xfrm>
          <a:prstGeom prst="roundRect">
            <a:avLst>
              <a:gd name="adj" fmla="val 3721"/>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55" name="Circle-102"/>
          <p:cNvSpPr/>
          <p:nvPr/>
        </p:nvSpPr>
        <p:spPr>
          <a:xfrm>
            <a:off x="6322162" y="4352544"/>
            <a:ext cx="566928" cy="566928"/>
          </a:xfrm>
          <a:prstGeom prst="ellipse">
            <a:avLst/>
          </a:prstGeom>
          <a:solidFill>
            <a:schemeClr val="accent6"/>
          </a:solidFill>
          <a:ln/>
        </p:spPr>
        <p:txBody>
          <a:bodyPr/>
          <a:p/>
        </p:txBody>
      </p:sp>
      <p:sp>
        <p:nvSpPr>
          <p:cNvPr id="56" name="Text-103"/>
          <p:cNvSpPr txBox="1"/>
          <p:nvPr/>
        </p:nvSpPr>
        <p:spPr>
          <a:xfrm>
            <a:off x="6322162" y="435254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ZL</a:t>
            </a:r>
            <a:endParaRPr lang="en-US" sz="1500" dirty="0"/>
          </a:p>
        </p:txBody>
      </p:sp>
      <p:sp>
        <p:nvSpPr>
          <p:cNvPr id="57" name="Text-104"/>
          <p:cNvSpPr txBox="1"/>
          <p:nvPr/>
        </p:nvSpPr>
        <p:spPr>
          <a:xfrm>
            <a:off x="6980530" y="4334256"/>
            <a:ext cx="1737360" cy="292608"/>
          </a:xfrm>
          <a:prstGeom prst="rect">
            <a:avLst/>
          </a:prstGeom>
          <a:noFill/>
          <a:ln/>
        </p:spPr>
        <p:txBody>
          <a:bodyPr wrap="square" lIns="0" tIns="0" rIns="0" bIns="0" rtlCol="0" anchor="t"/>
          <a:lstStyle/>
          <a:p>
            <a:pPr indent="0" marL="0">
              <a:buNone/>
            </a:pPr>
            <a:r>
              <a:rPr lang="en-US" sz="1400" b="1" dirty="0">
                <a:solidFill>
                  <a:schemeClr val="tx2"/>
                </a:solidFill>
              </a:rPr>
              <a:t>ZHB Luzern</a:t>
            </a:r>
            <a:endParaRPr lang="en-US" sz="1400" dirty="0"/>
          </a:p>
        </p:txBody>
      </p:sp>
      <p:sp>
        <p:nvSpPr>
          <p:cNvPr id="58" name="Text-105"/>
          <p:cNvSpPr txBox="1"/>
          <p:nvPr/>
        </p:nvSpPr>
        <p:spPr>
          <a:xfrm>
            <a:off x="6980530" y="4617720"/>
            <a:ext cx="1737360" cy="457200"/>
          </a:xfrm>
          <a:prstGeom prst="rect">
            <a:avLst/>
          </a:prstGeom>
          <a:noFill/>
          <a:ln/>
        </p:spPr>
        <p:txBody>
          <a:bodyPr wrap="square" lIns="0" tIns="0" rIns="0" bIns="0" rtlCol="0" anchor="t"/>
          <a:lstStyle/>
          <a:p>
            <a:pPr indent="0" marL="0">
              <a:buNone/>
            </a:pPr>
            <a:r>
              <a:rPr lang="en-US" sz="1100" dirty="0">
                <a:solidFill>
                  <a:schemeClr val="tx1"/>
                </a:solidFill>
              </a:rPr>
              <a:t>Open Science team: real counterparts for P1–P3</a:t>
            </a:r>
            <a:endParaRPr lang="en-US" sz="1100" dirty="0"/>
          </a:p>
        </p:txBody>
      </p:sp>
      <p:sp>
        <p:nvSpPr>
          <p:cNvPr id="59" name="Tag-106"/>
          <p:cNvSpPr/>
          <p:nvPr/>
        </p:nvSpPr>
        <p:spPr>
          <a:xfrm>
            <a:off x="6322162" y="5084064"/>
            <a:ext cx="2322576" cy="274320"/>
          </a:xfrm>
          <a:prstGeom prst="roundRect">
            <a:avLst>
              <a:gd name="adj" fmla="val 40000"/>
            </a:avLst>
          </a:prstGeom>
          <a:solidFill>
            <a:schemeClr val="accent6">
              <a:alpha val="20000"/>
            </a:schemeClr>
          </a:solidFill>
          <a:ln/>
        </p:spPr>
        <p:txBody>
          <a:bodyPr/>
          <a:p/>
        </p:txBody>
      </p:sp>
      <p:sp>
        <p:nvSpPr>
          <p:cNvPr id="60" name="Text-107"/>
          <p:cNvSpPr txBox="1"/>
          <p:nvPr/>
        </p:nvSpPr>
        <p:spPr>
          <a:xfrm>
            <a:off x="6322162" y="5084064"/>
            <a:ext cx="2322576" cy="274320"/>
          </a:xfrm>
          <a:prstGeom prst="rect">
            <a:avLst/>
          </a:prstGeom>
          <a:noFill/>
          <a:ln/>
        </p:spPr>
        <p:txBody>
          <a:bodyPr wrap="square" lIns="0" tIns="0" rIns="0" bIns="0" rtlCol="0" anchor="ctr"/>
          <a:lstStyle/>
          <a:p>
            <a:pPr algn="ctr" indent="0" marL="0">
              <a:buNone/>
            </a:pPr>
            <a:r>
              <a:rPr lang="en-US" sz="1000" b="1" dirty="0">
                <a:solidFill>
                  <a:schemeClr val="tx2"/>
                </a:solidFill>
              </a:rPr>
              <a:t>Validation</a:t>
            </a:r>
            <a:endParaRPr lang="en-US" sz="1000" dirty="0"/>
          </a:p>
        </p:txBody>
      </p:sp>
      <p:sp>
        <p:nvSpPr>
          <p:cNvPr id="61" name="Text-108"/>
          <p:cNvSpPr txBox="1"/>
          <p:nvPr/>
        </p:nvSpPr>
        <p:spPr>
          <a:xfrm>
            <a:off x="6322162" y="5431536"/>
            <a:ext cx="2322576" cy="640080"/>
          </a:xfrm>
          <a:prstGeom prst="rect">
            <a:avLst/>
          </a:prstGeom>
          <a:noFill/>
          <a:ln/>
        </p:spPr>
        <p:txBody>
          <a:bodyPr wrap="square" lIns="0" tIns="0" rIns="0" bIns="0" rtlCol="0" anchor="t"/>
          <a:lstStyle/>
          <a:p>
            <a:pPr indent="0" marL="0">
              <a:buNone/>
            </a:pPr>
            <a:r>
              <a:rPr lang="en-US" sz="1100" i="1" dirty="0">
                <a:solidFill>
                  <a:schemeClr val="accent6"/>
                </a:solidFill>
              </a:rPr>
              <a:t>Next: real interviews via Teams, only with consent</a:t>
            </a:r>
            <a:endParaRPr lang="en-US" sz="1100" dirty="0"/>
          </a:p>
        </p:txBody>
      </p:sp>
      <p:sp>
        <p:nvSpPr>
          <p:cNvPr id="62" name="FacilCard-109"/>
          <p:cNvSpPr/>
          <p:nvPr/>
        </p:nvSpPr>
        <p:spPr>
          <a:xfrm>
            <a:off x="8962034" y="4187952"/>
            <a:ext cx="2651760" cy="1965960"/>
          </a:xfrm>
          <a:prstGeom prst="roundRect">
            <a:avLst>
              <a:gd name="adj" fmla="val 3721"/>
            </a:avLst>
          </a:prstGeom>
          <a:solidFill>
            <a:schemeClr val="accent5">
              <a:alpha val="12000"/>
            </a:schemeClr>
          </a:solidFill>
          <a:ln/>
        </p:spPr>
        <p:txBody>
          <a:bodyPr/>
          <a:p/>
        </p:txBody>
      </p:sp>
      <p:sp>
        <p:nvSpPr>
          <p:cNvPr id="63" name="Circle-110"/>
          <p:cNvSpPr/>
          <p:nvPr/>
        </p:nvSpPr>
        <p:spPr>
          <a:xfrm>
            <a:off x="9126626" y="4352544"/>
            <a:ext cx="566928" cy="566928"/>
          </a:xfrm>
          <a:prstGeom prst="ellipse">
            <a:avLst/>
          </a:prstGeom>
          <a:solidFill>
            <a:schemeClr val="tx2"/>
          </a:solidFill>
          <a:ln/>
        </p:spPr>
        <p:txBody>
          <a:bodyPr/>
          <a:p/>
        </p:txBody>
      </p:sp>
      <p:sp>
        <p:nvSpPr>
          <p:cNvPr id="64" name="Text-111"/>
          <p:cNvSpPr txBox="1"/>
          <p:nvPr/>
        </p:nvSpPr>
        <p:spPr>
          <a:xfrm>
            <a:off x="9126626" y="435254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AB</a:t>
            </a:r>
            <a:endParaRPr lang="en-US" sz="1500" dirty="0"/>
          </a:p>
        </p:txBody>
      </p:sp>
      <p:sp>
        <p:nvSpPr>
          <p:cNvPr id="65" name="Text-112"/>
          <p:cNvSpPr txBox="1"/>
          <p:nvPr/>
        </p:nvSpPr>
        <p:spPr>
          <a:xfrm>
            <a:off x="9784994" y="4334256"/>
            <a:ext cx="1737360" cy="292608"/>
          </a:xfrm>
          <a:prstGeom prst="rect">
            <a:avLst/>
          </a:prstGeom>
          <a:noFill/>
          <a:ln/>
        </p:spPr>
        <p:txBody>
          <a:bodyPr wrap="square" lIns="0" tIns="0" rIns="0" bIns="0" rtlCol="0" anchor="t"/>
          <a:lstStyle/>
          <a:p>
            <a:pPr indent="0" marL="0">
              <a:buNone/>
            </a:pPr>
            <a:r>
              <a:rPr lang="en-US" sz="1400" b="1" dirty="0">
                <a:solidFill>
                  <a:schemeClr val="tx2"/>
                </a:solidFill>
              </a:rPr>
              <a:t>Alexander Boll</a:t>
            </a:r>
            <a:endParaRPr lang="en-US" sz="1400" dirty="0"/>
          </a:p>
        </p:txBody>
      </p:sp>
      <p:sp>
        <p:nvSpPr>
          <p:cNvPr id="66" name="Text-113"/>
          <p:cNvSpPr txBox="1"/>
          <p:nvPr/>
        </p:nvSpPr>
        <p:spPr>
          <a:xfrm>
            <a:off x="9784994" y="4617720"/>
            <a:ext cx="1737360" cy="457200"/>
          </a:xfrm>
          <a:prstGeom prst="rect">
            <a:avLst/>
          </a:prstGeom>
          <a:noFill/>
          <a:ln/>
        </p:spPr>
        <p:txBody>
          <a:bodyPr wrap="square" lIns="0" tIns="0" rIns="0" bIns="0" rtlCol="0" anchor="t"/>
          <a:lstStyle/>
          <a:p>
            <a:pPr indent="0" marL="0">
              <a:buNone/>
            </a:pPr>
            <a:r>
              <a:rPr lang="en-US" sz="1100" dirty="0">
                <a:solidFill>
                  <a:schemeClr val="tx1"/>
                </a:solidFill>
              </a:rPr>
              <a:t>Interviewer · sprintbox.ai · starts with P1</a:t>
            </a:r>
            <a:endParaRPr lang="en-US" sz="1100" dirty="0"/>
          </a:p>
        </p:txBody>
      </p:sp>
      <p:sp>
        <p:nvSpPr>
          <p:cNvPr id="67" name="IconBg-114"/>
          <p:cNvSpPr/>
          <p:nvPr/>
        </p:nvSpPr>
        <p:spPr>
          <a:xfrm>
            <a:off x="9126626" y="5193792"/>
            <a:ext cx="566928" cy="566928"/>
          </a:xfrm>
          <a:prstGeom prst="ellipse">
            <a:avLst/>
          </a:prstGeom>
          <a:solidFill>
            <a:srgbClr val="6E5BB0"/>
          </a:solidFill>
          <a:ln/>
        </p:spPr>
        <p:txBody>
          <a:bodyPr/>
          <a:p/>
        </p:txBody>
      </p:sp>
      <p:pic>
        <p:nvPicPr>
          <p:cNvPr id="68" name="Icon-115" descr="preencoded.png">    </p:cNvPr>
          <p:cNvPicPr>
            <a:picLocks noChangeAspect="1"/>
          </p:cNvPicPr>
          <p:nvPr/>
        </p:nvPicPr>
        <p:blipFill>
          <a:blip r:embed="rId1"/>
          <a:stretch>
            <a:fillRect/>
          </a:stretch>
        </p:blipFill>
        <p:spPr>
          <a:xfrm>
            <a:off x="9268358" y="5335524"/>
            <a:ext cx="283464" cy="283464"/>
          </a:xfrm>
          <a:prstGeom prst="rect">
            <a:avLst/>
          </a:prstGeom>
        </p:spPr>
      </p:pic>
      <p:sp>
        <p:nvSpPr>
          <p:cNvPr id="69" name="Text-116"/>
          <p:cNvSpPr txBox="1"/>
          <p:nvPr/>
        </p:nvSpPr>
        <p:spPr>
          <a:xfrm>
            <a:off x="9784994" y="5175504"/>
            <a:ext cx="1737360" cy="292608"/>
          </a:xfrm>
          <a:prstGeom prst="rect">
            <a:avLst/>
          </a:prstGeom>
          <a:noFill/>
          <a:ln/>
        </p:spPr>
        <p:txBody>
          <a:bodyPr wrap="square" lIns="0" tIns="0" rIns="0" bIns="0" rtlCol="0" anchor="t"/>
          <a:lstStyle/>
          <a:p>
            <a:pPr indent="0" marL="0">
              <a:buNone/>
            </a:pPr>
            <a:r>
              <a:rPr lang="en-US" sz="1400" b="1" dirty="0">
                <a:solidFill>
                  <a:schemeClr val="tx2"/>
                </a:solidFill>
              </a:rPr>
              <a:t>OpenTwin Twin Factory</a:t>
            </a:r>
            <a:endParaRPr lang="en-US" sz="1400" dirty="0"/>
          </a:p>
        </p:txBody>
      </p:sp>
      <p:sp>
        <p:nvSpPr>
          <p:cNvPr id="70" name="Text-117"/>
          <p:cNvSpPr txBox="1"/>
          <p:nvPr/>
        </p:nvSpPr>
        <p:spPr>
          <a:xfrm>
            <a:off x="9784994" y="5458968"/>
            <a:ext cx="1737360" cy="548640"/>
          </a:xfrm>
          <a:prstGeom prst="rect">
            <a:avLst/>
          </a:prstGeom>
          <a:noFill/>
          <a:ln/>
        </p:spPr>
        <p:txBody>
          <a:bodyPr wrap="square" lIns="0" tIns="0" rIns="0" bIns="0" rtlCol="0" anchor="t"/>
          <a:lstStyle/>
          <a:p>
            <a:pPr indent="0" marL="0">
              <a:buNone/>
            </a:pPr>
            <a:r>
              <a:rPr lang="en-US" sz="1100" dirty="0">
                <a:solidFill>
                  <a:schemeClr val="tx1"/>
                </a:solidFill>
              </a:rPr>
              <a:t>Builds each twin from its persona source pack</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3</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0040"/>
          </a:xfrm>
          <a:prstGeom prst="rect">
            <a:avLst/>
          </a:prstGeom>
          <a:noFill/>
          <a:ln/>
        </p:spPr>
        <p:txBody>
          <a:bodyPr wrap="square" lIns="0" tIns="0" rIns="0" bIns="0" rtlCol="0" anchor="b"/>
          <a:lstStyle/>
          <a:p>
            <a:pPr indent="0" marL="0">
              <a:buNone/>
            </a:pPr>
            <a:r>
              <a:rPr lang="en-US" sz="1200" b="1" spc="100" kern="0" dirty="0">
                <a:solidFill>
                  <a:schemeClr val="accent1"/>
                </a:solidFill>
              </a:rPr>
              <a:t>PHASE 4 · STEP 4.5 · INTERVIEW KICK-OFF</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2"/>
                </a:solidFill>
                <a:latin typeface="Arial" pitchFamily="34" charset="0"/>
                <a:ea typeface="Arial" pitchFamily="34" charset="-122"/>
                <a:cs typeface="Arial" pitchFamily="34" charset="-120"/>
              </a:rPr>
              <a:t>Starting the interviews: opener and schedule</a:t>
            </a:r>
            <a:endParaRPr lang="en-US" sz="3200" dirty="0"/>
          </a:p>
        </p:txBody>
      </p:sp>
      <p:sp>
        <p:nvSpPr>
          <p:cNvPr id="4" name="Mail-205"/>
          <p:cNvSpPr/>
          <p:nvPr/>
        </p:nvSpPr>
        <p:spPr>
          <a:xfrm>
            <a:off x="548640" y="1508760"/>
            <a:ext cx="5212080" cy="4709160"/>
          </a:xfrm>
          <a:prstGeom prst="roundRect">
            <a:avLst>
              <a:gd name="adj" fmla="val 1553"/>
            </a:avLst>
          </a:prstGeom>
          <a:solidFill>
            <a:schemeClr val="bg1"/>
          </a:solidFill>
          <a:ln w="12700">
            <a:solidFill>
              <a:srgbClr val="C9D5D8"/>
            </a:solidFill>
            <a:prstDash val="solid"/>
          </a:ln>
          <a:effectLst>
            <a:outerShdw sx="100000" sy="100000" kx="0" ky="0" algn="bl" rotWithShape="0" blurRad="63500" dist="25400" dir="5400000">
              <a:srgbClr val="000000">
                <a:alpha val="13000"/>
              </a:srgbClr>
            </a:outerShdw>
          </a:effectLst>
        </p:spPr>
        <p:txBody>
          <a:bodyPr/>
          <a:p/>
        </p:txBody>
      </p:sp>
      <p:sp>
        <p:nvSpPr>
          <p:cNvPr id="5" name="MailBar-206"/>
          <p:cNvSpPr/>
          <p:nvPr/>
        </p:nvSpPr>
        <p:spPr>
          <a:xfrm>
            <a:off x="576072" y="1536192"/>
            <a:ext cx="5157216" cy="457200"/>
          </a:xfrm>
          <a:prstGeom prst="rect">
            <a:avLst/>
          </a:prstGeom>
          <a:solidFill>
            <a:schemeClr val="bg2"/>
          </a:solidFill>
          <a:ln/>
        </p:spPr>
        <p:txBody>
          <a:bodyPr/>
          <a:p/>
        </p:txBody>
      </p:sp>
      <p:sp>
        <p:nvSpPr>
          <p:cNvPr id="6" name="IconBg-207"/>
          <p:cNvSpPr/>
          <p:nvPr/>
        </p:nvSpPr>
        <p:spPr>
          <a:xfrm>
            <a:off x="685800" y="1581912"/>
            <a:ext cx="365760" cy="365760"/>
          </a:xfrm>
          <a:prstGeom prst="ellipse">
            <a:avLst/>
          </a:prstGeom>
          <a:solidFill>
            <a:srgbClr val="1F7A8C"/>
          </a:solidFill>
          <a:ln/>
        </p:spPr>
        <p:txBody>
          <a:bodyPr/>
          <a:p/>
        </p:txBody>
      </p:sp>
      <p:pic>
        <p:nvPicPr>
          <p:cNvPr id="7" name="Icon-208" descr="preencoded.png">    </p:cNvPr>
          <p:cNvPicPr>
            <a:picLocks noChangeAspect="1"/>
          </p:cNvPicPr>
          <p:nvPr/>
        </p:nvPicPr>
        <p:blipFill>
          <a:blip r:embed="rId1"/>
          <a:stretch>
            <a:fillRect/>
          </a:stretch>
        </p:blipFill>
        <p:spPr>
          <a:xfrm>
            <a:off x="777240" y="1673352"/>
            <a:ext cx="182880" cy="182880"/>
          </a:xfrm>
          <a:prstGeom prst="rect">
            <a:avLst/>
          </a:prstGeom>
        </p:spPr>
      </p:pic>
      <p:sp>
        <p:nvSpPr>
          <p:cNvPr id="8" name="Text-209"/>
          <p:cNvSpPr txBox="1"/>
          <p:nvPr/>
        </p:nvSpPr>
        <p:spPr>
          <a:xfrm>
            <a:off x="1143000" y="1536192"/>
            <a:ext cx="2743200" cy="457200"/>
          </a:xfrm>
          <a:prstGeom prst="rect">
            <a:avLst/>
          </a:prstGeom>
          <a:noFill/>
          <a:ln/>
        </p:spPr>
        <p:txBody>
          <a:bodyPr wrap="square" lIns="0" tIns="0" rIns="0" bIns="0" rtlCol="0" anchor="ctr"/>
          <a:lstStyle/>
          <a:p>
            <a:pPr indent="0" marL="0">
              <a:buNone/>
            </a:pPr>
            <a:r>
              <a:rPr lang="en-US" sz="1300" b="1" dirty="0">
                <a:solidFill>
                  <a:schemeClr val="tx2"/>
                </a:solidFill>
              </a:rPr>
              <a:t>Opener · read aloud</a:t>
            </a:r>
            <a:endParaRPr lang="en-US" sz="1300" dirty="0"/>
          </a:p>
        </p:txBody>
      </p:sp>
      <p:sp>
        <p:nvSpPr>
          <p:cNvPr id="9" name="Text-210"/>
          <p:cNvSpPr txBox="1"/>
          <p:nvPr/>
        </p:nvSpPr>
        <p:spPr>
          <a:xfrm>
            <a:off x="777240" y="2103120"/>
            <a:ext cx="4800600" cy="594360"/>
          </a:xfrm>
          <a:prstGeom prst="rect">
            <a:avLst/>
          </a:prstGeom>
          <a:noFill/>
          <a:ln/>
        </p:spPr>
        <p:txBody>
          <a:bodyPr wrap="square" lIns="0" tIns="0" rIns="0" bIns="0" rtlCol="0" anchor="t"/>
          <a:lstStyle/>
          <a:p>
            <a:pPr indent="0" marL="0">
              <a:buNone/>
            </a:pPr>
            <a:r>
              <a:rPr lang="en-US" sz="1200" b="1" dirty="0">
                <a:solidFill>
                  <a:schemeClr val="tx1"/>
                </a:solidFill>
              </a:rPr>
              <a:t>First: </a:t>
            </a:r>
            <a:pPr indent="0" marL="0">
              <a:buNone/>
            </a:pPr>
            <a:r>
              <a:rPr lang="en-US" sz="1200" dirty="0">
                <a:solidFill>
                  <a:schemeClr val="tx1"/>
                </a:solidFill>
              </a:rPr>
              <a:t>P1 Dr. Miriam Kessler (twin), University of Rheinfeld</a:t>
            </a:r>
            <a:endParaRPr lang="en-US" sz="1200" dirty="0"/>
          </a:p>
          <a:p>
            <a:pPr indent="0" marL="0">
              <a:buNone/>
            </a:pPr>
            <a:r>
              <a:rPr lang="en-US" sz="1200" b="1" dirty="0">
                <a:solidFill>
                  <a:schemeClr val="tx1"/>
                </a:solidFill>
              </a:rPr>
              <a:t>Prototype: </a:t>
            </a:r>
            <a:pPr indent="0" marL="0">
              <a:buNone/>
            </a:pPr>
            <a:r>
              <a:rPr lang="en-US" sz="1200" dirty="0">
                <a:solidFill>
                  <a:schemeClr val="tx1"/>
                </a:solidFill>
              </a:rPr>
              <a:t>Renewal kit, agreement expires 31 March 2027</a:t>
            </a:r>
            <a:endParaRPr lang="en-US" sz="1200" dirty="0"/>
          </a:p>
        </p:txBody>
      </p:sp>
      <p:sp>
        <p:nvSpPr>
          <p:cNvPr id="10" name="Line-211"/>
          <p:cNvSpPr/>
          <p:nvPr/>
        </p:nvSpPr>
        <p:spPr>
          <a:xfrm>
            <a:off x="777240" y="2761488"/>
            <a:ext cx="4800600" cy="0"/>
          </a:xfrm>
          <a:prstGeom prst="line">
            <a:avLst/>
          </a:prstGeom>
          <a:noFill/>
          <a:ln w="9525">
            <a:solidFill>
              <a:srgbClr val="C9D5D8"/>
            </a:solidFill>
            <a:prstDash val="solid"/>
          </a:ln>
        </p:spPr>
        <p:txBody>
          <a:bodyPr/>
          <a:p/>
        </p:txBody>
      </p:sp>
      <p:sp>
        <p:nvSpPr>
          <p:cNvPr id="11" name="Text-212"/>
          <p:cNvSpPr txBox="1"/>
          <p:nvPr/>
        </p:nvSpPr>
        <p:spPr>
          <a:xfrm>
            <a:off x="777240" y="2852928"/>
            <a:ext cx="4800600" cy="3291840"/>
          </a:xfrm>
          <a:prstGeom prst="rect">
            <a:avLst/>
          </a:prstGeom>
          <a:noFill/>
          <a:ln/>
        </p:spPr>
        <p:txBody>
          <a:bodyPr wrap="square" lIns="0" tIns="0" rIns="0" bIns="0" rtlCol="0" anchor="t"/>
          <a:lstStyle/>
          <a:p>
            <a:pPr indent="0" marL="0">
              <a:buNone/>
            </a:pPr>
            <a:r>
              <a:rPr lang="en-US" sz="1300" dirty="0">
                <a:solidFill>
                  <a:schemeClr val="tx1"/>
                </a:solidFill>
              </a:rPr>
              <a:t>Hello Dr. Kessler</a:t>
            </a:r>
            <a:endParaRPr lang="en-US" sz="1300" dirty="0"/>
          </a:p>
          <a:p>
            <a:pPr indent="0" marL="0">
              <a:buNone/>
            </a:pPr>
            <a:endParaRPr lang="en-US" sz="1300" dirty="0"/>
          </a:p>
          <a:p>
            <a:pPr indent="0" marL="0">
              <a:buNone/>
            </a:pPr>
            <a:r>
              <a:rPr lang="en-US" sz="1300" dirty="0">
                <a:solidFill>
                  <a:schemeClr val="tx1"/>
                </a:solidFill>
              </a:rPr>
              <a:t>Thank you for your time. Today we're testing an early prototype of a renewal report for your Lumen partnership – we're testing the prototype, not you.</a:t>
            </a:r>
            <a:endParaRPr lang="en-US" sz="1300" dirty="0"/>
          </a:p>
          <a:p>
            <a:pPr indent="0" marL="0">
              <a:buNone/>
            </a:pPr>
            <a:endParaRPr lang="en-US" sz="1300" dirty="0"/>
          </a:p>
          <a:p>
            <a:pPr indent="0" marL="0">
              <a:buNone/>
            </a:pPr>
            <a:r>
              <a:rPr lang="en-US" sz="1300" dirty="0">
                <a:solidFill>
                  <a:schemeClr val="tx1"/>
                </a:solidFill>
              </a:rPr>
              <a:t>Please think aloud as you go. There are no wrong answers, and you can stop at any time. May we record the session?</a:t>
            </a:r>
            <a:endParaRPr lang="en-US" sz="1300" dirty="0"/>
          </a:p>
          <a:p>
            <a:pPr indent="0" marL="0">
              <a:buNone/>
            </a:pPr>
            <a:endParaRPr lang="en-US" sz="1300" dirty="0"/>
          </a:p>
          <a:p>
            <a:pPr indent="0" marL="0">
              <a:buNone/>
            </a:pPr>
            <a:r>
              <a:rPr lang="en-US" sz="1300" dirty="0">
                <a:solidFill>
                  <a:schemeClr val="tx1"/>
                </a:solidFill>
              </a:rPr>
              <a:t>To start: what is your role, and how did your last renewal go?</a:t>
            </a:r>
            <a:endParaRPr lang="en-US" sz="1300" dirty="0"/>
          </a:p>
          <a:p>
            <a:pPr indent="0" marL="0">
              <a:buNone/>
            </a:pPr>
            <a:r>
              <a:rPr lang="en-US" sz="1300" dirty="0">
                <a:solidFill>
                  <a:schemeClr val="tx1"/>
                </a:solidFill>
              </a:rPr>
              <a:t>→ then context questions, then Task 1</a:t>
            </a:r>
            <a:endParaRPr lang="en-US" sz="1300" dirty="0"/>
          </a:p>
        </p:txBody>
      </p:sp>
      <p:sp>
        <p:nvSpPr>
          <p:cNvPr id="12" name="Text-213"/>
          <p:cNvSpPr txBox="1"/>
          <p:nvPr/>
        </p:nvSpPr>
        <p:spPr>
          <a:xfrm>
            <a:off x="6080760" y="1508760"/>
            <a:ext cx="2651760" cy="365760"/>
          </a:xfrm>
          <a:prstGeom prst="rect">
            <a:avLst/>
          </a:prstGeom>
          <a:noFill/>
          <a:ln/>
        </p:spPr>
        <p:txBody>
          <a:bodyPr wrap="square" lIns="0" tIns="0" rIns="0" bIns="0" rtlCol="0" anchor="t"/>
          <a:lstStyle/>
          <a:p>
            <a:pPr indent="0" marL="0">
              <a:buNone/>
            </a:pPr>
            <a:r>
              <a:rPr lang="en-US" sz="1600" b="1" dirty="0">
                <a:solidFill>
                  <a:schemeClr val="tx2"/>
                </a:solidFill>
              </a:rPr>
              <a:t>Test day · twins</a:t>
            </a:r>
            <a:endParaRPr lang="en-US" sz="1600" dirty="0"/>
          </a:p>
        </p:txBody>
      </p:sp>
      <p:sp>
        <p:nvSpPr>
          <p:cNvPr id="13" name="Circle-214"/>
          <p:cNvSpPr/>
          <p:nvPr/>
        </p:nvSpPr>
        <p:spPr>
          <a:xfrm>
            <a:off x="6080760" y="2011680"/>
            <a:ext cx="182880" cy="182880"/>
          </a:xfrm>
          <a:prstGeom prst="ellipse">
            <a:avLst/>
          </a:prstGeom>
          <a:solidFill>
            <a:schemeClr val="accent2"/>
          </a:solidFill>
          <a:ln/>
        </p:spPr>
        <p:txBody>
          <a:bodyPr/>
          <a:p/>
        </p:txBody>
      </p:sp>
      <p:sp>
        <p:nvSpPr>
          <p:cNvPr id="14" name="Text-215"/>
          <p:cNvSpPr txBox="1"/>
          <p:nvPr/>
        </p:nvSpPr>
        <p:spPr>
          <a:xfrm>
            <a:off x="6355080" y="1938528"/>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09:00</a:t>
            </a:r>
            <a:endParaRPr lang="en-US" sz="1200" dirty="0"/>
          </a:p>
        </p:txBody>
      </p:sp>
      <p:sp>
        <p:nvSpPr>
          <p:cNvPr id="15" name="Text-216"/>
          <p:cNvSpPr txBox="1"/>
          <p:nvPr/>
        </p:nvSpPr>
        <p:spPr>
          <a:xfrm>
            <a:off x="6922008" y="1938528"/>
            <a:ext cx="1828800" cy="548640"/>
          </a:xfrm>
          <a:prstGeom prst="rect">
            <a:avLst/>
          </a:prstGeom>
          <a:noFill/>
          <a:ln/>
        </p:spPr>
        <p:txBody>
          <a:bodyPr wrap="square" lIns="0" tIns="0" rIns="0" bIns="0" rtlCol="0" anchor="t"/>
          <a:lstStyle/>
          <a:p>
            <a:pPr indent="0" marL="0">
              <a:buNone/>
            </a:pPr>
            <a:r>
              <a:rPr lang="en-US" sz="1200" dirty="0">
                <a:solidFill>
                  <a:schemeClr val="tx1"/>
                </a:solidFill>
              </a:rPr>
              <a:t>Setup &amp; prototype check</a:t>
            </a:r>
            <a:endParaRPr lang="en-US" sz="1200" dirty="0"/>
          </a:p>
        </p:txBody>
      </p:sp>
      <p:sp>
        <p:nvSpPr>
          <p:cNvPr id="16" name="Circle-217"/>
          <p:cNvSpPr/>
          <p:nvPr/>
        </p:nvSpPr>
        <p:spPr>
          <a:xfrm>
            <a:off x="6080760" y="2615184"/>
            <a:ext cx="182880" cy="182880"/>
          </a:xfrm>
          <a:prstGeom prst="ellipse">
            <a:avLst/>
          </a:prstGeom>
          <a:solidFill>
            <a:schemeClr val="accent1"/>
          </a:solidFill>
          <a:ln/>
        </p:spPr>
        <p:txBody>
          <a:bodyPr/>
          <a:p/>
        </p:txBody>
      </p:sp>
      <p:sp>
        <p:nvSpPr>
          <p:cNvPr id="17" name="Text-218"/>
          <p:cNvSpPr txBox="1"/>
          <p:nvPr/>
        </p:nvSpPr>
        <p:spPr>
          <a:xfrm>
            <a:off x="6355080" y="2542032"/>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09:15</a:t>
            </a:r>
            <a:endParaRPr lang="en-US" sz="1200" dirty="0"/>
          </a:p>
        </p:txBody>
      </p:sp>
      <p:sp>
        <p:nvSpPr>
          <p:cNvPr id="18" name="Text-219"/>
          <p:cNvSpPr txBox="1"/>
          <p:nvPr/>
        </p:nvSpPr>
        <p:spPr>
          <a:xfrm>
            <a:off x="6922008" y="2542032"/>
            <a:ext cx="1828800" cy="548640"/>
          </a:xfrm>
          <a:prstGeom prst="rect">
            <a:avLst/>
          </a:prstGeom>
          <a:noFill/>
          <a:ln/>
        </p:spPr>
        <p:txBody>
          <a:bodyPr wrap="square" lIns="0" tIns="0" rIns="0" bIns="0" rtlCol="0" anchor="t"/>
          <a:lstStyle/>
          <a:p>
            <a:pPr indent="0" marL="0">
              <a:buNone/>
            </a:pPr>
            <a:r>
              <a:rPr lang="en-US" sz="1200" dirty="0">
                <a:solidFill>
                  <a:schemeClr val="tx1"/>
                </a:solidFill>
              </a:rPr>
              <a:t>P1 Miriam Kessler · T1/T2</a:t>
            </a:r>
            <a:endParaRPr lang="en-US" sz="1200" dirty="0"/>
          </a:p>
        </p:txBody>
      </p:sp>
      <p:sp>
        <p:nvSpPr>
          <p:cNvPr id="19" name="Circle-220"/>
          <p:cNvSpPr/>
          <p:nvPr/>
        </p:nvSpPr>
        <p:spPr>
          <a:xfrm>
            <a:off x="6080760" y="3218688"/>
            <a:ext cx="182880" cy="182880"/>
          </a:xfrm>
          <a:prstGeom prst="ellipse">
            <a:avLst/>
          </a:prstGeom>
          <a:solidFill>
            <a:schemeClr val="accent1"/>
          </a:solidFill>
          <a:ln/>
        </p:spPr>
        <p:txBody>
          <a:bodyPr/>
          <a:p/>
        </p:txBody>
      </p:sp>
      <p:sp>
        <p:nvSpPr>
          <p:cNvPr id="20" name="Text-221"/>
          <p:cNvSpPr txBox="1"/>
          <p:nvPr/>
        </p:nvSpPr>
        <p:spPr>
          <a:xfrm>
            <a:off x="6355080" y="3145536"/>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10:15</a:t>
            </a:r>
            <a:endParaRPr lang="en-US" sz="1200" dirty="0"/>
          </a:p>
        </p:txBody>
      </p:sp>
      <p:sp>
        <p:nvSpPr>
          <p:cNvPr id="21" name="Text-222"/>
          <p:cNvSpPr txBox="1"/>
          <p:nvPr/>
        </p:nvSpPr>
        <p:spPr>
          <a:xfrm>
            <a:off x="6922008" y="3145536"/>
            <a:ext cx="1828800" cy="548640"/>
          </a:xfrm>
          <a:prstGeom prst="rect">
            <a:avLst/>
          </a:prstGeom>
          <a:noFill/>
          <a:ln/>
        </p:spPr>
        <p:txBody>
          <a:bodyPr wrap="square" lIns="0" tIns="0" rIns="0" bIns="0" rtlCol="0" anchor="t"/>
          <a:lstStyle/>
          <a:p>
            <a:pPr indent="0" marL="0">
              <a:buNone/>
            </a:pPr>
            <a:r>
              <a:rPr lang="en-US" sz="1200" dirty="0">
                <a:solidFill>
                  <a:schemeClr val="tx1"/>
                </a:solidFill>
              </a:rPr>
              <a:t>P3 Rainer Hollmann · T2/T3</a:t>
            </a:r>
            <a:endParaRPr lang="en-US" sz="1200" dirty="0"/>
          </a:p>
        </p:txBody>
      </p:sp>
      <p:sp>
        <p:nvSpPr>
          <p:cNvPr id="22" name="Circle-223"/>
          <p:cNvSpPr/>
          <p:nvPr/>
        </p:nvSpPr>
        <p:spPr>
          <a:xfrm>
            <a:off x="6080760" y="3822192"/>
            <a:ext cx="182880" cy="182880"/>
          </a:xfrm>
          <a:prstGeom prst="ellipse">
            <a:avLst/>
          </a:prstGeom>
          <a:solidFill>
            <a:schemeClr val="accent1"/>
          </a:solidFill>
          <a:ln/>
        </p:spPr>
        <p:txBody>
          <a:bodyPr/>
          <a:p/>
        </p:txBody>
      </p:sp>
      <p:sp>
        <p:nvSpPr>
          <p:cNvPr id="23" name="Text-224"/>
          <p:cNvSpPr txBox="1"/>
          <p:nvPr/>
        </p:nvSpPr>
        <p:spPr>
          <a:xfrm>
            <a:off x="6355080" y="3749040"/>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11:15</a:t>
            </a:r>
            <a:endParaRPr lang="en-US" sz="1200" dirty="0"/>
          </a:p>
        </p:txBody>
      </p:sp>
      <p:sp>
        <p:nvSpPr>
          <p:cNvPr id="24" name="Text-225"/>
          <p:cNvSpPr txBox="1"/>
          <p:nvPr/>
        </p:nvSpPr>
        <p:spPr>
          <a:xfrm>
            <a:off x="6922008" y="3749040"/>
            <a:ext cx="1828800" cy="548640"/>
          </a:xfrm>
          <a:prstGeom prst="rect">
            <a:avLst/>
          </a:prstGeom>
          <a:noFill/>
          <a:ln/>
        </p:spPr>
        <p:txBody>
          <a:bodyPr wrap="square" lIns="0" tIns="0" rIns="0" bIns="0" rtlCol="0" anchor="t"/>
          <a:lstStyle/>
          <a:p>
            <a:pPr indent="0" marL="0">
              <a:buNone/>
            </a:pPr>
            <a:r>
              <a:rPr lang="en-US" sz="1200" dirty="0">
                <a:solidFill>
                  <a:schemeClr val="tx1"/>
                </a:solidFill>
              </a:rPr>
              <a:t>P4 Sabine Aigner · T3</a:t>
            </a:r>
            <a:endParaRPr lang="en-US" sz="1200" dirty="0"/>
          </a:p>
        </p:txBody>
      </p:sp>
      <p:sp>
        <p:nvSpPr>
          <p:cNvPr id="25" name="Circle-226"/>
          <p:cNvSpPr/>
          <p:nvPr/>
        </p:nvSpPr>
        <p:spPr>
          <a:xfrm>
            <a:off x="6080760" y="4425696"/>
            <a:ext cx="182880" cy="182880"/>
          </a:xfrm>
          <a:prstGeom prst="ellipse">
            <a:avLst/>
          </a:prstGeom>
          <a:solidFill>
            <a:schemeClr val="accent1"/>
          </a:solidFill>
          <a:ln/>
        </p:spPr>
        <p:txBody>
          <a:bodyPr/>
          <a:p/>
        </p:txBody>
      </p:sp>
      <p:sp>
        <p:nvSpPr>
          <p:cNvPr id="26" name="Text-227"/>
          <p:cNvSpPr txBox="1"/>
          <p:nvPr/>
        </p:nvSpPr>
        <p:spPr>
          <a:xfrm>
            <a:off x="6355080" y="4352544"/>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13:00</a:t>
            </a:r>
            <a:endParaRPr lang="en-US" sz="1200" dirty="0"/>
          </a:p>
        </p:txBody>
      </p:sp>
      <p:sp>
        <p:nvSpPr>
          <p:cNvPr id="27" name="Text-228"/>
          <p:cNvSpPr txBox="1"/>
          <p:nvPr/>
        </p:nvSpPr>
        <p:spPr>
          <a:xfrm>
            <a:off x="6922008" y="4352544"/>
            <a:ext cx="1828800" cy="548640"/>
          </a:xfrm>
          <a:prstGeom prst="rect">
            <a:avLst/>
          </a:prstGeom>
          <a:noFill/>
          <a:ln/>
        </p:spPr>
        <p:txBody>
          <a:bodyPr wrap="square" lIns="0" tIns="0" rIns="0" bIns="0" rtlCol="0" anchor="t"/>
          <a:lstStyle/>
          <a:p>
            <a:pPr indent="0" marL="0">
              <a:buNone/>
            </a:pPr>
            <a:r>
              <a:rPr lang="en-US" sz="1200" dirty="0">
                <a:solidFill>
                  <a:schemeClr val="tx1"/>
                </a:solidFill>
              </a:rPr>
              <a:t>P6 Ana Ferreira · T1/T3</a:t>
            </a:r>
            <a:endParaRPr lang="en-US" sz="1200" dirty="0"/>
          </a:p>
        </p:txBody>
      </p:sp>
      <p:sp>
        <p:nvSpPr>
          <p:cNvPr id="28" name="Circle-229"/>
          <p:cNvSpPr/>
          <p:nvPr/>
        </p:nvSpPr>
        <p:spPr>
          <a:xfrm>
            <a:off x="6080760" y="5029200"/>
            <a:ext cx="182880" cy="182880"/>
          </a:xfrm>
          <a:prstGeom prst="ellipse">
            <a:avLst/>
          </a:prstGeom>
          <a:solidFill>
            <a:schemeClr val="accent1"/>
          </a:solidFill>
          <a:ln/>
        </p:spPr>
        <p:txBody>
          <a:bodyPr/>
          <a:p/>
        </p:txBody>
      </p:sp>
      <p:sp>
        <p:nvSpPr>
          <p:cNvPr id="29" name="Text-230"/>
          <p:cNvSpPr txBox="1"/>
          <p:nvPr/>
        </p:nvSpPr>
        <p:spPr>
          <a:xfrm>
            <a:off x="6355080" y="4956048"/>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14:00</a:t>
            </a:r>
            <a:endParaRPr lang="en-US" sz="1200" dirty="0"/>
          </a:p>
        </p:txBody>
      </p:sp>
      <p:sp>
        <p:nvSpPr>
          <p:cNvPr id="30" name="Text-231"/>
          <p:cNvSpPr txBox="1"/>
          <p:nvPr/>
        </p:nvSpPr>
        <p:spPr>
          <a:xfrm>
            <a:off x="6922008" y="4956048"/>
            <a:ext cx="1828800" cy="548640"/>
          </a:xfrm>
          <a:prstGeom prst="rect">
            <a:avLst/>
          </a:prstGeom>
          <a:noFill/>
          <a:ln/>
        </p:spPr>
        <p:txBody>
          <a:bodyPr wrap="square" lIns="0" tIns="0" rIns="0" bIns="0" rtlCol="0" anchor="t"/>
          <a:lstStyle/>
          <a:p>
            <a:pPr indent="0" marL="0">
              <a:buNone/>
            </a:pPr>
            <a:r>
              <a:rPr lang="en-US" sz="1200" dirty="0">
                <a:solidFill>
                  <a:schemeClr val="tx1"/>
                </a:solidFill>
              </a:rPr>
              <a:t>P2 Jonas Brändli · T1/T2</a:t>
            </a:r>
            <a:endParaRPr lang="en-US" sz="1200" dirty="0"/>
          </a:p>
        </p:txBody>
      </p:sp>
      <p:sp>
        <p:nvSpPr>
          <p:cNvPr id="31" name="Circle-232"/>
          <p:cNvSpPr/>
          <p:nvPr/>
        </p:nvSpPr>
        <p:spPr>
          <a:xfrm>
            <a:off x="6080760" y="5632704"/>
            <a:ext cx="182880" cy="182880"/>
          </a:xfrm>
          <a:prstGeom prst="ellipse">
            <a:avLst/>
          </a:prstGeom>
          <a:solidFill>
            <a:schemeClr val="accent1"/>
          </a:solidFill>
          <a:ln/>
        </p:spPr>
        <p:txBody>
          <a:bodyPr/>
          <a:p/>
        </p:txBody>
      </p:sp>
      <p:sp>
        <p:nvSpPr>
          <p:cNvPr id="32" name="Text-233"/>
          <p:cNvSpPr txBox="1"/>
          <p:nvPr/>
        </p:nvSpPr>
        <p:spPr>
          <a:xfrm>
            <a:off x="6355080" y="5559552"/>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15:00</a:t>
            </a:r>
            <a:endParaRPr lang="en-US" sz="1200" dirty="0"/>
          </a:p>
        </p:txBody>
      </p:sp>
      <p:sp>
        <p:nvSpPr>
          <p:cNvPr id="33" name="Text-234"/>
          <p:cNvSpPr txBox="1"/>
          <p:nvPr/>
        </p:nvSpPr>
        <p:spPr>
          <a:xfrm>
            <a:off x="6922008" y="5559552"/>
            <a:ext cx="1828800" cy="548640"/>
          </a:xfrm>
          <a:prstGeom prst="rect">
            <a:avLst/>
          </a:prstGeom>
          <a:noFill/>
          <a:ln/>
        </p:spPr>
        <p:txBody>
          <a:bodyPr wrap="square" lIns="0" tIns="0" rIns="0" bIns="0" rtlCol="0" anchor="t"/>
          <a:lstStyle/>
          <a:p>
            <a:pPr indent="0" marL="0">
              <a:buNone/>
            </a:pPr>
            <a:r>
              <a:rPr lang="en-US" sz="1200" dirty="0">
                <a:solidFill>
                  <a:schemeClr val="tx1"/>
                </a:solidFill>
              </a:rPr>
              <a:t>P5 Ulrike Sandmann · T1/T3</a:t>
            </a:r>
            <a:endParaRPr lang="en-US" sz="1200" dirty="0"/>
          </a:p>
        </p:txBody>
      </p:sp>
      <p:sp>
        <p:nvSpPr>
          <p:cNvPr id="34" name="Text-235"/>
          <p:cNvSpPr txBox="1"/>
          <p:nvPr/>
        </p:nvSpPr>
        <p:spPr>
          <a:xfrm>
            <a:off x="8915400" y="1508760"/>
            <a:ext cx="2651760" cy="365760"/>
          </a:xfrm>
          <a:prstGeom prst="rect">
            <a:avLst/>
          </a:prstGeom>
          <a:noFill/>
          <a:ln/>
        </p:spPr>
        <p:txBody>
          <a:bodyPr wrap="square" lIns="0" tIns="0" rIns="0" bIns="0" rtlCol="0" anchor="t"/>
          <a:lstStyle/>
          <a:p>
            <a:pPr indent="0" marL="0">
              <a:buNone/>
            </a:pPr>
            <a:r>
              <a:rPr lang="en-US" sz="1600" b="1" dirty="0">
                <a:solidFill>
                  <a:schemeClr val="tx2"/>
                </a:solidFill>
              </a:rPr>
              <a:t>Synthesis &amp; validation</a:t>
            </a:r>
            <a:endParaRPr lang="en-US" sz="1600" dirty="0"/>
          </a:p>
        </p:txBody>
      </p:sp>
      <p:sp>
        <p:nvSpPr>
          <p:cNvPr id="35" name="Circle-236"/>
          <p:cNvSpPr/>
          <p:nvPr/>
        </p:nvSpPr>
        <p:spPr>
          <a:xfrm>
            <a:off x="8915400" y="2011680"/>
            <a:ext cx="182880" cy="182880"/>
          </a:xfrm>
          <a:prstGeom prst="ellipse">
            <a:avLst/>
          </a:prstGeom>
          <a:solidFill>
            <a:schemeClr val="accent5"/>
          </a:solidFill>
          <a:ln/>
        </p:spPr>
        <p:txBody>
          <a:bodyPr/>
          <a:p/>
        </p:txBody>
      </p:sp>
      <p:sp>
        <p:nvSpPr>
          <p:cNvPr id="36" name="Text-237"/>
          <p:cNvSpPr txBox="1"/>
          <p:nvPr/>
        </p:nvSpPr>
        <p:spPr>
          <a:xfrm>
            <a:off x="9189720" y="1938528"/>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16:00</a:t>
            </a:r>
            <a:endParaRPr lang="en-US" sz="1200" dirty="0"/>
          </a:p>
        </p:txBody>
      </p:sp>
      <p:sp>
        <p:nvSpPr>
          <p:cNvPr id="37" name="Text-238"/>
          <p:cNvSpPr txBox="1"/>
          <p:nvPr/>
        </p:nvSpPr>
        <p:spPr>
          <a:xfrm>
            <a:off x="9756648" y="1938528"/>
            <a:ext cx="1828800" cy="548640"/>
          </a:xfrm>
          <a:prstGeom prst="rect">
            <a:avLst/>
          </a:prstGeom>
          <a:noFill/>
          <a:ln/>
        </p:spPr>
        <p:txBody>
          <a:bodyPr wrap="square" lIns="0" tIns="0" rIns="0" bIns="0" rtlCol="0" anchor="t"/>
          <a:lstStyle/>
          <a:p>
            <a:pPr indent="0" marL="0">
              <a:buNone/>
            </a:pPr>
            <a:r>
              <a:rPr lang="en-US" sz="1200" dirty="0">
                <a:solidFill>
                  <a:schemeClr val="tx1"/>
                </a:solidFill>
              </a:rPr>
              <a:t>AI synthesis of the six sessions</a:t>
            </a:r>
            <a:endParaRPr lang="en-US" sz="1200" dirty="0"/>
          </a:p>
        </p:txBody>
      </p:sp>
      <p:sp>
        <p:nvSpPr>
          <p:cNvPr id="38" name="Circle-239"/>
          <p:cNvSpPr/>
          <p:nvPr/>
        </p:nvSpPr>
        <p:spPr>
          <a:xfrm>
            <a:off x="8915400" y="2615184"/>
            <a:ext cx="182880" cy="182880"/>
          </a:xfrm>
          <a:prstGeom prst="ellipse">
            <a:avLst/>
          </a:prstGeom>
          <a:solidFill>
            <a:schemeClr val="accent2"/>
          </a:solidFill>
          <a:ln/>
        </p:spPr>
        <p:txBody>
          <a:bodyPr/>
          <a:p/>
        </p:txBody>
      </p:sp>
      <p:sp>
        <p:nvSpPr>
          <p:cNvPr id="39" name="Text-240"/>
          <p:cNvSpPr txBox="1"/>
          <p:nvPr/>
        </p:nvSpPr>
        <p:spPr>
          <a:xfrm>
            <a:off x="9189720" y="2542032"/>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16:30</a:t>
            </a:r>
            <a:endParaRPr lang="en-US" sz="1200" dirty="0"/>
          </a:p>
        </p:txBody>
      </p:sp>
      <p:sp>
        <p:nvSpPr>
          <p:cNvPr id="40" name="Text-241"/>
          <p:cNvSpPr txBox="1"/>
          <p:nvPr/>
        </p:nvSpPr>
        <p:spPr>
          <a:xfrm>
            <a:off x="9756648" y="2542032"/>
            <a:ext cx="1828800" cy="548640"/>
          </a:xfrm>
          <a:prstGeom prst="rect">
            <a:avLst/>
          </a:prstGeom>
          <a:noFill/>
          <a:ln/>
        </p:spPr>
        <p:txBody>
          <a:bodyPr wrap="square" lIns="0" tIns="0" rIns="0" bIns="0" rtlCol="0" anchor="t"/>
          <a:lstStyle/>
          <a:p>
            <a:pPr indent="0" marL="0">
              <a:buNone/>
            </a:pPr>
            <a:r>
              <a:rPr lang="en-US" sz="1200" dirty="0">
                <a:solidFill>
                  <a:schemeClr val="tx1"/>
                </a:solidFill>
              </a:rPr>
              <a:t>Pattern board: task × persona</a:t>
            </a:r>
            <a:endParaRPr lang="en-US" sz="1200" dirty="0"/>
          </a:p>
        </p:txBody>
      </p:sp>
      <p:sp>
        <p:nvSpPr>
          <p:cNvPr id="41" name="Circle-242"/>
          <p:cNvSpPr/>
          <p:nvPr/>
        </p:nvSpPr>
        <p:spPr>
          <a:xfrm>
            <a:off x="8915400" y="3218688"/>
            <a:ext cx="182880" cy="182880"/>
          </a:xfrm>
          <a:prstGeom prst="ellipse">
            <a:avLst/>
          </a:prstGeom>
          <a:solidFill>
            <a:schemeClr val="accent2"/>
          </a:solidFill>
          <a:ln/>
        </p:spPr>
        <p:txBody>
          <a:bodyPr/>
          <a:p/>
        </p:txBody>
      </p:sp>
      <p:sp>
        <p:nvSpPr>
          <p:cNvPr id="42" name="Text-243"/>
          <p:cNvSpPr txBox="1"/>
          <p:nvPr/>
        </p:nvSpPr>
        <p:spPr>
          <a:xfrm>
            <a:off x="9189720" y="3145536"/>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17:00</a:t>
            </a:r>
            <a:endParaRPr lang="en-US" sz="1200" dirty="0"/>
          </a:p>
        </p:txBody>
      </p:sp>
      <p:sp>
        <p:nvSpPr>
          <p:cNvPr id="43" name="Text-244"/>
          <p:cNvSpPr txBox="1"/>
          <p:nvPr/>
        </p:nvSpPr>
        <p:spPr>
          <a:xfrm>
            <a:off x="9756648" y="3145536"/>
            <a:ext cx="1828800" cy="548640"/>
          </a:xfrm>
          <a:prstGeom prst="rect">
            <a:avLst/>
          </a:prstGeom>
          <a:noFill/>
          <a:ln/>
        </p:spPr>
        <p:txBody>
          <a:bodyPr wrap="square" lIns="0" tIns="0" rIns="0" bIns="0" rtlCol="0" anchor="t"/>
          <a:lstStyle/>
          <a:p>
            <a:pPr indent="0" marL="0">
              <a:buNone/>
            </a:pPr>
            <a:r>
              <a:rPr lang="en-US" sz="1200" dirty="0">
                <a:solidFill>
                  <a:schemeClr val="tx1"/>
                </a:solidFill>
              </a:rPr>
              <a:t>SQ1–SQ5: yes, no or unclear</a:t>
            </a:r>
            <a:endParaRPr lang="en-US" sz="1200" dirty="0"/>
          </a:p>
        </p:txBody>
      </p:sp>
      <p:sp>
        <p:nvSpPr>
          <p:cNvPr id="44" name="Circle-245"/>
          <p:cNvSpPr/>
          <p:nvPr/>
        </p:nvSpPr>
        <p:spPr>
          <a:xfrm>
            <a:off x="8915400" y="3822192"/>
            <a:ext cx="182880" cy="182880"/>
          </a:xfrm>
          <a:prstGeom prst="ellipse">
            <a:avLst/>
          </a:prstGeom>
          <a:solidFill>
            <a:schemeClr val="accent2"/>
          </a:solidFill>
          <a:ln/>
        </p:spPr>
        <p:txBody>
          <a:bodyPr/>
          <a:p/>
        </p:txBody>
      </p:sp>
      <p:sp>
        <p:nvSpPr>
          <p:cNvPr id="45" name="Text-246"/>
          <p:cNvSpPr txBox="1"/>
          <p:nvPr/>
        </p:nvSpPr>
        <p:spPr>
          <a:xfrm>
            <a:off x="9189720" y="3749040"/>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17:30</a:t>
            </a:r>
            <a:endParaRPr lang="en-US" sz="1200" dirty="0"/>
          </a:p>
        </p:txBody>
      </p:sp>
      <p:sp>
        <p:nvSpPr>
          <p:cNvPr id="46" name="Text-247"/>
          <p:cNvSpPr txBox="1"/>
          <p:nvPr/>
        </p:nvSpPr>
        <p:spPr>
          <a:xfrm>
            <a:off x="9756648" y="3749040"/>
            <a:ext cx="1828800" cy="548640"/>
          </a:xfrm>
          <a:prstGeom prst="rect">
            <a:avLst/>
          </a:prstGeom>
          <a:noFill/>
          <a:ln/>
        </p:spPr>
        <p:txBody>
          <a:bodyPr wrap="square" lIns="0" tIns="0" rIns="0" bIns="0" rtlCol="0" anchor="t"/>
          <a:lstStyle/>
          <a:p>
            <a:pPr indent="0" marL="0">
              <a:buNone/>
            </a:pPr>
            <a:r>
              <a:rPr lang="en-US" sz="1200" dirty="0">
                <a:solidFill>
                  <a:schemeClr val="tx1"/>
                </a:solidFill>
              </a:rPr>
              <a:t>Iterate the renewal kit</a:t>
            </a:r>
            <a:endParaRPr lang="en-US" sz="1200" dirty="0"/>
          </a:p>
        </p:txBody>
      </p:sp>
      <p:sp>
        <p:nvSpPr>
          <p:cNvPr id="47" name="Circle-248"/>
          <p:cNvSpPr/>
          <p:nvPr/>
        </p:nvSpPr>
        <p:spPr>
          <a:xfrm>
            <a:off x="8915400" y="4425696"/>
            <a:ext cx="182880" cy="182880"/>
          </a:xfrm>
          <a:prstGeom prst="ellipse">
            <a:avLst/>
          </a:prstGeom>
          <a:solidFill>
            <a:schemeClr val="accent2"/>
          </a:solidFill>
          <a:ln/>
        </p:spPr>
        <p:txBody>
          <a:bodyPr/>
          <a:p/>
        </p:txBody>
      </p:sp>
      <p:sp>
        <p:nvSpPr>
          <p:cNvPr id="48" name="Text-249"/>
          <p:cNvSpPr txBox="1"/>
          <p:nvPr/>
        </p:nvSpPr>
        <p:spPr>
          <a:xfrm>
            <a:off x="9189720" y="4352544"/>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 wk</a:t>
            </a:r>
            <a:endParaRPr lang="en-US" sz="1200" dirty="0"/>
          </a:p>
        </p:txBody>
      </p:sp>
      <p:sp>
        <p:nvSpPr>
          <p:cNvPr id="49" name="Text-250"/>
          <p:cNvSpPr txBox="1"/>
          <p:nvPr/>
        </p:nvSpPr>
        <p:spPr>
          <a:xfrm>
            <a:off x="9756648" y="4352544"/>
            <a:ext cx="1828800" cy="548640"/>
          </a:xfrm>
          <a:prstGeom prst="rect">
            <a:avLst/>
          </a:prstGeom>
          <a:noFill/>
          <a:ln/>
        </p:spPr>
        <p:txBody>
          <a:bodyPr wrap="square" lIns="0" tIns="0" rIns="0" bIns="0" rtlCol="0" anchor="t"/>
          <a:lstStyle/>
          <a:p>
            <a:pPr indent="0" marL="0">
              <a:buNone/>
            </a:pPr>
            <a:r>
              <a:rPr lang="en-US" sz="1200" dirty="0">
                <a:solidFill>
                  <a:schemeClr val="tx1"/>
                </a:solidFill>
              </a:rPr>
              <a:t>Real interviews with librarians</a:t>
            </a:r>
            <a:endParaRPr lang="en-US" sz="1200" dirty="0"/>
          </a:p>
        </p:txBody>
      </p:sp>
      <p:sp>
        <p:nvSpPr>
          <p:cNvPr id="50" name="Circle-251"/>
          <p:cNvSpPr/>
          <p:nvPr/>
        </p:nvSpPr>
        <p:spPr>
          <a:xfrm>
            <a:off x="8915400" y="5029200"/>
            <a:ext cx="182880" cy="182880"/>
          </a:xfrm>
          <a:prstGeom prst="ellipse">
            <a:avLst/>
          </a:prstGeom>
          <a:solidFill>
            <a:schemeClr val="accent5"/>
          </a:solidFill>
          <a:ln/>
        </p:spPr>
        <p:txBody>
          <a:bodyPr/>
          <a:p/>
        </p:txBody>
      </p:sp>
      <p:sp>
        <p:nvSpPr>
          <p:cNvPr id="51" name="Text-252"/>
          <p:cNvSpPr txBox="1"/>
          <p:nvPr/>
        </p:nvSpPr>
        <p:spPr>
          <a:xfrm>
            <a:off x="9189720" y="4956048"/>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+1 wk</a:t>
            </a:r>
            <a:endParaRPr lang="en-US" sz="1200" dirty="0"/>
          </a:p>
        </p:txBody>
      </p:sp>
      <p:sp>
        <p:nvSpPr>
          <p:cNvPr id="52" name="Text-253"/>
          <p:cNvSpPr txBox="1"/>
          <p:nvPr/>
        </p:nvSpPr>
        <p:spPr>
          <a:xfrm>
            <a:off x="9756648" y="4956048"/>
            <a:ext cx="1828800" cy="548640"/>
          </a:xfrm>
          <a:prstGeom prst="rect">
            <a:avLst/>
          </a:prstGeom>
          <a:noFill/>
          <a:ln/>
        </p:spPr>
        <p:txBody>
          <a:bodyPr wrap="square" lIns="0" tIns="0" rIns="0" bIns="0" rtlCol="0" anchor="t"/>
          <a:lstStyle/>
          <a:p>
            <a:pPr indent="0" marL="0">
              <a:buNone/>
            </a:pPr>
            <a:r>
              <a:rPr lang="en-US" sz="1200" dirty="0">
                <a:solidFill>
                  <a:schemeClr val="tx1"/>
                </a:solidFill>
              </a:rPr>
              <a:t>Compare twin and real answers</a:t>
            </a:r>
            <a:endParaRPr lang="en-US" sz="1200" dirty="0"/>
          </a:p>
        </p:txBody>
      </p:sp>
      <p:sp>
        <p:nvSpPr>
          <p:cNvPr id="53" name="Circle-254"/>
          <p:cNvSpPr/>
          <p:nvPr/>
        </p:nvSpPr>
        <p:spPr>
          <a:xfrm>
            <a:off x="8915400" y="5632704"/>
            <a:ext cx="182880" cy="182880"/>
          </a:xfrm>
          <a:prstGeom prst="ellipse">
            <a:avLst/>
          </a:prstGeom>
          <a:solidFill>
            <a:schemeClr val="accent6"/>
          </a:solidFill>
          <a:ln/>
        </p:spPr>
        <p:txBody>
          <a:bodyPr/>
          <a:p/>
        </p:txBody>
      </p:sp>
      <p:sp>
        <p:nvSpPr>
          <p:cNvPr id="54" name="Text-255"/>
          <p:cNvSpPr txBox="1"/>
          <p:nvPr/>
        </p:nvSpPr>
        <p:spPr>
          <a:xfrm>
            <a:off x="9189720" y="5559552"/>
            <a:ext cx="548640" cy="329184"/>
          </a:xfrm>
          <a:prstGeom prst="rect">
            <a:avLst/>
          </a:prstGeom>
          <a:noFill/>
          <a:ln/>
        </p:spPr>
        <p:txBody>
          <a:bodyPr wrap="square" lIns="0" tIns="0" rIns="0" bIns="0" rtlCol="0" anchor="t"/>
          <a:lstStyle/>
          <a:p>
            <a:pPr indent="0" marL="0">
              <a:buNone/>
            </a:pPr>
            <a:r>
              <a:rPr lang="en-US" sz="1200" b="1" dirty="0">
                <a:solidFill>
                  <a:schemeClr val="accent1"/>
                </a:solidFill>
              </a:rPr>
              <a:t>+2 wk</a:t>
            </a:r>
            <a:endParaRPr lang="en-US" sz="1200" dirty="0"/>
          </a:p>
        </p:txBody>
      </p:sp>
      <p:sp>
        <p:nvSpPr>
          <p:cNvPr id="55" name="Text-256"/>
          <p:cNvSpPr txBox="1"/>
          <p:nvPr/>
        </p:nvSpPr>
        <p:spPr>
          <a:xfrm>
            <a:off x="9756648" y="5559552"/>
            <a:ext cx="1828800" cy="548640"/>
          </a:xfrm>
          <a:prstGeom prst="rect">
            <a:avLst/>
          </a:prstGeom>
          <a:noFill/>
          <a:ln/>
        </p:spPr>
        <p:txBody>
          <a:bodyPr wrap="square" lIns="0" tIns="0" rIns="0" bIns="0" rtlCol="0" anchor="t"/>
          <a:lstStyle/>
          <a:p>
            <a:pPr indent="0" marL="0">
              <a:buNone/>
            </a:pPr>
            <a:r>
              <a:rPr lang="en-US" sz="1200" dirty="0">
                <a:solidFill>
                  <a:schemeClr val="tx1"/>
                </a:solidFill>
              </a:rPr>
              <a:t>→ Calibrate the twins</a:t>
            </a:r>
            <a:endParaRPr lang="en-US" sz="1200" dirty="0"/>
          </a:p>
        </p:txBody>
      </p:sp>
      <p:sp>
        <p:nvSpPr>
          <p:cNvPr id="56" name="Circle-257"/>
          <p:cNvSpPr/>
          <p:nvPr/>
        </p:nvSpPr>
        <p:spPr>
          <a:xfrm>
            <a:off x="6080760" y="6144768"/>
            <a:ext cx="146304" cy="146304"/>
          </a:xfrm>
          <a:prstGeom prst="ellipse">
            <a:avLst/>
          </a:prstGeom>
          <a:solidFill>
            <a:schemeClr val="accent1"/>
          </a:solidFill>
          <a:ln/>
        </p:spPr>
        <p:txBody>
          <a:bodyPr/>
          <a:p/>
        </p:txBody>
      </p:sp>
      <p:sp>
        <p:nvSpPr>
          <p:cNvPr id="57" name="Text-258"/>
          <p:cNvSpPr txBox="1"/>
          <p:nvPr/>
        </p:nvSpPr>
        <p:spPr>
          <a:xfrm>
            <a:off x="6309360" y="6071616"/>
            <a:ext cx="1645920" cy="274320"/>
          </a:xfrm>
          <a:prstGeom prst="rect">
            <a:avLst/>
          </a:prstGeom>
          <a:noFill/>
          <a:ln/>
        </p:spPr>
        <p:txBody>
          <a:bodyPr wrap="square" lIns="0" tIns="0" rIns="0" bIns="0" rtlCol="0" anchor="ctr"/>
          <a:lstStyle/>
          <a:p>
            <a:pPr indent="0" marL="0">
              <a:buNone/>
            </a:pPr>
            <a:r>
              <a:rPr lang="en-US" sz="1000" dirty="0">
                <a:solidFill>
                  <a:schemeClr val="accent6"/>
                </a:solidFill>
              </a:rPr>
              <a:t>Persona session</a:t>
            </a:r>
            <a:endParaRPr lang="en-US" sz="1000" dirty="0"/>
          </a:p>
        </p:txBody>
      </p:sp>
      <p:sp>
        <p:nvSpPr>
          <p:cNvPr id="58" name="Circle-259"/>
          <p:cNvSpPr/>
          <p:nvPr/>
        </p:nvSpPr>
        <p:spPr>
          <a:xfrm>
            <a:off x="7955280" y="6144768"/>
            <a:ext cx="146304" cy="146304"/>
          </a:xfrm>
          <a:prstGeom prst="ellipse">
            <a:avLst/>
          </a:prstGeom>
          <a:solidFill>
            <a:schemeClr val="accent2"/>
          </a:solidFill>
          <a:ln/>
        </p:spPr>
        <p:txBody>
          <a:bodyPr/>
          <a:p/>
        </p:txBody>
      </p:sp>
      <p:sp>
        <p:nvSpPr>
          <p:cNvPr id="59" name="Text-260"/>
          <p:cNvSpPr txBox="1"/>
          <p:nvPr/>
        </p:nvSpPr>
        <p:spPr>
          <a:xfrm>
            <a:off x="8183880" y="6071616"/>
            <a:ext cx="1645920" cy="274320"/>
          </a:xfrm>
          <a:prstGeom prst="rect">
            <a:avLst/>
          </a:prstGeom>
          <a:noFill/>
          <a:ln/>
        </p:spPr>
        <p:txBody>
          <a:bodyPr wrap="square" lIns="0" tIns="0" rIns="0" bIns="0" rtlCol="0" anchor="ctr"/>
          <a:lstStyle/>
          <a:p>
            <a:pPr indent="0" marL="0">
              <a:buNone/>
            </a:pPr>
            <a:r>
              <a:rPr lang="en-US" sz="1000" dirty="0">
                <a:solidFill>
                  <a:schemeClr val="accent6"/>
                </a:solidFill>
              </a:rPr>
              <a:t>Team &amp; real people</a:t>
            </a:r>
            <a:endParaRPr lang="en-US" sz="1000" dirty="0"/>
          </a:p>
        </p:txBody>
      </p:sp>
      <p:sp>
        <p:nvSpPr>
          <p:cNvPr id="60" name="Circle-261"/>
          <p:cNvSpPr/>
          <p:nvPr/>
        </p:nvSpPr>
        <p:spPr>
          <a:xfrm>
            <a:off x="9829800" y="6144768"/>
            <a:ext cx="146304" cy="146304"/>
          </a:xfrm>
          <a:prstGeom prst="ellipse">
            <a:avLst/>
          </a:prstGeom>
          <a:solidFill>
            <a:schemeClr val="accent5"/>
          </a:solidFill>
          <a:ln/>
        </p:spPr>
        <p:txBody>
          <a:bodyPr/>
          <a:p/>
        </p:txBody>
      </p:sp>
      <p:sp>
        <p:nvSpPr>
          <p:cNvPr id="61" name="Text-262"/>
          <p:cNvSpPr txBox="1"/>
          <p:nvPr/>
        </p:nvSpPr>
        <p:spPr>
          <a:xfrm>
            <a:off x="10058400" y="6071616"/>
            <a:ext cx="1645920" cy="274320"/>
          </a:xfrm>
          <a:prstGeom prst="rect">
            <a:avLst/>
          </a:prstGeom>
          <a:noFill/>
          <a:ln/>
        </p:spPr>
        <p:txBody>
          <a:bodyPr wrap="square" lIns="0" tIns="0" rIns="0" bIns="0" rtlCol="0" anchor="ctr"/>
          <a:lstStyle/>
          <a:p>
            <a:pPr indent="0" marL="0">
              <a:buNone/>
            </a:pPr>
            <a:r>
              <a:rPr lang="en-US" sz="1000" dirty="0">
                <a:solidFill>
                  <a:schemeClr val="accent6"/>
                </a:solidFill>
              </a:rPr>
              <a:t>AI step</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printbox Petrol">
  <a:themeElements>
    <a:clrScheme name="Sprintbox Petrol">
      <a:dk1>
        <a:srgbClr val="1B1F23"/>
      </a:dk1>
      <a:lt1>
        <a:srgbClr val="FFFFFF"/>
      </a:lt1>
      <a:dk2>
        <a:srgbClr val="0F3B45"/>
      </a:dk2>
      <a:lt2>
        <a:srgbClr val="EEF4F4"/>
      </a:lt2>
      <a:accent1>
        <a:srgbClr val="1F7A8C"/>
      </a:accent1>
      <a:accent2>
        <a:srgbClr val="F2C14E"/>
      </a:accent2>
      <a:accent3>
        <a:srgbClr val="E4572E"/>
      </a:accent3>
      <a:accent4>
        <a:srgbClr val="5E9E5B"/>
      </a:accent4>
      <a:accent5>
        <a:srgbClr val="6E5BB0"/>
      </a:accent5>
      <a:accent6>
        <a:srgbClr val="5C6B73"/>
      </a:accent6>
      <a:hlink>
        <a:srgbClr val="1F7A8C"/>
      </a:hlink>
      <a:folHlink>
        <a:srgbClr val="0F3B45"/>
      </a:folHlink>
    </a:clrScheme>
    <a:fontScheme name="Sprintbox Petro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576A77E95363242BEAEB8924ABD2C05" ma:contentTypeVersion="12" ma:contentTypeDescription="Ein neues Dokument erstellen." ma:contentTypeScope="" ma:versionID="5493b18cc296a886b4ab261055e97cc8">
  <xsd:schema xmlns:xsd="http://www.w3.org/2001/XMLSchema" xmlns:xs="http://www.w3.org/2001/XMLSchema" xmlns:p="http://schemas.microsoft.com/office/2006/metadata/properties" xmlns:ns2="7a2769ee-156b-4618-a3e5-4d9db9039833" xmlns:ns3="1a9556cc-261a-47bf-93b5-3ab15cd3bb6c" targetNamespace="http://schemas.microsoft.com/office/2006/metadata/properties" ma:root="true" ma:fieldsID="4afece236ef084d6805ea8f62cfca45d" ns2:_="" ns3:_="">
    <xsd:import namespace="7a2769ee-156b-4618-a3e5-4d9db9039833"/>
    <xsd:import namespace="1a9556cc-261a-47bf-93b5-3ab15cd3bb6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769ee-156b-4618-a3e5-4d9db90398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6d826492-7cd1-4829-9dae-4a02f8295a3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a9556cc-261a-47bf-93b5-3ab15cd3bb6c"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03055b0-2405-4f2b-82ae-daa412e473d6}" ma:internalName="TaxCatchAll" ma:showField="CatchAllData" ma:web="1a9556cc-261a-47bf-93b5-3ab15cd3bb6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a9556cc-261a-47bf-93b5-3ab15cd3bb6c" xsi:nil="true"/>
    <lcf76f155ced4ddcb4097134ff3c332f xmlns="7a2769ee-156b-4618-a3e5-4d9db903983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E2C5027-55B7-4411-9E9B-81899E10668F}"/>
</file>

<file path=customXml/itemProps2.xml><?xml version="1.0" encoding="utf-8"?>
<ds:datastoreItem xmlns:ds="http://schemas.openxmlformats.org/officeDocument/2006/customXml" ds:itemID="{004D3B52-34AC-47BA-83D2-5BA1448117F0}"/>
</file>

<file path=customXml/itemProps3.xml><?xml version="1.0" encoding="utf-8"?>
<ds:datastoreItem xmlns:ds="http://schemas.openxmlformats.org/officeDocument/2006/customXml" ds:itemID="{573C6236-99A0-47DB-9AB4-5CF8999FF6B3}"/>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sprintbox.ai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Lumen IPP Value Sprint – simulated design sprint with test guide</dc:title>
  <dc:subject>PptxGenJS Presentation</dc:subject>
  <dc:creator>sprintbox.ai</dc:creator>
  <cp:lastModifiedBy>sprintbox.ai</cp:lastModifiedBy>
  <cp:revision>1</cp:revision>
  <dcterms:created xsi:type="dcterms:W3CDTF">2026-10-23T12:35:11Z</dcterms:created>
  <dcterms:modified xsi:type="dcterms:W3CDTF">2026-10-23T12:35:11Z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0x0101005576A77E95363242BEAEB8924ABD2C05</vt:lpwstr>
  </property>
</Properties>
</file>